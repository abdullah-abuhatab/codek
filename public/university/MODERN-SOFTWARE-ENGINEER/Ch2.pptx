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59"/>
  </p:notesMasterIdLst>
  <p:handoutMasterIdLst>
    <p:handoutMasterId r:id="rId60"/>
  </p:handoutMasterIdLst>
  <p:sldIdLst>
    <p:sldId id="256" r:id="rId5"/>
    <p:sldId id="270" r:id="rId6"/>
    <p:sldId id="281" r:id="rId7"/>
    <p:sldId id="318" r:id="rId8"/>
    <p:sldId id="319" r:id="rId9"/>
    <p:sldId id="282" r:id="rId10"/>
    <p:sldId id="257" r:id="rId11"/>
    <p:sldId id="284" r:id="rId12"/>
    <p:sldId id="285" r:id="rId13"/>
    <p:sldId id="258" r:id="rId14"/>
    <p:sldId id="288" r:id="rId15"/>
    <p:sldId id="320" r:id="rId16"/>
    <p:sldId id="289" r:id="rId17"/>
    <p:sldId id="259" r:id="rId18"/>
    <p:sldId id="322" r:id="rId19"/>
    <p:sldId id="272" r:id="rId20"/>
    <p:sldId id="291" r:id="rId21"/>
    <p:sldId id="260" r:id="rId22"/>
    <p:sldId id="261" r:id="rId23"/>
    <p:sldId id="323" r:id="rId24"/>
    <p:sldId id="299" r:id="rId25"/>
    <p:sldId id="262" r:id="rId26"/>
    <p:sldId id="301" r:id="rId27"/>
    <p:sldId id="263" r:id="rId28"/>
    <p:sldId id="303" r:id="rId29"/>
    <p:sldId id="264" r:id="rId30"/>
    <p:sldId id="317" r:id="rId31"/>
    <p:sldId id="324" r:id="rId32"/>
    <p:sldId id="327" r:id="rId33"/>
    <p:sldId id="273" r:id="rId34"/>
    <p:sldId id="325" r:id="rId35"/>
    <p:sldId id="312" r:id="rId36"/>
    <p:sldId id="313" r:id="rId37"/>
    <p:sldId id="265" r:id="rId38"/>
    <p:sldId id="328" r:id="rId39"/>
    <p:sldId id="316" r:id="rId40"/>
    <p:sldId id="305" r:id="rId41"/>
    <p:sldId id="329" r:id="rId42"/>
    <p:sldId id="266" r:id="rId43"/>
    <p:sldId id="307" r:id="rId44"/>
    <p:sldId id="326" r:id="rId45"/>
    <p:sldId id="309" r:id="rId46"/>
    <p:sldId id="267" r:id="rId47"/>
    <p:sldId id="311" r:id="rId48"/>
    <p:sldId id="330" r:id="rId49"/>
    <p:sldId id="275" r:id="rId50"/>
    <p:sldId id="268" r:id="rId51"/>
    <p:sldId id="277" r:id="rId52"/>
    <p:sldId id="331" r:id="rId53"/>
    <p:sldId id="269" r:id="rId54"/>
    <p:sldId id="279" r:id="rId55"/>
    <p:sldId id="278" r:id="rId56"/>
    <p:sldId id="332" r:id="rId57"/>
    <p:sldId id="280" r:id="rId5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389D2-B2F0-4C2B-B63D-AA02CBA75F36}" v="40" dt="2022-01-21T14:27:59.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0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غنا محمد يوسف شخاتره" userId="S::31918001018@std.bau.edu.jo::fbf416da-348b-46f6-851b-664f035f3c93" providerId="AD" clId="Web-{894C00D8-AC59-4008-B984-A0B572E655F3}"/>
    <pc:docChg chg="modSld">
      <pc:chgData name="غنا محمد يوسف شخاتره" userId="S::31918001018@std.bau.edu.jo::fbf416da-348b-46f6-851b-664f035f3c93" providerId="AD" clId="Web-{894C00D8-AC59-4008-B984-A0B572E655F3}" dt="2021-12-04T05:34:10.778" v="3"/>
      <pc:docMkLst>
        <pc:docMk/>
      </pc:docMkLst>
      <pc:sldChg chg="addSp modSp">
        <pc:chgData name="غنا محمد يوسف شخاتره" userId="S::31918001018@std.bau.edu.jo::fbf416da-348b-46f6-851b-664f035f3c93" providerId="AD" clId="Web-{894C00D8-AC59-4008-B984-A0B572E655F3}" dt="2021-12-04T05:34:10.778" v="3"/>
        <pc:sldMkLst>
          <pc:docMk/>
          <pc:sldMk cId="0" sldId="281"/>
        </pc:sldMkLst>
        <pc:spChg chg="add">
          <ac:chgData name="غنا محمد يوسف شخاتره" userId="S::31918001018@std.bau.edu.jo::fbf416da-348b-46f6-851b-664f035f3c93" providerId="AD" clId="Web-{894C00D8-AC59-4008-B984-A0B572E655F3}" dt="2021-12-04T05:30:46.553" v="0"/>
          <ac:spMkLst>
            <pc:docMk/>
            <pc:sldMk cId="0" sldId="281"/>
            <ac:spMk id="2" creationId="{59BCF45B-3AFB-4732-B785-34D892F01A7F}"/>
          </ac:spMkLst>
        </pc:spChg>
        <pc:spChg chg="add">
          <ac:chgData name="غنا محمد يوسف شخاتره" userId="S::31918001018@std.bau.edu.jo::fbf416da-348b-46f6-851b-664f035f3c93" providerId="AD" clId="Web-{894C00D8-AC59-4008-B984-A0B572E655F3}" dt="2021-12-04T05:34:10.778" v="3"/>
          <ac:spMkLst>
            <pc:docMk/>
            <pc:sldMk cId="0" sldId="281"/>
            <ac:spMk id="3" creationId="{8D393D51-34F0-4120-94E1-A2152074B937}"/>
          </ac:spMkLst>
        </pc:spChg>
        <pc:spChg chg="mod">
          <ac:chgData name="غنا محمد يوسف شخاتره" userId="S::31918001018@std.bau.edu.jo::fbf416da-348b-46f6-851b-664f035f3c93" providerId="AD" clId="Web-{894C00D8-AC59-4008-B984-A0B572E655F3}" dt="2021-12-04T05:33:21.511" v="2" actId="20577"/>
          <ac:spMkLst>
            <pc:docMk/>
            <pc:sldMk cId="0" sldId="281"/>
            <ac:spMk id="17411" creationId="{00000000-0000-0000-0000-000000000000}"/>
          </ac:spMkLst>
        </pc:spChg>
      </pc:sldChg>
    </pc:docChg>
  </pc:docChgLst>
  <pc:docChgLst>
    <pc:chgData name="زيد محمد فلاح الرواشده" userId="S::31918001033@std.bau.edu.jo::20684b92-a27b-4e80-bb14-6e999231ad29" providerId="AD" clId="Web-{974EA771-BC16-48CE-ABB1-020F5D85885E}"/>
    <pc:docChg chg="modSld">
      <pc:chgData name="زيد محمد فلاح الرواشده" userId="S::31918001033@std.bau.edu.jo::20684b92-a27b-4e80-bb14-6e999231ad29" providerId="AD" clId="Web-{974EA771-BC16-48CE-ABB1-020F5D85885E}" dt="2021-12-04T14:28:10.556" v="8" actId="1076"/>
      <pc:docMkLst>
        <pc:docMk/>
      </pc:docMkLst>
      <pc:sldChg chg="delSp modSp">
        <pc:chgData name="زيد محمد فلاح الرواشده" userId="S::31918001033@std.bau.edu.jo::20684b92-a27b-4e80-bb14-6e999231ad29" providerId="AD" clId="Web-{974EA771-BC16-48CE-ABB1-020F5D85885E}" dt="2021-12-04T14:10:59.482" v="3"/>
        <pc:sldMkLst>
          <pc:docMk/>
          <pc:sldMk cId="0" sldId="281"/>
        </pc:sldMkLst>
        <pc:spChg chg="del mod">
          <ac:chgData name="زيد محمد فلاح الرواشده" userId="S::31918001033@std.bau.edu.jo::20684b92-a27b-4e80-bb14-6e999231ad29" providerId="AD" clId="Web-{974EA771-BC16-48CE-ABB1-020F5D85885E}" dt="2021-12-04T14:10:56.357" v="2"/>
          <ac:spMkLst>
            <pc:docMk/>
            <pc:sldMk cId="0" sldId="281"/>
            <ac:spMk id="2" creationId="{59BCF45B-3AFB-4732-B785-34D892F01A7F}"/>
          </ac:spMkLst>
        </pc:spChg>
        <pc:spChg chg="del mod">
          <ac:chgData name="زيد محمد فلاح الرواشده" userId="S::31918001033@std.bau.edu.jo::20684b92-a27b-4e80-bb14-6e999231ad29" providerId="AD" clId="Web-{974EA771-BC16-48CE-ABB1-020F5D85885E}" dt="2021-12-04T14:10:59.482" v="3"/>
          <ac:spMkLst>
            <pc:docMk/>
            <pc:sldMk cId="0" sldId="281"/>
            <ac:spMk id="3" creationId="{8D393D51-34F0-4120-94E1-A2152074B937}"/>
          </ac:spMkLst>
        </pc:spChg>
      </pc:sldChg>
      <pc:sldChg chg="modSp">
        <pc:chgData name="زيد محمد فلاح الرواشده" userId="S::31918001033@std.bau.edu.jo::20684b92-a27b-4e80-bb14-6e999231ad29" providerId="AD" clId="Web-{974EA771-BC16-48CE-ABB1-020F5D85885E}" dt="2021-12-04T14:28:10.556" v="8" actId="1076"/>
        <pc:sldMkLst>
          <pc:docMk/>
          <pc:sldMk cId="0" sldId="288"/>
        </pc:sldMkLst>
        <pc:spChg chg="mod">
          <ac:chgData name="زيد محمد فلاح الرواشده" userId="S::31918001033@std.bau.edu.jo::20684b92-a27b-4e80-bb14-6e999231ad29" providerId="AD" clId="Web-{974EA771-BC16-48CE-ABB1-020F5D85885E}" dt="2021-12-04T14:28:10.556" v="8" actId="1076"/>
          <ac:spMkLst>
            <pc:docMk/>
            <pc:sldMk cId="0" sldId="288"/>
            <ac:spMk id="33794" creationId="{00000000-0000-0000-0000-000000000000}"/>
          </ac:spMkLst>
        </pc:spChg>
      </pc:sldChg>
      <pc:sldChg chg="modSp">
        <pc:chgData name="زيد محمد فلاح الرواشده" userId="S::31918001033@std.bau.edu.jo::20684b92-a27b-4e80-bb14-6e999231ad29" providerId="AD" clId="Web-{974EA771-BC16-48CE-ABB1-020F5D85885E}" dt="2021-12-04T14:13:39.424" v="7" actId="20577"/>
        <pc:sldMkLst>
          <pc:docMk/>
          <pc:sldMk cId="0" sldId="318"/>
        </pc:sldMkLst>
        <pc:spChg chg="mod">
          <ac:chgData name="زيد محمد فلاح الرواشده" userId="S::31918001033@std.bau.edu.jo::20684b92-a27b-4e80-bb14-6e999231ad29" providerId="AD" clId="Web-{974EA771-BC16-48CE-ABB1-020F5D85885E}" dt="2021-12-04T14:13:39.424" v="7" actId="20577"/>
          <ac:spMkLst>
            <pc:docMk/>
            <pc:sldMk cId="0" sldId="318"/>
            <ac:spMk id="2" creationId="{00000000-0000-0000-0000-000000000000}"/>
          </ac:spMkLst>
        </pc:spChg>
      </pc:sldChg>
    </pc:docChg>
  </pc:docChgLst>
  <pc:docChgLst>
    <pc:chgData name="غنا محمد يوسف شخاتره" userId="S::31918001018@std.bau.edu.jo::fbf416da-348b-46f6-851b-664f035f3c93" providerId="AD" clId="Web-{11C53320-75E3-BD0E-6ED3-513C491512B4}"/>
    <pc:docChg chg="modSld">
      <pc:chgData name="غنا محمد يوسف شخاتره" userId="S::31918001018@std.bau.edu.jo::fbf416da-348b-46f6-851b-664f035f3c93" providerId="AD" clId="Web-{11C53320-75E3-BD0E-6ED3-513C491512B4}" dt="2021-12-04T09:22:23.501" v="0" actId="1076"/>
      <pc:docMkLst>
        <pc:docMk/>
      </pc:docMkLst>
      <pc:sldChg chg="modSp">
        <pc:chgData name="غنا محمد يوسف شخاتره" userId="S::31918001018@std.bau.edu.jo::fbf416da-348b-46f6-851b-664f035f3c93" providerId="AD" clId="Web-{11C53320-75E3-BD0E-6ED3-513C491512B4}" dt="2021-12-04T09:22:23.501" v="0" actId="1076"/>
        <pc:sldMkLst>
          <pc:docMk/>
          <pc:sldMk cId="0" sldId="270"/>
        </pc:sldMkLst>
        <pc:spChg chg="mod">
          <ac:chgData name="غنا محمد يوسف شخاتره" userId="S::31918001018@std.bau.edu.jo::fbf416da-348b-46f6-851b-664f035f3c93" providerId="AD" clId="Web-{11C53320-75E3-BD0E-6ED3-513C491512B4}" dt="2021-12-04T09:22:23.501" v="0" actId="1076"/>
          <ac:spMkLst>
            <pc:docMk/>
            <pc:sldMk cId="0" sldId="270"/>
            <ac:spMk id="3" creationId="{00000000-0000-0000-0000-000000000000}"/>
          </ac:spMkLst>
        </pc:spChg>
      </pc:sldChg>
    </pc:docChg>
  </pc:docChgLst>
  <pc:docChgLst>
    <pc:chgData name="غنا محمد يوسف شخاتره" userId="S::31918001018@std.bau.edu.jo::fbf416da-348b-46f6-851b-664f035f3c93" providerId="AD" clId="Web-{0196175C-D046-8805-96EA-7267F0D2A637}"/>
    <pc:docChg chg="modSld">
      <pc:chgData name="غنا محمد يوسف شخاتره" userId="S::31918001018@std.bau.edu.jo::fbf416da-348b-46f6-851b-664f035f3c93" providerId="AD" clId="Web-{0196175C-D046-8805-96EA-7267F0D2A637}" dt="2021-12-04T11:09:33.187" v="3" actId="20577"/>
      <pc:docMkLst>
        <pc:docMk/>
      </pc:docMkLst>
      <pc:sldChg chg="modSp">
        <pc:chgData name="غنا محمد يوسف شخاتره" userId="S::31918001018@std.bau.edu.jo::fbf416da-348b-46f6-851b-664f035f3c93" providerId="AD" clId="Web-{0196175C-D046-8805-96EA-7267F0D2A637}" dt="2021-12-04T09:52:21.440" v="1" actId="1076"/>
        <pc:sldMkLst>
          <pc:docMk/>
          <pc:sldMk cId="0" sldId="257"/>
        </pc:sldMkLst>
        <pc:picChg chg="mod">
          <ac:chgData name="غنا محمد يوسف شخاتره" userId="S::31918001018@std.bau.edu.jo::fbf416da-348b-46f6-851b-664f035f3c93" providerId="AD" clId="Web-{0196175C-D046-8805-96EA-7267F0D2A637}" dt="2021-12-04T09:52:21.440" v="1" actId="1076"/>
          <ac:picMkLst>
            <pc:docMk/>
            <pc:sldMk cId="0" sldId="257"/>
            <ac:picMk id="4" creationId="{00000000-0000-0000-0000-000000000000}"/>
          </ac:picMkLst>
        </pc:picChg>
      </pc:sldChg>
      <pc:sldChg chg="modSp">
        <pc:chgData name="غنا محمد يوسف شخاتره" userId="S::31918001018@std.bau.edu.jo::fbf416da-348b-46f6-851b-664f035f3c93" providerId="AD" clId="Web-{0196175C-D046-8805-96EA-7267F0D2A637}" dt="2021-12-04T11:09:33.187" v="3" actId="20577"/>
        <pc:sldMkLst>
          <pc:docMk/>
          <pc:sldMk cId="0" sldId="293"/>
        </pc:sldMkLst>
        <pc:spChg chg="mod">
          <ac:chgData name="غنا محمد يوسف شخاتره" userId="S::31918001018@std.bau.edu.jo::fbf416da-348b-46f6-851b-664f035f3c93" providerId="AD" clId="Web-{0196175C-D046-8805-96EA-7267F0D2A637}" dt="2021-12-04T11:09:33.187" v="3" actId="20577"/>
          <ac:spMkLst>
            <pc:docMk/>
            <pc:sldMk cId="0" sldId="293"/>
            <ac:spMk id="86019" creationId="{00000000-0000-0000-0000-000000000000}"/>
          </ac:spMkLst>
        </pc:spChg>
      </pc:sldChg>
    </pc:docChg>
  </pc:docChgLst>
  <pc:docChgLst>
    <pc:chgData name="زيد محمد فلاح الرواشده" userId="S::31918001033@std.bau.edu.jo::20684b92-a27b-4e80-bb14-6e999231ad29" providerId="AD" clId="Web-{207389D2-B2F0-4C2B-B63D-AA02CBA75F36}"/>
    <pc:docChg chg="delSld modSld">
      <pc:chgData name="زيد محمد فلاح الرواشده" userId="S::31918001033@std.bau.edu.jo::20684b92-a27b-4e80-bb14-6e999231ad29" providerId="AD" clId="Web-{207389D2-B2F0-4C2B-B63D-AA02CBA75F36}" dt="2022-01-21T14:27:59.233" v="40" actId="1076"/>
      <pc:docMkLst>
        <pc:docMk/>
      </pc:docMkLst>
      <pc:sldChg chg="addSp delSp modSp">
        <pc:chgData name="زيد محمد فلاح الرواشده" userId="S::31918001033@std.bau.edu.jo::20684b92-a27b-4e80-bb14-6e999231ad29" providerId="AD" clId="Web-{207389D2-B2F0-4C2B-B63D-AA02CBA75F36}" dt="2022-01-21T12:45:24.497" v="14" actId="20577"/>
        <pc:sldMkLst>
          <pc:docMk/>
          <pc:sldMk cId="0" sldId="281"/>
        </pc:sldMkLst>
        <pc:spChg chg="mod">
          <ac:chgData name="زيد محمد فلاح الرواشده" userId="S::31918001033@std.bau.edu.jo::20684b92-a27b-4e80-bb14-6e999231ad29" providerId="AD" clId="Web-{207389D2-B2F0-4C2B-B63D-AA02CBA75F36}" dt="2022-01-21T12:42:14.884" v="4" actId="1076"/>
          <ac:spMkLst>
            <pc:docMk/>
            <pc:sldMk cId="0" sldId="281"/>
            <ac:spMk id="7" creationId="{00000000-0000-0000-0000-000000000000}"/>
          </ac:spMkLst>
        </pc:spChg>
        <pc:spChg chg="mod">
          <ac:chgData name="زيد محمد فلاح الرواشده" userId="S::31918001033@std.bau.edu.jo::20684b92-a27b-4e80-bb14-6e999231ad29" providerId="AD" clId="Web-{207389D2-B2F0-4C2B-B63D-AA02CBA75F36}" dt="2022-01-21T12:45:24.497" v="14" actId="20577"/>
          <ac:spMkLst>
            <pc:docMk/>
            <pc:sldMk cId="0" sldId="281"/>
            <ac:spMk id="17411" creationId="{00000000-0000-0000-0000-000000000000}"/>
          </ac:spMkLst>
        </pc:spChg>
        <pc:cxnChg chg="add del mod">
          <ac:chgData name="زيد محمد فلاح الرواشده" userId="S::31918001033@std.bau.edu.jo::20684b92-a27b-4e80-bb14-6e999231ad29" providerId="AD" clId="Web-{207389D2-B2F0-4C2B-B63D-AA02CBA75F36}" dt="2022-01-21T12:42:59.963" v="8"/>
          <ac:cxnSpMkLst>
            <pc:docMk/>
            <pc:sldMk cId="0" sldId="281"/>
            <ac:cxnSpMk id="2" creationId="{57846809-0940-47A8-9DFA-01165740F1F5}"/>
          </ac:cxnSpMkLst>
        </pc:cxnChg>
      </pc:sldChg>
      <pc:sldChg chg="modSp">
        <pc:chgData name="زيد محمد فلاح الرواشده" userId="S::31918001033@std.bau.edu.jo::20684b92-a27b-4e80-bb14-6e999231ad29" providerId="AD" clId="Web-{207389D2-B2F0-4C2B-B63D-AA02CBA75F36}" dt="2022-01-21T13:24:07.853" v="29" actId="20577"/>
        <pc:sldMkLst>
          <pc:docMk/>
          <pc:sldMk cId="0" sldId="284"/>
        </pc:sldMkLst>
        <pc:spChg chg="mod">
          <ac:chgData name="زيد محمد فلاح الرواشده" userId="S::31918001033@std.bau.edu.jo::20684b92-a27b-4e80-bb14-6e999231ad29" providerId="AD" clId="Web-{207389D2-B2F0-4C2B-B63D-AA02CBA75F36}" dt="2022-01-21T13:24:07.853" v="29" actId="20577"/>
          <ac:spMkLst>
            <pc:docMk/>
            <pc:sldMk cId="0" sldId="284"/>
            <ac:spMk id="29699" creationId="{00000000-0000-0000-0000-000000000000}"/>
          </ac:spMkLst>
        </pc:spChg>
      </pc:sldChg>
      <pc:sldChg chg="modSp">
        <pc:chgData name="زيد محمد فلاح الرواشده" userId="S::31918001033@std.bau.edu.jo::20684b92-a27b-4e80-bb14-6e999231ad29" providerId="AD" clId="Web-{207389D2-B2F0-4C2B-B63D-AA02CBA75F36}" dt="2022-01-21T13:25:37.387" v="31" actId="20577"/>
        <pc:sldMkLst>
          <pc:docMk/>
          <pc:sldMk cId="0" sldId="285"/>
        </pc:sldMkLst>
        <pc:spChg chg="mod">
          <ac:chgData name="زيد محمد فلاح الرواشده" userId="S::31918001033@std.bau.edu.jo::20684b92-a27b-4e80-bb14-6e999231ad29" providerId="AD" clId="Web-{207389D2-B2F0-4C2B-B63D-AA02CBA75F36}" dt="2022-01-21T13:25:37.387" v="31" actId="20577"/>
          <ac:spMkLst>
            <pc:docMk/>
            <pc:sldMk cId="0" sldId="285"/>
            <ac:spMk id="92163" creationId="{00000000-0000-0000-0000-000000000000}"/>
          </ac:spMkLst>
        </pc:spChg>
      </pc:sldChg>
      <pc:sldChg chg="del">
        <pc:chgData name="زيد محمد فلاح الرواشده" userId="S::31918001033@std.bau.edu.jo::20684b92-a27b-4e80-bb14-6e999231ad29" providerId="AD" clId="Web-{207389D2-B2F0-4C2B-B63D-AA02CBA75F36}" dt="2022-01-21T13:51:25.145" v="32"/>
        <pc:sldMkLst>
          <pc:docMk/>
          <pc:sldMk cId="0" sldId="293"/>
        </pc:sldMkLst>
      </pc:sldChg>
      <pc:sldChg chg="modSp">
        <pc:chgData name="زيد محمد فلاح الرواشده" userId="S::31918001033@std.bau.edu.jo::20684b92-a27b-4e80-bb14-6e999231ad29" providerId="AD" clId="Web-{207389D2-B2F0-4C2B-B63D-AA02CBA75F36}" dt="2022-01-21T12:51:02.223" v="21" actId="20577"/>
        <pc:sldMkLst>
          <pc:docMk/>
          <pc:sldMk cId="0" sldId="318"/>
        </pc:sldMkLst>
        <pc:spChg chg="mod">
          <ac:chgData name="زيد محمد فلاح الرواشده" userId="S::31918001033@std.bau.edu.jo::20684b92-a27b-4e80-bb14-6e999231ad29" providerId="AD" clId="Web-{207389D2-B2F0-4C2B-B63D-AA02CBA75F36}" dt="2022-01-21T12:51:02.223" v="21" actId="20577"/>
          <ac:spMkLst>
            <pc:docMk/>
            <pc:sldMk cId="0" sldId="318"/>
            <ac:spMk id="3" creationId="{00000000-0000-0000-0000-000000000000}"/>
          </ac:spMkLst>
        </pc:spChg>
      </pc:sldChg>
      <pc:sldChg chg="modSp">
        <pc:chgData name="زيد محمد فلاح الرواشده" userId="S::31918001033@std.bau.edu.jo::20684b92-a27b-4e80-bb14-6e999231ad29" providerId="AD" clId="Web-{207389D2-B2F0-4C2B-B63D-AA02CBA75F36}" dt="2022-01-21T13:15:03.574" v="25" actId="20577"/>
        <pc:sldMkLst>
          <pc:docMk/>
          <pc:sldMk cId="0" sldId="319"/>
        </pc:sldMkLst>
        <pc:spChg chg="mod">
          <ac:chgData name="زيد محمد فلاح الرواشده" userId="S::31918001033@std.bau.edu.jo::20684b92-a27b-4e80-bb14-6e999231ad29" providerId="AD" clId="Web-{207389D2-B2F0-4C2B-B63D-AA02CBA75F36}" dt="2022-01-21T13:15:03.574" v="25" actId="20577"/>
          <ac:spMkLst>
            <pc:docMk/>
            <pc:sldMk cId="0" sldId="319"/>
            <ac:spMk id="3" creationId="{00000000-0000-0000-0000-000000000000}"/>
          </ac:spMkLst>
        </pc:spChg>
      </pc:sldChg>
      <pc:sldChg chg="modSp">
        <pc:chgData name="زيد محمد فلاح الرواشده" userId="S::31918001033@std.bau.edu.jo::20684b92-a27b-4e80-bb14-6e999231ad29" providerId="AD" clId="Web-{207389D2-B2F0-4C2B-B63D-AA02CBA75F36}" dt="2022-01-21T13:54:44.822" v="39" actId="20577"/>
        <pc:sldMkLst>
          <pc:docMk/>
          <pc:sldMk cId="0" sldId="323"/>
        </pc:sldMkLst>
        <pc:spChg chg="mod">
          <ac:chgData name="زيد محمد فلاح الرواشده" userId="S::31918001033@std.bau.edu.jo::20684b92-a27b-4e80-bb14-6e999231ad29" providerId="AD" clId="Web-{207389D2-B2F0-4C2B-B63D-AA02CBA75F36}" dt="2022-01-21T13:54:44.822" v="39" actId="20577"/>
          <ac:spMkLst>
            <pc:docMk/>
            <pc:sldMk cId="0" sldId="323"/>
            <ac:spMk id="3" creationId="{00000000-0000-0000-0000-000000000000}"/>
          </ac:spMkLst>
        </pc:spChg>
      </pc:sldChg>
      <pc:sldChg chg="modSp">
        <pc:chgData name="زيد محمد فلاح الرواشده" userId="S::31918001033@std.bau.edu.jo::20684b92-a27b-4e80-bb14-6e999231ad29" providerId="AD" clId="Web-{207389D2-B2F0-4C2B-B63D-AA02CBA75F36}" dt="2022-01-21T14:27:59.233" v="40" actId="1076"/>
        <pc:sldMkLst>
          <pc:docMk/>
          <pc:sldMk cId="0" sldId="329"/>
        </pc:sldMkLst>
        <pc:spChg chg="mod">
          <ac:chgData name="زيد محمد فلاح الرواشده" userId="S::31918001033@std.bau.edu.jo::20684b92-a27b-4e80-bb14-6e999231ad29" providerId="AD" clId="Web-{207389D2-B2F0-4C2B-B63D-AA02CBA75F36}" dt="2022-01-21T14:27:59.233" v="40" actId="1076"/>
          <ac:spMkLst>
            <pc:docMk/>
            <pc:sldMk cId="0" sldId="329"/>
            <ac:spMk id="2" creationId="{00000000-0000-0000-0000-000000000000}"/>
          </ac:spMkLst>
        </pc:spChg>
      </pc:sldChg>
    </pc:docChg>
  </pc:docChgLst>
  <pc:docChgLst>
    <pc:chgData name="ميس نعيم عاطف الابراهيم" userId="119bcb49-56b1-4ac9-ade8-e4bda7f11e01" providerId="ADAL" clId="{6DD9EA8F-BFA8-4D15-ABBD-2264F2C3A225}"/>
    <pc:docChg chg="modSld">
      <pc:chgData name="ميس نعيم عاطف الابراهيم" userId="119bcb49-56b1-4ac9-ade8-e4bda7f11e01" providerId="ADAL" clId="{6DD9EA8F-BFA8-4D15-ABBD-2264F2C3A225}" dt="2022-01-21T23:53:25.795" v="0" actId="1076"/>
      <pc:docMkLst>
        <pc:docMk/>
      </pc:docMkLst>
      <pc:sldChg chg="modSp mod">
        <pc:chgData name="ميس نعيم عاطف الابراهيم" userId="119bcb49-56b1-4ac9-ade8-e4bda7f11e01" providerId="ADAL" clId="{6DD9EA8F-BFA8-4D15-ABBD-2264F2C3A225}" dt="2022-01-21T23:53:25.795" v="0" actId="1076"/>
        <pc:sldMkLst>
          <pc:docMk/>
          <pc:sldMk cId="0" sldId="269"/>
        </pc:sldMkLst>
        <pc:graphicFrameChg chg="mod">
          <ac:chgData name="ميس نعيم عاطف الابراهيم" userId="119bcb49-56b1-4ac9-ade8-e4bda7f11e01" providerId="ADAL" clId="{6DD9EA8F-BFA8-4D15-ABBD-2264F2C3A225}" dt="2022-01-21T23:53:25.795" v="0" actId="1076"/>
          <ac:graphicFrameMkLst>
            <pc:docMk/>
            <pc:sldMk cId="0" sldId="269"/>
            <ac:graphicFrameMk id="12"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1/22/2022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1/22/2022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a:p>
        </p:txBody>
      </p:sp>
      <p:sp>
        <p:nvSpPr>
          <p:cNvPr id="26627"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E2ED9B9-13A4-504E-BA28-D5EC11B69577}" type="datetime1">
              <a:rPr lang="en-US" smtClean="0"/>
              <a:pPr>
                <a:defRPr/>
              </a:pPr>
              <a:t>1/22/2022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C113CAA7-61A2-AE4A-B3AF-B36050DDC1C8}" type="datetime1">
              <a:rPr lang="en-US" smtClean="0"/>
              <a:pPr>
                <a:defRPr/>
              </a:pPr>
              <a:t>1/22/2022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1C0BC32D-B13B-FA42-98CD-639D607FC5AE}" type="datetime1">
              <a:rPr lang="en-US" smtClean="0"/>
              <a:pPr>
                <a:defRPr/>
              </a:pPr>
              <a:t>1/22/2022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56149FAA-3521-694C-B63B-919B2B8781F3}" type="datetime1">
              <a:rPr lang="en-US" smtClean="0"/>
              <a:pPr>
                <a:defRPr/>
              </a:pPr>
              <a:t>1/22/2022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F78921CD-4407-0C4A-86B7-1EEE2D511458}" type="datetime1">
              <a:rPr lang="en-US" smtClean="0"/>
              <a:pPr>
                <a:defRPr/>
              </a:pPr>
              <a:t>1/22/2022</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6DEA550-1159-5E4A-897B-E65014FF13B6}" type="datetime1">
              <a:rPr lang="en-US" smtClean="0"/>
              <a:pPr>
                <a:defRPr/>
              </a:pPr>
              <a:t>1/22/2022</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E6F8E3-2B7A-F841-82BB-4253B616347C}" type="datetime1">
              <a:rPr lang="en-US" smtClean="0"/>
              <a:pPr>
                <a:defRPr/>
              </a:pPr>
              <a:t>1/22/2022</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410F7B03-D8CA-6D41-96B4-1E8B85FC4F7B}" type="datetime1">
              <a:rPr lang="en-US" smtClean="0"/>
              <a:pPr>
                <a:defRPr/>
              </a:pPr>
              <a:t>1/22/2022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746E079-CCB4-B24C-A6D5-8C3056BBF23F}" type="datetime1">
              <a:rPr lang="en-US" smtClean="0"/>
              <a:pPr>
                <a:defRPr/>
              </a:pPr>
              <a:t>1/22/2022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CD4142DB-E1BD-C44A-A99A-8EC750C7CC29}" type="datetime1">
              <a:rPr lang="en-US" smtClean="0"/>
              <a:pPr>
                <a:defRPr/>
              </a:pPr>
              <a:t>1/22/2022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F152160-CF35-F945-B8A3-FCCE1C768C40}" type="datetime1">
              <a:rPr lang="en-US" smtClean="0"/>
              <a:pPr>
                <a:defRPr/>
              </a:pPr>
              <a:t>1/22/2022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22E93307-8910-7843-A7DC-135F5F13F75F}" type="datetime1">
              <a:rPr lang="en-US" smtClean="0"/>
              <a:pPr>
                <a:defRPr/>
              </a:pPr>
              <a:t>1/22/2022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2 Software Processes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d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d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d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d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Lecture 1</a:t>
            </a: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p>
        </p:txBody>
      </p:sp>
      <p:sp>
        <p:nvSpPr>
          <p:cNvPr id="3" name="Content Placeholder 2"/>
          <p:cNvSpPr>
            <a:spLocks noGrp="1"/>
          </p:cNvSpPr>
          <p:nvPr>
            <p:ph idx="1"/>
          </p:nvPr>
        </p:nvSpPr>
        <p:spPr>
          <a:xfrm>
            <a:off x="802257" y="1830238"/>
            <a:ext cx="8229600" cy="4525963"/>
          </a:xfrm>
        </p:spPr>
        <p:txBody>
          <a:bodyPr/>
          <a:lstStyle/>
          <a:p>
            <a:r>
              <a:rPr lang="en-GB"/>
              <a:t>Software process models</a:t>
            </a:r>
          </a:p>
          <a:p>
            <a:r>
              <a:rPr lang="en-GB"/>
              <a:t>Process activities</a:t>
            </a:r>
          </a:p>
          <a:p>
            <a:r>
              <a:rPr lang="en-GB"/>
              <a:t>Coping with change</a:t>
            </a:r>
          </a:p>
          <a:p>
            <a:r>
              <a:rPr lang="en-GB"/>
              <a:t>The Rational Unified Process</a:t>
            </a:r>
          </a:p>
          <a:p>
            <a:pPr lvl="1"/>
            <a:r>
              <a:rPr lang="en-GB"/>
              <a:t>An example of a modern software process. </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t>The software process</a:t>
            </a:r>
          </a:p>
        </p:txBody>
      </p:sp>
      <p:sp>
        <p:nvSpPr>
          <p:cNvPr id="17411" name="Rectangle 3"/>
          <p:cNvSpPr>
            <a:spLocks noGrp="1" noChangeArrowheads="1"/>
          </p:cNvSpPr>
          <p:nvPr>
            <p:ph type="body" idx="1"/>
          </p:nvPr>
        </p:nvSpPr>
        <p:spPr>
          <a:xfrm>
            <a:off x="402248" y="1622181"/>
            <a:ext cx="8229600" cy="4525963"/>
          </a:xfrm>
        </p:spPr>
        <p:txBody>
          <a:bodyPr lIns="91440" tIns="45720" rIns="91440" bIns="45720" anchor="t"/>
          <a:lstStyle/>
          <a:p>
            <a:r>
              <a:rPr lang="en-GB" dirty="0">
                <a:ea typeface="ＭＳ Ｐゴシック"/>
              </a:rPr>
              <a:t>A structured set of activities required to develop a </a:t>
            </a:r>
            <a:br>
              <a:rPr lang="en-GB" dirty="0"/>
            </a:br>
            <a:r>
              <a:rPr lang="en-GB" dirty="0">
                <a:ea typeface="ＭＳ Ｐゴシック"/>
              </a:rPr>
              <a:t>software system. </a:t>
            </a:r>
            <a:endParaRPr lang="en-GB" dirty="0"/>
          </a:p>
          <a:p>
            <a:r>
              <a:rPr lang="en-GB" dirty="0">
                <a:ea typeface="ＭＳ Ｐゴシック"/>
              </a:rPr>
              <a:t>Many different software pro</a:t>
            </a:r>
            <a:r>
              <a:rPr lang="ar-JO" dirty="0" err="1">
                <a:ea typeface="ＭＳ Ｐゴシック"/>
              </a:rPr>
              <a:t>cesses</a:t>
            </a:r>
            <a:r>
              <a:rPr lang="ar-JO" dirty="0">
                <a:ea typeface="ＭＳ Ｐゴシック"/>
              </a:rPr>
              <a:t> </a:t>
            </a:r>
            <a:r>
              <a:rPr lang="ar-JO" dirty="0" err="1">
                <a:ea typeface="ＭＳ Ｐゴシック"/>
              </a:rPr>
              <a:t>but</a:t>
            </a:r>
            <a:r>
              <a:rPr lang="ar-JO" dirty="0">
                <a:ea typeface="ＭＳ Ｐゴシック"/>
              </a:rPr>
              <a:t> </a:t>
            </a:r>
            <a:r>
              <a:rPr lang="ar-JO" dirty="0" err="1">
                <a:ea typeface="ＭＳ Ｐゴシック"/>
              </a:rPr>
              <a:t>all</a:t>
            </a:r>
            <a:r>
              <a:rPr lang="ar-JO" dirty="0">
                <a:ea typeface="ＭＳ Ｐゴシック"/>
              </a:rPr>
              <a:t> </a:t>
            </a:r>
            <a:r>
              <a:rPr lang="ar-JO" dirty="0" err="1">
                <a:ea typeface="ＭＳ Ｐゴシック"/>
              </a:rPr>
              <a:t>involve</a:t>
            </a:r>
            <a:r>
              <a:rPr lang="en-GB" dirty="0">
                <a:ea typeface="ＭＳ Ｐゴシック"/>
              </a:rPr>
              <a:t>:</a:t>
            </a:r>
          </a:p>
          <a:p>
            <a:pPr lvl="1"/>
            <a:r>
              <a:rPr lang="en-GB" dirty="0">
                <a:solidFill>
                  <a:srgbClr val="FF0000"/>
                </a:solidFill>
                <a:ea typeface="ＭＳ Ｐゴシック"/>
              </a:rPr>
              <a:t>Specification </a:t>
            </a:r>
            <a:r>
              <a:rPr lang="en-GB" dirty="0">
                <a:ea typeface="ＭＳ Ｐゴシック"/>
              </a:rPr>
              <a:t>– </a:t>
            </a:r>
            <a:r>
              <a:rPr lang="en-GB" dirty="0">
                <a:solidFill>
                  <a:srgbClr val="FF0000"/>
                </a:solidFill>
                <a:ea typeface="ＭＳ Ｐゴシック"/>
              </a:rPr>
              <a:t>defining what the system should do</a:t>
            </a:r>
            <a:r>
              <a:rPr lang="en-GB" dirty="0">
                <a:ea typeface="ＭＳ Ｐゴシック"/>
              </a:rPr>
              <a:t>;</a:t>
            </a:r>
          </a:p>
          <a:p>
            <a:pPr lvl="1"/>
            <a:r>
              <a:rPr lang="en-GB" dirty="0">
                <a:solidFill>
                  <a:srgbClr val="FF0000"/>
                </a:solidFill>
                <a:ea typeface="ＭＳ Ｐゴシック"/>
              </a:rPr>
              <a:t>Design and implementation</a:t>
            </a:r>
            <a:r>
              <a:rPr lang="en-GB" dirty="0">
                <a:ea typeface="ＭＳ Ｐゴシック"/>
              </a:rPr>
              <a:t> – </a:t>
            </a:r>
            <a:r>
              <a:rPr lang="en-GB" dirty="0">
                <a:solidFill>
                  <a:srgbClr val="FF0000"/>
                </a:solidFill>
                <a:ea typeface="ＭＳ Ｐゴシック"/>
              </a:rPr>
              <a:t>defining the organization of the system and implementing the system;</a:t>
            </a:r>
          </a:p>
          <a:p>
            <a:pPr lvl="1"/>
            <a:r>
              <a:rPr lang="en-GB" dirty="0">
                <a:solidFill>
                  <a:srgbClr val="FF0000"/>
                </a:solidFill>
                <a:ea typeface="ＭＳ Ｐゴシック"/>
              </a:rPr>
              <a:t>Validation – checking that it does what the customer wants;</a:t>
            </a:r>
          </a:p>
          <a:p>
            <a:pPr lvl="1"/>
            <a:r>
              <a:rPr lang="en-GB" dirty="0">
                <a:solidFill>
                  <a:srgbClr val="FF0000"/>
                </a:solidFill>
                <a:ea typeface="ＭＳ Ｐゴシック"/>
              </a:rPr>
              <a:t>Evolution – changing the system in response to changing customer needs.</a:t>
            </a:r>
          </a:p>
          <a:p>
            <a:r>
              <a:rPr lang="en-GB" dirty="0">
                <a:ea typeface="ＭＳ Ｐゴシック"/>
              </a:rPr>
              <a:t>A software process model is an abstract representation of a process. It presents a description of a process from some particular perspective.</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a:t>
            </a:fld>
            <a:endParaRPr lang="en-US"/>
          </a:p>
        </p:txBody>
      </p:sp>
      <p:sp>
        <p:nvSpPr>
          <p:cNvPr id="7" name="Footer Placeholder 6"/>
          <p:cNvSpPr>
            <a:spLocks noGrp="1"/>
          </p:cNvSpPr>
          <p:nvPr>
            <p:ph type="ftr" sz="quarter" idx="11"/>
          </p:nvPr>
        </p:nvSpPr>
        <p:spPr>
          <a:xfrm>
            <a:off x="3124200" y="6411302"/>
            <a:ext cx="2895600" cy="365125"/>
          </a:xfrm>
        </p:spPr>
        <p:txBody>
          <a:bodyPr/>
          <a:lstStyle/>
          <a:p>
            <a:pPr>
              <a:defRPr/>
            </a:pPr>
            <a:r>
              <a:rPr lang="en-US"/>
              <a:t>Chapter 2 Software Processes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115" y="231506"/>
            <a:ext cx="7293232" cy="1143000"/>
          </a:xfrm>
        </p:spPr>
        <p:txBody>
          <a:bodyPr/>
          <a:lstStyle/>
          <a:p>
            <a:r>
              <a:rPr lang="en-US">
                <a:ea typeface="ＭＳ Ｐゴシック"/>
              </a:rPr>
              <a:t>Software process descriptions</a:t>
            </a:r>
            <a:endParaRPr lang="en-US" b="0">
              <a:ea typeface="ＭＳ Ｐゴシック"/>
            </a:endParaRPr>
          </a:p>
          <a:p>
            <a:endParaRPr lang="en-US"/>
          </a:p>
        </p:txBody>
      </p:sp>
      <p:sp>
        <p:nvSpPr>
          <p:cNvPr id="3" name="Content Placeholder 2"/>
          <p:cNvSpPr>
            <a:spLocks noGrp="1"/>
          </p:cNvSpPr>
          <p:nvPr>
            <p:ph idx="1"/>
          </p:nvPr>
        </p:nvSpPr>
        <p:spPr/>
        <p:txBody>
          <a:bodyPr lIns="91440" tIns="45720" rIns="91440" bIns="45720" anchor="t"/>
          <a:lstStyle/>
          <a:p>
            <a:r>
              <a:rPr lang="en-GB" dirty="0">
                <a:ea typeface="ＭＳ Ｐゴシック"/>
              </a:rPr>
              <a:t>When we describe and discuss processes, we usually talk about the </a:t>
            </a:r>
            <a:r>
              <a:rPr lang="en-GB" dirty="0">
                <a:solidFill>
                  <a:srgbClr val="FF0000"/>
                </a:solidFill>
                <a:ea typeface="ＭＳ Ｐゴシック"/>
              </a:rPr>
              <a:t>activities in these processes</a:t>
            </a:r>
            <a:r>
              <a:rPr lang="en-GB" dirty="0">
                <a:ea typeface="ＭＳ Ｐゴシック"/>
              </a:rPr>
              <a:t> </a:t>
            </a:r>
            <a:r>
              <a:rPr lang="en-GB" dirty="0">
                <a:solidFill>
                  <a:srgbClr val="FF0000"/>
                </a:solidFill>
                <a:ea typeface="ＭＳ Ｐゴシック"/>
              </a:rPr>
              <a:t>such as specifying a data model, designing a user interface</a:t>
            </a:r>
            <a:r>
              <a:rPr lang="en-GB" dirty="0">
                <a:ea typeface="ＭＳ Ｐゴシック"/>
              </a:rPr>
              <a:t>, etc. and the ordering of these activities.</a:t>
            </a:r>
          </a:p>
          <a:p>
            <a:r>
              <a:rPr lang="en-GB" dirty="0">
                <a:solidFill>
                  <a:srgbClr val="FF0000"/>
                </a:solidFill>
                <a:ea typeface="ＭＳ Ｐゴシック"/>
              </a:rPr>
              <a:t>Process descriptions</a:t>
            </a:r>
            <a:r>
              <a:rPr lang="en-GB" dirty="0">
                <a:ea typeface="ＭＳ Ｐゴシック"/>
              </a:rPr>
              <a:t> may also include:</a:t>
            </a:r>
          </a:p>
          <a:p>
            <a:pPr lvl="1"/>
            <a:r>
              <a:rPr lang="en-GB" dirty="0">
                <a:solidFill>
                  <a:srgbClr val="FF0000"/>
                </a:solidFill>
                <a:ea typeface="ＭＳ Ｐゴシック"/>
              </a:rPr>
              <a:t>Products</a:t>
            </a:r>
            <a:r>
              <a:rPr lang="en-GB" dirty="0">
                <a:ea typeface="ＭＳ Ｐゴシック"/>
              </a:rPr>
              <a:t>, which are the outcomes of a process activity; </a:t>
            </a:r>
          </a:p>
          <a:p>
            <a:pPr lvl="1"/>
            <a:r>
              <a:rPr lang="en-GB" dirty="0">
                <a:solidFill>
                  <a:srgbClr val="FF0000"/>
                </a:solidFill>
                <a:ea typeface="ＭＳ Ｐゴシック"/>
              </a:rPr>
              <a:t>Roles</a:t>
            </a:r>
            <a:r>
              <a:rPr lang="en-GB" dirty="0">
                <a:ea typeface="ＭＳ Ｐゴシック"/>
              </a:rPr>
              <a:t>, which reflect the responsibilities of the people involved in the process;</a:t>
            </a:r>
          </a:p>
          <a:p>
            <a:pPr lvl="1"/>
            <a:r>
              <a:rPr lang="en-GB" dirty="0">
                <a:solidFill>
                  <a:srgbClr val="FF0000"/>
                </a:solidFill>
                <a:ea typeface="ＭＳ Ｐゴシック"/>
              </a:rPr>
              <a:t>Pre- and post-conditions</a:t>
            </a:r>
            <a:r>
              <a:rPr lang="en-GB" dirty="0">
                <a:ea typeface="ＭＳ Ｐゴシック"/>
              </a:rPr>
              <a:t>, which are statements that are true before and after a process activity has been enacted or a product produced.   </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Plan-driven and agile processes</a:t>
            </a:r>
          </a:p>
        </p:txBody>
      </p:sp>
      <p:sp>
        <p:nvSpPr>
          <p:cNvPr id="3" name="Content Placeholder 2"/>
          <p:cNvSpPr>
            <a:spLocks noGrp="1"/>
          </p:cNvSpPr>
          <p:nvPr>
            <p:ph idx="1"/>
          </p:nvPr>
        </p:nvSpPr>
        <p:spPr/>
        <p:txBody>
          <a:bodyPr lIns="91440" tIns="45720" rIns="91440" bIns="45720" anchor="t"/>
          <a:lstStyle/>
          <a:p>
            <a:r>
              <a:rPr lang="en-GB" dirty="0">
                <a:solidFill>
                  <a:srgbClr val="00B050"/>
                </a:solidFill>
                <a:ea typeface="ＭＳ Ｐゴシック"/>
              </a:rPr>
              <a:t>Plan-driven processes</a:t>
            </a:r>
            <a:r>
              <a:rPr lang="en-GB" dirty="0">
                <a:ea typeface="ＭＳ Ｐゴシック"/>
              </a:rPr>
              <a:t> </a:t>
            </a:r>
            <a:r>
              <a:rPr lang="en-GB" dirty="0">
                <a:solidFill>
                  <a:srgbClr val="FF0000"/>
                </a:solidFill>
                <a:ea typeface="ＭＳ Ｐゴシック"/>
              </a:rPr>
              <a:t>are processes where all of the process activities are planned in advance</a:t>
            </a:r>
            <a:r>
              <a:rPr lang="en-GB" dirty="0">
                <a:ea typeface="ＭＳ Ｐゴシック"/>
              </a:rPr>
              <a:t> and progress is measured against this plan. </a:t>
            </a:r>
            <a:endParaRPr lang="en-GB"/>
          </a:p>
          <a:p>
            <a:r>
              <a:rPr lang="en-GB" dirty="0">
                <a:ea typeface="ＭＳ Ｐゴシック"/>
              </a:rPr>
              <a:t>In agile processes, planning is incremental and it is easier to change the process to reflect changing customer requirements. </a:t>
            </a:r>
            <a:endParaRPr lang="en-GB" dirty="0"/>
          </a:p>
          <a:p>
            <a:r>
              <a:rPr lang="en-GB" dirty="0">
                <a:ea typeface="ＭＳ Ｐゴシック"/>
              </a:rPr>
              <a:t>In practice, most practical processes include elements of both plan-driven and agile approaches. </a:t>
            </a:r>
            <a:endParaRPr lang="en-GB" dirty="0"/>
          </a:p>
          <a:p>
            <a:r>
              <a:rPr lang="en-GB" dirty="0">
                <a:ea typeface="ＭＳ Ｐゴシック"/>
              </a:rPr>
              <a:t>There are no right or wrong software processes.</a:t>
            </a:r>
            <a:endParaRPr lang="en-US" dirty="0">
              <a:ea typeface="ＭＳ Ｐゴシック"/>
            </a:endParaRP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a:t>Software process models</a:t>
            </a:r>
          </a:p>
        </p:txBody>
      </p:sp>
      <p:sp>
        <p:nvSpPr>
          <p:cNvPr id="25603" name="Rectangle 3"/>
          <p:cNvSpPr>
            <a:spLocks noGrp="1" noChangeArrowheads="1"/>
          </p:cNvSpPr>
          <p:nvPr>
            <p:ph type="body" idx="1"/>
          </p:nvPr>
        </p:nvSpPr>
        <p:spPr/>
        <p:txBody>
          <a:bodyPr/>
          <a:lstStyle/>
          <a:p>
            <a:r>
              <a:rPr lang="en-GB"/>
              <a:t>The waterfall model</a:t>
            </a:r>
          </a:p>
          <a:p>
            <a:pPr lvl="1"/>
            <a:r>
              <a:rPr lang="en-GB"/>
              <a:t>Plan-driven model. Separate and distinct phases of specification and development.</a:t>
            </a:r>
          </a:p>
          <a:p>
            <a:r>
              <a:rPr lang="en-GB"/>
              <a:t>Incremental development</a:t>
            </a:r>
          </a:p>
          <a:p>
            <a:pPr lvl="1"/>
            <a:r>
              <a:rPr lang="en-GB"/>
              <a:t>Specification, development and validation are interleaved. May be plan-driven or agile.</a:t>
            </a:r>
          </a:p>
          <a:p>
            <a:r>
              <a:rPr lang="en-GB"/>
              <a:t>Reuse-oriented software engineering</a:t>
            </a:r>
          </a:p>
          <a:p>
            <a:pPr lvl="1"/>
            <a:r>
              <a:rPr lang="en-GB"/>
              <a:t>The system is assembled from existing components. May be plan-driven or agile.</a:t>
            </a:r>
          </a:p>
          <a:p>
            <a:r>
              <a:rPr lang="en-GB"/>
              <a:t>In practice, most large systems are developed using a process that incorporates elements from all of these models.</a:t>
            </a:r>
          </a:p>
        </p:txBody>
      </p:sp>
      <p:sp>
        <p:nvSpPr>
          <p:cNvPr id="9" name="Slide Number Placeholder 8"/>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
        <p:nvSpPr>
          <p:cNvPr id="10" name="Footer Placeholder 9"/>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a:t>The waterfall model</a:t>
            </a:r>
            <a:br>
              <a:rPr lang="en-GB"/>
            </a:br>
            <a:endParaRPr lang="en-US"/>
          </a:p>
        </p:txBody>
      </p:sp>
      <p:pic>
        <p:nvPicPr>
          <p:cNvPr id="4" name="Picture 3" descr="2.1.Waterfall-model.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853544" y="2118848"/>
            <a:ext cx="7183698" cy="4039465"/>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7</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a:t>Waterfall model phases</a:t>
            </a:r>
          </a:p>
        </p:txBody>
      </p:sp>
      <p:sp>
        <p:nvSpPr>
          <p:cNvPr id="29699" name="Rectangle 3"/>
          <p:cNvSpPr>
            <a:spLocks noGrp="1" noChangeArrowheads="1"/>
          </p:cNvSpPr>
          <p:nvPr>
            <p:ph type="body" idx="1"/>
          </p:nvPr>
        </p:nvSpPr>
        <p:spPr/>
        <p:txBody>
          <a:bodyPr lIns="91440" tIns="45720" rIns="91440" bIns="45720" anchor="t"/>
          <a:lstStyle/>
          <a:p>
            <a:r>
              <a:rPr lang="en-GB" dirty="0">
                <a:ea typeface="ＭＳ Ｐゴシック"/>
              </a:rPr>
              <a:t>There are separate identified phases in the waterfall model:</a:t>
            </a:r>
          </a:p>
          <a:p>
            <a:pPr lvl="1"/>
            <a:r>
              <a:rPr lang="en-GB" dirty="0">
                <a:ea typeface="ＭＳ Ｐゴシック"/>
              </a:rPr>
              <a:t>Requirements analysis and definition</a:t>
            </a:r>
          </a:p>
          <a:p>
            <a:pPr lvl="1"/>
            <a:r>
              <a:rPr lang="en-GB" dirty="0">
                <a:ea typeface="ＭＳ Ｐゴシック"/>
              </a:rPr>
              <a:t>System and software design</a:t>
            </a:r>
          </a:p>
          <a:p>
            <a:pPr lvl="1"/>
            <a:r>
              <a:rPr lang="en-GB" dirty="0">
                <a:ea typeface="ＭＳ Ｐゴシック"/>
              </a:rPr>
              <a:t>Implementation and unit testing</a:t>
            </a:r>
          </a:p>
          <a:p>
            <a:pPr lvl="1"/>
            <a:r>
              <a:rPr lang="en-GB" dirty="0">
                <a:ea typeface="ＭＳ Ｐゴシック"/>
              </a:rPr>
              <a:t>Integration and system testing</a:t>
            </a:r>
          </a:p>
          <a:p>
            <a:pPr lvl="1"/>
            <a:r>
              <a:rPr lang="en-GB" dirty="0">
                <a:ea typeface="ＭＳ Ｐゴシック"/>
              </a:rPr>
              <a:t>Operation and maintenance</a:t>
            </a:r>
          </a:p>
          <a:p>
            <a:r>
              <a:rPr lang="en-GB" dirty="0">
                <a:ea typeface="ＭＳ Ｐゴシック"/>
              </a:rPr>
              <a:t>The main </a:t>
            </a:r>
            <a:r>
              <a:rPr lang="en-GB" dirty="0">
                <a:solidFill>
                  <a:srgbClr val="FF0000"/>
                </a:solidFill>
                <a:ea typeface="ＭＳ Ｐゴシック"/>
              </a:rPr>
              <a:t>drawback </a:t>
            </a:r>
            <a:r>
              <a:rPr lang="en-GB" dirty="0">
                <a:ea typeface="ＭＳ Ｐゴシック"/>
              </a:rPr>
              <a:t>of the </a:t>
            </a:r>
            <a:r>
              <a:rPr lang="en-GB" dirty="0">
                <a:solidFill>
                  <a:srgbClr val="FF0000"/>
                </a:solidFill>
                <a:ea typeface="ＭＳ Ｐゴシック"/>
              </a:rPr>
              <a:t>waterfall model</a:t>
            </a:r>
            <a:r>
              <a:rPr lang="en-GB" dirty="0">
                <a:ea typeface="ＭＳ Ｐゴシック"/>
              </a:rPr>
              <a:t> </a:t>
            </a:r>
            <a:r>
              <a:rPr lang="en-GB" dirty="0">
                <a:solidFill>
                  <a:srgbClr val="FF0000"/>
                </a:solidFill>
                <a:ea typeface="ＭＳ Ｐゴシック"/>
              </a:rPr>
              <a:t>is the difficulty of accommodating change after the process is underway.</a:t>
            </a:r>
            <a:r>
              <a:rPr lang="en-GB" dirty="0">
                <a:ea typeface="ＭＳ Ｐゴシック"/>
              </a:rPr>
              <a:t> In principle, a phase has to be complete before moving onto the next phase.</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8</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a:t>Waterfall model problems</a:t>
            </a:r>
          </a:p>
        </p:txBody>
      </p:sp>
      <p:sp>
        <p:nvSpPr>
          <p:cNvPr id="92163" name="Rectangle 3"/>
          <p:cNvSpPr>
            <a:spLocks noGrp="1" noChangeArrowheads="1"/>
          </p:cNvSpPr>
          <p:nvPr>
            <p:ph type="body" idx="1"/>
          </p:nvPr>
        </p:nvSpPr>
        <p:spPr/>
        <p:txBody>
          <a:bodyPr lIns="91440" tIns="45720" rIns="91440" bIns="45720" anchor="t"/>
          <a:lstStyle/>
          <a:p>
            <a:r>
              <a:rPr lang="en-GB" dirty="0">
                <a:solidFill>
                  <a:srgbClr val="FF0000"/>
                </a:solidFill>
                <a:ea typeface="ＭＳ Ｐゴシック"/>
              </a:rPr>
              <a:t>Inflexible partitioning of the project</a:t>
            </a:r>
            <a:r>
              <a:rPr lang="en-GB" dirty="0">
                <a:ea typeface="ＭＳ Ｐゴシック"/>
              </a:rPr>
              <a:t> into distinct stages makes it difficult to respond to changing customer requirements.</a:t>
            </a:r>
          </a:p>
          <a:p>
            <a:pPr lvl="1"/>
            <a:r>
              <a:rPr lang="en-GB" dirty="0">
                <a:ea typeface="ＭＳ Ｐゴシック"/>
              </a:rPr>
              <a:t>Therefore, this model is only appropriate when the requirements are well-understood and changes will be fairly limited during the design process. </a:t>
            </a:r>
            <a:endParaRPr lang="en-GB" dirty="0"/>
          </a:p>
          <a:p>
            <a:pPr lvl="1"/>
            <a:r>
              <a:rPr lang="en-GB" dirty="0">
                <a:ea typeface="ＭＳ Ｐゴシック"/>
              </a:rPr>
              <a:t>Few business systems have stable requirements.</a:t>
            </a:r>
          </a:p>
          <a:p>
            <a:r>
              <a:rPr lang="en-GB" dirty="0">
                <a:ea typeface="ＭＳ Ｐゴシック"/>
              </a:rPr>
              <a:t>The waterfall model is mostly used for large systems engineering projects where a system is developed at several sites.</a:t>
            </a:r>
          </a:p>
          <a:p>
            <a:pPr lvl="1"/>
            <a:r>
              <a:rPr lang="en-GB" dirty="0">
                <a:ea typeface="ＭＳ Ｐゴシック"/>
              </a:rPr>
              <a:t>In those circumstances, the plan-driven nature of the waterfall model helps coordinate the work.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9</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a:t>Incremental development </a:t>
            </a:r>
            <a:br>
              <a:rPr lang="en-GB"/>
            </a:br>
            <a:endParaRPr lang="en-US"/>
          </a:p>
        </p:txBody>
      </p:sp>
      <p:pic>
        <p:nvPicPr>
          <p:cNvPr id="4" name="Picture 3" descr="2.2 Incremental-dev.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457200" y="1892460"/>
            <a:ext cx="7517728" cy="4051928"/>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10</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54247" y="274638"/>
            <a:ext cx="7293232" cy="1143000"/>
          </a:xfrm>
        </p:spPr>
        <p:txBody>
          <a:bodyPr/>
          <a:lstStyle/>
          <a:p>
            <a:r>
              <a:rPr lang="en-GB"/>
              <a:t>Incremental development benefits</a:t>
            </a:r>
          </a:p>
        </p:txBody>
      </p:sp>
      <p:sp>
        <p:nvSpPr>
          <p:cNvPr id="33795" name="Rectangle 3"/>
          <p:cNvSpPr>
            <a:spLocks noGrp="1" noChangeArrowheads="1"/>
          </p:cNvSpPr>
          <p:nvPr>
            <p:ph type="body" idx="1"/>
          </p:nvPr>
        </p:nvSpPr>
        <p:spPr/>
        <p:txBody>
          <a:bodyPr/>
          <a:lstStyle/>
          <a:p>
            <a:r>
              <a:rPr lang="en-GB"/>
              <a:t>The cost of accommodating changing customer requirements is reduced. </a:t>
            </a:r>
          </a:p>
          <a:p>
            <a:pPr lvl="1"/>
            <a:r>
              <a:rPr lang="en-GB"/>
              <a:t>The amount of analysis and documentation that has to be redone is much less than is required with the waterfall model.</a:t>
            </a:r>
          </a:p>
          <a:p>
            <a:r>
              <a:rPr lang="en-GB"/>
              <a:t>It is easier to get customer feedback on the development work that has been done. </a:t>
            </a:r>
          </a:p>
          <a:p>
            <a:pPr lvl="1"/>
            <a:r>
              <a:rPr lang="en-GB"/>
              <a:t>Customers can comment on demonstrations of the software and see how much has been implemented. </a:t>
            </a:r>
          </a:p>
          <a:p>
            <a:r>
              <a:rPr lang="en-GB"/>
              <a:t>More rapid delivery and deployment of useful software to the customer is possible. </a:t>
            </a:r>
          </a:p>
          <a:p>
            <a:pPr lvl="1"/>
            <a:r>
              <a:rPr lang="en-GB"/>
              <a:t>Customers are able to use and gain value from the software earlier than is possible with a waterfall process. </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11</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Incremental development problems</a:t>
            </a:r>
          </a:p>
        </p:txBody>
      </p:sp>
      <p:sp>
        <p:nvSpPr>
          <p:cNvPr id="3" name="Content Placeholder 2"/>
          <p:cNvSpPr>
            <a:spLocks noGrp="1"/>
          </p:cNvSpPr>
          <p:nvPr>
            <p:ph idx="1"/>
          </p:nvPr>
        </p:nvSpPr>
        <p:spPr/>
        <p:txBody>
          <a:bodyPr/>
          <a:lstStyle/>
          <a:p>
            <a:r>
              <a:rPr lang="en-GB"/>
              <a:t>The process is not visible. </a:t>
            </a:r>
          </a:p>
          <a:p>
            <a:pPr lvl="1"/>
            <a:r>
              <a:rPr lang="en-GB"/>
              <a:t>Managers need regular deliverables to measure progress. If systems are developed quickly, it is not cost-effective to produce documents that reflect every version of the system. </a:t>
            </a:r>
          </a:p>
          <a:p>
            <a:r>
              <a:rPr lang="en-GB"/>
              <a:t>System structure tends to degrade as new increments are added</a:t>
            </a:r>
            <a:r>
              <a:rPr lang="en-GB" i="1"/>
              <a:t>. </a:t>
            </a:r>
            <a:r>
              <a:rPr lang="en-GB"/>
              <a:t> </a:t>
            </a:r>
          </a:p>
          <a:p>
            <a:pPr lvl="1"/>
            <a:r>
              <a:rPr lang="en-GB"/>
              <a:t>Unless time and money is spent on refactoring to improve the software, regular change tends to corrupt its structure.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a:t>Reuse-oriented software engineering</a:t>
            </a:r>
          </a:p>
        </p:txBody>
      </p:sp>
      <p:sp>
        <p:nvSpPr>
          <p:cNvPr id="99331" name="Rectangle 3"/>
          <p:cNvSpPr>
            <a:spLocks noGrp="1" noChangeArrowheads="1"/>
          </p:cNvSpPr>
          <p:nvPr>
            <p:ph type="body" idx="1"/>
          </p:nvPr>
        </p:nvSpPr>
        <p:spPr/>
        <p:txBody>
          <a:bodyPr/>
          <a:lstStyle/>
          <a:p>
            <a:r>
              <a:rPr lang="en-GB"/>
              <a:t>Based on systematic reuse where systems are integrated from existing components or COTS (Commercial-off-the-shelf) systems.</a:t>
            </a:r>
          </a:p>
          <a:p>
            <a:r>
              <a:rPr lang="en-GB"/>
              <a:t>Process stages</a:t>
            </a:r>
          </a:p>
          <a:p>
            <a:pPr lvl="1"/>
            <a:r>
              <a:rPr lang="en-GB"/>
              <a:t>Component analysis;</a:t>
            </a:r>
          </a:p>
          <a:p>
            <a:pPr lvl="1"/>
            <a:r>
              <a:rPr lang="en-GB"/>
              <a:t>Requirements modification;</a:t>
            </a:r>
          </a:p>
          <a:p>
            <a:pPr lvl="1"/>
            <a:r>
              <a:rPr lang="en-GB"/>
              <a:t>System design with reuse;</a:t>
            </a:r>
          </a:p>
          <a:p>
            <a:pPr lvl="1"/>
            <a:r>
              <a:rPr lang="en-GB"/>
              <a:t>Development and integration.</a:t>
            </a:r>
          </a:p>
          <a:p>
            <a:r>
              <a:rPr lang="en-GB"/>
              <a:t>Reuse is now the standard approach for building many types of business system</a:t>
            </a:r>
          </a:p>
          <a:p>
            <a:pPr lvl="1"/>
            <a:r>
              <a:rPr lang="en-GB"/>
              <a:t>Reuse covered in more depth in Chapter 16.</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13</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a:t>Reuse-oriented software engineering</a:t>
            </a:r>
          </a:p>
        </p:txBody>
      </p:sp>
      <p:pic>
        <p:nvPicPr>
          <p:cNvPr id="4" name="Picture 3" descr="2.3 Reuse_based_proces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457200" y="2725509"/>
            <a:ext cx="8494383" cy="17733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software component</a:t>
            </a:r>
          </a:p>
        </p:txBody>
      </p:sp>
      <p:sp>
        <p:nvSpPr>
          <p:cNvPr id="3" name="Content Placeholder 2"/>
          <p:cNvSpPr>
            <a:spLocks noGrp="1"/>
          </p:cNvSpPr>
          <p:nvPr>
            <p:ph idx="1"/>
          </p:nvPr>
        </p:nvSpPr>
        <p:spPr/>
        <p:txBody>
          <a:bodyPr/>
          <a:lstStyle/>
          <a:p>
            <a:r>
              <a:rPr lang="en-GB"/>
              <a:t>Web services that are developed according to service standards and which are available for remote invocation. </a:t>
            </a:r>
          </a:p>
          <a:p>
            <a:r>
              <a:rPr lang="en-GB"/>
              <a:t>Collections of objects that are developed as a package to be integrated with a component framework such as .NET or J2EE.</a:t>
            </a:r>
          </a:p>
          <a:p>
            <a:r>
              <a:rPr lang="en-GB"/>
              <a:t>Stand-alone software systems (COTS) that are configured for use in a particular environment.</a:t>
            </a:r>
          </a:p>
          <a:p>
            <a:endParaRPr lang="en-US"/>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activities</a:t>
            </a:r>
          </a:p>
        </p:txBody>
      </p:sp>
      <p:sp>
        <p:nvSpPr>
          <p:cNvPr id="5" name="Content Placeholder 4"/>
          <p:cNvSpPr>
            <a:spLocks noGrp="1"/>
          </p:cNvSpPr>
          <p:nvPr>
            <p:ph idx="1"/>
          </p:nvPr>
        </p:nvSpPr>
        <p:spPr/>
        <p:txBody>
          <a:bodyPr/>
          <a:lstStyle/>
          <a:p>
            <a:r>
              <a:rPr lang="en-GB"/>
              <a:t>Real software processes are inter-leaved sequences of technical, collaborative and managerial activities with the overall goal of specifying, designing, implementing and testing a software system. </a:t>
            </a:r>
          </a:p>
          <a:p>
            <a:r>
              <a:rPr lang="en-GB"/>
              <a:t>The four basic process activities of specification, development, validation and evolution are organized differently in different development processes. In the waterfall model, they are organized in sequence, whereas in incremental development they are inter-leaved. </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16</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a:t>Software specification</a:t>
            </a:r>
          </a:p>
        </p:txBody>
      </p:sp>
      <p:sp>
        <p:nvSpPr>
          <p:cNvPr id="84995" name="Rectangle 3"/>
          <p:cNvSpPr>
            <a:spLocks noGrp="1" noChangeArrowheads="1"/>
          </p:cNvSpPr>
          <p:nvPr>
            <p:ph type="body" idx="1"/>
          </p:nvPr>
        </p:nvSpPr>
        <p:spPr>
          <a:xfrm>
            <a:off x="416664" y="1600200"/>
            <a:ext cx="8460480" cy="4525963"/>
          </a:xfrm>
        </p:spPr>
        <p:txBody>
          <a:bodyPr/>
          <a:lstStyle/>
          <a:p>
            <a:r>
              <a:rPr lang="en-GB"/>
              <a:t>The process of establishing what services are required and the constraints on the system’s operation and development.</a:t>
            </a:r>
          </a:p>
          <a:p>
            <a:r>
              <a:rPr lang="en-GB"/>
              <a:t>Requirements engineering process</a:t>
            </a:r>
          </a:p>
          <a:p>
            <a:pPr lvl="1"/>
            <a:r>
              <a:rPr lang="en-GB"/>
              <a:t>Feasibility study</a:t>
            </a:r>
          </a:p>
          <a:p>
            <a:pPr lvl="2"/>
            <a:r>
              <a:rPr lang="en-GB"/>
              <a:t>Is it technically and financially feasible to build the system?</a:t>
            </a:r>
          </a:p>
          <a:p>
            <a:pPr lvl="1"/>
            <a:r>
              <a:rPr lang="en-GB"/>
              <a:t>Requirements elicitation and analysis</a:t>
            </a:r>
          </a:p>
          <a:p>
            <a:pPr lvl="2"/>
            <a:r>
              <a:rPr lang="en-GB"/>
              <a:t>What do the system stakeholders require or expect from the system?</a:t>
            </a:r>
          </a:p>
          <a:p>
            <a:pPr lvl="1"/>
            <a:r>
              <a:rPr lang="en-GB"/>
              <a:t>Requirements specification	</a:t>
            </a:r>
          </a:p>
          <a:p>
            <a:pPr lvl="2"/>
            <a:r>
              <a:rPr lang="en-GB"/>
              <a:t>Defining the requirements in detail</a:t>
            </a:r>
          </a:p>
          <a:p>
            <a:pPr lvl="1"/>
            <a:r>
              <a:rPr lang="en-GB"/>
              <a:t>Requirements validation</a:t>
            </a:r>
          </a:p>
          <a:p>
            <a:pPr lvl="2"/>
            <a:r>
              <a:rPr lang="en-GB"/>
              <a:t>Checking the validity of the requirements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17</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a:t>The requirements engineering process</a:t>
            </a:r>
            <a:br>
              <a:rPr lang="en-GB"/>
            </a:br>
            <a:endParaRPr lang="en-US"/>
          </a:p>
        </p:txBody>
      </p:sp>
      <p:pic>
        <p:nvPicPr>
          <p:cNvPr id="4" name="Picture 3" descr="2.4 RE-proces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784268" y="2084840"/>
            <a:ext cx="7395542" cy="3859548"/>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18</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a:t>A general model of the design process </a:t>
            </a:r>
            <a:br>
              <a:rPr lang="en-GB"/>
            </a:br>
            <a:endParaRPr lang="en-US"/>
          </a:p>
        </p:txBody>
      </p:sp>
      <p:pic>
        <p:nvPicPr>
          <p:cNvPr id="4" name="Picture 3" descr="2.5 Design-proces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1314243" y="1638390"/>
            <a:ext cx="6211739" cy="463809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19</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activities</a:t>
            </a:r>
          </a:p>
        </p:txBody>
      </p:sp>
      <p:sp>
        <p:nvSpPr>
          <p:cNvPr id="3" name="Content Placeholder 2"/>
          <p:cNvSpPr>
            <a:spLocks noGrp="1"/>
          </p:cNvSpPr>
          <p:nvPr>
            <p:ph idx="1"/>
          </p:nvPr>
        </p:nvSpPr>
        <p:spPr/>
        <p:txBody>
          <a:bodyPr lIns="91440" tIns="45720" rIns="91440" bIns="45720" anchor="t"/>
          <a:lstStyle/>
          <a:p>
            <a:r>
              <a:rPr lang="en-GB" i="1" dirty="0">
                <a:ea typeface="ＭＳ Ｐゴシック"/>
              </a:rPr>
              <a:t>Architectural design,</a:t>
            </a:r>
            <a:r>
              <a:rPr lang="en-GB" dirty="0">
                <a:ea typeface="ＭＳ Ｐゴシック"/>
              </a:rPr>
              <a:t> where you identify the overall structure of the system, the principal components (sometimes called sub-systems or modules), their relationships and how they are distributed.</a:t>
            </a:r>
            <a:endParaRPr lang="en-US" dirty="0"/>
          </a:p>
          <a:p>
            <a:r>
              <a:rPr lang="en-GB" i="1" dirty="0">
                <a:ea typeface="ＭＳ Ｐゴシック"/>
              </a:rPr>
              <a:t>Interface design,</a:t>
            </a:r>
            <a:r>
              <a:rPr lang="en-GB" dirty="0">
                <a:ea typeface="ＭＳ Ｐゴシック"/>
              </a:rPr>
              <a:t> where you define the interfaces between system components. </a:t>
            </a:r>
            <a:endParaRPr lang="en-GB" dirty="0"/>
          </a:p>
          <a:p>
            <a:r>
              <a:rPr lang="en-GB" i="1" dirty="0">
                <a:ea typeface="ＭＳ Ｐゴシック"/>
              </a:rPr>
              <a:t>Component design, </a:t>
            </a:r>
            <a:r>
              <a:rPr lang="en-GB" dirty="0">
                <a:ea typeface="ＭＳ Ｐゴシック"/>
              </a:rPr>
              <a:t>where you take each system component and design how it will operate. </a:t>
            </a:r>
            <a:endParaRPr lang="en-GB" dirty="0"/>
          </a:p>
          <a:p>
            <a:r>
              <a:rPr lang="en-GB" i="1" dirty="0">
                <a:ea typeface="ＭＳ Ｐゴシック"/>
              </a:rPr>
              <a:t>Database design, </a:t>
            </a:r>
            <a:r>
              <a:rPr lang="en-GB" dirty="0">
                <a:ea typeface="ＭＳ Ｐゴシック"/>
              </a:rPr>
              <a:t>where you design the system data structures and how these are to be represented in a database. </a:t>
            </a:r>
            <a:endParaRPr lang="en-US" dirty="0"/>
          </a:p>
          <a:p>
            <a:endParaRPr lang="en-US"/>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a:t>Software validation</a:t>
            </a:r>
          </a:p>
        </p:txBody>
      </p:sp>
      <p:sp>
        <p:nvSpPr>
          <p:cNvPr id="88067" name="Rectangle 3"/>
          <p:cNvSpPr>
            <a:spLocks noGrp="1" noChangeArrowheads="1"/>
          </p:cNvSpPr>
          <p:nvPr>
            <p:ph type="body" idx="1"/>
          </p:nvPr>
        </p:nvSpPr>
        <p:spPr/>
        <p:txBody>
          <a:bodyPr/>
          <a:lstStyle/>
          <a:p>
            <a:r>
              <a:rPr lang="en-GB"/>
              <a:t>Verification and validation (V &amp; V) is intended to show that a system conforms to its specification and meets the requirements of the system customer.</a:t>
            </a:r>
          </a:p>
          <a:p>
            <a:r>
              <a:rPr lang="en-GB"/>
              <a:t>Involves checking and review processes and system testing.</a:t>
            </a:r>
          </a:p>
          <a:p>
            <a:r>
              <a:rPr lang="en-GB"/>
              <a:t>System testing involves executing the system with test cases that are derived from the specification of the real data to be processed by the system.</a:t>
            </a:r>
          </a:p>
          <a:p>
            <a:r>
              <a:rPr lang="en-GB"/>
              <a:t>Testing is the most commonly used V &amp; V activity.</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21</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a:t>Stages of testing</a:t>
            </a:r>
            <a:br>
              <a:rPr lang="en-GB"/>
            </a:br>
            <a:endParaRPr lang="en-US"/>
          </a:p>
        </p:txBody>
      </p:sp>
      <p:pic>
        <p:nvPicPr>
          <p:cNvPr id="4" name="Picture 3" descr="2.6 Testing-proces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1486409" y="2829344"/>
            <a:ext cx="6277535" cy="170704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22</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a:t>Testing stages</a:t>
            </a:r>
          </a:p>
        </p:txBody>
      </p:sp>
      <p:sp>
        <p:nvSpPr>
          <p:cNvPr id="115715" name="Rectangle 3"/>
          <p:cNvSpPr>
            <a:spLocks noGrp="1" noChangeArrowheads="1"/>
          </p:cNvSpPr>
          <p:nvPr>
            <p:ph type="body" idx="1"/>
          </p:nvPr>
        </p:nvSpPr>
        <p:spPr/>
        <p:txBody>
          <a:bodyPr/>
          <a:lstStyle/>
          <a:p>
            <a:r>
              <a:rPr lang="en-GB"/>
              <a:t>Development or component testing</a:t>
            </a:r>
          </a:p>
          <a:p>
            <a:pPr lvl="1"/>
            <a:r>
              <a:rPr lang="en-GB"/>
              <a:t>Individual components are tested independently; </a:t>
            </a:r>
          </a:p>
          <a:p>
            <a:pPr lvl="1"/>
            <a:r>
              <a:rPr lang="en-GB"/>
              <a:t>Components may be functions or objects or coherent groupings of these entities.</a:t>
            </a:r>
          </a:p>
          <a:p>
            <a:r>
              <a:rPr lang="en-GB"/>
              <a:t>System testing</a:t>
            </a:r>
          </a:p>
          <a:p>
            <a:pPr lvl="1"/>
            <a:r>
              <a:rPr lang="en-GB"/>
              <a:t>Testing of the system as a whole. Testing of emergent properties is particularly important.</a:t>
            </a:r>
          </a:p>
          <a:p>
            <a:r>
              <a:rPr lang="en-GB"/>
              <a:t>Acceptance testing</a:t>
            </a:r>
          </a:p>
          <a:p>
            <a:pPr lvl="1"/>
            <a:r>
              <a:rPr lang="en-GB"/>
              <a:t>Testing with customer data to check that the system meets the customer’s needs.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23</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a:t>Testing phases in a plan-driven software process</a:t>
            </a:r>
            <a:br>
              <a:rPr lang="en-GB"/>
            </a:br>
            <a:endParaRPr lang="en-US"/>
          </a:p>
        </p:txBody>
      </p:sp>
      <p:pic>
        <p:nvPicPr>
          <p:cNvPr id="4" name="Picture 3" descr="2.7 Testing-phase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248957" y="2186304"/>
            <a:ext cx="8647437" cy="2988016"/>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24</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a:t>Software evolution</a:t>
            </a:r>
          </a:p>
        </p:txBody>
      </p:sp>
      <p:sp>
        <p:nvSpPr>
          <p:cNvPr id="89091" name="Rectangle 3"/>
          <p:cNvSpPr>
            <a:spLocks noGrp="1" noChangeArrowheads="1"/>
          </p:cNvSpPr>
          <p:nvPr>
            <p:ph type="body" idx="1"/>
          </p:nvPr>
        </p:nvSpPr>
        <p:spPr/>
        <p:txBody>
          <a:bodyPr/>
          <a:lstStyle/>
          <a:p>
            <a:r>
              <a:rPr lang="en-GB"/>
              <a:t>Software is inherently flexible and can change. </a:t>
            </a:r>
          </a:p>
          <a:p>
            <a:r>
              <a:rPr lang="en-GB"/>
              <a:t>As requirements change through changing business circumstances, the software that supports the business must also evolve and change.</a:t>
            </a:r>
          </a:p>
          <a:p>
            <a:r>
              <a:rPr lang="en-GB"/>
              <a:t>Although there has been a demarcation between development and evolution (maintenance) this is increasingly irrelevant as fewer and fewer systems are completely new.</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25</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a:t>System evolution </a:t>
            </a:r>
            <a:endParaRPr lang="en-US"/>
          </a:p>
        </p:txBody>
      </p:sp>
      <p:pic>
        <p:nvPicPr>
          <p:cNvPr id="4" name="Picture 3" descr="2.8 System evolution.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1758092" y="2707497"/>
            <a:ext cx="6112314" cy="18807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26</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GB"/>
              <a:t>Software processes are the activities involved in producing a software system. Software process models are abstract representations of these processes.</a:t>
            </a:r>
          </a:p>
          <a:p>
            <a:r>
              <a:rPr lang="en-GB"/>
              <a:t>General process models describe the organization of software processes. Examples of these general models include the ‘waterfall’ model,  incremental development, and reuse-oriented development.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27</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lstStyle/>
          <a:p>
            <a:r>
              <a:rPr lang="en-GB"/>
              <a:t>Requirements engineering is the process of developing a software specification.</a:t>
            </a:r>
          </a:p>
          <a:p>
            <a:r>
              <a:rPr lang="en-GB"/>
              <a:t>Design and implementation processes are concerned with transforming a requirements specification into an executable software system. </a:t>
            </a:r>
          </a:p>
          <a:p>
            <a:r>
              <a:rPr lang="en-GB"/>
              <a:t>Software validation is the process of checking that the system conforms to its specification and that it meets the real needs of the users of the system.</a:t>
            </a:r>
          </a:p>
          <a:p>
            <a:r>
              <a:rPr lang="en-GB"/>
              <a:t>Software evolution takes place when you change existing software systems to meet new requirements. The software must evolve to remain useful.</a:t>
            </a:r>
          </a:p>
          <a:p>
            <a:endParaRPr lang="en-US"/>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Lecture 2</a:t>
            </a: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Coping with change</a:t>
            </a:r>
          </a:p>
        </p:txBody>
      </p:sp>
      <p:sp>
        <p:nvSpPr>
          <p:cNvPr id="5" name="Content Placeholder 4"/>
          <p:cNvSpPr>
            <a:spLocks noGrp="1"/>
          </p:cNvSpPr>
          <p:nvPr>
            <p:ph idx="1"/>
          </p:nvPr>
        </p:nvSpPr>
        <p:spPr/>
        <p:txBody>
          <a:bodyPr/>
          <a:lstStyle/>
          <a:p>
            <a:r>
              <a:rPr lang="en-US"/>
              <a:t>Change is inevitable in all large software projects.</a:t>
            </a:r>
          </a:p>
          <a:p>
            <a:pPr lvl="1"/>
            <a:r>
              <a:rPr lang="en-US"/>
              <a:t>Business changes lead to new and changed system requirements</a:t>
            </a:r>
          </a:p>
          <a:p>
            <a:pPr lvl="1"/>
            <a:r>
              <a:rPr lang="en-US"/>
              <a:t>New technologies open up new possibilities for improving implementations</a:t>
            </a:r>
          </a:p>
          <a:p>
            <a:pPr lvl="1"/>
            <a:r>
              <a:rPr lang="en-US"/>
              <a:t>Changing platforms require application changes</a:t>
            </a:r>
          </a:p>
          <a:p>
            <a:r>
              <a:rPr lang="en-US"/>
              <a:t>Change leads to rework so the costs of change include both rework (e.g. re-</a:t>
            </a:r>
            <a:r>
              <a:rPr lang="en-US" err="1"/>
              <a:t>analysing</a:t>
            </a:r>
            <a:r>
              <a:rPr lang="en-US"/>
              <a:t> requirements) as well as the costs of implementing new functionality</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30</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Reducing the costs of rework</a:t>
            </a:r>
          </a:p>
        </p:txBody>
      </p:sp>
      <p:sp>
        <p:nvSpPr>
          <p:cNvPr id="3" name="Content Placeholder 2"/>
          <p:cNvSpPr>
            <a:spLocks noGrp="1"/>
          </p:cNvSpPr>
          <p:nvPr>
            <p:ph idx="1"/>
          </p:nvPr>
        </p:nvSpPr>
        <p:spPr/>
        <p:txBody>
          <a:bodyPr/>
          <a:lstStyle/>
          <a:p>
            <a:r>
              <a:rPr lang="en-GB"/>
              <a:t>Change avoidance, where the software process includes activities that can anticipate possible changes before significant rework is required. </a:t>
            </a:r>
          </a:p>
          <a:p>
            <a:pPr lvl="1"/>
            <a:r>
              <a:rPr lang="en-GB"/>
              <a:t>For example, a prototype system may be developed to show some key features of the system to customers. </a:t>
            </a:r>
          </a:p>
          <a:p>
            <a:r>
              <a:rPr lang="en-GB"/>
              <a:t>Change tolerance, where the process is designed so that changes can be accommodated at relatively low cost.</a:t>
            </a:r>
          </a:p>
          <a:p>
            <a:pPr lvl="1"/>
            <a:r>
              <a:rPr lang="en-GB"/>
              <a:t>This normally involves some form of incremental development. Proposed changes may be implemented in increments that have not yet been developed. If this is impossible, then only a single increment (a small part of the system) may have be altered to incorporate the change.</a:t>
            </a:r>
          </a:p>
          <a:p>
            <a:endParaRPr lang="en-US"/>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en-US"/>
              <a:t>Software prototyping</a:t>
            </a:r>
          </a:p>
        </p:txBody>
      </p:sp>
      <p:sp>
        <p:nvSpPr>
          <p:cNvPr id="1178627" name="Rectangle 3"/>
          <p:cNvSpPr>
            <a:spLocks noGrp="1" noChangeArrowheads="1"/>
          </p:cNvSpPr>
          <p:nvPr>
            <p:ph type="body" idx="1"/>
          </p:nvPr>
        </p:nvSpPr>
        <p:spPr/>
        <p:txBody>
          <a:bodyPr/>
          <a:lstStyle/>
          <a:p>
            <a:r>
              <a:rPr lang="en-US"/>
              <a:t>A prototype is an initial version of a system used to demonstrate concepts and try out design options.</a:t>
            </a:r>
          </a:p>
          <a:p>
            <a:r>
              <a:rPr lang="en-US"/>
              <a:t>A prototype can be used in:</a:t>
            </a:r>
          </a:p>
          <a:p>
            <a:pPr lvl="1"/>
            <a:r>
              <a:rPr lang="en-US"/>
              <a:t>The requirements engineering process to help with requirements elicitation and validation;</a:t>
            </a:r>
          </a:p>
          <a:p>
            <a:pPr lvl="1"/>
            <a:r>
              <a:rPr lang="en-US"/>
              <a:t>In design processes to explore options and develop a UI design;</a:t>
            </a:r>
          </a:p>
          <a:p>
            <a:pPr lvl="1"/>
            <a:r>
              <a:rPr lang="en-US"/>
              <a:t>In the testing process to run back-to-back tests.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32</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p:txBody>
          <a:bodyPr/>
          <a:lstStyle/>
          <a:p>
            <a:r>
              <a:rPr lang="en-US"/>
              <a:t>Benefits of prototyping</a:t>
            </a:r>
          </a:p>
        </p:txBody>
      </p:sp>
      <p:sp>
        <p:nvSpPr>
          <p:cNvPr id="1182723" name="Rectangle 3"/>
          <p:cNvSpPr>
            <a:spLocks noGrp="1" noChangeArrowheads="1"/>
          </p:cNvSpPr>
          <p:nvPr>
            <p:ph type="body" idx="1"/>
          </p:nvPr>
        </p:nvSpPr>
        <p:spPr/>
        <p:txBody>
          <a:bodyPr/>
          <a:lstStyle/>
          <a:p>
            <a:r>
              <a:rPr lang="en-US"/>
              <a:t>Improved system usability.</a:t>
            </a:r>
          </a:p>
          <a:p>
            <a:r>
              <a:rPr lang="en-US"/>
              <a:t>A closer match to users’ real needs.</a:t>
            </a:r>
          </a:p>
          <a:p>
            <a:r>
              <a:rPr lang="en-US"/>
              <a:t>Improved design quality.</a:t>
            </a:r>
          </a:p>
          <a:p>
            <a:r>
              <a:rPr lang="en-US"/>
              <a:t>Improved maintainability.</a:t>
            </a:r>
          </a:p>
          <a:p>
            <a:r>
              <a:rPr lang="en-US"/>
              <a:t>Reduced development effort.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33</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a:t>The process of prototype development</a:t>
            </a:r>
            <a:br>
              <a:rPr lang="en-GB"/>
            </a:br>
            <a:endParaRPr lang="en-US"/>
          </a:p>
        </p:txBody>
      </p:sp>
      <p:pic>
        <p:nvPicPr>
          <p:cNvPr id="4" name="Picture 3" descr="2.9 PrototypeProces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970575" y="2608352"/>
            <a:ext cx="7627164" cy="2162927"/>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34</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Prototype development</a:t>
            </a:r>
          </a:p>
        </p:txBody>
      </p:sp>
      <p:sp>
        <p:nvSpPr>
          <p:cNvPr id="3" name="Content Placeholder 2"/>
          <p:cNvSpPr>
            <a:spLocks noGrp="1"/>
          </p:cNvSpPr>
          <p:nvPr>
            <p:ph idx="1"/>
          </p:nvPr>
        </p:nvSpPr>
        <p:spPr/>
        <p:txBody>
          <a:bodyPr/>
          <a:lstStyle/>
          <a:p>
            <a:r>
              <a:rPr lang="en-US"/>
              <a:t>May be based on rapid prototyping languages or tools</a:t>
            </a:r>
          </a:p>
          <a:p>
            <a:r>
              <a:rPr lang="en-US"/>
              <a:t>May involve leaving out functionality</a:t>
            </a:r>
          </a:p>
          <a:p>
            <a:pPr lvl="1"/>
            <a:r>
              <a:rPr lang="en-US"/>
              <a:t>Prototype should focus on areas of the product that are not well-understood;</a:t>
            </a:r>
          </a:p>
          <a:p>
            <a:pPr lvl="1"/>
            <a:r>
              <a:rPr lang="en-US"/>
              <a:t>Error checking and recovery may not be included in the prototype;</a:t>
            </a:r>
          </a:p>
          <a:p>
            <a:pPr lvl="1"/>
            <a:r>
              <a:rPr lang="en-US"/>
              <a:t>Focus on functional rather than non-functional requirements such as reliability and security</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a:t>Throw-away prototypes</a:t>
            </a:r>
          </a:p>
        </p:txBody>
      </p:sp>
      <p:sp>
        <p:nvSpPr>
          <p:cNvPr id="1184771" name="Rectangle 3"/>
          <p:cNvSpPr>
            <a:spLocks noGrp="1" noChangeArrowheads="1"/>
          </p:cNvSpPr>
          <p:nvPr>
            <p:ph type="body" idx="1"/>
          </p:nvPr>
        </p:nvSpPr>
        <p:spPr/>
        <p:txBody>
          <a:bodyPr/>
          <a:lstStyle/>
          <a:p>
            <a:r>
              <a:rPr lang="en-US"/>
              <a:t>Prototypes should be discarded after development as they are not a good basis for a production system:</a:t>
            </a:r>
          </a:p>
          <a:p>
            <a:pPr lvl="1"/>
            <a:r>
              <a:rPr lang="en-US"/>
              <a:t>It may be impossible to tune the system to meet non-functional requirements;</a:t>
            </a:r>
          </a:p>
          <a:p>
            <a:pPr lvl="1"/>
            <a:r>
              <a:rPr lang="en-US"/>
              <a:t>Prototypes are normally undocumented;</a:t>
            </a:r>
          </a:p>
          <a:p>
            <a:pPr lvl="1"/>
            <a:r>
              <a:rPr lang="en-US"/>
              <a:t>The prototype structure is usually degraded through rapid change;</a:t>
            </a:r>
          </a:p>
          <a:p>
            <a:pPr lvl="1"/>
            <a:r>
              <a:rPr lang="en-US"/>
              <a:t>The prototype probably will not meet normal organisational quality standards.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36</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a:t>Incremental delivery</a:t>
            </a:r>
          </a:p>
        </p:txBody>
      </p:sp>
      <p:sp>
        <p:nvSpPr>
          <p:cNvPr id="108547" name="Rectangle 3"/>
          <p:cNvSpPr>
            <a:spLocks noGrp="1" noChangeArrowheads="1"/>
          </p:cNvSpPr>
          <p:nvPr>
            <p:ph type="body" idx="1"/>
          </p:nvPr>
        </p:nvSpPr>
        <p:spPr/>
        <p:txBody>
          <a:bodyPr/>
          <a:lstStyle/>
          <a:p>
            <a:r>
              <a:rPr lang="en-GB"/>
              <a:t>Rather than deliver the system as a single delivery, the development and delivery is broken down into increments with each increment delivering part of the required functionality.</a:t>
            </a:r>
          </a:p>
          <a:p>
            <a:r>
              <a:rPr lang="en-GB"/>
              <a:t>User requirements are prioritised and the highest priority requirements are included in early increments.</a:t>
            </a:r>
          </a:p>
          <a:p>
            <a:r>
              <a:rPr lang="en-GB"/>
              <a:t>Once the development of an increment is started, the requirements are frozen though requirements for later increments can continue to evolve.</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37</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104" y="219686"/>
            <a:ext cx="7293232" cy="1143000"/>
          </a:xfrm>
        </p:spPr>
        <p:txBody>
          <a:bodyPr/>
          <a:lstStyle/>
          <a:p>
            <a:r>
              <a:rPr lang="en-US"/>
              <a:t>Incremental development and delivery</a:t>
            </a:r>
          </a:p>
        </p:txBody>
      </p:sp>
      <p:sp>
        <p:nvSpPr>
          <p:cNvPr id="3" name="Content Placeholder 2"/>
          <p:cNvSpPr>
            <a:spLocks noGrp="1"/>
          </p:cNvSpPr>
          <p:nvPr>
            <p:ph idx="1"/>
          </p:nvPr>
        </p:nvSpPr>
        <p:spPr/>
        <p:txBody>
          <a:bodyPr/>
          <a:lstStyle/>
          <a:p>
            <a:r>
              <a:rPr lang="en-US"/>
              <a:t>Incremental development</a:t>
            </a:r>
          </a:p>
          <a:p>
            <a:pPr lvl="1"/>
            <a:r>
              <a:rPr lang="en-US"/>
              <a:t>Develop the system in increments and evaluate each increment before proceeding to the development of the next increment;</a:t>
            </a:r>
          </a:p>
          <a:p>
            <a:pPr lvl="1"/>
            <a:r>
              <a:rPr lang="en-US"/>
              <a:t>Normal approach used in agile methods;</a:t>
            </a:r>
          </a:p>
          <a:p>
            <a:pPr lvl="1"/>
            <a:r>
              <a:rPr lang="en-US"/>
              <a:t>Evaluation done by user/customer proxy.</a:t>
            </a:r>
          </a:p>
          <a:p>
            <a:r>
              <a:rPr lang="en-US"/>
              <a:t>Incremental delivery</a:t>
            </a:r>
          </a:p>
          <a:p>
            <a:pPr lvl="1"/>
            <a:r>
              <a:rPr lang="en-US"/>
              <a:t>Deploy an increment for use by end-users;</a:t>
            </a:r>
          </a:p>
          <a:p>
            <a:pPr lvl="1"/>
            <a:r>
              <a:rPr lang="en-US"/>
              <a:t>More realistic evaluation about practical use of software;</a:t>
            </a:r>
          </a:p>
          <a:p>
            <a:pPr lvl="1"/>
            <a:r>
              <a:rPr lang="en-US"/>
              <a:t>Difficult to implement for replacement systems as increments have less functionality than the system being replaced.</a:t>
            </a:r>
          </a:p>
          <a:p>
            <a:pPr lvl="1"/>
            <a:endParaRPr lang="en-US"/>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a:t>Incremental delivery </a:t>
            </a:r>
            <a:endParaRPr lang="en-US"/>
          </a:p>
        </p:txBody>
      </p:sp>
      <p:pic>
        <p:nvPicPr>
          <p:cNvPr id="4" name="Picture 3" descr="2.10 Incremental-delivery.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457200" y="2353036"/>
            <a:ext cx="8172017" cy="2767244"/>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39</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a:t>Incremental delivery advantages</a:t>
            </a:r>
          </a:p>
        </p:txBody>
      </p:sp>
      <p:sp>
        <p:nvSpPr>
          <p:cNvPr id="109571" name="Rectangle 3"/>
          <p:cNvSpPr>
            <a:spLocks noGrp="1" noChangeArrowheads="1"/>
          </p:cNvSpPr>
          <p:nvPr>
            <p:ph type="body" idx="1"/>
          </p:nvPr>
        </p:nvSpPr>
        <p:spPr/>
        <p:txBody>
          <a:bodyPr/>
          <a:lstStyle/>
          <a:p>
            <a:r>
              <a:rPr lang="en-GB"/>
              <a:t>Customer value can be delivered with each increment so system functionality is available earlier.</a:t>
            </a:r>
          </a:p>
          <a:p>
            <a:r>
              <a:rPr lang="en-GB"/>
              <a:t>Early increments act as a prototype to help elicit requirements for later increments.</a:t>
            </a:r>
          </a:p>
          <a:p>
            <a:r>
              <a:rPr lang="en-GB"/>
              <a:t>Lower risk of overall project failure.</a:t>
            </a:r>
          </a:p>
          <a:p>
            <a:r>
              <a:rPr lang="en-GB"/>
              <a:t>The highest priority system services tend to receive the most testing.</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40</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Incremental delivery problems</a:t>
            </a:r>
          </a:p>
        </p:txBody>
      </p:sp>
      <p:sp>
        <p:nvSpPr>
          <p:cNvPr id="3" name="Content Placeholder 2"/>
          <p:cNvSpPr>
            <a:spLocks noGrp="1"/>
          </p:cNvSpPr>
          <p:nvPr>
            <p:ph idx="1"/>
          </p:nvPr>
        </p:nvSpPr>
        <p:spPr>
          <a:xfrm>
            <a:off x="337800" y="1600200"/>
            <a:ext cx="8229600" cy="4525963"/>
          </a:xfrm>
        </p:spPr>
        <p:txBody>
          <a:bodyPr/>
          <a:lstStyle/>
          <a:p>
            <a:r>
              <a:rPr lang="en-GB"/>
              <a:t>Most systems require a set of basic facilities that are used by different parts of the system. </a:t>
            </a:r>
          </a:p>
          <a:p>
            <a:pPr lvl="1"/>
            <a:r>
              <a:rPr lang="en-GB"/>
              <a:t>As requirements are not defined in detail until an increment is to be implemented, it can be hard to identify common facilities that are needed by all increments. </a:t>
            </a:r>
          </a:p>
          <a:p>
            <a:r>
              <a:rPr lang="en-GB"/>
              <a:t>The essence of iterative processes is that the specification is developed in conjunction with the software. </a:t>
            </a:r>
          </a:p>
          <a:p>
            <a:pPr lvl="1"/>
            <a:r>
              <a:rPr lang="en-GB"/>
              <a:t>However, this conflicts with the procurement model of many organizations, where the complete system specification is part of the system development contract. </a:t>
            </a:r>
          </a:p>
          <a:p>
            <a:endParaRPr lang="en-US"/>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a:t>Boehm’s spiral model</a:t>
            </a:r>
          </a:p>
        </p:txBody>
      </p:sp>
      <p:sp>
        <p:nvSpPr>
          <p:cNvPr id="111619" name="Rectangle 3"/>
          <p:cNvSpPr>
            <a:spLocks noGrp="1" noChangeArrowheads="1"/>
          </p:cNvSpPr>
          <p:nvPr>
            <p:ph type="body" idx="1"/>
          </p:nvPr>
        </p:nvSpPr>
        <p:spPr/>
        <p:txBody>
          <a:bodyPr/>
          <a:lstStyle/>
          <a:p>
            <a:r>
              <a:rPr lang="en-GB"/>
              <a:t>Process is represented as a spiral rather than as a sequence of activities with backtracking.</a:t>
            </a:r>
          </a:p>
          <a:p>
            <a:r>
              <a:rPr lang="en-GB"/>
              <a:t>Each loop in the spiral represents a phase in the process. </a:t>
            </a:r>
          </a:p>
          <a:p>
            <a:r>
              <a:rPr lang="en-GB"/>
              <a:t>No fixed phases such as specification or design - loops in the spiral are chosen depending on what is required.</a:t>
            </a:r>
          </a:p>
          <a:p>
            <a:r>
              <a:rPr lang="en-GB"/>
              <a:t>Risks are explicitly assessed and resolved throughout the process.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42</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a:t>Boehm’s spiral model of the software process </a:t>
            </a:r>
            <a:endParaRPr lang="en-US"/>
          </a:p>
        </p:txBody>
      </p:sp>
      <p:pic>
        <p:nvPicPr>
          <p:cNvPr id="4" name="Picture 3" descr="2.11 Spiral-model.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1007471" y="1644649"/>
            <a:ext cx="6986169" cy="475330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43</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a:t>Spiral model sectors</a:t>
            </a:r>
          </a:p>
        </p:txBody>
      </p:sp>
      <p:sp>
        <p:nvSpPr>
          <p:cNvPr id="112643" name="Rectangle 3"/>
          <p:cNvSpPr>
            <a:spLocks noGrp="1" noChangeArrowheads="1"/>
          </p:cNvSpPr>
          <p:nvPr>
            <p:ph type="body" idx="1"/>
          </p:nvPr>
        </p:nvSpPr>
        <p:spPr/>
        <p:txBody>
          <a:bodyPr/>
          <a:lstStyle/>
          <a:p>
            <a:r>
              <a:rPr lang="en-GB"/>
              <a:t>Objective setting</a:t>
            </a:r>
          </a:p>
          <a:p>
            <a:pPr lvl="1"/>
            <a:r>
              <a:rPr lang="en-GB"/>
              <a:t>Specific objectives for the phase are identified.</a:t>
            </a:r>
          </a:p>
          <a:p>
            <a:r>
              <a:rPr lang="en-GB"/>
              <a:t>Risk assessment and reduction</a:t>
            </a:r>
          </a:p>
          <a:p>
            <a:pPr lvl="1"/>
            <a:r>
              <a:rPr lang="en-GB"/>
              <a:t>Risks are assessed and activities put in place to reduce the key risks.</a:t>
            </a:r>
          </a:p>
          <a:p>
            <a:r>
              <a:rPr lang="en-GB"/>
              <a:t>Development and validation</a:t>
            </a:r>
          </a:p>
          <a:p>
            <a:pPr lvl="1"/>
            <a:r>
              <a:rPr lang="en-GB"/>
              <a:t>A development model for the system is chosen  which can be any of the generic models.</a:t>
            </a:r>
          </a:p>
          <a:p>
            <a:r>
              <a:rPr lang="en-GB"/>
              <a:t>Planning</a:t>
            </a:r>
          </a:p>
          <a:p>
            <a:pPr lvl="1"/>
            <a:r>
              <a:rPr lang="en-GB"/>
              <a:t>The project is reviewed and the next phase of the spiral is planned.</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44</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Spiral model usage</a:t>
            </a:r>
          </a:p>
        </p:txBody>
      </p:sp>
      <p:sp>
        <p:nvSpPr>
          <p:cNvPr id="3" name="Content Placeholder 2"/>
          <p:cNvSpPr>
            <a:spLocks noGrp="1"/>
          </p:cNvSpPr>
          <p:nvPr>
            <p:ph idx="1"/>
          </p:nvPr>
        </p:nvSpPr>
        <p:spPr/>
        <p:txBody>
          <a:bodyPr/>
          <a:lstStyle/>
          <a:p>
            <a:r>
              <a:rPr lang="en-US"/>
              <a:t>Spiral model has been very influential in helping people think about iteration in software processes and introducing the risk-driven approach to development.</a:t>
            </a:r>
          </a:p>
          <a:p>
            <a:r>
              <a:rPr lang="en-US"/>
              <a:t>In practice, however, the model is rarely used as published for practical software development.</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t>The Rational Unified Process</a:t>
            </a:r>
          </a:p>
        </p:txBody>
      </p:sp>
      <p:sp>
        <p:nvSpPr>
          <p:cNvPr id="121859" name="Rectangle 3"/>
          <p:cNvSpPr>
            <a:spLocks noGrp="1" noChangeArrowheads="1"/>
          </p:cNvSpPr>
          <p:nvPr>
            <p:ph type="body" idx="1"/>
          </p:nvPr>
        </p:nvSpPr>
        <p:spPr/>
        <p:txBody>
          <a:bodyPr/>
          <a:lstStyle/>
          <a:p>
            <a:r>
              <a:rPr lang="en-US"/>
              <a:t>A modern generic process derived from the work on the UML and associated process.</a:t>
            </a:r>
          </a:p>
          <a:p>
            <a:r>
              <a:rPr lang="en-US"/>
              <a:t>Brings together aspects of the 3 generic process models discussed previously.</a:t>
            </a:r>
          </a:p>
          <a:p>
            <a:r>
              <a:rPr lang="en-US"/>
              <a:t>Normally described from 3 perspectives</a:t>
            </a:r>
          </a:p>
          <a:p>
            <a:pPr lvl="1"/>
            <a:r>
              <a:rPr lang="en-US"/>
              <a:t>A dynamic perspective that shows phases over time;</a:t>
            </a:r>
          </a:p>
          <a:p>
            <a:pPr lvl="1"/>
            <a:r>
              <a:rPr lang="en-US"/>
              <a:t>A static perspective that shows process activities;</a:t>
            </a:r>
          </a:p>
          <a:p>
            <a:pPr lvl="1"/>
            <a:r>
              <a:rPr lang="en-US"/>
              <a:t>A </a:t>
            </a:r>
            <a:r>
              <a:rPr lang="en-US" err="1"/>
              <a:t>practive</a:t>
            </a:r>
            <a:r>
              <a:rPr lang="en-US"/>
              <a:t> perspective that suggests good practice.</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46</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GB"/>
              <a:t>Phases in the Rational Unified Process </a:t>
            </a:r>
            <a:endParaRPr lang="en-US"/>
          </a:p>
        </p:txBody>
      </p:sp>
      <p:pic>
        <p:nvPicPr>
          <p:cNvPr id="4" name="Picture 3" descr="2.12 RUP phases.eps"/>
          <p:cNvPicPr>
            <a:picLocks noChangeAspect="1"/>
          </p:cNvPicPr>
          <p:nvPr/>
        </p:nvPicPr>
        <mc:AlternateContent xmlns:mc="http://schemas.openxmlformats.org/markup-compatibility/2006">
          <mc:Choice xmlns="" xmlns:ma="http://schemas.microsoft.com/office/mac/drawingml/2008/main" xmlns:mv="urn:schemas-microsoft-com:mac:vml" Requires="ma">
            <p:blipFill>
              <a:blip r:embed="rId2"/>
              <a:stretch>
                <a:fillRect/>
              </a:stretch>
            </p:blipFill>
          </mc:Choice>
          <mc:Fallback>
            <p:blipFill>
              <a:blip r:embed="rId3"/>
              <a:stretch>
                <a:fillRect/>
              </a:stretch>
            </p:blipFill>
          </mc:Fallback>
        </mc:AlternateContent>
        <p:spPr>
          <a:xfrm>
            <a:off x="457200" y="2775338"/>
            <a:ext cx="7968480" cy="183156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47</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t>RUP phases</a:t>
            </a:r>
          </a:p>
        </p:txBody>
      </p:sp>
      <p:sp>
        <p:nvSpPr>
          <p:cNvPr id="122883" name="Rectangle 3"/>
          <p:cNvSpPr>
            <a:spLocks noGrp="1" noChangeArrowheads="1"/>
          </p:cNvSpPr>
          <p:nvPr>
            <p:ph type="body" idx="1"/>
          </p:nvPr>
        </p:nvSpPr>
        <p:spPr/>
        <p:txBody>
          <a:bodyPr/>
          <a:lstStyle/>
          <a:p>
            <a:r>
              <a:rPr lang="en-US"/>
              <a:t>Inception</a:t>
            </a:r>
          </a:p>
          <a:p>
            <a:pPr lvl="1"/>
            <a:r>
              <a:rPr lang="en-US"/>
              <a:t>Establish the business case for the system.</a:t>
            </a:r>
          </a:p>
          <a:p>
            <a:r>
              <a:rPr lang="en-US"/>
              <a:t>Elaboration</a:t>
            </a:r>
          </a:p>
          <a:p>
            <a:pPr lvl="1"/>
            <a:r>
              <a:rPr lang="en-US"/>
              <a:t>Develop an understanding of the problem domain and the system architecture.</a:t>
            </a:r>
          </a:p>
          <a:p>
            <a:r>
              <a:rPr lang="en-US"/>
              <a:t>Construction</a:t>
            </a:r>
          </a:p>
          <a:p>
            <a:pPr lvl="1"/>
            <a:r>
              <a:rPr lang="en-US"/>
              <a:t>System design, programming and testing.</a:t>
            </a:r>
          </a:p>
          <a:p>
            <a:r>
              <a:rPr lang="en-US"/>
              <a:t>Transition</a:t>
            </a:r>
          </a:p>
          <a:p>
            <a:pPr lvl="1"/>
            <a:r>
              <a:rPr lang="en-US"/>
              <a:t>Deploy the system in its operating environment.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48</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RUP iteration</a:t>
            </a:r>
          </a:p>
        </p:txBody>
      </p:sp>
      <p:sp>
        <p:nvSpPr>
          <p:cNvPr id="3" name="Content Placeholder 2"/>
          <p:cNvSpPr>
            <a:spLocks noGrp="1"/>
          </p:cNvSpPr>
          <p:nvPr>
            <p:ph idx="1"/>
          </p:nvPr>
        </p:nvSpPr>
        <p:spPr/>
        <p:txBody>
          <a:bodyPr/>
          <a:lstStyle/>
          <a:p>
            <a:r>
              <a:rPr lang="en-US"/>
              <a:t>In-phase iteration</a:t>
            </a:r>
          </a:p>
          <a:p>
            <a:pPr lvl="1"/>
            <a:r>
              <a:rPr lang="en-US"/>
              <a:t>Each phase is iterative with results developed incrementally.</a:t>
            </a:r>
          </a:p>
          <a:p>
            <a:r>
              <a:rPr lang="en-US"/>
              <a:t>Cross-phase iteration</a:t>
            </a:r>
          </a:p>
          <a:p>
            <a:pPr lvl="1"/>
            <a:r>
              <a:rPr lang="en-US"/>
              <a:t>As shown by the loop in the RUP model, the whole set of phases may be enacted incrementally.</a:t>
            </a:r>
          </a:p>
          <a:p>
            <a:endParaRPr lang="en-US"/>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GB"/>
              <a:t>Static workflows in the Rational Unified Process</a:t>
            </a: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051326436"/>
              </p:ext>
            </p:extLst>
          </p:nvPr>
        </p:nvGraphicFramePr>
        <p:xfrm>
          <a:off x="888391" y="1837356"/>
          <a:ext cx="7367218" cy="4215113"/>
        </p:xfrm>
        <a:graphic>
          <a:graphicData uri="http://schemas.openxmlformats.org/drawingml/2006/table">
            <a:tbl>
              <a:tblPr firstRow="1" bandRow="1">
                <a:tableStyleId>{3C2FFA5D-87B4-456A-9821-1D502468CF0F}</a:tableStyleId>
              </a:tblPr>
              <a:tblGrid>
                <a:gridCol w="2327377">
                  <a:extLst>
                    <a:ext uri="{9D8B030D-6E8A-4147-A177-3AD203B41FA5}">
                      <a16:colId xmlns:a16="http://schemas.microsoft.com/office/drawing/2014/main" val="20000"/>
                    </a:ext>
                  </a:extLst>
                </a:gridCol>
                <a:gridCol w="5039841">
                  <a:extLst>
                    <a:ext uri="{9D8B030D-6E8A-4147-A177-3AD203B41FA5}">
                      <a16:colId xmlns:a16="http://schemas.microsoft.com/office/drawing/2014/main" val="20001"/>
                    </a:ext>
                  </a:extLst>
                </a:gridCol>
              </a:tblGrid>
              <a:tr h="465474">
                <a:tc>
                  <a:txBody>
                    <a:bodyPr/>
                    <a:lstStyle/>
                    <a:p>
                      <a:pPr algn="just">
                        <a:spcAft>
                          <a:spcPts val="0"/>
                        </a:spcAft>
                      </a:pPr>
                      <a:r>
                        <a:rPr lang="en-GB" sz="1600" dirty="0">
                          <a:latin typeface="Arial"/>
                          <a:cs typeface="Arial"/>
                        </a:rPr>
                        <a:t>Workflow</a:t>
                      </a:r>
                      <a:endParaRPr lang="en-GB" sz="1600" b="1"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GB" sz="1600">
                          <a:latin typeface="Arial"/>
                          <a:cs typeface="Arial"/>
                        </a:rPr>
                        <a:t>Description</a:t>
                      </a:r>
                      <a:endParaRPr lang="en-GB" sz="1600" b="1">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614165">
                <a:tc>
                  <a:txBody>
                    <a:bodyPr/>
                    <a:lstStyle/>
                    <a:p>
                      <a:pPr algn="just">
                        <a:spcAft>
                          <a:spcPts val="0"/>
                        </a:spcAft>
                      </a:pPr>
                      <a:r>
                        <a:rPr lang="en-GB" sz="1600" dirty="0">
                          <a:latin typeface="Arial"/>
                          <a:cs typeface="Arial"/>
                        </a:rPr>
                        <a:t>Business modelling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The business processes are modelled using business use cases.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72761">
                <a:tc>
                  <a:txBody>
                    <a:bodyPr/>
                    <a:lstStyle/>
                    <a:p>
                      <a:pPr algn="just">
                        <a:spcAft>
                          <a:spcPts val="0"/>
                        </a:spcAft>
                      </a:pPr>
                      <a:r>
                        <a:rPr lang="en-GB" sz="1600">
                          <a:latin typeface="Arial"/>
                          <a:cs typeface="Arial"/>
                        </a:rPr>
                        <a:t>Requirements</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Actors who interact with the system are identified and use cases are developed to model the system requirements.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72761">
                <a:tc>
                  <a:txBody>
                    <a:bodyPr/>
                    <a:lstStyle/>
                    <a:p>
                      <a:pPr algn="just">
                        <a:spcAft>
                          <a:spcPts val="0"/>
                        </a:spcAft>
                      </a:pPr>
                      <a:r>
                        <a:rPr lang="en-GB" sz="1600">
                          <a:latin typeface="Arial"/>
                          <a:cs typeface="Arial"/>
                        </a:rPr>
                        <a:t>Analysis and design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 design model is created and documented using architectural models, component models, object models and sequence models.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389952">
                <a:tc>
                  <a:txBody>
                    <a:bodyPr/>
                    <a:lstStyle/>
                    <a:p>
                      <a:pPr algn="just">
                        <a:spcAft>
                          <a:spcPts val="0"/>
                        </a:spcAft>
                      </a:pPr>
                      <a:r>
                        <a:rPr lang="en-GB" sz="1600">
                          <a:latin typeface="Arial"/>
                          <a:cs typeface="Arial"/>
                        </a:rPr>
                        <a:t>Implementation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components in the system are implemented and structured into implementation sub-systems. Automatic code generation from design models helps accelerate this process.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50</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Static workflows in the Rational Unified Process</a:t>
            </a:r>
            <a:endParaRPr lang="en-US"/>
          </a:p>
        </p:txBody>
      </p:sp>
      <p:graphicFrame>
        <p:nvGraphicFramePr>
          <p:cNvPr id="4" name="Content Placeholder 3"/>
          <p:cNvGraphicFramePr>
            <a:graphicFrameLocks noGrp="1"/>
          </p:cNvGraphicFramePr>
          <p:nvPr>
            <p:ph idx="1"/>
          </p:nvPr>
        </p:nvGraphicFramePr>
        <p:xfrm>
          <a:off x="457200" y="2005500"/>
          <a:ext cx="8229600" cy="3510280"/>
        </p:xfrm>
        <a:graphic>
          <a:graphicData uri="http://schemas.openxmlformats.org/drawingml/2006/table">
            <a:tbl>
              <a:tblPr firstRow="1" bandRow="1">
                <a:tableStyleId>{3C2FFA5D-87B4-456A-9821-1D502468CF0F}</a:tableStyleId>
              </a:tblPr>
              <a:tblGrid>
                <a:gridCol w="2231616">
                  <a:extLst>
                    <a:ext uri="{9D8B030D-6E8A-4147-A177-3AD203B41FA5}">
                      <a16:colId xmlns:a16="http://schemas.microsoft.com/office/drawing/2014/main" val="20000"/>
                    </a:ext>
                  </a:extLst>
                </a:gridCol>
                <a:gridCol w="5997984">
                  <a:extLst>
                    <a:ext uri="{9D8B030D-6E8A-4147-A177-3AD203B41FA5}">
                      <a16:colId xmlns:a16="http://schemas.microsoft.com/office/drawing/2014/main" val="20001"/>
                    </a:ext>
                  </a:extLst>
                </a:gridCol>
              </a:tblGrid>
              <a:tr h="370840">
                <a:tc>
                  <a:txBody>
                    <a:bodyPr/>
                    <a:lstStyle/>
                    <a:p>
                      <a:r>
                        <a:rPr lang="en-US" sz="1600">
                          <a:latin typeface="Arial"/>
                          <a:cs typeface="Arial"/>
                        </a:rPr>
                        <a:t>Workflow</a:t>
                      </a:r>
                    </a:p>
                  </a:txBody>
                  <a:tcPr/>
                </a:tc>
                <a:tc>
                  <a:txBody>
                    <a:bodyPr/>
                    <a:lstStyle/>
                    <a:p>
                      <a:r>
                        <a:rPr lang="en-US" sz="1600">
                          <a:latin typeface="Arial"/>
                          <a:cs typeface="Arial"/>
                        </a:rPr>
                        <a:t>Description</a:t>
                      </a:r>
                    </a:p>
                  </a:txBody>
                  <a:tcPr/>
                </a:tc>
                <a:extLst>
                  <a:ext uri="{0D108BD9-81ED-4DB2-BD59-A6C34878D82A}">
                    <a16:rowId xmlns:a16="http://schemas.microsoft.com/office/drawing/2014/main" val="10000"/>
                  </a:ext>
                </a:extLst>
              </a:tr>
              <a:tr h="370840">
                <a:tc>
                  <a:txBody>
                    <a:bodyPr/>
                    <a:lstStyle/>
                    <a:p>
                      <a:pPr algn="just">
                        <a:spcAft>
                          <a:spcPts val="0"/>
                        </a:spcAft>
                      </a:pPr>
                      <a:r>
                        <a:rPr lang="en-GB" sz="1600">
                          <a:latin typeface="Arial"/>
                          <a:cs typeface="Arial"/>
                        </a:rPr>
                        <a:t>Testing</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Testing is an iterative process that is carried out in conjunction with implementation. System testing follows the completion of the implementation.</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just">
                        <a:spcAft>
                          <a:spcPts val="0"/>
                        </a:spcAft>
                      </a:pPr>
                      <a:r>
                        <a:rPr lang="en-GB" sz="1600">
                          <a:latin typeface="Arial"/>
                          <a:cs typeface="Arial"/>
                        </a:rPr>
                        <a:t>Deployment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 product release is created, distributed to users and installed in their workplace.</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GB" sz="1600">
                          <a:latin typeface="Arial"/>
                          <a:cs typeface="Arial"/>
                        </a:rPr>
                        <a:t>Configuration and change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This supporting workflow managed changes to the system (see Chapter 25).</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600">
                          <a:latin typeface="Arial"/>
                          <a:cs typeface="Arial"/>
                        </a:rPr>
                        <a:t>Project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This supporting workflow manages the system development (see Chapters 22 and 23).</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600">
                          <a:latin typeface="Arial"/>
                          <a:cs typeface="Arial"/>
                        </a:rPr>
                        <a:t>Environment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This workflow is concerned with making appropriate software tools available to the software development team.</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5"/>
                  </a:ext>
                </a:extLst>
              </a:tr>
            </a:tbl>
          </a:graphicData>
        </a:graphic>
      </p:graphicFrame>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51</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RUP good practice</a:t>
            </a:r>
          </a:p>
        </p:txBody>
      </p:sp>
      <p:sp>
        <p:nvSpPr>
          <p:cNvPr id="124931" name="Rectangle 3"/>
          <p:cNvSpPr>
            <a:spLocks noGrp="1" noChangeArrowheads="1"/>
          </p:cNvSpPr>
          <p:nvPr>
            <p:ph type="body" idx="1"/>
          </p:nvPr>
        </p:nvSpPr>
        <p:spPr/>
        <p:txBody>
          <a:bodyPr/>
          <a:lstStyle/>
          <a:p>
            <a:r>
              <a:rPr lang="en-US"/>
              <a:t>Develop software iteratively</a:t>
            </a:r>
          </a:p>
          <a:p>
            <a:pPr lvl="1"/>
            <a:r>
              <a:rPr lang="en-US"/>
              <a:t>Plan increments based on customer priorities and deliver highest priority increments first.</a:t>
            </a:r>
          </a:p>
          <a:p>
            <a:r>
              <a:rPr lang="en-US"/>
              <a:t>Manage requirements</a:t>
            </a:r>
          </a:p>
          <a:p>
            <a:pPr lvl="1"/>
            <a:r>
              <a:rPr lang="en-US"/>
              <a:t>Explicitly document customer requirements and keep track of changes to these requirements.</a:t>
            </a:r>
          </a:p>
          <a:p>
            <a:r>
              <a:rPr lang="en-US"/>
              <a:t>Use component-based architectures</a:t>
            </a:r>
          </a:p>
          <a:p>
            <a:pPr lvl="1"/>
            <a:r>
              <a:rPr lang="en-US"/>
              <a:t>Organize the system architecture as a set of reusable components.</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52</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RUP good practice</a:t>
            </a:r>
          </a:p>
        </p:txBody>
      </p:sp>
      <p:sp>
        <p:nvSpPr>
          <p:cNvPr id="3" name="Content Placeholder 2"/>
          <p:cNvSpPr>
            <a:spLocks noGrp="1"/>
          </p:cNvSpPr>
          <p:nvPr>
            <p:ph idx="1"/>
          </p:nvPr>
        </p:nvSpPr>
        <p:spPr/>
        <p:txBody>
          <a:bodyPr/>
          <a:lstStyle/>
          <a:p>
            <a:r>
              <a:rPr lang="en-US"/>
              <a:t>Visually model software</a:t>
            </a:r>
          </a:p>
          <a:p>
            <a:pPr lvl="1"/>
            <a:r>
              <a:rPr lang="en-US"/>
              <a:t>Use graphical UML models to present static and dynamic views of the software.</a:t>
            </a:r>
          </a:p>
          <a:p>
            <a:r>
              <a:rPr lang="en-US"/>
              <a:t>Verify software quality</a:t>
            </a:r>
          </a:p>
          <a:p>
            <a:pPr lvl="1"/>
            <a:r>
              <a:rPr lang="en-US"/>
              <a:t>Ensure that the software meet’s organizational quality standards.</a:t>
            </a:r>
          </a:p>
          <a:p>
            <a:r>
              <a:rPr lang="en-US"/>
              <a:t>Control changes to software</a:t>
            </a:r>
          </a:p>
          <a:p>
            <a:pPr lvl="1"/>
            <a:r>
              <a:rPr lang="en-US"/>
              <a:t>Manage software changes using a change management system and configuration management tools.</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GB"/>
              <a:t>Processes should include activities to cope with change. This may involve a prototyping phase that helps avoid poor decisions on requirements and design. </a:t>
            </a:r>
          </a:p>
          <a:p>
            <a:r>
              <a:rPr lang="en-GB"/>
              <a:t>Processes may be structured for iterative development and delivery so that changes may be made without disrupting the system as a whole.</a:t>
            </a:r>
          </a:p>
          <a:p>
            <a:r>
              <a:rPr lang="en-GB"/>
              <a:t>The Rational Unified Process is a modern generic process model that is organized into phases (inception, elaboration, construction and transition) but separates activities (requirements, analysis and design, etc.) from these phases.</a:t>
            </a:r>
          </a:p>
          <a:p>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54</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3184C312116D41A88C72FE0230FCAC" ma:contentTypeVersion="2" ma:contentTypeDescription="Create a new document." ma:contentTypeScope="" ma:versionID="926378598a73f42348aa1ac1c7339324">
  <xsd:schema xmlns:xsd="http://www.w3.org/2001/XMLSchema" xmlns:xs="http://www.w3.org/2001/XMLSchema" xmlns:p="http://schemas.microsoft.com/office/2006/metadata/properties" xmlns:ns2="5c86b82e-7948-42ac-8fe2-5ef17a10ee2c" targetNamespace="http://schemas.microsoft.com/office/2006/metadata/properties" ma:root="true" ma:fieldsID="cd83df0f7916ca16b0974ce828d64c91" ns2:_="">
    <xsd:import namespace="5c86b82e-7948-42ac-8fe2-5ef17a10ee2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6b82e-7948-42ac-8fe2-5ef17a10ee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2D55196-BEE1-4C92-A1B6-5458E6C4D30F}"/>
</file>

<file path=customXml/itemProps2.xml><?xml version="1.0" encoding="utf-8"?>
<ds:datastoreItem xmlns:ds="http://schemas.openxmlformats.org/officeDocument/2006/customXml" ds:itemID="{6336AC0F-667A-452C-A261-B8F35C825F6F}">
  <ds:schemaRefs>
    <ds:schemaRef ds:uri="http://schemas.microsoft.com/sharepoint/v3/contenttype/forms"/>
  </ds:schemaRefs>
</ds:datastoreItem>
</file>

<file path=customXml/itemProps3.xml><?xml version="1.0" encoding="utf-8"?>
<ds:datastoreItem xmlns:ds="http://schemas.openxmlformats.org/officeDocument/2006/customXml" ds:itemID="{30F5C108-B01F-49C1-A5AD-9A72DE387A1D}">
  <ds:schemaRefs>
    <ds:schemaRef ds:uri="http://schemas.microsoft.com/office/infopath/2007/PartnerControls"/>
    <ds:schemaRef ds:uri="http://purl.org/dc/elements/1.1/"/>
    <ds:schemaRef ds:uri="http://schemas.microsoft.com/office/2006/documentManagement/types"/>
    <ds:schemaRef ds:uri="http://purl.org/dc/terms/"/>
    <ds:schemaRef ds:uri="http://schemas.openxmlformats.org/package/2006/metadata/core-properties"/>
    <ds:schemaRef ds:uri="http://purl.org/dc/dcmitype/"/>
    <ds:schemaRef ds:uri="8bda5484-8b7e-4413-af53-209fc9b712e6"/>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SE9.thmx</Template>
  <TotalTime>0</TotalTime>
  <Words>3048</Words>
  <Application>Microsoft Office PowerPoint</Application>
  <PresentationFormat>عرض على الشاشة (4:3)</PresentationFormat>
  <Paragraphs>378</Paragraphs>
  <Slides>54</Slides>
  <Notes>2</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54</vt:i4>
      </vt:variant>
    </vt:vector>
  </HeadingPairs>
  <TitlesOfParts>
    <vt:vector size="58" baseType="lpstr">
      <vt:lpstr>Arial</vt:lpstr>
      <vt:lpstr>Calibri</vt:lpstr>
      <vt:lpstr>Wingdings</vt:lpstr>
      <vt:lpstr>SE9</vt:lpstr>
      <vt:lpstr>Chapter 2 – Software Processes</vt:lpstr>
      <vt:lpstr>Topics covered</vt:lpstr>
      <vt:lpstr>The software process</vt:lpstr>
      <vt:lpstr>Software process descriptions </vt:lpstr>
      <vt:lpstr>Plan-driven and agile processes</vt:lpstr>
      <vt:lpstr>Software process models</vt:lpstr>
      <vt:lpstr>The waterfall model </vt:lpstr>
      <vt:lpstr>Waterfall model phases</vt:lpstr>
      <vt:lpstr>Waterfall model problems</vt:lpstr>
      <vt:lpstr>Incremental development  </vt:lpstr>
      <vt:lpstr>Incremental development benefits</vt:lpstr>
      <vt:lpstr>Incremental development problems</vt:lpstr>
      <vt:lpstr>Reuse-oriented software engineering</vt:lpstr>
      <vt:lpstr>Reuse-oriented software engineering</vt:lpstr>
      <vt:lpstr>Types of software component</vt:lpstr>
      <vt:lpstr>Process activities</vt:lpstr>
      <vt:lpstr>Software specification</vt:lpstr>
      <vt:lpstr>The requirements engineering process </vt:lpstr>
      <vt:lpstr>A general model of the design process  </vt:lpstr>
      <vt:lpstr>Design activities</vt:lpstr>
      <vt:lpstr>Software validation</vt:lpstr>
      <vt:lpstr>Stages of testing </vt:lpstr>
      <vt:lpstr>Testing stages</vt:lpstr>
      <vt:lpstr>Testing phases in a plan-driven software process </vt:lpstr>
      <vt:lpstr>Software evolution</vt:lpstr>
      <vt:lpstr>System evolution </vt:lpstr>
      <vt:lpstr>Key points</vt:lpstr>
      <vt:lpstr>Key points</vt:lpstr>
      <vt:lpstr>Chapter 2 – Software Processes</vt:lpstr>
      <vt:lpstr>Coping with change</vt:lpstr>
      <vt:lpstr>Reducing the costs of rework</vt:lpstr>
      <vt:lpstr>Software prototyping</vt:lpstr>
      <vt:lpstr>Benefits of prototyping</vt:lpstr>
      <vt:lpstr>The process of prototype development </vt:lpstr>
      <vt:lpstr>Prototype development</vt:lpstr>
      <vt:lpstr>Throw-away prototypes</vt:lpstr>
      <vt:lpstr>Incremental delivery</vt:lpstr>
      <vt:lpstr>Incremental development and delivery</vt:lpstr>
      <vt:lpstr>Incremental delivery </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lpstr>Static workflows in the Rational Unified Process</vt:lpstr>
      <vt:lpstr>Static workflows in the Rational Unified Process</vt:lpstr>
      <vt:lpstr>RUP good practice</vt:lpstr>
      <vt:lpstr>RUP good practice</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ميس نعيم عاطف الابراهيم</cp:lastModifiedBy>
  <cp:revision>36</cp:revision>
  <dcterms:created xsi:type="dcterms:W3CDTF">2010-01-06T19:57:16Z</dcterms:created>
  <dcterms:modified xsi:type="dcterms:W3CDTF">2022-01-21T23:53:53Z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0x010100743184C312116D41A88C72FE0230FCAC</vt:lpwstr>
  </property>
</Properties>
</file>
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19"/>
  </p:notesMasterIdLst>
  <p:handoutMasterIdLst>
    <p:handoutMasterId r:id="rId20"/>
  </p:handoutMasterIdLst>
  <p:sldIdLst>
    <p:sldId id="331" r:id="rId5"/>
    <p:sldId id="332" r:id="rId6"/>
    <p:sldId id="358" r:id="rId7"/>
    <p:sldId id="359" r:id="rId8"/>
    <p:sldId id="360" r:id="rId9"/>
    <p:sldId id="361" r:id="rId10"/>
    <p:sldId id="449" r:id="rId11"/>
    <p:sldId id="450" r:id="rId12"/>
    <p:sldId id="363" r:id="rId13"/>
    <p:sldId id="364" r:id="rId14"/>
    <p:sldId id="365" r:id="rId15"/>
    <p:sldId id="451" r:id="rId16"/>
    <p:sldId id="367" r:id="rId17"/>
    <p:sldId id="452" r:id="rId1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/>
    <p:restoredTop sz="94635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-289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8C8C3F6-D6EC-4454-AED8-151D4118C8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B8B47E2-82CE-4363-8A39-5A4F2B6CC1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8985D904-943B-4701-BDB6-5864BE7D22F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77B09886-4C66-4DC0-99B1-7CCC79211BD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AED9E23-4007-4CE0-B9FA-1CB7C3B0E5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B6FEA57-E60B-48C6-8E0B-0D3E2B9085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B9BA4C6-A2CE-4EDE-A987-C89469DACF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0A16516-4161-4E77-A9DD-6C7EC92E21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B08562F-F4D9-42CE-8D67-E7A9840A07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6BBE589-20BB-4D23-905B-F9CA800E4F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201015B-FDFC-46CC-A1D5-58B217CE07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B26353B-46D8-44BD-A369-9C24747663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5886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805A76C5-F4C2-4CDA-BEF0-83C1B0843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E3CA1B-BF1D-4627-BFE0-E36D1A7C18AA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1DDD850-CCC7-49E3-BE4A-0B1C37B48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38181F9-B100-4204-B5BD-A3889A861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0BF0E1CA-E1F9-48F3-98D4-AE83DB73C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A8FD42-FB50-4F0E-83DB-032AD89E6B10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10C58F99-7224-4F82-A66E-F77DA5550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6610F8A-E173-4BEE-BFEB-FAAE867F0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49A2025-556A-439D-B416-B393448D1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8B8218-B419-4C46-9B31-7C5CA16C0958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097CAA5-5009-40F9-948A-088E43827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2A2029-71A1-427A-9D55-052D9150B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B422F43B-7A17-4E70-9902-B75D2AD874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3AE300-16A7-43AF-AE1F-1DE14735F1C6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64F304B6-B49F-4C63-9E77-58BDCDE54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0C8F3D9-B786-431D-AD5A-29215D79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38769F49-5E48-4F61-A820-D92DE4D09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D748A9-A869-41DD-902B-3C31EC6B06E1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514B7CE5-FF07-4CF4-8A99-176990BB0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1215128-6CC2-485F-8CCE-6F4FEFACE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2B454191-C00D-4881-8CC3-145741C18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868E1-D052-4404-8916-164E1D0D0B49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207D3C19-C6DC-4AF4-97F2-A512D0071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7534874-A7D8-4E15-AAAD-8916ECED8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44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56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50B0E92-D303-4BB0-A4D8-C84931373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A8A344-8948-476E-AFBC-AE7944A55FD0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D2136EB-8912-4394-B77C-6B86DF5CA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1F5DAD-71C2-48AE-88DA-58F7B2FAE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4B4CDFE-17FF-4FEE-B58E-763B8E6ABD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FD57D9-9ACF-4A83-A909-F49ABBD723C3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ED68831C-2F81-44B4-9958-1F9967551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8370FE4-983D-4F1E-AFFB-EB46F1255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EF30C6CA-0F10-4E2E-ADBB-88AAB3EE5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9972C-A281-4ED9-A13B-A6C6E2D45CB3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3679CC6-842E-4CC5-B72C-F6CA84D12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78DDD2C-05BB-4045-8228-45C12D640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3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31EF95C2-30F5-4674-B550-61EA8B43C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CA2DBE-B6D1-4FB7-B4F4-1496EA4F2FD3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63B1BE69-F2AE-4073-AD7F-EC55BF74D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0DDF634-7FF2-4300-8F34-0D079A7CE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54BC344-C1FD-44AD-A100-9D0E33C6C4B8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7E75EDC-303E-4E56-9408-EF5F6789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B69C08-493E-41C1-B483-47128811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AA2E823-920C-4DEC-868D-6F348261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4F72CA-B5F3-4CC3-B1C5-049AB2BE3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ECC7507-8379-4EE6-BEC3-4061C2C8C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5323F60B-2E00-42BE-8400-E134976C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62D06F3E-35A2-4B07-822F-E3170C08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969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15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70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77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0192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819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9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793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22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30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111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44CBE58F-1B06-4E3C-ABEB-DDA960189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B50D259-301D-4848-91DC-2AA45CBA7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5946" y="233853"/>
            <a:ext cx="7710854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3B78BAB-95C2-4816-A43D-C9D0E779A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C7DCAF-0404-44E9-A1D7-8FC247909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9ABEA7D2-7A49-4009-B20A-D733788B8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43D9BEF-9484-4F5F-B79E-90AD48A2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1992072-B079-4F45-93BD-7B83BD140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0C7F6668-8CC0-4B4E-B0C0-D267AAA38E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56151" y="6613525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7.</a:t>
            </a:r>
            <a:fld id="{888EA06F-A073-4A3C-89BC-89170E3EB8EC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A5A9C313-E1AB-4215-BE7D-137655DA2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DD7472-5269-45F9-8224-963E376A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B3B098FB-2BB7-4519-9DEA-E49149978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2C98928-F25B-4EBA-968A-F43A0AFE86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8038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7:  Synchronization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9AFE23A2-3233-4A83-BA98-6544E85EB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0586" y="162366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78A0AF89-B4E3-498E-93FE-2E355823D1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2434" y="1225550"/>
            <a:ext cx="7707312" cy="3270250"/>
          </a:xfrm>
        </p:spPr>
        <p:txBody>
          <a:bodyPr/>
          <a:lstStyle/>
          <a:p>
            <a:r>
              <a:rPr lang="en-US" altLang="en-US" dirty="0"/>
              <a:t>Explain the bounded-buffer synchronization problem</a:t>
            </a:r>
          </a:p>
          <a:p>
            <a:r>
              <a:rPr lang="en-US" altLang="en-US" dirty="0"/>
              <a:t>Explain the readers-writers synchronization problem</a:t>
            </a:r>
          </a:p>
          <a:p>
            <a:r>
              <a:rPr lang="en-US" altLang="en-US" dirty="0"/>
              <a:t>Explain and dining-philosophers synchronization problems</a:t>
            </a:r>
          </a:p>
          <a:p>
            <a:r>
              <a:rPr lang="en-US" altLang="en-US" dirty="0"/>
              <a:t>Describe the tools used by Linux and Windows to solve synchronization problems.</a:t>
            </a:r>
          </a:p>
          <a:p>
            <a:r>
              <a:rPr lang="en-US" altLang="en-US" dirty="0"/>
              <a:t>Illustrate how POSIX and Java can be used to solve process synchronization problems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98EE148A-79D9-4237-8D17-FC87DB90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116513"/>
            <a:ext cx="40782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3AB92419-2F3E-4AB1-BD3A-358F1F8CF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0720" y="180555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Classical Problems of Synchronization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D48FBE90-0458-4057-B57E-DA63D17D9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49" y="1131891"/>
            <a:ext cx="6726465" cy="4441596"/>
          </a:xfrm>
        </p:spPr>
        <p:txBody>
          <a:bodyPr/>
          <a:lstStyle/>
          <a:p>
            <a:r>
              <a:rPr lang="en-US" altLang="en-US" dirty="0"/>
              <a:t>Classical problems used to test newly-proposed synchronization schemes</a:t>
            </a:r>
          </a:p>
          <a:p>
            <a:pPr lvl="1"/>
            <a:r>
              <a:rPr lang="en-US" altLang="en-US" dirty="0"/>
              <a:t>Bounded-Buffer Problem</a:t>
            </a:r>
          </a:p>
          <a:p>
            <a:pPr lvl="1"/>
            <a:r>
              <a:rPr lang="en-US" altLang="en-US" dirty="0"/>
              <a:t>Readers and Writers Problem</a:t>
            </a:r>
          </a:p>
          <a:p>
            <a:pPr lvl="1"/>
            <a:r>
              <a:rPr lang="en-US" altLang="en-US" dirty="0"/>
              <a:t>Dining-Philosophers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445FFABD-D0ED-4BD7-90B8-096D05870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731" y="277813"/>
            <a:ext cx="776306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Bounded-Buffer Problem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D956C55F-640F-4784-8984-36E14C723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083" y="1293813"/>
            <a:ext cx="7210425" cy="3725862"/>
          </a:xfrm>
        </p:spPr>
        <p:txBody>
          <a:bodyPr/>
          <a:lstStyle/>
          <a:p>
            <a:r>
              <a:rPr lang="en-US" altLang="en-US" sz="2000" b="1" i="1" dirty="0"/>
              <a:t>n</a:t>
            </a:r>
            <a:r>
              <a:rPr lang="en-US" altLang="en-US" dirty="0"/>
              <a:t> buffers, each can hold one item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i</a:t>
            </a:r>
            <a:r>
              <a:rPr lang="en-US" altLang="en-US" dirty="0"/>
              <a:t>nitialized to the value 1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initialized </a:t>
            </a:r>
            <a:r>
              <a:rPr lang="en-US" altLang="en-US" dirty="0"/>
              <a:t>to the value 0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</a:p>
          <a:p>
            <a:endParaRPr lang="en-US" altLang="en-US" dirty="0"/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91998508-D538-4C89-AD83-931DA05A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32464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FAD360A-E679-4DC4-99D8-0FFD8BCED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1250" y="222868"/>
            <a:ext cx="7575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C2887F7A-B34E-4133-B1D8-7BCD1F232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24" y="1279525"/>
            <a:ext cx="7932576" cy="4876800"/>
          </a:xfrm>
        </p:spPr>
        <p:txBody>
          <a:bodyPr/>
          <a:lstStyle/>
          <a:p>
            <a:r>
              <a:rPr lang="en-US" altLang="en-US" dirty="0"/>
              <a:t>The structure of the producer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b="1" dirty="0">
                <a:latin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add next produced to the buffer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61A0BAA-76CB-484A-B14F-F0AF8A70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5175" y="222868"/>
            <a:ext cx="7156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F1ED0C8-1F57-420E-ADCE-1E7B94E90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788" y="1152525"/>
            <a:ext cx="8156294" cy="4851587"/>
          </a:xfrm>
        </p:spPr>
        <p:txBody>
          <a:bodyPr/>
          <a:lstStyle/>
          <a:p>
            <a:r>
              <a:rPr lang="en-US" altLang="en-US" dirty="0"/>
              <a:t>The structure of the consumer process</a:t>
            </a:r>
          </a:p>
          <a:p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/* remove an item from buffer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/* consume the item in next consumed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0812" y="230028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A data set is shared among a number of concurrent processes</a:t>
            </a:r>
          </a:p>
          <a:p>
            <a:pPr lvl="1"/>
            <a:r>
              <a:rPr lang="en-US" altLang="en-US" b="1" dirty="0"/>
              <a:t>Readers</a:t>
            </a:r>
            <a:r>
              <a:rPr lang="en-US" altLang="en-US" dirty="0"/>
              <a:t> – only read the data set; they do </a:t>
            </a:r>
            <a:r>
              <a:rPr lang="en-US" altLang="en-US" b="1" i="1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perform any updates</a:t>
            </a:r>
          </a:p>
          <a:p>
            <a:pPr lvl="1"/>
            <a:r>
              <a:rPr lang="en-US" altLang="en-US" b="1" dirty="0"/>
              <a:t>Writers</a:t>
            </a:r>
            <a:r>
              <a:rPr lang="en-US" altLang="en-US" dirty="0"/>
              <a:t>   – can both read and write</a:t>
            </a:r>
          </a:p>
          <a:p>
            <a:r>
              <a:rPr lang="en-US" altLang="en-US" dirty="0"/>
              <a:t>Problem – allow multiple readers to read at the same time</a:t>
            </a:r>
          </a:p>
          <a:p>
            <a:pPr lvl="1"/>
            <a:r>
              <a:rPr lang="en-US" altLang="en-US" dirty="0"/>
              <a:t>Only one single writer can access the shared data at the same time</a:t>
            </a:r>
          </a:p>
          <a:p>
            <a:r>
              <a:rPr lang="en-US" altLang="en-US" dirty="0"/>
              <a:t>Several variations of how readers and writers are considered  – all involve some form of priorities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6921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328" y="169512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Shared Data</a:t>
            </a:r>
          </a:p>
          <a:p>
            <a:pPr lvl="1"/>
            <a:r>
              <a:rPr lang="en-US" altLang="en-US" dirty="0"/>
              <a:t>Data set</a:t>
            </a:r>
          </a:p>
          <a:p>
            <a:pPr lvl="1"/>
            <a:r>
              <a:rPr lang="en-US" altLang="en-US" dirty="0"/>
              <a:t>Semaphore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Integer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dirty="0"/>
              <a:t> initialized to 0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88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7DDAEEDB-CB95-4A25-8454-9889DA57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7824"/>
            <a:ext cx="76612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D5CD744B-6617-4A23-86E8-A0935A7F9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279525"/>
            <a:ext cx="7848600" cy="4876800"/>
          </a:xfrm>
        </p:spPr>
        <p:txBody>
          <a:bodyPr/>
          <a:lstStyle/>
          <a:p>
            <a:r>
              <a:rPr lang="en-US" altLang="en-US" dirty="0"/>
              <a:t>The structure of a writer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while (true) {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wait(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/* writing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signal(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A3055BE-7D2A-422C-A590-55C99535B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5050" y="227824"/>
            <a:ext cx="76517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02CB5B1-7086-4461-8E47-670C4EA549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2715" y="1318921"/>
            <a:ext cx="7747000" cy="50657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The structure of a reader process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while (true){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	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++;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1) /* first reader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   	     wait(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/* reading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read count--;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0) /* last reader */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	signal(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}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0E349B06-5C0D-4BD8-ABC8-DFC88C04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778" y="222286"/>
            <a:ext cx="7677150" cy="576262"/>
          </a:xfrm>
        </p:spPr>
        <p:txBody>
          <a:bodyPr/>
          <a:lstStyle/>
          <a:p>
            <a:r>
              <a:rPr lang="en-US" altLang="en-US" dirty="0"/>
              <a:t>Readers-Writers Problem Variations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47643E3C-87AB-40AB-8261-6DE653642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6" y="1323457"/>
            <a:ext cx="6585627" cy="4418437"/>
          </a:xfrm>
        </p:spPr>
        <p:txBody>
          <a:bodyPr/>
          <a:lstStyle/>
          <a:p>
            <a:r>
              <a:rPr lang="en-US" altLang="en-US" dirty="0"/>
              <a:t>The</a:t>
            </a:r>
            <a:r>
              <a:rPr lang="en-US" altLang="en-US" b="1" i="1" dirty="0"/>
              <a:t> </a:t>
            </a:r>
            <a:r>
              <a:rPr lang="en-US" altLang="en-US" dirty="0"/>
              <a:t>solution</a:t>
            </a:r>
            <a:r>
              <a:rPr lang="en-US" altLang="en-US" b="1" i="1" dirty="0"/>
              <a:t> </a:t>
            </a:r>
            <a:r>
              <a:rPr lang="en-US" altLang="en-US" dirty="0"/>
              <a:t>in previous slide can result in a situation where a writer  process never writes.  It is referred to as the “First reader-writer” problem.</a:t>
            </a:r>
          </a:p>
          <a:p>
            <a:r>
              <a:rPr lang="en-US" altLang="en-US" dirty="0"/>
              <a:t>The “Second reader-writer” problem is  a variation the first reader-writer problem that state:</a:t>
            </a:r>
          </a:p>
          <a:p>
            <a:pPr lvl="1"/>
            <a:r>
              <a:rPr lang="en-US" altLang="en-US" dirty="0"/>
              <a:t>Once a writer is ready to write, no “newly arrived reader” is allowed  to read.</a:t>
            </a:r>
          </a:p>
          <a:p>
            <a:r>
              <a:rPr lang="en-US" altLang="en-US" dirty="0"/>
              <a:t>Both the first and second may result in starvation. leading to even more variations</a:t>
            </a:r>
          </a:p>
          <a:p>
            <a:r>
              <a:rPr lang="en-US" altLang="en-US" dirty="0"/>
              <a:t>Problem is solved on some systems by kernel providing reader-writer locks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EE9EBAB-3EEB-4813-BC45-A296B378D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000" y="222286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Dining-Philosophers Problem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FB49ECF8-D29D-47B1-ACEF-3FF6F95DA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7746" y="1057896"/>
            <a:ext cx="7819053" cy="5060516"/>
          </a:xfrm>
        </p:spPr>
        <p:txBody>
          <a:bodyPr/>
          <a:lstStyle/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N philosophers’ sit at a round table with a bowel of rice in the middle.</a:t>
            </a:r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spend their lives alternating thinking and eating.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do not </a:t>
            </a:r>
            <a:r>
              <a:rPr lang="en-US" altLang="ja-JP" dirty="0"/>
              <a:t> interact with their neighbors.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ja-JP" dirty="0"/>
              <a:t>Occasionally try to pick up 2 chopsticks (one at a time) to eat from bowl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dirty="0"/>
              <a:t>Need both to eat, then release both when done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In the case of 5 philosophers, the shared data 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Bowl of rice (data set)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Semaphore chopstick [5] initialized to 1</a:t>
            </a:r>
          </a:p>
        </p:txBody>
      </p:sp>
      <p:pic>
        <p:nvPicPr>
          <p:cNvPr id="24579" name="Picture 1">
            <a:extLst>
              <a:ext uri="{FF2B5EF4-FFF2-40B4-BE49-F238E27FC236}">
                <a16:creationId xmlns:a16="http://schemas.microsoft.com/office/drawing/2014/main" id="{3372D57C-AA90-40E5-88DD-A9DB78AAF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794" y="1561607"/>
            <a:ext cx="1532031" cy="14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84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8B6BD45A-1C98-4906-8ECF-377709FEA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2994" y="180175"/>
            <a:ext cx="7866063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  Dining-Philosophers Problem Algorithm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07043318-65A3-4679-85CB-4872EC4E8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19188"/>
            <a:ext cx="7107237" cy="4784725"/>
          </a:xfrm>
        </p:spPr>
        <p:txBody>
          <a:bodyPr/>
          <a:lstStyle/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Semaphore Solution</a:t>
            </a: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6699"/>
                </a:solidFill>
                <a:latin typeface="+mj-lt"/>
              </a:rPr>
              <a:t>i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: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wait (chopstick[i]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(i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eat for awhile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(chopstick[i]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 (i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  What is the problem with this algorithm?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E3A804-77C6-90B9-5B92-3765998A56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chapter</a:t>
            </a:r>
          </a:p>
        </p:txBody>
      </p:sp>
    </p:spTree>
    <p:extLst>
      <p:ext uri="{BB962C8B-B14F-4D97-AF65-F5344CB8AC3E}">
        <p14:creationId xmlns:p14="http://schemas.microsoft.com/office/powerpoint/2010/main" val="1254827655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DFECE3E6D13047AA949BAD418AC523" ma:contentTypeVersion="15" ma:contentTypeDescription="Create a new document." ma:contentTypeScope="" ma:versionID="e0ab63ac9add98c8dd5a5e0ca9f016b4">
  <xsd:schema xmlns:xsd="http://www.w3.org/2001/XMLSchema" xmlns:xs="http://www.w3.org/2001/XMLSchema" xmlns:p="http://schemas.microsoft.com/office/2006/metadata/properties" xmlns:ns1="http://schemas.microsoft.com/sharepoint/v3" xmlns:ns2="904fd754-02b4-4b83-8de5-fcec4d9ad888" xmlns:ns3="30552f9c-0f0b-4b22-ae40-6a7e015281a6" targetNamespace="http://schemas.microsoft.com/office/2006/metadata/properties" ma:root="true" ma:fieldsID="5c712977036efd9496ddda25dcb403b5" ns1:_="" ns2:_="" ns3:_="">
    <xsd:import namespace="http://schemas.microsoft.com/sharepoint/v3"/>
    <xsd:import namespace="904fd754-02b4-4b83-8de5-fcec4d9ad888"/>
    <xsd:import namespace="30552f9c-0f0b-4b22-ae40-6a7e01528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4fd754-02b4-4b83-8de5-fcec4d9ad8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1946a75-722c-4855-9c1b-5ba14d7574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52f9c-0f0b-4b22-ae40-6a7e015281a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4e21243-f04a-4330-a28a-53a42626d6ce}" ma:internalName="TaxCatchAll" ma:showField="CatchAllData" ma:web="30552f9c-0f0b-4b22-ae40-6a7e015281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4fd754-02b4-4b83-8de5-fcec4d9ad888">
      <Terms xmlns="http://schemas.microsoft.com/office/infopath/2007/PartnerControls"/>
    </lcf76f155ced4ddcb4097134ff3c332f>
    <TaxCatchAll xmlns="30552f9c-0f0b-4b22-ae40-6a7e015281a6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5552F24-F029-49FE-A816-2ACB09765F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04fd754-02b4-4b83-8de5-fcec4d9ad888"/>
    <ds:schemaRef ds:uri="30552f9c-0f0b-4b22-ae40-6a7e015281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BFF5D7-C963-4AA5-949F-9D00E40F83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9ABA68-0C98-4D1F-9C60-43D5B06207A7}">
  <ds:schemaRefs>
    <ds:schemaRef ds:uri="http://schemas.microsoft.com/office/2006/metadata/properties"/>
    <ds:schemaRef ds:uri="http://schemas.microsoft.com/office/infopath/2007/PartnerControls"/>
    <ds:schemaRef ds:uri="904fd754-02b4-4b83-8de5-fcec4d9ad888"/>
    <ds:schemaRef ds:uri="30552f9c-0f0b-4b22-ae40-6a7e015281a6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12940</TotalTime>
  <Words>796</Words>
  <Application>Microsoft Office PowerPoint</Application>
  <PresentationFormat>On-screen Show (4:3)</PresentationFormat>
  <Paragraphs>130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7:  Synchronization Examples</vt:lpstr>
      <vt:lpstr>Outline</vt:lpstr>
      <vt:lpstr>Classical Problems of Synchronization</vt:lpstr>
      <vt:lpstr>Bounded-Buffer Problem</vt:lpstr>
      <vt:lpstr>Bounded Buffer Problem (Cont.)</vt:lpstr>
      <vt:lpstr>Bounded Buffer Problem (Cont.)</vt:lpstr>
      <vt:lpstr>Readers-Writers Problem</vt:lpstr>
      <vt:lpstr>Readers-Writers Problem (Cont.)</vt:lpstr>
      <vt:lpstr>Readers-Writers Problem (Cont.)</vt:lpstr>
      <vt:lpstr>Readers-Writers Problem (Cont.)</vt:lpstr>
      <vt:lpstr>Readers-Writers Problem Variations</vt:lpstr>
      <vt:lpstr>Dining-Philosophers Problem</vt:lpstr>
      <vt:lpstr>  Dining-Philosophers Problem Algorithm</vt:lpstr>
      <vt:lpstr>End chapter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atef obeidat</cp:lastModifiedBy>
  <cp:revision>269</cp:revision>
  <cp:lastPrinted>2013-09-18T17:45:18Z</cp:lastPrinted>
  <dcterms:created xsi:type="dcterms:W3CDTF">2011-01-13T23:43:38Z</dcterms:created>
  <dcterms:modified xsi:type="dcterms:W3CDTF">2024-05-18T10:06:23Z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0x01010017DFECE3E6D13047AA949BAD418AC523</vt:lpwstr>
  </property>
</Properties>
</file>
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79"/>
  </p:notesMasterIdLst>
  <p:handoutMasterIdLst>
    <p:handoutMasterId r:id="rId80"/>
  </p:handoutMasterIdLst>
  <p:sldIdLst>
    <p:sldId id="331" r:id="rId5"/>
    <p:sldId id="332" r:id="rId6"/>
    <p:sldId id="333" r:id="rId7"/>
    <p:sldId id="334" r:id="rId8"/>
    <p:sldId id="335" r:id="rId9"/>
    <p:sldId id="336" r:id="rId10"/>
    <p:sldId id="401" r:id="rId11"/>
    <p:sldId id="402" r:id="rId12"/>
    <p:sldId id="337" r:id="rId13"/>
    <p:sldId id="338" r:id="rId14"/>
    <p:sldId id="339" r:id="rId15"/>
    <p:sldId id="442" r:id="rId16"/>
    <p:sldId id="439" r:id="rId17"/>
    <p:sldId id="340" r:id="rId18"/>
    <p:sldId id="341" r:id="rId19"/>
    <p:sldId id="440" r:id="rId20"/>
    <p:sldId id="342" r:id="rId21"/>
    <p:sldId id="403" r:id="rId22"/>
    <p:sldId id="343" r:id="rId23"/>
    <p:sldId id="344" r:id="rId24"/>
    <p:sldId id="345" r:id="rId25"/>
    <p:sldId id="346" r:id="rId26"/>
    <p:sldId id="347" r:id="rId27"/>
    <p:sldId id="350" r:id="rId28"/>
    <p:sldId id="351" r:id="rId29"/>
    <p:sldId id="352" r:id="rId30"/>
    <p:sldId id="353" r:id="rId31"/>
    <p:sldId id="419" r:id="rId32"/>
    <p:sldId id="348" r:id="rId33"/>
    <p:sldId id="399" r:id="rId34"/>
    <p:sldId id="349" r:id="rId35"/>
    <p:sldId id="354" r:id="rId36"/>
    <p:sldId id="400" r:id="rId37"/>
    <p:sldId id="418" r:id="rId38"/>
    <p:sldId id="356" r:id="rId39"/>
    <p:sldId id="404" r:id="rId40"/>
    <p:sldId id="358" r:id="rId41"/>
    <p:sldId id="359" r:id="rId42"/>
    <p:sldId id="360" r:id="rId43"/>
    <p:sldId id="361" r:id="rId44"/>
    <p:sldId id="427" r:id="rId45"/>
    <p:sldId id="362" r:id="rId46"/>
    <p:sldId id="405" r:id="rId47"/>
    <p:sldId id="365" r:id="rId48"/>
    <p:sldId id="411" r:id="rId49"/>
    <p:sldId id="412" r:id="rId50"/>
    <p:sldId id="413" r:id="rId51"/>
    <p:sldId id="364" r:id="rId52"/>
    <p:sldId id="414" r:id="rId53"/>
    <p:sldId id="363" r:id="rId54"/>
    <p:sldId id="429" r:id="rId55"/>
    <p:sldId id="367" r:id="rId56"/>
    <p:sldId id="432" r:id="rId57"/>
    <p:sldId id="407" r:id="rId58"/>
    <p:sldId id="408" r:id="rId59"/>
    <p:sldId id="368" r:id="rId60"/>
    <p:sldId id="369" r:id="rId61"/>
    <p:sldId id="443" r:id="rId62"/>
    <p:sldId id="371" r:id="rId63"/>
    <p:sldId id="430" r:id="rId64"/>
    <p:sldId id="423" r:id="rId65"/>
    <p:sldId id="425" r:id="rId66"/>
    <p:sldId id="424" r:id="rId67"/>
    <p:sldId id="426" r:id="rId68"/>
    <p:sldId id="444" r:id="rId69"/>
    <p:sldId id="436" r:id="rId70"/>
    <p:sldId id="433" r:id="rId71"/>
    <p:sldId id="416" r:id="rId72"/>
    <p:sldId id="438" r:id="rId73"/>
    <p:sldId id="437" r:id="rId74"/>
    <p:sldId id="434" r:id="rId75"/>
    <p:sldId id="435" r:id="rId76"/>
    <p:sldId id="431" r:id="rId77"/>
    <p:sldId id="374" r:id="rId78"/>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92" autoAdjust="0"/>
    <p:restoredTop sz="96395" autoAdjust="0"/>
  </p:normalViewPr>
  <p:slideViewPr>
    <p:cSldViewPr snapToGrid="0">
      <p:cViewPr varScale="1">
        <p:scale>
          <a:sx n="115" d="100"/>
          <a:sy n="115" d="100"/>
        </p:scale>
        <p:origin x="1824" y="10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en.wikipedia.org/wiki/Local_memory"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380D259-8709-44FC-8E19-F922D8C495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C6A69F-A1A7-4195-B308-73F52EF032E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F684A191-C264-4532-87A6-9B7C803DC00D}"/>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C595F0D-327E-463B-9214-2FB095AD2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07695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Multilevel Queue</a:t>
            </a:r>
            <a:r>
              <a:rPr lang="en-US" dirty="0"/>
              <a:t>.in the case :Each </a:t>
            </a:r>
            <a:r>
              <a:rPr lang="en-US" b="1" dirty="0">
                <a:solidFill>
                  <a:srgbClr val="FF0000"/>
                </a:solidFill>
              </a:rPr>
              <a:t>queue has absolute priority over lower-priority queues</a:t>
            </a:r>
          </a:p>
          <a:p>
            <a:pPr marL="228600" marR="0" lvl="0" indent="-228600" algn="l" defTabSz="914400" rtl="0" eaLnBrk="0" fontAlgn="base" latinLnBrk="0" hangingPunct="0">
              <a:lnSpc>
                <a:spcPct val="100000"/>
              </a:lnSpc>
              <a:spcBef>
                <a:spcPct val="30000"/>
              </a:spcBef>
              <a:spcAft>
                <a:spcPct val="0"/>
              </a:spcAft>
              <a:buClrTx/>
              <a:buSzTx/>
              <a:buFontTx/>
              <a:buAutoNum type="alphaLcPeriod"/>
              <a:tabLst/>
              <a:defRPr/>
            </a:pPr>
            <a:r>
              <a:rPr lang="en-US" dirty="0">
                <a:solidFill>
                  <a:srgbClr val="FF0000"/>
                </a:solidFill>
              </a:rPr>
              <a:t>No process in low priority queue</a:t>
            </a:r>
            <a:r>
              <a:rPr lang="en-US" dirty="0"/>
              <a:t>, could run unless the queues for </a:t>
            </a:r>
            <a:r>
              <a:rPr lang="en-US" dirty="0">
                <a:solidFill>
                  <a:srgbClr val="FF0000"/>
                </a:solidFill>
              </a:rPr>
              <a:t>high priority queue, as </a:t>
            </a:r>
            <a:r>
              <a:rPr lang="en-US" dirty="0"/>
              <a:t>system processes, and interactive processes were all empty.(answer)</a:t>
            </a:r>
          </a:p>
          <a:p>
            <a:pPr marL="228600" marR="0" lvl="0" indent="-228600" algn="l" defTabSz="914400" rtl="0" eaLnBrk="0" fontAlgn="base" latinLnBrk="0" hangingPunct="0">
              <a:lnSpc>
                <a:spcPct val="100000"/>
              </a:lnSpc>
              <a:spcBef>
                <a:spcPct val="30000"/>
              </a:spcBef>
              <a:spcAft>
                <a:spcPct val="0"/>
              </a:spcAft>
              <a:buClrTx/>
              <a:buSzTx/>
              <a:buFontTx/>
              <a:buAutoNum type="alphaLcPeriod"/>
              <a:tabLst/>
              <a:defRPr/>
            </a:pPr>
            <a:r>
              <a:rPr lang="en-US" dirty="0"/>
              <a:t>each queue gets a certain portion of the CPU time, which it can then schedule among its various processes. </a:t>
            </a:r>
          </a:p>
          <a:p>
            <a:pPr marL="228600" marR="0" lvl="0" indent="-228600" algn="l" defTabSz="914400" rtl="0" eaLnBrk="0" fontAlgn="base" latinLnBrk="0" hangingPunct="0">
              <a:lnSpc>
                <a:spcPct val="100000"/>
              </a:lnSpc>
              <a:spcBef>
                <a:spcPct val="30000"/>
              </a:spcBef>
              <a:spcAft>
                <a:spcPct val="0"/>
              </a:spcAft>
              <a:buClrTx/>
              <a:buSzTx/>
              <a:buFontTx/>
              <a:buAutoNum type="alphaLcPeriod"/>
              <a:tabLst/>
              <a:defRPr/>
            </a:pPr>
            <a:endParaRPr lang="en-US" dirty="0"/>
          </a:p>
          <a:p>
            <a:pPr marL="228600" marR="0" lvl="0" indent="-228600" algn="l" defTabSz="914400" rtl="0" eaLnBrk="0" fontAlgn="base" latinLnBrk="0" hangingPunct="0">
              <a:lnSpc>
                <a:spcPct val="100000"/>
              </a:lnSpc>
              <a:spcBef>
                <a:spcPct val="30000"/>
              </a:spcBef>
              <a:spcAft>
                <a:spcPct val="0"/>
              </a:spcAft>
              <a:buClrTx/>
              <a:buSzTx/>
              <a:buFontTx/>
              <a:buAutoNum type="alphaLcPeriod"/>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C9F949B7-291A-4420-9D9C-B1ABA67FB313}" type="slidenum">
              <a:rPr lang="en-US" altLang="x-none" smtClean="0"/>
              <a:pPr>
                <a:defRPr/>
              </a:pPr>
              <a:t>34</a:t>
            </a:fld>
            <a:endParaRPr lang="en-US" altLang="x-none"/>
          </a:p>
        </p:txBody>
      </p:sp>
    </p:spTree>
    <p:extLst>
      <p:ext uri="{BB962C8B-B14F-4D97-AF65-F5344CB8AC3E}">
        <p14:creationId xmlns:p14="http://schemas.microsoft.com/office/powerpoint/2010/main" val="2053248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02122"/>
                </a:solidFill>
                <a:effectLst/>
                <a:latin typeface="Arial" panose="020B0604020202020204" pitchFamily="34" charset="0"/>
              </a:rPr>
              <a:t> a processor can access its own </a:t>
            </a:r>
            <a:r>
              <a:rPr lang="en-US" b="0" i="0" u="none" strike="noStrike" dirty="0">
                <a:solidFill>
                  <a:srgbClr val="0645AD"/>
                </a:solidFill>
                <a:effectLst/>
                <a:latin typeface="Arial" panose="020B0604020202020204" pitchFamily="34" charset="0"/>
                <a:hlinkClick r:id="rId3" tooltip="Local memory"/>
              </a:rPr>
              <a:t>local memory</a:t>
            </a:r>
            <a:r>
              <a:rPr lang="en-US" b="0" i="0" dirty="0">
                <a:solidFill>
                  <a:srgbClr val="202122"/>
                </a:solidFill>
                <a:effectLst/>
                <a:latin typeface="Arial" panose="020B0604020202020204" pitchFamily="34" charset="0"/>
              </a:rPr>
              <a:t> faster than non-local memory (memory local to another processor or memory shared between processors).</a:t>
            </a: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en-US" altLang="en-US" dirty="0">
                <a:solidFill>
                  <a:srgbClr val="FF0000"/>
                </a:solidFill>
                <a:latin typeface="+mn-lt"/>
              </a:rPr>
              <a:t>Tension</a:t>
            </a:r>
            <a:r>
              <a:rPr kumimoji="0" lang="ar-JO" altLang="en-US" dirty="0">
                <a:solidFill>
                  <a:srgbClr val="FF0000"/>
                </a:solidFill>
                <a:latin typeface="+mn-lt"/>
              </a:rPr>
              <a:t> :تكلفه او جهد</a:t>
            </a:r>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 interrupt service routine)</a:t>
            </a:r>
          </a:p>
        </p:txBody>
      </p:sp>
      <p:sp>
        <p:nvSpPr>
          <p:cNvPr id="4" name="Slide Number Placeholder 3"/>
          <p:cNvSpPr>
            <a:spLocks noGrp="1"/>
          </p:cNvSpPr>
          <p:nvPr>
            <p:ph type="sldNum" sz="quarter" idx="5"/>
          </p:nvPr>
        </p:nvSpPr>
        <p:spPr/>
        <p:txBody>
          <a:bodyPr/>
          <a:lstStyle/>
          <a:p>
            <a:pPr>
              <a:defRPr/>
            </a:pPr>
            <a:fld id="{C9F949B7-291A-4420-9D9C-B1ABA67FB313}" type="slidenum">
              <a:rPr lang="en-US" altLang="x-none" smtClean="0"/>
              <a:pPr>
                <a:defRPr/>
              </a:pPr>
              <a:t>55</a:t>
            </a:fld>
            <a:endParaRPr lang="en-US" altLang="x-none"/>
          </a:p>
        </p:txBody>
      </p:sp>
    </p:spTree>
    <p:extLst>
      <p:ext uri="{BB962C8B-B14F-4D97-AF65-F5344CB8AC3E}">
        <p14:creationId xmlns:p14="http://schemas.microsoft.com/office/powerpoint/2010/main" val="5486225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Times New Roman" charset="0"/>
                <a:ea typeface="MS PGothic" pitchFamily="34" charset="-128"/>
                <a:cs typeface="MS PGothic" panose="020B0600070205080204" pitchFamily="34" charset="-128"/>
              </a:rPr>
              <a:t>The most important feature of a real-time operating system is to respond immediately</a:t>
            </a:r>
          </a:p>
          <a:p>
            <a:r>
              <a:rPr lang="en-US" sz="1200" b="0" i="0" u="none" strike="noStrike" kern="1200" baseline="0" dirty="0">
                <a:solidFill>
                  <a:schemeClr val="tx1"/>
                </a:solidFill>
                <a:latin typeface="Times New Roman" charset="0"/>
                <a:ea typeface="MS PGothic" pitchFamily="34" charset="-128"/>
                <a:cs typeface="MS PGothic" panose="020B0600070205080204" pitchFamily="34" charset="-128"/>
              </a:rPr>
              <a:t>to a real-time process as soon as that process requires the CPU.</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Times New Roman" panose="02020603050405020304" pitchFamily="18" charset="0"/>
                <a:cs typeface="Times New Roman" panose="02020603050405020304" pitchFamily="18" charset="0"/>
              </a:rPr>
              <a:t>For </a:t>
            </a:r>
            <a:r>
              <a:rPr lang="en-US" altLang="en-US" dirty="0">
                <a:solidFill>
                  <a:srgbClr val="FF0000"/>
                </a:solidFill>
                <a:latin typeface="Times New Roman" panose="02020603050405020304" pitchFamily="18" charset="0"/>
                <a:cs typeface="Times New Roman" panose="02020603050405020304" pitchFamily="18" charset="0"/>
              </a:rPr>
              <a:t>hard real-time must also provide ability to meet deadlines</a:t>
            </a:r>
          </a:p>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u="none" strike="noStrike" kern="1200" baseline="0" dirty="0">
                <a:solidFill>
                  <a:schemeClr val="tx1"/>
                </a:solidFill>
                <a:latin typeface="Times New Roman" charset="0"/>
                <a:ea typeface="MS PGothic" pitchFamily="34" charset="-128"/>
                <a:cs typeface="MS PGothic" panose="020B0600070205080204" pitchFamily="34" charset="-128"/>
              </a:rPr>
              <a:t>The most important feature of a real-time operating system is to respond immediately</a:t>
            </a:r>
          </a:p>
          <a:p>
            <a:r>
              <a:rPr lang="en-US" sz="1200" b="0" i="0" u="none" strike="noStrike" kern="1200" baseline="0" dirty="0">
                <a:solidFill>
                  <a:schemeClr val="tx1"/>
                </a:solidFill>
                <a:latin typeface="Times New Roman" charset="0"/>
                <a:ea typeface="MS PGothic" pitchFamily="34" charset="-128"/>
                <a:cs typeface="MS PGothic" panose="020B0600070205080204" pitchFamily="34" charset="-128"/>
              </a:rPr>
              <a:t>to a real-time process as soon as that process requires the CPU.</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Times New Roman" panose="02020603050405020304" pitchFamily="18" charset="0"/>
                <a:cs typeface="Times New Roman" panose="02020603050405020304" pitchFamily="18" charset="0"/>
              </a:rPr>
              <a:t>For </a:t>
            </a:r>
            <a:r>
              <a:rPr lang="en-US" altLang="en-US" dirty="0">
                <a:solidFill>
                  <a:srgbClr val="FF0000"/>
                </a:solidFill>
                <a:latin typeface="Times New Roman" panose="02020603050405020304" pitchFamily="18" charset="0"/>
                <a:cs typeface="Times New Roman" panose="02020603050405020304" pitchFamily="18" charset="0"/>
              </a:rPr>
              <a:t>hard real-time must also provide ability to meet deadlines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758017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P=100</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6861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56321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13568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64</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157980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65</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611072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68</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69</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513638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70</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36642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png"/><Relationship Id="rId5" Type="http://schemas.openxmlformats.org/officeDocument/2006/relationships/image" Target="../media/image10.w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geeksforgeeks.org/rate-monotonic-scheduling/"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838201" y="1169988"/>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a:t>
            </a:r>
            <a:r>
              <a:rPr lang="en-US" altLang="en-US" sz="2800" dirty="0" err="1"/>
              <a:t>Nonpreemptive</a:t>
            </a:r>
            <a:r>
              <a:rPr lang="en-US" altLang="en-US" sz="2800" dirty="0"/>
              <a:t>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4"/>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endParaRPr lang="en-US" b="1" dirty="0">
              <a:ea typeface="ＭＳ Ｐゴシック" charset="0"/>
            </a:endParaRP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a:t>
            </a:r>
            <a:r>
              <a:rPr lang="en-US" dirty="0">
                <a:solidFill>
                  <a:srgbClr val="FF0000"/>
                </a:solidFill>
                <a:ea typeface="ＭＳ Ｐゴシック" charset="0"/>
              </a:rPr>
              <a:t>While one process is updating the data</a:t>
            </a:r>
            <a:r>
              <a:rPr lang="en-US" dirty="0">
                <a:ea typeface="ＭＳ Ｐゴシック" charset="0"/>
              </a:rPr>
              <a:t>, it is preempted so that the second process can run. </a:t>
            </a:r>
            <a:r>
              <a:rPr lang="en-US" dirty="0">
                <a:solidFill>
                  <a:srgbClr val="FF0000"/>
                </a:solidFill>
                <a:ea typeface="ＭＳ Ｐゴシック" charset="0"/>
              </a:rPr>
              <a:t>The second process then tries to read the data, which are in an inconsistent </a:t>
            </a:r>
            <a:r>
              <a:rPr lang="en-US" dirty="0">
                <a:ea typeface="ＭＳ Ｐゴシック" charset="0"/>
              </a:rPr>
              <a:t>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3" y="1119235"/>
            <a:ext cx="4754548" cy="4515661"/>
          </a:xfrm>
        </p:spPr>
        <p:txBody>
          <a:bodyPr/>
          <a:lstStyle/>
          <a:p>
            <a:r>
              <a:rPr lang="en-US" altLang="en-US" dirty="0">
                <a:solidFill>
                  <a:srgbClr val="FF0000"/>
                </a:solidFill>
              </a:rPr>
              <a:t>Dispatcher</a:t>
            </a:r>
            <a:r>
              <a:rPr lang="en-US" altLang="en-US" dirty="0"/>
              <a:t>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03631" y="864687"/>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6692761" cy="4904520"/>
          </a:xfrm>
        </p:spPr>
        <p:txBody>
          <a:bodyPr/>
          <a:lstStyle/>
          <a:p>
            <a:r>
              <a:rPr lang="en-US" altLang="en-US" b="1" dirty="0">
                <a:latin typeface="Arial" panose="020B0604020202020204" pitchFamily="34" charset="0"/>
                <a:cs typeface="Arial" panose="020B0604020202020204" pitchFamily="34" charset="0"/>
              </a:rPr>
              <a:t>CPU utilization </a:t>
            </a:r>
            <a:r>
              <a:rPr lang="ar-JO" altLang="en-US" b="1" dirty="0">
                <a:latin typeface="Arial" panose="020B0604020202020204" pitchFamily="34" charset="0"/>
                <a:cs typeface="Arial" panose="020B0604020202020204" pitchFamily="34" charset="0"/>
              </a:rPr>
              <a:t>استخدام وحدة المعالجة المركزية</a:t>
            </a:r>
            <a:r>
              <a:rPr lang="en-US" altLang="en-US" dirty="0">
                <a:latin typeface="Arial" panose="020B0604020202020204" pitchFamily="34" charset="0"/>
                <a:cs typeface="Arial" panose="020B0604020202020204" pitchFamily="34" charset="0"/>
              </a:rPr>
              <a:t>– keep the CPU as busy as possible</a:t>
            </a:r>
          </a:p>
          <a:p>
            <a:r>
              <a:rPr lang="en-US" altLang="en-US" b="1" dirty="0">
                <a:latin typeface="Arial" panose="020B0604020202020204" pitchFamily="34" charset="0"/>
                <a:cs typeface="Arial" panose="020B0604020202020204" pitchFamily="34" charset="0"/>
              </a:rPr>
              <a:t>Throughput</a:t>
            </a:r>
            <a:r>
              <a:rPr lang="en-US" altLang="en-US" dirty="0">
                <a:latin typeface="Arial" panose="020B0604020202020204" pitchFamily="34" charset="0"/>
                <a:cs typeface="Arial" panose="020B0604020202020204" pitchFamily="34" charset="0"/>
              </a:rPr>
              <a:t> </a:t>
            </a:r>
            <a:r>
              <a:rPr lang="ar-JO" altLang="en-US" dirty="0">
                <a:latin typeface="Arial" panose="020B0604020202020204" pitchFamily="34" charset="0"/>
                <a:cs typeface="Arial" panose="020B0604020202020204" pitchFamily="34" charset="0"/>
              </a:rPr>
              <a:t>الانتاجيه</a:t>
            </a:r>
            <a:r>
              <a:rPr lang="en-US" altLang="en-US" dirty="0">
                <a:latin typeface="Arial" panose="020B0604020202020204" pitchFamily="34" charset="0"/>
                <a:cs typeface="Arial" panose="020B0604020202020204" pitchFamily="34" charset="0"/>
              </a:rPr>
              <a:t>– # of processes that complete their execution per time unit</a:t>
            </a:r>
          </a:p>
          <a:p>
            <a:r>
              <a:rPr lang="en-US" altLang="en-US" b="1" dirty="0">
                <a:latin typeface="Arial" panose="020B0604020202020204" pitchFamily="34" charset="0"/>
                <a:cs typeface="Arial" panose="020B0604020202020204" pitchFamily="34" charset="0"/>
              </a:rPr>
              <a:t>Turnaround time </a:t>
            </a:r>
            <a:r>
              <a:rPr lang="ar-JO" altLang="en-US" b="1" dirty="0">
                <a:latin typeface="Arial" panose="020B0604020202020204" pitchFamily="34" charset="0"/>
                <a:cs typeface="Arial" panose="020B0604020202020204" pitchFamily="34" charset="0"/>
              </a:rPr>
              <a:t>وقت التسليم</a:t>
            </a:r>
            <a:r>
              <a:rPr lang="en-US" altLang="en-US" dirty="0">
                <a:latin typeface="Arial" panose="020B0604020202020204" pitchFamily="34" charset="0"/>
                <a:cs typeface="Arial" panose="020B0604020202020204" pitchFamily="34" charset="0"/>
              </a:rPr>
              <a:t>– amount of time to execute a particular process</a:t>
            </a:r>
          </a:p>
          <a:p>
            <a:r>
              <a:rPr lang="en-US" altLang="en-US" b="1" dirty="0">
                <a:latin typeface="Arial" panose="020B0604020202020204" pitchFamily="34" charset="0"/>
                <a:cs typeface="Arial" panose="020B0604020202020204" pitchFamily="34" charset="0"/>
              </a:rPr>
              <a:t>Waiting time </a:t>
            </a:r>
            <a:r>
              <a:rPr lang="ar-JO" altLang="en-US" b="1" dirty="0">
                <a:latin typeface="Arial" panose="020B0604020202020204" pitchFamily="34" charset="0"/>
                <a:cs typeface="Arial" panose="020B0604020202020204" pitchFamily="34" charset="0"/>
              </a:rPr>
              <a:t>وقت الانتظار</a:t>
            </a:r>
            <a:r>
              <a:rPr lang="en-US" altLang="en-US" dirty="0">
                <a:latin typeface="Arial" panose="020B0604020202020204" pitchFamily="34" charset="0"/>
                <a:cs typeface="Arial" panose="020B0604020202020204" pitchFamily="34" charset="0"/>
              </a:rPr>
              <a:t>– amount of time a process has been waiting in the ready queue</a:t>
            </a:r>
          </a:p>
          <a:p>
            <a:r>
              <a:rPr lang="en-US" altLang="en-US" b="1" dirty="0">
                <a:latin typeface="Arial" panose="020B0604020202020204" pitchFamily="34" charset="0"/>
                <a:cs typeface="Arial" panose="020B0604020202020204" pitchFamily="34" charset="0"/>
              </a:rPr>
              <a:t>Response time </a:t>
            </a:r>
            <a:r>
              <a:rPr lang="ar-JO" altLang="en-US" b="1" dirty="0">
                <a:latin typeface="Arial" panose="020B0604020202020204" pitchFamily="34" charset="0"/>
                <a:cs typeface="Arial" panose="020B0604020202020204" pitchFamily="34" charset="0"/>
              </a:rPr>
              <a:t>زمن الاستجابة</a:t>
            </a:r>
            <a:r>
              <a:rPr lang="en-US" altLang="en-US" dirty="0">
                <a:latin typeface="Arial" panose="020B0604020202020204" pitchFamily="34" charset="0"/>
                <a:cs typeface="Arial" panose="020B0604020202020204" pitchFamily="34" charset="0"/>
              </a:rPr>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76BF73-0A96-491F-2D5E-DD1B5BF0731C}"/>
              </a:ext>
            </a:extLst>
          </p:cNvPr>
          <p:cNvSpPr>
            <a:spLocks noGrp="1"/>
          </p:cNvSpPr>
          <p:nvPr>
            <p:ph type="ctrTitle"/>
          </p:nvPr>
        </p:nvSpPr>
        <p:spPr/>
        <p:txBody>
          <a:bodyPr/>
          <a:lstStyle/>
          <a:p>
            <a:r>
              <a:rPr lang="en-US" altLang="en-US" sz="4400" dirty="0"/>
              <a:t>Scheduling </a:t>
            </a:r>
            <a:r>
              <a:rPr lang="en-US" dirty="0"/>
              <a:t>algorithms</a:t>
            </a:r>
          </a:p>
        </p:txBody>
      </p:sp>
    </p:spTree>
    <p:extLst>
      <p:ext uri="{BB962C8B-B14F-4D97-AF65-F5344CB8AC3E}">
        <p14:creationId xmlns:p14="http://schemas.microsoft.com/office/powerpoint/2010/main" val="3037881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First- Come, First-Served (FCFS) Scheduling</a:t>
            </a:r>
            <a:endParaRPr lang="en-US" dirty="0"/>
          </a:p>
        </p:txBody>
      </p:sp>
      <p:sp>
        <p:nvSpPr>
          <p:cNvPr id="5" name="Text Placeholder 4"/>
          <p:cNvSpPr>
            <a:spLocks noGrp="1"/>
          </p:cNvSpPr>
          <p:nvPr>
            <p:ph type="body" idx="1"/>
          </p:nvPr>
        </p:nvSpPr>
        <p:spPr/>
        <p:txBody>
          <a:bodyPr/>
          <a:lstStyle/>
          <a:p>
            <a:r>
              <a:rPr lang="en-US" dirty="0"/>
              <a:t>The algorithms:  (1)</a:t>
            </a:r>
          </a:p>
        </p:txBody>
      </p:sp>
    </p:spTree>
    <p:extLst>
      <p:ext uri="{BB962C8B-B14F-4D97-AF65-F5344CB8AC3E}">
        <p14:creationId xmlns:p14="http://schemas.microsoft.com/office/powerpoint/2010/main" val="86598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r>
              <a:rPr lang="en-US" altLang="en-US" sz="1600"/>
              <a:t/>
            </a:r>
            <a:br>
              <a:rPr lang="en-US" altLang="en-US" sz="1600"/>
            </a:br>
            <a:r>
              <a:rPr lang="en-US" altLang="en-US" sz="1600"/>
              <a:t/>
            </a:r>
            <a:br>
              <a:rPr lang="en-US" altLang="en-US" sz="1600"/>
            </a:br>
            <a:r>
              <a:rPr lang="en-US" altLang="en-US" sz="1600"/>
              <a:t/>
            </a:r>
            <a:br>
              <a:rPr lang="en-US" altLang="en-US" sz="1600"/>
            </a:br>
            <a:r>
              <a:rPr lang="en-US" altLang="en-US" sz="1600"/>
              <a:t/>
            </a: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15016"/>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ltLang="en-US" dirty="0"/>
              <a:t>(2)</a:t>
            </a:r>
            <a:br>
              <a:rPr lang="en-US" altLang="en-US" dirty="0"/>
            </a:br>
            <a:r>
              <a:rPr lang="en-US" altLang="en-US" dirty="0"/>
              <a:t>Shortest-Job-First (SJF) Scheduling</a:t>
            </a:r>
            <a:endParaRPr lang="en-US" dirty="0"/>
          </a:p>
        </p:txBody>
      </p:sp>
    </p:spTree>
    <p:extLst>
      <p:ext uri="{BB962C8B-B14F-4D97-AF65-F5344CB8AC3E}">
        <p14:creationId xmlns:p14="http://schemas.microsoft.com/office/powerpoint/2010/main" val="1204140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7632441" cy="4530725"/>
          </a:xfrm>
        </p:spPr>
        <p:txBody>
          <a:bodyPr/>
          <a:lstStyle/>
          <a:p>
            <a:r>
              <a:rPr lang="en-US" altLang="en-US" dirty="0"/>
              <a:t>Associate with each process the length of its next CPU burst</a:t>
            </a:r>
          </a:p>
          <a:p>
            <a:pPr lvl="1"/>
            <a:r>
              <a:rPr lang="en-US" altLang="en-US" dirty="0"/>
              <a:t> Use these lengths to schedule the process with the shortest time</a:t>
            </a:r>
          </a:p>
          <a:p>
            <a:r>
              <a:rPr lang="en-US" altLang="en-US" dirty="0"/>
              <a:t>SJF is optimal – gives minimum average waiting time for a given set of processes</a:t>
            </a:r>
          </a:p>
          <a:p>
            <a:r>
              <a:rPr lang="en-US" altLang="en-US" dirty="0">
                <a:solidFill>
                  <a:srgbClr val="FF0000"/>
                </a:solidFill>
                <a:highlight>
                  <a:srgbClr val="FFFF00"/>
                </a:highlight>
              </a:rPr>
              <a:t>The difficulty </a:t>
            </a:r>
            <a:r>
              <a:rPr lang="en-US" altLang="en-US" dirty="0"/>
              <a:t>is knowing the length of the next CPU request</a:t>
            </a:r>
          </a:p>
          <a:p>
            <a:pPr lvl="1"/>
            <a:r>
              <a:rPr lang="en-US" altLang="en-US" dirty="0"/>
              <a:t>Could ask the user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D5874AFB-A934-48C3-B837-CB30012F18C0}"/>
              </a:ext>
            </a:extLst>
          </p:cNvPr>
          <p:cNvSpPr>
            <a:spLocks noGrp="1" noChangeArrowheads="1"/>
          </p:cNvSpPr>
          <p:nvPr>
            <p:ph type="title"/>
          </p:nvPr>
        </p:nvSpPr>
        <p:spPr>
          <a:xfrm>
            <a:off x="457200" y="229606"/>
            <a:ext cx="8229600" cy="576262"/>
          </a:xfrm>
        </p:spPr>
        <p:txBody>
          <a:bodyPr/>
          <a:lstStyle/>
          <a:p>
            <a:pPr eaLnBrk="1" hangingPunct="1"/>
            <a:r>
              <a:rPr lang="en-US" altLang="en-US" dirty="0"/>
              <a:t>Example of SJF</a:t>
            </a:r>
          </a:p>
        </p:txBody>
      </p:sp>
      <p:sp>
        <p:nvSpPr>
          <p:cNvPr id="29698" name="Rectangle 36">
            <a:extLst>
              <a:ext uri="{FF2B5EF4-FFF2-40B4-BE49-F238E27FC236}">
                <a16:creationId xmlns:a16="http://schemas.microsoft.com/office/drawing/2014/main" id="{460FD1BF-5C0A-458E-A664-05111F8290F4}"/>
              </a:ext>
            </a:extLst>
          </p:cNvPr>
          <p:cNvSpPr>
            <a:spLocks noGrp="1" noChangeArrowheads="1"/>
          </p:cNvSpPr>
          <p:nvPr>
            <p:ph type="body" idx="1"/>
          </p:nvPr>
        </p:nvSpPr>
        <p:spPr>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Arriva</a:t>
            </a:r>
            <a:r>
              <a:rPr lang="en-US" altLang="en-US" u="sng" dirty="0">
                <a:solidFill>
                  <a:schemeClr val="bg1"/>
                </a:solidFill>
              </a:rPr>
              <a:t>	l Time</a:t>
            </a:r>
            <a:r>
              <a:rPr lang="en-US" altLang="en-US" dirty="0"/>
              <a:t>	</a:t>
            </a:r>
            <a:r>
              <a:rPr lang="en-US" altLang="en-US" u="sng" dirty="0"/>
              <a:t>Burst Time</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a:t>
            </a:r>
            <a:r>
              <a:rPr lang="en-US" altLang="en-US" dirty="0">
                <a:solidFill>
                  <a:schemeClr val="bg1"/>
                </a:solidFill>
              </a:rPr>
              <a:t>0.0</a:t>
            </a:r>
            <a:r>
              <a:rPr lang="en-US" altLang="en-US" dirty="0"/>
              <a:t>	6</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chemeClr val="bg1"/>
                </a:solidFill>
              </a:rPr>
              <a:t>2.0</a:t>
            </a:r>
            <a:r>
              <a:rPr lang="en-US" altLang="en-US" dirty="0"/>
              <a:t>	8</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chemeClr val="bg1"/>
                </a:solidFill>
              </a:rPr>
              <a:t>4.0</a:t>
            </a:r>
            <a:r>
              <a:rPr lang="en-US" altLang="en-US" dirty="0"/>
              <a:t>	7</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chemeClr val="bg1"/>
                </a:solidFill>
              </a:rPr>
              <a:t>5.0</a:t>
            </a:r>
            <a:r>
              <a:rPr lang="en-US" altLang="en-US" dirty="0"/>
              <a:t>	3</a:t>
            </a:r>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SJF scheduling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(3 + 16 + 9 + 0) / 4 = 7</a:t>
            </a:r>
            <a:endParaRPr lang="en-US" altLang="en-US" i="1" baseline="-25000" dirty="0"/>
          </a:p>
        </p:txBody>
      </p:sp>
      <p:pic>
        <p:nvPicPr>
          <p:cNvPr id="29699" name="Picture 1">
            <a:extLst>
              <a:ext uri="{FF2B5EF4-FFF2-40B4-BE49-F238E27FC236}">
                <a16:creationId xmlns:a16="http://schemas.microsoft.com/office/drawing/2014/main" id="{AD4AB8A1-1681-46C1-BDAD-E7E14E963D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4076700"/>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burst</a:t>
            </a: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r>
              <a:rPr lang="en-US" altLang="en-US" dirty="0">
                <a:cs typeface="ＭＳ Ｐゴシック" charset="-128"/>
              </a:rPr>
              <a:t>Commonly, </a:t>
            </a:r>
            <a:r>
              <a:rPr lang="en-US" altLang="en-US" dirty="0">
                <a:latin typeface="Lucida Grande" pitchFamily="-84" charset="0"/>
                <a:cs typeface="ＭＳ Ｐゴシック" charset="-128"/>
              </a:rPr>
              <a:t>α </a:t>
            </a:r>
            <a:r>
              <a:rPr lang="en-US" altLang="en-US" dirty="0">
                <a:cs typeface="ＭＳ Ｐゴシック" charset="-128"/>
              </a:rPr>
              <a:t>set to ½</a:t>
            </a:r>
          </a:p>
        </p:txBody>
      </p:sp>
      <p:graphicFrame>
        <p:nvGraphicFramePr>
          <p:cNvPr id="31747" name="Object 2">
            <a:extLst>
              <a:ext uri="{FF2B5EF4-FFF2-40B4-BE49-F238E27FC236}">
                <a16:creationId xmlns:a16="http://schemas.microsoft.com/office/drawing/2014/main" id="{15715238-6D8E-4D53-8F63-29A2962FEB3C}"/>
              </a:ext>
            </a:extLst>
          </p:cNvPr>
          <p:cNvGraphicFramePr>
            <a:graphicFrameLocks noChangeAspect="1"/>
          </p:cNvGraphicFramePr>
          <p:nvPr>
            <p:extLst>
              <p:ext uri="{D42A27DB-BD31-4B8C-83A1-F6EECF244321}">
                <p14:modId xmlns:p14="http://schemas.microsoft.com/office/powerpoint/2010/main" val="2257437378"/>
              </p:ext>
            </p:extLst>
          </p:nvPr>
        </p:nvGraphicFramePr>
        <p:xfrm>
          <a:off x="2005013" y="2656713"/>
          <a:ext cx="4427537" cy="1254125"/>
        </p:xfrm>
        <a:graphic>
          <a:graphicData uri="http://schemas.openxmlformats.org/presentationml/2006/ole">
            <mc:AlternateContent xmlns:mc="http://schemas.openxmlformats.org/markup-compatibility/2006">
              <mc:Choice xmlns:v="urn:schemas-microsoft-com:vml" Requires="v">
                <p:oleObj spid="_x0000_s1029" name="Equation" r:id="rId4" imgW="6400800" imgH="1778000" progId="Equation.3">
                  <p:embed/>
                </p:oleObj>
              </mc:Choice>
              <mc:Fallback>
                <p:oleObj name="Equation" r:id="rId4" imgW="6400800" imgH="1778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5013" y="2656713"/>
                        <a:ext cx="4427537"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994025" y="3976688"/>
            <a:ext cx="2451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successive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err="1">
                <a:cs typeface="ＭＳ Ｐゴシック" charset="-128"/>
              </a:rPr>
              <a:t>Process</a:t>
            </a:r>
            <a:r>
              <a:rPr lang="en-US" altLang="en-US" u="sng" dirty="0" err="1">
                <a:solidFill>
                  <a:schemeClr val="bg1"/>
                </a:solidFill>
                <a:cs typeface="ＭＳ Ｐゴシック" charset="-128"/>
              </a:rPr>
              <a:t>A</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arri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	wait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		</a:t>
            </a:r>
            <a:r>
              <a:rPr lang="en-US" altLang="en-US" dirty="0">
                <a:solidFill>
                  <a:srgbClr val="FF0000"/>
                </a:solidFill>
                <a:cs typeface="ＭＳ Ｐゴシック" charset="-128"/>
              </a:rPr>
              <a:t>9</a:t>
            </a:r>
            <a:r>
              <a:rPr lang="en-US" altLang="en-US" dirty="0">
                <a:cs typeface="ＭＳ Ｐゴシック" charset="-128"/>
              </a:rPr>
              <a:t> (10-</a:t>
            </a:r>
            <a:r>
              <a:rPr lang="en-US" altLang="en-US" dirty="0">
                <a:solidFill>
                  <a:srgbClr val="FF0000"/>
                </a:solidFill>
                <a:cs typeface="ＭＳ Ｐゴシック" charset="-128"/>
              </a:rPr>
              <a:t>1</a:t>
            </a:r>
            <a:r>
              <a:rPr lang="en-US" altLang="en-US" dirty="0">
                <a:cs typeface="ＭＳ Ｐゴシック" charset="-128"/>
              </a:rPr>
              <a:t>)</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                   </a:t>
            </a:r>
            <a:r>
              <a:rPr lang="en-US" altLang="en-US" dirty="0">
                <a:solidFill>
                  <a:srgbClr val="FF0000"/>
                </a:solidFill>
                <a:cs typeface="ＭＳ Ｐゴシック" charset="-128"/>
              </a:rPr>
              <a:t>0 </a:t>
            </a:r>
            <a:r>
              <a:rPr lang="en-US" altLang="en-US" dirty="0">
                <a:cs typeface="ＭＳ Ｐゴシック" charset="-128"/>
              </a:rPr>
              <a:t>(1-1)</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                 </a:t>
            </a:r>
            <a:r>
              <a:rPr lang="en-US" altLang="en-US" dirty="0">
                <a:solidFill>
                  <a:srgbClr val="FF0000"/>
                </a:solidFill>
                <a:cs typeface="ＭＳ Ｐゴシック" charset="-128"/>
              </a:rPr>
              <a:t> 15  </a:t>
            </a:r>
            <a:r>
              <a:rPr lang="en-US" altLang="en-US" dirty="0">
                <a:cs typeface="ＭＳ Ｐゴシック" charset="-128"/>
              </a:rPr>
              <a:t>(17-2)</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                     </a:t>
            </a:r>
            <a:r>
              <a:rPr lang="en-US" altLang="en-US" dirty="0">
                <a:solidFill>
                  <a:srgbClr val="FF0000"/>
                </a:solidFill>
                <a:cs typeface="ＭＳ Ｐゴシック" charset="-128"/>
              </a:rPr>
              <a:t>2</a:t>
            </a:r>
            <a:r>
              <a:rPr lang="en-US" altLang="en-US" dirty="0">
                <a:cs typeface="ＭＳ Ｐゴシック" charset="-128"/>
              </a:rPr>
              <a:t> (5-3)</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a:t>
            </a:r>
            <a:r>
              <a:rPr lang="en-US" altLang="en-US" dirty="0">
                <a:solidFill>
                  <a:srgbClr val="FF0000"/>
                </a:solidFill>
                <a:cs typeface="ＭＳ Ｐゴシック" charset="-128"/>
              </a:rPr>
              <a:t>26</a:t>
            </a:r>
            <a:r>
              <a:rPr lang="en-US" altLang="en-US" dirty="0">
                <a:cs typeface="ＭＳ Ｐゴシック" charset="-128"/>
              </a:rPr>
              <a:t>/</a:t>
            </a:r>
            <a:r>
              <a:rPr lang="en-US" altLang="en-US" dirty="0">
                <a:solidFill>
                  <a:srgbClr val="C00000"/>
                </a:solidFill>
                <a:cs typeface="ＭＳ Ｐゴシック" charset="-128"/>
              </a:rPr>
              <a:t>4</a:t>
            </a:r>
            <a:r>
              <a:rPr lang="en-US" altLang="en-US" dirty="0">
                <a:cs typeface="ＭＳ Ｐゴシック" charset="-128"/>
              </a:rPr>
              <a:t> = </a:t>
            </a:r>
            <a:r>
              <a:rPr lang="en-US" altLang="en-US" dirty="0">
                <a:highlight>
                  <a:srgbClr val="FFFF00"/>
                </a:highlight>
                <a:cs typeface="ＭＳ Ｐゴシック" charset="-128"/>
              </a:rPr>
              <a:t>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a:t>
            </a:r>
          </a:p>
          <a:p>
            <a:pPr lvl="1"/>
            <a:r>
              <a:rPr lang="en-US" altLang="en-US" i="1" dirty="0">
                <a:sym typeface="Symbol" panose="05050102010706020507" pitchFamily="18" charset="2"/>
              </a:rPr>
              <a:t>q </a:t>
            </a:r>
            <a:r>
              <a:rPr lang="en-US" altLang="en-US" dirty="0">
                <a:sym typeface="Symbol" panose="05050102010706020507" pitchFamily="18" charset="2"/>
              </a:rPr>
              <a:t>small  </a:t>
            </a:r>
            <a:r>
              <a:rPr lang="en-US" altLang="en-US" i="1" dirty="0">
                <a:sym typeface="Symbol" panose="05050102010706020507" pitchFamily="18" charset="2"/>
              </a:rPr>
              <a:t>q </a:t>
            </a:r>
            <a:r>
              <a:rPr lang="en-US" altLang="en-US" dirty="0">
                <a:sym typeface="Symbol" panose="05050102010706020507" pitchFamily="18" charset="2"/>
              </a:rPr>
              <a:t>must be large with respect to context switch, otherwise overhead is too high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359765" y="1193799"/>
            <a:ext cx="8619344"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r>
              <a:rPr lang="en-US" altLang="en-US" dirty="0"/>
              <a:t>       </a:t>
            </a:r>
            <a:r>
              <a:rPr lang="en-US" altLang="en-US" u="sng" dirty="0"/>
              <a:t> </a:t>
            </a:r>
            <a:r>
              <a:rPr lang="en-US" altLang="en-US" b="1" u="sng" dirty="0">
                <a:solidFill>
                  <a:srgbClr val="FF0000"/>
                </a:solidFill>
              </a:rPr>
              <a:t>waiting time </a:t>
            </a:r>
            <a:r>
              <a:rPr lang="en-US" altLang="en-US" b="1" i="1" dirty="0">
                <a:solidFill>
                  <a:srgbClr val="FF0000"/>
                </a:solidFill>
              </a:rPr>
              <a:t>    </a:t>
            </a:r>
            <a:r>
              <a:rPr lang="en-US" altLang="en-US" u="sng" dirty="0">
                <a:solidFill>
                  <a:srgbClr val="FF0000"/>
                </a:solidFill>
              </a:rPr>
              <a:t>response time  </a:t>
            </a:r>
            <a:r>
              <a:rPr lang="en-US" altLang="en-US" dirty="0">
                <a:solidFill>
                  <a:srgbClr val="FF0000"/>
                </a:solidFill>
              </a:rPr>
              <a:t>      </a:t>
            </a:r>
            <a:r>
              <a:rPr lang="en-US" altLang="en-US" u="sng" dirty="0">
                <a:solidFill>
                  <a:srgbClr val="FF0000"/>
                </a:solidFill>
              </a:rPr>
              <a:t>turnaround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                6 (26-20)                  0		30</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                   4			4		7</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7			7		10</a:t>
            </a:r>
          </a:p>
          <a:p>
            <a:pPr marL="0" indent="0">
              <a:lnSpc>
                <a:spcPct val="90000"/>
              </a:lnSpc>
              <a:buNone/>
              <a:tabLst>
                <a:tab pos="2219325" algn="ctr"/>
                <a:tab pos="3994150" algn="ctr"/>
              </a:tabLst>
            </a:pPr>
            <a:r>
              <a:rPr lang="en-US" altLang="en-US" i="1" u="sng" dirty="0"/>
              <a:t>   </a:t>
            </a:r>
            <a:r>
              <a:rPr lang="en-US" altLang="en-US" i="1" u="sng" dirty="0">
                <a:solidFill>
                  <a:srgbClr val="FF0000"/>
                </a:solidFill>
              </a:rPr>
              <a:t>Average</a:t>
            </a:r>
            <a:r>
              <a:rPr lang="en-US" altLang="en-US" i="1" u="sng" dirty="0"/>
              <a:t> 	   </a:t>
            </a:r>
            <a:r>
              <a:rPr lang="en-US" altLang="en-US" i="1" dirty="0"/>
              <a:t>                            </a:t>
            </a:r>
            <a:r>
              <a:rPr lang="en-US" altLang="en-US" i="1" u="sng" dirty="0"/>
              <a:t>   17/3=</a:t>
            </a:r>
            <a:r>
              <a:rPr lang="en-US" altLang="en-US" i="1" u="sng" dirty="0">
                <a:solidFill>
                  <a:srgbClr val="FF0000"/>
                </a:solidFill>
              </a:rPr>
              <a:t>5.6</a:t>
            </a:r>
            <a:r>
              <a:rPr lang="en-US" altLang="en-US" i="1" u="sng" dirty="0"/>
              <a:t>	</a:t>
            </a:r>
            <a:r>
              <a:rPr lang="en-US" altLang="en-US" i="1" dirty="0"/>
              <a:t>	</a:t>
            </a:r>
            <a:r>
              <a:rPr lang="en-US" altLang="en-US" i="1" u="sng" dirty="0"/>
              <a:t>11/3=</a:t>
            </a:r>
            <a:r>
              <a:rPr lang="en-US" altLang="en-US" i="1" u="sng" dirty="0">
                <a:solidFill>
                  <a:srgbClr val="FF0000"/>
                </a:solidFill>
              </a:rPr>
              <a:t>3.6	</a:t>
            </a:r>
            <a:r>
              <a:rPr lang="en-US" altLang="en-US" i="1" dirty="0">
                <a:solidFill>
                  <a:srgbClr val="FF0000"/>
                </a:solidFill>
              </a:rPr>
              <a:t>	</a:t>
            </a:r>
            <a:r>
              <a:rPr lang="en-US" altLang="en-US" i="1" u="sng" dirty="0"/>
              <a:t>47/3=</a:t>
            </a:r>
            <a:r>
              <a:rPr lang="en-US" altLang="en-US" i="1" u="sng" dirty="0">
                <a:solidFill>
                  <a:srgbClr val="FF0000"/>
                </a:solidFill>
              </a:rPr>
              <a:t>10.6</a:t>
            </a:r>
          </a:p>
          <a:p>
            <a:pPr>
              <a:lnSpc>
                <a:spcPct val="90000"/>
              </a:lnSpc>
              <a:tabLst>
                <a:tab pos="2219325" algn="ctr"/>
                <a:tab pos="3994150" algn="ctr"/>
              </a:tabLst>
            </a:pPr>
            <a:r>
              <a:rPr lang="en-US" altLang="en-US" dirty="0"/>
              <a:t>The Gantt chart is: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a:t>
            </a:r>
            <a:r>
              <a:rPr lang="en-US" altLang="en-US" dirty="0">
                <a:solidFill>
                  <a:srgbClr val="FF0000"/>
                </a:solidFill>
              </a:rPr>
              <a:t>better </a:t>
            </a:r>
            <a:r>
              <a:rPr lang="en-US" altLang="en-US" b="1" i="1" dirty="0">
                <a:solidFill>
                  <a:srgbClr val="FF0000"/>
                </a:solidFill>
              </a:rPr>
              <a:t>response </a:t>
            </a:r>
          </a:p>
          <a:p>
            <a:pPr lvl="1">
              <a:lnSpc>
                <a:spcPct val="90000"/>
              </a:lnSpc>
              <a:tabLst>
                <a:tab pos="2219325" algn="ctr"/>
                <a:tab pos="3994150" algn="ctr"/>
              </a:tabLst>
            </a:pPr>
            <a:r>
              <a:rPr lang="en-US" altLang="zh-TW" dirty="0">
                <a:ea typeface="新細明體" panose="02020500000000000000" pitchFamily="18" charset="-120"/>
              </a:rPr>
              <a:t>No process waits more than </a:t>
            </a:r>
            <a:r>
              <a:rPr lang="en-US" altLang="zh-TW" dirty="0">
                <a:solidFill>
                  <a:srgbClr val="0000FF"/>
                </a:solidFill>
                <a:ea typeface="新細明體" panose="02020500000000000000" pitchFamily="18" charset="-120"/>
              </a:rPr>
              <a:t>(</a:t>
            </a:r>
            <a:r>
              <a:rPr lang="en-US" altLang="zh-TW" i="1" dirty="0">
                <a:solidFill>
                  <a:srgbClr val="0000FF"/>
                </a:solidFill>
                <a:ea typeface="新細明體" panose="02020500000000000000" pitchFamily="18" charset="-120"/>
              </a:rPr>
              <a:t>n</a:t>
            </a:r>
            <a:r>
              <a:rPr lang="en-US" altLang="zh-TW" dirty="0">
                <a:solidFill>
                  <a:srgbClr val="0000FF"/>
                </a:solidFill>
                <a:ea typeface="新細明體" panose="02020500000000000000" pitchFamily="18" charset="-120"/>
              </a:rPr>
              <a:t>-1)</a:t>
            </a:r>
            <a:r>
              <a:rPr lang="en-US" altLang="zh-TW" i="1" dirty="0">
                <a:solidFill>
                  <a:srgbClr val="0000FF"/>
                </a:solidFill>
                <a:ea typeface="新細明體" panose="02020500000000000000" pitchFamily="18" charset="-120"/>
              </a:rPr>
              <a:t>q</a:t>
            </a:r>
            <a:r>
              <a:rPr lang="en-US" altLang="zh-TW" i="1" dirty="0">
                <a:ea typeface="新細明體" panose="02020500000000000000" pitchFamily="18" charset="-120"/>
              </a:rPr>
              <a:t> </a:t>
            </a:r>
            <a:r>
              <a:rPr lang="en-US" altLang="zh-TW" dirty="0">
                <a:ea typeface="新細明體" panose="02020500000000000000" pitchFamily="18" charset="-120"/>
              </a:rPr>
              <a:t>time units</a:t>
            </a:r>
          </a:p>
          <a:p>
            <a:pPr>
              <a:lnSpc>
                <a:spcPct val="90000"/>
              </a:lnSpc>
              <a:tabLst>
                <a:tab pos="2219325" algn="ctr"/>
                <a:tab pos="3994150" algn="ctr"/>
              </a:tabLst>
            </a:pPr>
            <a:r>
              <a:rPr lang="en-US" altLang="en-US" dirty="0"/>
              <a:t>q should </a:t>
            </a:r>
            <a:r>
              <a:rPr lang="en-US" altLang="en-US" dirty="0">
                <a:solidFill>
                  <a:srgbClr val="FF0000"/>
                </a:solidFill>
              </a:rPr>
              <a:t>be large compared to context switch time</a:t>
            </a:r>
          </a:p>
          <a:p>
            <a:pPr lvl="1">
              <a:lnSpc>
                <a:spcPct val="90000"/>
              </a:lnSpc>
              <a:tabLst>
                <a:tab pos="2219325" algn="ctr"/>
                <a:tab pos="3994150" algn="ctr"/>
              </a:tabLst>
            </a:pPr>
            <a:r>
              <a:rPr lang="en-US" altLang="en-US" dirty="0"/>
              <a:t>q usually </a:t>
            </a:r>
            <a:r>
              <a:rPr lang="en-US" altLang="en-US" dirty="0">
                <a:solidFill>
                  <a:srgbClr val="FF0000"/>
                </a:solidFill>
              </a:rPr>
              <a:t>10 milliseconds  to 100 milliseconds</a:t>
            </a:r>
            <a:r>
              <a:rPr lang="en-US" altLang="en-US" dirty="0"/>
              <a:t>, </a:t>
            </a:r>
          </a:p>
          <a:p>
            <a:pPr lvl="1">
              <a:lnSpc>
                <a:spcPct val="90000"/>
              </a:lnSpc>
              <a:tabLst>
                <a:tab pos="2219325" algn="ctr"/>
                <a:tab pos="3994150" algn="ctr"/>
              </a:tabLst>
            </a:pPr>
            <a:r>
              <a:rPr lang="en-US" altLang="en-US" dirty="0"/>
              <a:t>Context switch </a:t>
            </a:r>
            <a:r>
              <a:rPr lang="en-US" altLang="en-US" dirty="0">
                <a:solidFill>
                  <a:srgbClr val="FF0000"/>
                </a:solidFill>
              </a:rPr>
              <a:t>&lt;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19226" y="3429000"/>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dirty="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1F5FD37-881A-4CAC-9140-CCDBA1ADA0B3}"/>
              </a:ext>
            </a:extLst>
          </p:cNvPr>
          <p:cNvPicPr>
            <a:picLocks noChangeAspect="1"/>
          </p:cNvPicPr>
          <p:nvPr/>
        </p:nvPicPr>
        <p:blipFill>
          <a:blip r:embed="rId4"/>
          <a:stretch>
            <a:fillRect/>
          </a:stretch>
        </p:blipFill>
        <p:spPr>
          <a:xfrm>
            <a:off x="4559095" y="4602017"/>
            <a:ext cx="3440317" cy="1131683"/>
          </a:xfrm>
          <a:prstGeom prst="rect">
            <a:avLst/>
          </a:prstGeom>
        </p:spPr>
      </p:pic>
      <p:sp>
        <p:nvSpPr>
          <p:cNvPr id="8" name="TextBox 3">
            <a:extLst>
              <a:ext uri="{FF2B5EF4-FFF2-40B4-BE49-F238E27FC236}">
                <a16:creationId xmlns:a16="http://schemas.microsoft.com/office/drawing/2014/main" id="{91DE65AC-9C47-447F-B64F-E146D872C4B9}"/>
              </a:ext>
            </a:extLst>
          </p:cNvPr>
          <p:cNvSpPr txBox="1">
            <a:spLocks noChangeArrowheads="1"/>
          </p:cNvSpPr>
          <p:nvPr/>
        </p:nvSpPr>
        <p:spPr bwMode="auto">
          <a:xfrm>
            <a:off x="4572000" y="4122311"/>
            <a:ext cx="4141410" cy="507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dirty="0">
                <a:highlight>
                  <a:srgbClr val="FFFF00"/>
                </a:highlight>
                <a:latin typeface="Verdana" panose="020B0604030504040204" pitchFamily="34" charset="0"/>
              </a:rPr>
              <a:t>For q=7 average turnaround =(6+9+10+17)/4=42/4=</a:t>
            </a:r>
            <a:r>
              <a:rPr kumimoji="0" lang="en-US" altLang="en-US" sz="1400" b="1" dirty="0">
                <a:solidFill>
                  <a:srgbClr val="FF0000"/>
                </a:solidFill>
                <a:highlight>
                  <a:srgbClr val="FFFF00"/>
                </a:highlight>
                <a:latin typeface="Verdana" panose="020B0604030504040204" pitchFamily="34" charset="0"/>
              </a:rPr>
              <a:t>10.5</a:t>
            </a:r>
            <a:endParaRPr kumimoji="0" lang="en-US" altLang="en-US" sz="1300" b="1" dirty="0">
              <a:solidFill>
                <a:srgbClr val="FF0000"/>
              </a:solidFill>
              <a:highlight>
                <a:srgbClr val="FFFF00"/>
              </a:highlight>
              <a:latin typeface="Verdana" panose="020B060403050404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p:txBody>
          <a:bodyPr/>
          <a:lstStyle/>
          <a:p>
            <a:pPr eaLnBrk="1" hangingPunct="1"/>
            <a:r>
              <a:rPr lang="en-US" altLang="en-US" sz="2600" dirty="0"/>
              <a:t>Turnaround Time Varies With The Time Quantum</a:t>
            </a:r>
          </a:p>
        </p:txBody>
      </p:sp>
      <p:sp>
        <p:nvSpPr>
          <p:cNvPr id="2" name="Content Placeholder 1">
            <a:extLst>
              <a:ext uri="{FF2B5EF4-FFF2-40B4-BE49-F238E27FC236}">
                <a16:creationId xmlns:a16="http://schemas.microsoft.com/office/drawing/2014/main" id="{8A6B9AF4-081B-45B2-8F50-703E9E906CD9}"/>
              </a:ext>
            </a:extLst>
          </p:cNvPr>
          <p:cNvSpPr>
            <a:spLocks noGrp="1"/>
          </p:cNvSpPr>
          <p:nvPr>
            <p:ph idx="1"/>
          </p:nvPr>
        </p:nvSpPr>
        <p:spPr>
          <a:xfrm>
            <a:off x="806449" y="1233488"/>
            <a:ext cx="8022757" cy="4530725"/>
          </a:xfrm>
        </p:spPr>
        <p:txBody>
          <a:bodyPr/>
          <a:lstStyle/>
          <a:p>
            <a:pPr>
              <a:spcBef>
                <a:spcPct val="50000"/>
              </a:spcBef>
              <a:buFontTx/>
              <a:buAutoNum type="arabicPeriod"/>
            </a:pPr>
            <a:r>
              <a:rPr lang="en-US" altLang="en-US" sz="2000" dirty="0">
                <a:latin typeface="Verdana" panose="020B0604030504040204" pitchFamily="34" charset="0"/>
                <a:ea typeface="MS PGothic" panose="020B0600070205080204" pitchFamily="34" charset="-128"/>
                <a:cs typeface="Simplified Arabic" panose="02020603050405020304" pitchFamily="18" charset="-78"/>
              </a:rPr>
              <a:t>As we can see in above figure, </a:t>
            </a:r>
            <a:r>
              <a:rPr lang="en-US" altLang="en-US" sz="2400" dirty="0">
                <a:latin typeface="Verdana" panose="020B0604030504040204" pitchFamily="34" charset="0"/>
                <a:ea typeface="MS PGothic" panose="020B0600070205080204" pitchFamily="34" charset="-128"/>
                <a:cs typeface="Simplified Arabic" panose="02020603050405020304" pitchFamily="18" charset="-78"/>
              </a:rPr>
              <a:t>the average turnaround time of a set of processes does not necessarily improved as the time-quantum size increase.</a:t>
            </a:r>
          </a:p>
          <a:p>
            <a:pPr>
              <a:spcBef>
                <a:spcPct val="50000"/>
              </a:spcBef>
              <a:buFontTx/>
              <a:buAutoNum type="arabicPeriod"/>
            </a:pPr>
            <a:r>
              <a:rPr lang="en-US" altLang="en-US" sz="2000" dirty="0">
                <a:solidFill>
                  <a:srgbClr val="CC6600"/>
                </a:solidFill>
                <a:latin typeface="Verdana" panose="020B0604030504040204" pitchFamily="34" charset="0"/>
                <a:ea typeface="MS PGothic" panose="020B0600070205080204" pitchFamily="34" charset="-128"/>
                <a:cs typeface="Simplified Arabic" panose="02020603050405020304" pitchFamily="18" charset="-78"/>
              </a:rPr>
              <a:t>The average turnaround time can be improved if most processes finish their next CPU burst in single time quantum.</a:t>
            </a:r>
          </a:p>
          <a:p>
            <a:pPr lvl="1">
              <a:spcBef>
                <a:spcPct val="50000"/>
              </a:spcBef>
              <a:buFontTx/>
              <a:buChar char="o"/>
            </a:pPr>
            <a:r>
              <a:rPr lang="en-US" altLang="en-US" dirty="0">
                <a:latin typeface="Verdana" panose="020B0604030504040204" pitchFamily="34" charset="0"/>
                <a:ea typeface="MS PGothic" panose="020B0600070205080204" pitchFamily="34" charset="-128"/>
                <a:cs typeface="Simplified Arabic" panose="02020603050405020304" pitchFamily="18" charset="-78"/>
              </a:rPr>
              <a:t>Example, if we have 3 processes with 10-time unit, and quantum=1 then average turnaround =29 . But if time quantum=10 the </a:t>
            </a:r>
            <a:r>
              <a:rPr lang="en-US" altLang="en-US" sz="2000" dirty="0">
                <a:latin typeface="Verdana" panose="020B0604030504040204" pitchFamily="34" charset="0"/>
                <a:ea typeface="MS PGothic" panose="020B0600070205080204" pitchFamily="34" charset="-128"/>
                <a:cs typeface="Simplified Arabic" panose="02020603050405020304" pitchFamily="18" charset="-78"/>
              </a:rPr>
              <a:t>average </a:t>
            </a:r>
            <a:r>
              <a:rPr lang="en-US" altLang="en-US" dirty="0">
                <a:latin typeface="Verdana" panose="020B0604030504040204" pitchFamily="34" charset="0"/>
                <a:ea typeface="MS PGothic" panose="020B0600070205080204" pitchFamily="34" charset="-128"/>
                <a:cs typeface="Simplified Arabic" panose="02020603050405020304" pitchFamily="18" charset="-78"/>
              </a:rPr>
              <a:t>turnaround time drops to 20.</a:t>
            </a:r>
            <a:r>
              <a:rPr lang="en-US" altLang="en-US" sz="2000" dirty="0">
                <a:latin typeface="Verdana" panose="020B0604030504040204" pitchFamily="34" charset="0"/>
                <a:ea typeface="MS PGothic" panose="020B0600070205080204" pitchFamily="34" charset="-128"/>
                <a:cs typeface="Simplified Arabic" panose="02020603050405020304" pitchFamily="18" charset="-78"/>
              </a:rPr>
              <a:t> </a:t>
            </a:r>
            <a:endParaRPr lang="en-US" altLang="en-US" dirty="0">
              <a:latin typeface="Verdana" panose="020B0604030504040204" pitchFamily="34" charset="0"/>
              <a:ea typeface="MS PGothic" panose="020B0600070205080204" pitchFamily="34" charset="-128"/>
              <a:cs typeface="Simplified Arabic" panose="02020603050405020304" pitchFamily="18" charset="-78"/>
            </a:endParaRPr>
          </a:p>
          <a:p>
            <a:pPr>
              <a:spcBef>
                <a:spcPct val="50000"/>
              </a:spcBef>
              <a:buFontTx/>
              <a:buAutoNum type="arabicPeriod"/>
            </a:pPr>
            <a:r>
              <a:rPr lang="en-US" altLang="en-US" sz="2000" dirty="0">
                <a:latin typeface="Verdana" panose="020B0604030504040204" pitchFamily="34" charset="0"/>
                <a:ea typeface="MS PGothic" panose="020B0600070205080204" pitchFamily="34" charset="-128"/>
                <a:cs typeface="Simplified Arabic" panose="02020603050405020304" pitchFamily="18" charset="-78"/>
              </a:rPr>
              <a:t>If time quantum is too large, RR scheduling degenerates to FCFS policy, . </a:t>
            </a:r>
          </a:p>
          <a:p>
            <a:endParaRPr lang="en-US" sz="2400" dirty="0"/>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995830" y="5764213"/>
            <a:ext cx="6859015" cy="36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Tx/>
              <a:buSzTx/>
            </a:pPr>
            <a:r>
              <a:rPr kumimoji="0" lang="en-US" altLang="en-US" dirty="0">
                <a:highlight>
                  <a:srgbClr val="FFFF00"/>
                </a:highlight>
                <a:latin typeface="Verdana" panose="020B0604030504040204" pitchFamily="34" charset="0"/>
              </a:rPr>
              <a:t>80% of CPU bursts should be shorter than q</a:t>
            </a:r>
          </a:p>
        </p:txBody>
      </p:sp>
    </p:spTree>
    <p:extLst>
      <p:ext uri="{BB962C8B-B14F-4D97-AF65-F5344CB8AC3E}">
        <p14:creationId xmlns:p14="http://schemas.microsoft.com/office/powerpoint/2010/main" val="524797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329784" y="805868"/>
            <a:ext cx="8604354" cy="4958345"/>
          </a:xfrm>
        </p:spPr>
        <p:txBody>
          <a:bodyPr/>
          <a:lstStyle/>
          <a:p>
            <a:pPr>
              <a:spcBef>
                <a:spcPts val="600"/>
              </a:spcBef>
            </a:pPr>
            <a:r>
              <a:rPr lang="en-US" altLang="en-US" sz="2400" dirty="0"/>
              <a:t>A </a:t>
            </a:r>
            <a:r>
              <a:rPr lang="en-US" altLang="en-US" sz="2400" dirty="0">
                <a:solidFill>
                  <a:srgbClr val="FF0000"/>
                </a:solidFill>
              </a:rPr>
              <a:t>priority</a:t>
            </a:r>
            <a:r>
              <a:rPr lang="en-US" altLang="en-US" sz="2400" dirty="0"/>
              <a:t> number (</a:t>
            </a:r>
            <a:r>
              <a:rPr lang="en-US" altLang="en-US" sz="2400" dirty="0">
                <a:solidFill>
                  <a:srgbClr val="FF0000"/>
                </a:solidFill>
              </a:rPr>
              <a:t>integer</a:t>
            </a:r>
            <a:r>
              <a:rPr lang="en-US" altLang="en-US" sz="2400" dirty="0"/>
              <a:t>) is associated with each process</a:t>
            </a:r>
          </a:p>
          <a:p>
            <a:pPr>
              <a:spcBef>
                <a:spcPts val="600"/>
              </a:spcBef>
            </a:pPr>
            <a:endParaRPr lang="en-US" altLang="en-US" sz="1000" dirty="0"/>
          </a:p>
          <a:p>
            <a:pPr>
              <a:spcBef>
                <a:spcPts val="600"/>
              </a:spcBef>
            </a:pPr>
            <a:r>
              <a:rPr lang="en-US" altLang="en-US" sz="2400" dirty="0"/>
              <a:t>The CPU is allocated to the process with the highest priority (smallest integer </a:t>
            </a:r>
            <a:r>
              <a:rPr lang="en-US" altLang="en-US" sz="2400" dirty="0">
                <a:sym typeface="Symbol" panose="05050102010706020507" pitchFamily="18" charset="2"/>
              </a:rPr>
              <a:t> highest priority)</a:t>
            </a:r>
          </a:p>
          <a:p>
            <a:pPr lvl="1">
              <a:spcBef>
                <a:spcPts val="600"/>
              </a:spcBef>
            </a:pPr>
            <a:r>
              <a:rPr lang="en-US" altLang="en-US" sz="2400" dirty="0"/>
              <a:t>Preemptive</a:t>
            </a:r>
          </a:p>
          <a:p>
            <a:pPr lvl="1">
              <a:spcBef>
                <a:spcPts val="600"/>
              </a:spcBef>
            </a:pPr>
            <a:r>
              <a:rPr lang="en-US" altLang="en-US" sz="2400" dirty="0"/>
              <a:t>Nonpreemptive</a:t>
            </a:r>
          </a:p>
          <a:p>
            <a:pPr lvl="1">
              <a:spcBef>
                <a:spcPts val="600"/>
              </a:spcBef>
            </a:pPr>
            <a:endParaRPr lang="en-US" altLang="en-US" sz="1000" dirty="0"/>
          </a:p>
          <a:p>
            <a:pPr>
              <a:spcBef>
                <a:spcPts val="600"/>
              </a:spcBef>
            </a:pPr>
            <a:r>
              <a:rPr lang="en-US" altLang="en-US" sz="2400" dirty="0"/>
              <a:t>SJF is priority scheduling where priority is the inverse of predicted next CPU burst time</a:t>
            </a:r>
          </a:p>
          <a:p>
            <a:pPr>
              <a:spcBef>
                <a:spcPts val="600"/>
              </a:spcBef>
            </a:pPr>
            <a:endParaRPr lang="en-US" altLang="en-US" sz="1000" dirty="0"/>
          </a:p>
          <a:p>
            <a:pPr>
              <a:spcBef>
                <a:spcPts val="600"/>
              </a:spcBef>
            </a:pPr>
            <a:r>
              <a:rPr lang="en-US" altLang="en-US" sz="2400" dirty="0"/>
              <a:t>Problem </a:t>
            </a:r>
            <a:r>
              <a:rPr lang="en-US" altLang="en-US" sz="2400" dirty="0">
                <a:sym typeface="Symbol" panose="05050102010706020507" pitchFamily="18" charset="2"/>
              </a:rPr>
              <a:t> </a:t>
            </a:r>
            <a:r>
              <a:rPr lang="en-US" altLang="en-US" sz="2400" b="1" dirty="0">
                <a:solidFill>
                  <a:srgbClr val="006699"/>
                </a:solidFill>
                <a:latin typeface="+mj-lt"/>
                <a:sym typeface="Symbol" panose="05050102010706020507" pitchFamily="18" charset="2"/>
              </a:rPr>
              <a:t>Starvation</a:t>
            </a:r>
            <a:r>
              <a:rPr lang="en-US" altLang="en-US" sz="2400" b="1" dirty="0">
                <a:sym typeface="Symbol" panose="05050102010706020507" pitchFamily="18" charset="2"/>
              </a:rPr>
              <a:t> </a:t>
            </a:r>
            <a:r>
              <a:rPr lang="en-US" altLang="en-US" sz="2400" dirty="0">
                <a:sym typeface="Symbol" panose="05050102010706020507" pitchFamily="18" charset="2"/>
              </a:rPr>
              <a:t>– low priority processes may never execute</a:t>
            </a:r>
          </a:p>
          <a:p>
            <a:pPr>
              <a:spcBef>
                <a:spcPts val="600"/>
              </a:spcBef>
            </a:pPr>
            <a:endParaRPr lang="en-US" altLang="en-US" sz="1000" dirty="0">
              <a:sym typeface="Symbol" panose="05050102010706020507" pitchFamily="18" charset="2"/>
            </a:endParaRPr>
          </a:p>
          <a:p>
            <a:pPr>
              <a:spcBef>
                <a:spcPts val="600"/>
              </a:spcBef>
            </a:pPr>
            <a:r>
              <a:rPr lang="en-US" altLang="en-US" sz="2400" dirty="0">
                <a:sym typeface="Symbol" panose="05050102010706020507" pitchFamily="18" charset="2"/>
              </a:rPr>
              <a:t>Solution  </a:t>
            </a:r>
            <a:r>
              <a:rPr lang="en-US" altLang="en-US" sz="2400" b="1" dirty="0">
                <a:solidFill>
                  <a:srgbClr val="006699"/>
                </a:solidFill>
                <a:latin typeface="+mj-lt"/>
                <a:sym typeface="Symbol" panose="05050102010706020507" pitchFamily="18" charset="2"/>
              </a:rPr>
              <a:t>Aging</a:t>
            </a:r>
            <a:r>
              <a:rPr lang="en-US" altLang="en-US" sz="2400" b="1" dirty="0">
                <a:sym typeface="Symbol" panose="05050102010706020507" pitchFamily="18" charset="2"/>
              </a:rPr>
              <a:t> </a:t>
            </a:r>
            <a:r>
              <a:rPr lang="en-US" altLang="en-US" sz="2400" dirty="0">
                <a:sym typeface="Symbol" panose="05050102010706020507" pitchFamily="18" charset="2"/>
              </a:rPr>
              <a:t>– as time progresses increase the priority of the process</a:t>
            </a:r>
          </a:p>
          <a:p>
            <a:pPr>
              <a:buFont typeface="Monotype Sorts" pitchFamily="-84" charset="2"/>
              <a:buNone/>
            </a:pPr>
            <a:endParaRPr lang="en-US" altLang="en-US" sz="2400" b="1" dirty="0">
              <a:solidFill>
                <a:srgbClr val="3366FF"/>
              </a:solidFill>
              <a:sym typeface="Symbol" panose="05050102010706020507" pitchFamily="18" charset="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a:t>
            </a:r>
            <a:r>
              <a:rPr lang="en-US" altLang="en-US" dirty="0">
                <a:solidFill>
                  <a:srgbClr val="FF0000"/>
                </a:solidFill>
              </a:rPr>
              <a:t>i</a:t>
            </a:r>
            <a:r>
              <a:rPr lang="en-US" altLang="en-US" dirty="0"/>
              <a:t>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734461" y="877888"/>
            <a:ext cx="7675077"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a:t>
            </a:r>
            <a:r>
              <a:rPr lang="en-US" altLang="en-US" dirty="0">
                <a:solidFill>
                  <a:srgbClr val="00B0F0"/>
                </a:solidFill>
              </a:rPr>
              <a:t>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a:t>
            </a:r>
            <a:r>
              <a:rPr lang="en-US" altLang="en-US" dirty="0">
                <a:solidFill>
                  <a:srgbClr val="00B0F0"/>
                </a:solidFill>
              </a:rPr>
              <a:t>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a:t>
            </a:r>
            <a:r>
              <a:rPr lang="en-US" altLang="en-US" dirty="0">
                <a:solidFill>
                  <a:srgbClr val="FF0000"/>
                </a:solidFill>
              </a:rPr>
              <a:t>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p>
          <a:p>
            <a:pPr>
              <a:tabLst>
                <a:tab pos="1600200" algn="ctr"/>
                <a:tab pos="3251200" algn="ctr"/>
                <a:tab pos="5140325" algn="ctr"/>
              </a:tabLst>
            </a:pPr>
            <a:r>
              <a:rPr lang="en-US" altLang="en-US" dirty="0"/>
              <a:t>Run the process with the highest priority. Processes with the same priority run </a:t>
            </a:r>
            <a:r>
              <a:rPr lang="en-US" altLang="en-US" dirty="0">
                <a:solidFill>
                  <a:srgbClr val="FF0000"/>
                </a:solidFill>
              </a:rPr>
              <a:t>round-robin</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8776" y="4618294"/>
            <a:ext cx="7056069" cy="80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229606"/>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233488"/>
            <a:ext cx="8337550"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 =(</a:t>
            </a:r>
            <a:r>
              <a:rPr lang="en-US" altLang="en-US" dirty="0">
                <a:highlight>
                  <a:srgbClr val="FFFF00"/>
                </a:highlight>
              </a:rPr>
              <a:t>6+0+16+18+1)/5=41/5</a:t>
            </a:r>
            <a:endParaRPr lang="en-US" altLang="en-US" i="1" baseline="-25000" dirty="0">
              <a:highlight>
                <a:srgbClr val="FFFF00"/>
              </a:highlight>
            </a:endParaRPr>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pPr marL="0" indent="0">
              <a:buNone/>
            </a:pPr>
            <a:r>
              <a:rPr lang="en-US" dirty="0"/>
              <a:t>1.Each </a:t>
            </a:r>
            <a:r>
              <a:rPr lang="en-US" b="1" dirty="0">
                <a:solidFill>
                  <a:srgbClr val="FF0000"/>
                </a:solidFill>
              </a:rPr>
              <a:t>queue has absolute priority over lower-priority queues. </a:t>
            </a:r>
          </a:p>
          <a:p>
            <a:r>
              <a:rPr lang="en-US" dirty="0">
                <a:solidFill>
                  <a:srgbClr val="FF0000"/>
                </a:solidFill>
              </a:rPr>
              <a:t>No process in the batch queue</a:t>
            </a:r>
            <a:r>
              <a:rPr lang="en-US" dirty="0"/>
              <a:t>, for example, could run unless the queues for </a:t>
            </a:r>
            <a:r>
              <a:rPr lang="en-US" dirty="0">
                <a:solidFill>
                  <a:srgbClr val="FF0000"/>
                </a:solidFill>
              </a:rPr>
              <a:t>real-time processes, </a:t>
            </a:r>
            <a:r>
              <a:rPr lang="en-US" dirty="0"/>
              <a:t>system processes, and interactive processes were all empty.</a:t>
            </a:r>
          </a:p>
          <a:p>
            <a:pPr lvl="1"/>
            <a:r>
              <a:rPr lang="en-US" dirty="0"/>
              <a:t> If an</a:t>
            </a:r>
            <a:r>
              <a:rPr lang="en-US" dirty="0">
                <a:solidFill>
                  <a:srgbClr val="FF0000"/>
                </a:solidFill>
              </a:rPr>
              <a:t> interactive process </a:t>
            </a:r>
            <a:r>
              <a:rPr lang="en-US" dirty="0"/>
              <a:t>entered the ready queue while a batch process was running, the batch process would be preempted.</a:t>
            </a:r>
          </a:p>
          <a:p>
            <a:pPr marL="0" indent="0">
              <a:buNone/>
            </a:pPr>
            <a:r>
              <a:rPr lang="en-US" dirty="0"/>
              <a:t>2</a:t>
            </a:r>
            <a:r>
              <a:rPr lang="en-US" b="1" dirty="0">
                <a:solidFill>
                  <a:srgbClr val="FF0000"/>
                </a:solidFill>
              </a:rPr>
              <a:t>. Another possibility is to time-slice among the queues</a:t>
            </a:r>
            <a:r>
              <a:rPr lang="en-US" dirty="0"/>
              <a:t>. Here, each queue gets a certain portion of the CPU time, which it can then schedule among its various processes. </a:t>
            </a:r>
          </a:p>
          <a:p>
            <a:r>
              <a:rPr lang="en-US" dirty="0"/>
              <a:t>For instance, in the foreground –background queue example, </a:t>
            </a:r>
          </a:p>
          <a:p>
            <a:pPr lvl="1"/>
            <a:r>
              <a:rPr lang="en-US" dirty="0"/>
              <a:t>the </a:t>
            </a:r>
            <a:r>
              <a:rPr lang="en-US" dirty="0">
                <a:solidFill>
                  <a:srgbClr val="FF0000"/>
                </a:solidFill>
              </a:rPr>
              <a:t>foreground</a:t>
            </a:r>
            <a:r>
              <a:rPr lang="en-US" dirty="0"/>
              <a:t> queue can be given </a:t>
            </a:r>
            <a:r>
              <a:rPr lang="en-US" dirty="0">
                <a:solidFill>
                  <a:srgbClr val="FF0000"/>
                </a:solidFill>
              </a:rPr>
              <a:t>80 percent of the CPU </a:t>
            </a:r>
            <a:r>
              <a:rPr lang="en-US" dirty="0"/>
              <a:t>time for RR scheduling among its processes,</a:t>
            </a:r>
          </a:p>
          <a:p>
            <a:pPr lvl="1"/>
            <a:r>
              <a:rPr lang="en-US" dirty="0"/>
              <a:t> while the</a:t>
            </a:r>
            <a:r>
              <a:rPr lang="en-US" dirty="0">
                <a:highlight>
                  <a:srgbClr val="FF0000"/>
                </a:highlight>
              </a:rPr>
              <a:t> </a:t>
            </a:r>
            <a:r>
              <a:rPr lang="en-US" dirty="0">
                <a:solidFill>
                  <a:srgbClr val="FF0000"/>
                </a:solidFill>
              </a:rPr>
              <a:t>background </a:t>
            </a:r>
            <a:r>
              <a:rPr lang="en-US" dirty="0"/>
              <a:t>queue receives </a:t>
            </a:r>
            <a:r>
              <a:rPr lang="en-US" dirty="0">
                <a:solidFill>
                  <a:srgbClr val="FF0000"/>
                </a:solidFill>
              </a:rPr>
              <a:t>20 percent of the CPU </a:t>
            </a:r>
            <a:r>
              <a:rPr lang="en-US" dirty="0"/>
              <a:t>to give to its processes on an FCFS basis.</a:t>
            </a:r>
            <a:endParaRPr lang="en-US" altLang="en-US" dirty="0"/>
          </a:p>
        </p:txBody>
      </p:sp>
    </p:spTree>
    <p:extLst>
      <p:ext uri="{BB962C8B-B14F-4D97-AF65-F5344CB8AC3E}">
        <p14:creationId xmlns:p14="http://schemas.microsoft.com/office/powerpoint/2010/main" val="974411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LWP</a:t>
            </a:r>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 – Linux and macOS only allow PTHREAD_SCOPE_SYSTEM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#define NUM_THREADS 5 </a:t>
            </a: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get the default attributes */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p>
          <a:p>
            <a:pPr marL="0" indent="0">
              <a:buFont typeface="Monotype Sorts" pitchFamily="-84" charset="2"/>
              <a:buNone/>
            </a:pPr>
            <a:r>
              <a:rPr lang="en-US" altLang="en-US" sz="1400" dirty="0">
                <a:latin typeface="Courier New" panose="02070309020205020404" pitchFamily="49" charset="0"/>
              </a:rPr>
              <a:t>   else { </a:t>
            </a:r>
          </a:p>
          <a:p>
            <a:pPr marL="0" indent="0">
              <a:buFont typeface="Monotype Sorts" pitchFamily="-84" charset="2"/>
              <a:buNone/>
            </a:pPr>
            <a:r>
              <a:rPr lang="en-US" altLang="en-US" sz="1400" dirty="0">
                <a:latin typeface="Courier New" panose="02070309020205020404" pitchFamily="49" charset="0"/>
              </a:rPr>
              <a:t>      if (scope == PTHREAD_SCOPE_PROCESS)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p>
          <a:p>
            <a:pPr marL="0" indent="0">
              <a:buFont typeface="Monotype Sorts" pitchFamily="-84" charset="2"/>
              <a:buNone/>
            </a:pPr>
            <a:r>
              <a:rPr lang="en-US" altLang="en-US" sz="1400" dirty="0">
                <a:latin typeface="Courier New" panose="02070309020205020404" pitchFamily="49" charset="0"/>
              </a:rPr>
              <a:t>      else if (scope == PTHREAD_SCOPE_SYSTEM)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p>
          <a:p>
            <a:pPr marL="0" indent="0">
              <a:buFont typeface="Monotype Sorts" pitchFamily="-84" charset="2"/>
              <a:buNone/>
            </a:pPr>
            <a:r>
              <a:rPr lang="en-US" altLang="en-US" sz="1400" dirty="0">
                <a:latin typeface="Courier New" panose="02070309020205020404" pitchFamily="49" charset="0"/>
              </a:rPr>
              <a:t>   }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7" y="1193800"/>
            <a:ext cx="8050941" cy="4765675"/>
          </a:xfrm>
        </p:spPr>
        <p:txBody>
          <a:bodyPr/>
          <a:lstStyle/>
          <a:p>
            <a:pPr marL="0" indent="0">
              <a:buFont typeface="Monotype Sorts" pitchFamily="-84" charset="2"/>
              <a:buNone/>
            </a:pPr>
            <a:r>
              <a:rPr lang="en-US" altLang="en-US" sz="1700" u="sng" dirty="0">
                <a:latin typeface="Courier New" panose="02070309020205020404" pitchFamily="49" charset="0"/>
              </a:rPr>
              <a:t>   /* </a:t>
            </a:r>
            <a:r>
              <a:rPr lang="en-US" altLang="en-US" b="1" u="sng" dirty="0">
                <a:latin typeface="Courier New" panose="02070309020205020404" pitchFamily="49" charset="0"/>
              </a:rPr>
              <a:t>set the scheduling algorithm to PCS or SCS */ </a:t>
            </a:r>
            <a:endParaRPr lang="en-US" altLang="en-US" sz="1700" b="1" u="sng"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r>
              <a:rPr lang="en-US" altLang="en-US" sz="1700" dirty="0" err="1">
                <a:solidFill>
                  <a:srgbClr val="FF0000"/>
                </a:solidFill>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solidFill>
                  <a:srgbClr val="FF0000"/>
                </a:solidFill>
                <a:latin typeface="Courier New" panose="02070309020205020404" pitchFamily="49" charset="0"/>
              </a:rPr>
              <a:t>pthread_create</a:t>
            </a:r>
            <a:r>
              <a:rPr lang="en-US" altLang="en-US" sz="1700" dirty="0">
                <a:solidFill>
                  <a:srgbClr val="FF0000"/>
                </a:solidFill>
                <a:latin typeface="Courier New" panose="02070309020205020404" pitchFamily="49" charset="0"/>
              </a:rPr>
              <a:t>(&amp;</a:t>
            </a:r>
            <a:r>
              <a:rPr lang="en-US" altLang="en-US" sz="1700" dirty="0" err="1">
                <a:solidFill>
                  <a:srgbClr val="FF0000"/>
                </a:solidFill>
                <a:latin typeface="Courier New" panose="02070309020205020404" pitchFamily="49" charset="0"/>
              </a:rPr>
              <a:t>tid</a:t>
            </a:r>
            <a:r>
              <a:rPr lang="en-US" altLang="en-US" sz="1700" dirty="0">
                <a:solidFill>
                  <a:srgbClr val="FF0000"/>
                </a:solidFill>
                <a:latin typeface="Courier New" panose="02070309020205020404" pitchFamily="49" charset="0"/>
              </a:rPr>
              <a:t>[</a:t>
            </a:r>
            <a:r>
              <a:rPr lang="en-US" altLang="en-US" sz="1700" dirty="0" err="1">
                <a:solidFill>
                  <a:srgbClr val="FF0000"/>
                </a:solidFill>
                <a:latin typeface="Courier New" panose="02070309020205020404" pitchFamily="49" charset="0"/>
              </a:rPr>
              <a:t>i</a:t>
            </a:r>
            <a:r>
              <a:rPr lang="en-US" altLang="en-US" sz="1700" dirty="0">
                <a:solidFill>
                  <a:srgbClr val="FF0000"/>
                </a:solidFill>
                <a:latin typeface="Courier New" panose="02070309020205020404" pitchFamily="49" charset="0"/>
              </a:rPr>
              <a:t>],&amp;</a:t>
            </a:r>
            <a:r>
              <a:rPr lang="en-US" altLang="en-US" sz="1700" dirty="0" err="1">
                <a:solidFill>
                  <a:srgbClr val="FF0000"/>
                </a:solidFill>
                <a:latin typeface="Courier New" panose="02070309020205020404" pitchFamily="49" charset="0"/>
              </a:rPr>
              <a:t>attr,runner,NULL</a:t>
            </a:r>
            <a:r>
              <a:rPr lang="en-US" altLang="en-US" sz="1700" dirty="0">
                <a:solidFill>
                  <a:srgbClr val="FF0000"/>
                </a:solidFill>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Each thread will begin control in this function */ </a:t>
            </a: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do some work ...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solidFill>
                  <a:srgbClr val="FF0000"/>
                </a:solidFill>
                <a:latin typeface="Courier New" panose="02070309020205020404" pitchFamily="49" charset="0"/>
              </a:rPr>
              <a:t>pthread_exit</a:t>
            </a:r>
            <a:r>
              <a:rPr lang="en-US" altLang="en-US" sz="1700" dirty="0">
                <a:solidFill>
                  <a:srgbClr val="FF0000"/>
                </a:solidFill>
                <a:latin typeface="Courier New" panose="02070309020205020404" pitchFamily="49" charset="0"/>
              </a:rPr>
              <a:t>(0); </a:t>
            </a:r>
          </a:p>
          <a:p>
            <a:pPr marL="0" indent="0">
              <a:buFont typeface="Monotype Sorts" pitchFamily="-84" charset="2"/>
              <a:buNone/>
            </a:pPr>
            <a:r>
              <a:rPr lang="en-US" altLang="en-US" sz="1700" dirty="0">
                <a:latin typeface="Courier New" panose="02070309020205020404" pitchFamily="49"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1F0F16-47E2-40BE-BAFF-F758128EBEE5}"/>
              </a:ext>
            </a:extLst>
          </p:cNvPr>
          <p:cNvSpPr>
            <a:spLocks noGrp="1"/>
          </p:cNvSpPr>
          <p:nvPr>
            <p:ph type="ctrTitle"/>
          </p:nvPr>
        </p:nvSpPr>
        <p:spPr/>
        <p:txBody>
          <a:bodyPr/>
          <a:lstStyle/>
          <a:p>
            <a:r>
              <a:rPr lang="en-US" altLang="en-US" dirty="0"/>
              <a:t>5.5</a:t>
            </a:r>
            <a:br>
              <a:rPr lang="en-US" altLang="en-US" dirty="0"/>
            </a:br>
            <a:r>
              <a:rPr lang="en-US" altLang="en-US" dirty="0"/>
              <a:t>Multiple-Processor Scheduling</a:t>
            </a:r>
            <a:endParaRPr lang="en-US" dirty="0"/>
          </a:p>
        </p:txBody>
      </p:sp>
    </p:spTree>
    <p:extLst>
      <p:ext uri="{BB962C8B-B14F-4D97-AF65-F5344CB8AC3E}">
        <p14:creationId xmlns:p14="http://schemas.microsoft.com/office/powerpoint/2010/main" val="3041612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5.5.Multiple-Processor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269823" y="884420"/>
            <a:ext cx="8694295" cy="5136421"/>
          </a:xfrm>
        </p:spPr>
        <p:txBody>
          <a:bodyPr/>
          <a:lstStyle/>
          <a:p>
            <a:r>
              <a:rPr lang="en-US" altLang="en-US" sz="2400" dirty="0"/>
              <a:t>CPU scheduling more complex when multiple CPUs are available</a:t>
            </a:r>
          </a:p>
          <a:p>
            <a:pPr algn="l"/>
            <a:r>
              <a:rPr lang="en-US" sz="2400" b="0" i="0" u="none" strike="noStrike" baseline="0" dirty="0">
                <a:solidFill>
                  <a:srgbClr val="000000"/>
                </a:solidFill>
                <a:latin typeface="PalatinoLTStd-Roman"/>
              </a:rPr>
              <a:t>If multiple CPUs are available, </a:t>
            </a:r>
            <a:r>
              <a:rPr lang="en-US" sz="2400" b="1" i="0" u="none" strike="noStrike" baseline="0" dirty="0">
                <a:solidFill>
                  <a:srgbClr val="FF0000"/>
                </a:solidFill>
                <a:highlight>
                  <a:srgbClr val="FFFF00"/>
                </a:highlight>
                <a:latin typeface="PalatinoLTStd-Bold"/>
              </a:rPr>
              <a:t>load sharing</a:t>
            </a:r>
            <a:r>
              <a:rPr lang="en-US" sz="2400" b="0" i="0" u="none" strike="noStrike" baseline="0" dirty="0">
                <a:solidFill>
                  <a:srgbClr val="000000"/>
                </a:solidFill>
                <a:latin typeface="PalatinoLTStd-Roman"/>
              </a:rPr>
              <a:t>, where multiple threads may run in parallel, becomes possible, however scheduling issues become correspondingly more complex.</a:t>
            </a:r>
            <a:endParaRPr lang="en-US" altLang="en-US" sz="2400" dirty="0"/>
          </a:p>
          <a:p>
            <a:r>
              <a:rPr lang="en-US" altLang="en-US" sz="2400" dirty="0" err="1"/>
              <a:t>Multiprocess</a:t>
            </a:r>
            <a:r>
              <a:rPr lang="en-US" altLang="en-US" sz="2400" dirty="0"/>
              <a:t> may be any one of the following architectures:</a:t>
            </a:r>
            <a:endParaRPr lang="en-US" altLang="en-US" sz="1000" dirty="0"/>
          </a:p>
          <a:p>
            <a:pPr marL="914400" lvl="1" indent="-457200">
              <a:buFont typeface="+mj-lt"/>
              <a:buAutoNum type="arabicPeriod"/>
            </a:pPr>
            <a:r>
              <a:rPr lang="en-US" altLang="en-US" sz="2400" dirty="0"/>
              <a:t>Multicore CPUs</a:t>
            </a:r>
          </a:p>
          <a:p>
            <a:pPr marL="914400" lvl="1" indent="-457200">
              <a:buFont typeface="+mj-lt"/>
              <a:buAutoNum type="arabicPeriod"/>
            </a:pPr>
            <a:r>
              <a:rPr lang="en-US" altLang="en-US" sz="2400" dirty="0"/>
              <a:t>Multithreaded cores</a:t>
            </a:r>
          </a:p>
          <a:p>
            <a:pPr marL="914400" lvl="1" indent="-457200">
              <a:buFont typeface="+mj-lt"/>
              <a:buAutoNum type="arabicPeriod"/>
            </a:pPr>
            <a:r>
              <a:rPr lang="en-US" sz="2400" b="1" i="0" dirty="0">
                <a:solidFill>
                  <a:srgbClr val="202122"/>
                </a:solidFill>
                <a:effectLst/>
                <a:latin typeface="Arial" panose="020B0604020202020204" pitchFamily="34" charset="0"/>
              </a:rPr>
              <a:t>Non-uniform memory access</a:t>
            </a:r>
            <a:r>
              <a:rPr lang="en-US" sz="2400" b="0" i="0" dirty="0">
                <a:solidFill>
                  <a:srgbClr val="202122"/>
                </a:solidFill>
                <a:effectLst/>
                <a:latin typeface="Arial" panose="020B0604020202020204" pitchFamily="34" charset="0"/>
              </a:rPr>
              <a:t> (</a:t>
            </a:r>
            <a:r>
              <a:rPr lang="en-US" altLang="en-US" sz="2400" dirty="0"/>
              <a:t>NUMA) systems</a:t>
            </a:r>
          </a:p>
          <a:p>
            <a:pPr marL="914400" lvl="1" indent="-457200">
              <a:buFont typeface="+mj-lt"/>
              <a:buAutoNum type="arabicPeriod"/>
            </a:pPr>
            <a:r>
              <a:rPr lang="en-US" altLang="en-US" sz="2400" dirty="0"/>
              <a:t>Heterogeneous multiprocessing </a:t>
            </a:r>
            <a:r>
              <a:rPr lang="ar-SA" altLang="en-US" sz="2400" dirty="0"/>
              <a:t>المعالجة المتعددة غير المتجانسة</a:t>
            </a:r>
            <a:endParaRPr lang="en-US" altLang="en-US" sz="2400" dirty="0"/>
          </a:p>
          <a:p>
            <a:pPr lvl="1"/>
            <a:endParaRPr lang="en-US" altLang="en-US" sz="2400" b="1" dirty="0">
              <a:solidFill>
                <a:srgbClr val="3366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sz="2400" b="1" i="0" u="none" strike="noStrike" baseline="0" dirty="0">
                <a:latin typeface="HelveticaNeueLTStd-BdEx"/>
              </a:rPr>
              <a:t>5.5.1 Approaches to Multiple-Processor Scheduling </a:t>
            </a:r>
            <a:endParaRPr lang="en-US" altLang="en-US" sz="4000" dirty="0"/>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a:xfrm>
            <a:off x="179882" y="869430"/>
            <a:ext cx="8814215" cy="5814848"/>
          </a:xfrm>
        </p:spPr>
        <p:txBody>
          <a:bodyPr/>
          <a:lstStyle/>
          <a:p>
            <a:pPr marL="457200" indent="-457200" eaLnBrk="1" hangingPunct="1">
              <a:lnSpc>
                <a:spcPct val="90000"/>
              </a:lnSpc>
            </a:pPr>
            <a:r>
              <a:rPr lang="en-US" altLang="zh-TW" sz="1800" b="1" dirty="0">
                <a:solidFill>
                  <a:srgbClr val="FF0000"/>
                </a:solidFill>
                <a:highlight>
                  <a:srgbClr val="FFFF00"/>
                </a:highlight>
                <a:ea typeface="新細明體" panose="02020500000000000000" pitchFamily="18" charset="-120"/>
              </a:rPr>
              <a:t>1. Asymmetric multiprocessing (AMP) </a:t>
            </a:r>
            <a:r>
              <a:rPr lang="en-US" altLang="zh-TW" sz="1800" dirty="0">
                <a:solidFill>
                  <a:srgbClr val="FF0000"/>
                </a:solidFill>
                <a:highlight>
                  <a:srgbClr val="FFFF00"/>
                </a:highlight>
                <a:ea typeface="新細明體" panose="02020500000000000000" pitchFamily="18" charset="-120"/>
              </a:rPr>
              <a:t>–</a:t>
            </a:r>
          </a:p>
          <a:p>
            <a:pPr marL="685800" lvl="1" eaLnBrk="1" hangingPunct="1">
              <a:lnSpc>
                <a:spcPct val="90000"/>
              </a:lnSpc>
            </a:pPr>
            <a:r>
              <a:rPr lang="en-US" altLang="zh-TW" dirty="0">
                <a:ea typeface="新細明體" panose="02020500000000000000" pitchFamily="18" charset="-120"/>
              </a:rPr>
              <a:t> Only one processor (</a:t>
            </a:r>
            <a:r>
              <a:rPr lang="en-US" altLang="zh-TW" i="1" dirty="0">
                <a:ea typeface="新細明體" panose="02020500000000000000" pitchFamily="18" charset="-120"/>
              </a:rPr>
              <a:t>master</a:t>
            </a:r>
            <a:r>
              <a:rPr lang="en-US" altLang="zh-TW" dirty="0">
                <a:ea typeface="新細明體" panose="02020500000000000000" pitchFamily="18" charset="-120"/>
              </a:rPr>
              <a:t>) accesses the system data structures (scheduling decisions, </a:t>
            </a:r>
            <a:r>
              <a:rPr lang="en-US" altLang="zh-TW" dirty="0" err="1">
                <a:ea typeface="新細明體" panose="02020500000000000000" pitchFamily="18" charset="-120"/>
              </a:rPr>
              <a:t>i</a:t>
            </a:r>
            <a:r>
              <a:rPr lang="en-US" altLang="zh-TW" dirty="0">
                <a:ea typeface="新細明體" panose="02020500000000000000" pitchFamily="18" charset="-120"/>
              </a:rPr>
              <a:t>/o processing, </a:t>
            </a:r>
            <a:r>
              <a:rPr lang="en-US" altLang="zh-TW" dirty="0" err="1">
                <a:ea typeface="新細明體" panose="02020500000000000000" pitchFamily="18" charset="-120"/>
              </a:rPr>
              <a:t>etc</a:t>
            </a:r>
            <a:r>
              <a:rPr lang="en-US" altLang="zh-TW" dirty="0">
                <a:ea typeface="新細明體" panose="02020500000000000000" pitchFamily="18" charset="-120"/>
              </a:rPr>
              <a:t>), reducing the need for data sharing, others are </a:t>
            </a:r>
            <a:r>
              <a:rPr lang="en-US" altLang="zh-TW" i="1" dirty="0">
                <a:ea typeface="新細明體" panose="02020500000000000000" pitchFamily="18" charset="-120"/>
              </a:rPr>
              <a:t>slaves</a:t>
            </a:r>
          </a:p>
          <a:p>
            <a:pPr lvl="1" eaLnBrk="1" hangingPunct="1">
              <a:lnSpc>
                <a:spcPct val="90000"/>
              </a:lnSpc>
            </a:pPr>
            <a:r>
              <a:rPr lang="en-US" altLang="zh-TW" sz="1800" b="1" dirty="0">
                <a:ea typeface="新細明體" panose="02020500000000000000" pitchFamily="18" charset="-120"/>
              </a:rPr>
              <a:t>Problems:</a:t>
            </a:r>
            <a:r>
              <a:rPr lang="en-US" altLang="zh-TW" sz="1800" i="1" dirty="0">
                <a:ea typeface="新細明體" panose="02020500000000000000" pitchFamily="18" charset="-120"/>
              </a:rPr>
              <a:t> high load on master – bottle-neck problem</a:t>
            </a:r>
          </a:p>
          <a:p>
            <a:pPr marL="457200" lvl="1" indent="0" eaLnBrk="1" hangingPunct="1">
              <a:lnSpc>
                <a:spcPct val="90000"/>
              </a:lnSpc>
              <a:buNone/>
            </a:pPr>
            <a:r>
              <a:rPr lang="en-US" altLang="zh-TW" sz="1800" b="1" dirty="0">
                <a:solidFill>
                  <a:srgbClr val="FF0000"/>
                </a:solidFill>
                <a:highlight>
                  <a:srgbClr val="FFFF00"/>
                </a:highlight>
                <a:ea typeface="新細明體" panose="02020500000000000000" pitchFamily="18" charset="-120"/>
              </a:rPr>
              <a:t>2. Symmetric multiprocessing  (SMP) </a:t>
            </a:r>
            <a:r>
              <a:rPr lang="en-US" altLang="zh-TW" sz="1800" dirty="0">
                <a:solidFill>
                  <a:srgbClr val="FF0000"/>
                </a:solidFill>
                <a:highlight>
                  <a:srgbClr val="FFFF00"/>
                </a:highlight>
                <a:ea typeface="新細明體" panose="02020500000000000000" pitchFamily="18" charset="-120"/>
              </a:rPr>
              <a:t>– </a:t>
            </a:r>
            <a:endParaRPr lang="en-US" altLang="en-US" dirty="0">
              <a:solidFill>
                <a:srgbClr val="FF0000"/>
              </a:solidFill>
              <a:highlight>
                <a:srgbClr val="FFFF00"/>
              </a:highlight>
            </a:endParaRPr>
          </a:p>
          <a:p>
            <a:pPr marL="800100" lvl="1" indent="-342900">
              <a:buFont typeface="+mj-lt"/>
              <a:buAutoNum type="arabicPeriod"/>
            </a:pPr>
            <a:r>
              <a:rPr lang="en-US" altLang="en-US" dirty="0"/>
              <a:t>All threads may be in </a:t>
            </a:r>
            <a:r>
              <a:rPr lang="en-US" altLang="en-US" dirty="0">
                <a:solidFill>
                  <a:srgbClr val="FF0000"/>
                </a:solidFill>
              </a:rPr>
              <a:t>a </a:t>
            </a:r>
            <a:r>
              <a:rPr lang="en-US" altLang="en-US" dirty="0">
                <a:solidFill>
                  <a:srgbClr val="FF0000"/>
                </a:solidFill>
                <a:highlight>
                  <a:srgbClr val="FFFF00"/>
                </a:highlight>
              </a:rPr>
              <a:t>common ready queue </a:t>
            </a:r>
            <a:r>
              <a:rPr lang="en-US" altLang="en-US" dirty="0"/>
              <a:t>(a)</a:t>
            </a:r>
          </a:p>
          <a:p>
            <a:pPr marL="800100" lvl="1" indent="-342900">
              <a:buFont typeface="+mj-lt"/>
              <a:buAutoNum type="arabicPeriod"/>
            </a:pPr>
            <a:r>
              <a:rPr lang="en-US" altLang="en-US" dirty="0">
                <a:solidFill>
                  <a:srgbClr val="FF0000"/>
                </a:solidFill>
                <a:highlight>
                  <a:srgbClr val="FFFF00"/>
                </a:highlight>
              </a:rPr>
              <a:t>Each processor may have </a:t>
            </a:r>
            <a:r>
              <a:rPr lang="en-US" altLang="en-US" dirty="0"/>
              <a:t>its own </a:t>
            </a:r>
            <a:r>
              <a:rPr lang="en-US" altLang="en-US" dirty="0">
                <a:solidFill>
                  <a:srgbClr val="FF0000"/>
                </a:solidFill>
                <a:highlight>
                  <a:srgbClr val="FFFF00"/>
                </a:highlight>
              </a:rPr>
              <a:t>private queue </a:t>
            </a:r>
            <a:r>
              <a:rPr lang="en-US" altLang="en-US" dirty="0"/>
              <a:t>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3607" y="342900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dirty="0"/>
              <a:t>5.5.2</a:t>
            </a:r>
            <a:r>
              <a:rPr lang="en-US" sz="1800" b="1" i="0" u="none" strike="noStrike" baseline="0" dirty="0">
                <a:latin typeface="HelveticaNeueLTStd-BdEx"/>
              </a:rPr>
              <a:t> </a:t>
            </a:r>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344775" y="929390"/>
            <a:ext cx="8694294" cy="5606321"/>
          </a:xfrm>
        </p:spPr>
        <p:txBody>
          <a:bodyPr/>
          <a:lstStyle/>
          <a:p>
            <a:r>
              <a:rPr lang="en-US" altLang="en-US" dirty="0"/>
              <a:t>Recent trend to </a:t>
            </a:r>
            <a:r>
              <a:rPr lang="en-US" altLang="en-US" dirty="0">
                <a:solidFill>
                  <a:srgbClr val="FF0000"/>
                </a:solidFill>
                <a:highlight>
                  <a:srgbClr val="FFFF00"/>
                </a:highlight>
              </a:rPr>
              <a:t>place multiple processor cores on same physical chip</a:t>
            </a:r>
          </a:p>
          <a:p>
            <a:pPr algn="l"/>
            <a:r>
              <a:rPr lang="en-US" sz="1800" b="0" i="0" u="none" strike="noStrike" baseline="0" dirty="0">
                <a:latin typeface="PalatinoLTStd-Roman"/>
              </a:rPr>
              <a:t>Each core maintains its architectural state and thus appears to the operating system to be a separate logical CPU.</a:t>
            </a:r>
            <a:endParaRPr lang="en-US" altLang="en-US" dirty="0"/>
          </a:p>
          <a:p>
            <a:r>
              <a:rPr lang="en-US" altLang="en-US" dirty="0"/>
              <a:t>Faster and consumes less power</a:t>
            </a:r>
          </a:p>
          <a:p>
            <a:r>
              <a:rPr lang="en-US" sz="1800" b="0" i="0" u="none" strike="noStrike" baseline="0" dirty="0">
                <a:latin typeface="PalatinoLTStd-Roman"/>
              </a:rPr>
              <a:t>They may complicate scheduling issues.</a:t>
            </a:r>
          </a:p>
          <a:p>
            <a:pPr lvl="1"/>
            <a:r>
              <a:rPr lang="en-US" sz="1800" b="1" i="0" u="none" strike="noStrike" baseline="0" dirty="0">
                <a:solidFill>
                  <a:srgbClr val="FF0000"/>
                </a:solidFill>
                <a:latin typeface="PalatinoLTStd-Bold"/>
              </a:rPr>
              <a:t>Memory stall</a:t>
            </a:r>
            <a:r>
              <a:rPr lang="en-US" b="1" dirty="0">
                <a:solidFill>
                  <a:srgbClr val="FF0000"/>
                </a:solidFill>
                <a:latin typeface="PalatinoLTStd-Bold"/>
              </a:rPr>
              <a:t> </a:t>
            </a:r>
            <a:r>
              <a:rPr lang="en-US" sz="1800" b="1" i="0" u="none" strike="noStrike" baseline="0" dirty="0">
                <a:solidFill>
                  <a:srgbClr val="FF0000"/>
                </a:solidFill>
                <a:latin typeface="PalatinoLTStd-Bold"/>
              </a:rPr>
              <a:t> </a:t>
            </a:r>
            <a:r>
              <a:rPr lang="en-US" dirty="0">
                <a:latin typeface="PalatinoLTStd-Roman"/>
              </a:rPr>
              <a:t>:w</a:t>
            </a:r>
            <a:r>
              <a:rPr lang="en-US" b="0" i="0" u="none" strike="noStrike" baseline="0" dirty="0">
                <a:latin typeface="PalatinoLTStd-Roman"/>
              </a:rPr>
              <a:t>hen a processor accesses memory, it </a:t>
            </a:r>
            <a:r>
              <a:rPr lang="en-US" b="0" i="0" u="none" strike="noStrike" baseline="0" dirty="0">
                <a:solidFill>
                  <a:srgbClr val="FF0000"/>
                </a:solidFill>
                <a:latin typeface="PalatinoLTStd-Roman"/>
              </a:rPr>
              <a:t>spends a significant amount of time waiting for the data to </a:t>
            </a:r>
            <a:r>
              <a:rPr lang="en-US" sz="1800" b="0" i="0" u="none" strike="noStrike" baseline="0" dirty="0">
                <a:solidFill>
                  <a:srgbClr val="FF0000"/>
                </a:solidFill>
                <a:latin typeface="PalatinoLTStd-Roman"/>
              </a:rPr>
              <a:t>become available</a:t>
            </a:r>
            <a:r>
              <a:rPr lang="en-US" sz="1800" b="0" i="0" u="none" strike="noStrike" baseline="0" dirty="0">
                <a:latin typeface="PalatinoLTStd-Roman"/>
              </a:rPr>
              <a:t>. Because modern processors operate at much </a:t>
            </a:r>
            <a:r>
              <a:rPr lang="en-US" sz="1800" b="0" i="0" u="none" strike="noStrike" baseline="0" dirty="0">
                <a:solidFill>
                  <a:srgbClr val="FF0000"/>
                </a:solidFill>
                <a:latin typeface="PalatinoLTStd-Roman"/>
              </a:rPr>
              <a:t>faster speeds </a:t>
            </a:r>
            <a:r>
              <a:rPr lang="en-US" sz="1800" b="0" i="0" u="none" strike="noStrike" baseline="0" dirty="0">
                <a:latin typeface="PalatinoLTStd-Roman"/>
              </a:rPr>
              <a:t>than memory.</a:t>
            </a:r>
          </a:p>
          <a:p>
            <a:pPr lvl="1"/>
            <a:r>
              <a:rPr lang="en-US" sz="1800" b="0" i="0" u="none" strike="noStrike" baseline="0" dirty="0">
                <a:solidFill>
                  <a:srgbClr val="FF0000"/>
                </a:solidFill>
                <a:latin typeface="PalatinoLTStd-Roman"/>
              </a:rPr>
              <a:t>memory stall </a:t>
            </a:r>
            <a:r>
              <a:rPr lang="en-US" sz="1800" b="0" i="0" u="none" strike="noStrike" baseline="0" dirty="0">
                <a:latin typeface="PalatinoLTStd-Roman"/>
              </a:rPr>
              <a:t>can also occur because of a cache miss</a:t>
            </a:r>
          </a:p>
          <a:p>
            <a:r>
              <a:rPr lang="en-US" altLang="en-US" dirty="0"/>
              <a:t>Figure :</a:t>
            </a:r>
            <a:r>
              <a:rPr lang="en-US" sz="1800" b="0" i="0" u="none" strike="noStrike" baseline="0" dirty="0">
                <a:latin typeface="PalatinoLTStd-Roman"/>
              </a:rPr>
              <a:t>the processor can spend up to 50 percent </a:t>
            </a:r>
            <a:r>
              <a:rPr lang="en-US" sz="1800" b="0" i="1" u="none" strike="noStrike" baseline="0" dirty="0">
                <a:latin typeface="PalatinoLTStd-Roman"/>
              </a:rPr>
              <a:t>on a memory stall</a:t>
            </a:r>
            <a:endParaRPr lang="en-US" altLang="en-US" i="1" dirty="0"/>
          </a:p>
          <a:p>
            <a:endParaRPr lang="en-US" altLang="en-US" dirty="0"/>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3754" y="5127676"/>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569627" y="927101"/>
            <a:ext cx="8454452" cy="5003800"/>
          </a:xfrm>
        </p:spPr>
        <p:txBody>
          <a:bodyPr/>
          <a:lstStyle/>
          <a:p>
            <a:r>
              <a:rPr lang="en-US" altLang="en-US" sz="2000" b="1" dirty="0">
                <a:solidFill>
                  <a:srgbClr val="FF0000"/>
                </a:solidFill>
                <a:latin typeface="Times New Roman" panose="02020603050405020304" pitchFamily="18" charset="0"/>
                <a:cs typeface="Times New Roman" panose="02020603050405020304" pitchFamily="18" charset="0"/>
              </a:rPr>
              <a:t>Multiple threads per </a:t>
            </a:r>
            <a:r>
              <a:rPr lang="en-US" altLang="en-US" sz="2000" dirty="0">
                <a:solidFill>
                  <a:srgbClr val="FF0000"/>
                </a:solidFill>
                <a:latin typeface="Times New Roman" panose="02020603050405020304" pitchFamily="18" charset="0"/>
                <a:cs typeface="Times New Roman" panose="02020603050405020304" pitchFamily="18" charset="0"/>
              </a:rPr>
              <a:t>core also growing</a:t>
            </a:r>
          </a:p>
          <a:p>
            <a:pPr lvl="1"/>
            <a:r>
              <a:rPr lang="en-US" altLang="en-US" sz="2000" dirty="0">
                <a:latin typeface="Times New Roman" panose="02020603050405020304" pitchFamily="18" charset="0"/>
                <a:cs typeface="Times New Roman" panose="02020603050405020304" pitchFamily="18" charset="0"/>
              </a:rPr>
              <a:t>Takes advantage of memory stall to make progress on another thread while memory retrieve happens</a:t>
            </a:r>
          </a:p>
          <a:p>
            <a:r>
              <a:rPr kumimoji="0" lang="en-US" altLang="en-US" sz="2000" dirty="0">
                <a:latin typeface="Times New Roman" panose="02020603050405020304" pitchFamily="18" charset="0"/>
                <a:cs typeface="Times New Roman" panose="02020603050405020304" pitchFamily="18" charset="0"/>
              </a:rPr>
              <a:t>Each core has &gt; 1 hardware threads. </a:t>
            </a:r>
          </a:p>
          <a:p>
            <a:r>
              <a:rPr kumimoji="0" lang="en-US" altLang="en-US" sz="2000" dirty="0">
                <a:latin typeface="Times New Roman" panose="02020603050405020304" pitchFamily="18" charset="0"/>
                <a:cs typeface="Times New Roman" panose="02020603050405020304" pitchFamily="18" charset="0"/>
              </a:rPr>
              <a:t>If one thread has a memory stall, switch to another thread!</a:t>
            </a:r>
          </a:p>
          <a:p>
            <a:pPr algn="l"/>
            <a:r>
              <a:rPr kumimoji="0" lang="en-US" altLang="en-US" sz="2000" dirty="0">
                <a:solidFill>
                  <a:srgbClr val="FF0000"/>
                </a:solidFill>
                <a:latin typeface="Times New Roman" panose="02020603050405020304" pitchFamily="18" charset="0"/>
                <a:cs typeface="Times New Roman" panose="02020603050405020304" pitchFamily="18" charset="0"/>
              </a:rPr>
              <a:t>Figure</a:t>
            </a:r>
            <a:r>
              <a:rPr kumimoji="0" lang="en-US" altLang="en-US" sz="200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illustrates a dual-threaded processing core on which the execution of thread 0 and the execution of thread 1 are interleaved.</a:t>
            </a:r>
            <a:endParaRPr kumimoji="0" lang="en-US" altLang="en-US" sz="2000" dirty="0">
              <a:latin typeface="Times New Roman" panose="02020603050405020304" pitchFamily="18" charset="0"/>
              <a:cs typeface="Times New Roman" panose="02020603050405020304" pitchFamily="18" charset="0"/>
            </a:endParaRPr>
          </a:p>
          <a:p>
            <a:endParaRPr kumimoji="0" lang="en-US" altLang="en-US" sz="2000" dirty="0">
              <a:latin typeface="Times New Roman" panose="02020603050405020304" pitchFamily="18" charset="0"/>
              <a:cs typeface="Times New Roman" panose="02020603050405020304" pitchFamily="18" charset="0"/>
            </a:endParaRPr>
          </a:p>
          <a:p>
            <a:endParaRPr kumimoji="0" lang="en-US" altLang="en-US" sz="2000" dirty="0">
              <a:latin typeface="Times New Roman" panose="02020603050405020304" pitchFamily="18" charset="0"/>
              <a:cs typeface="Times New Roman" panose="02020603050405020304" pitchFamily="18" charset="0"/>
            </a:endParaRPr>
          </a:p>
          <a:p>
            <a:pPr>
              <a:spcBef>
                <a:spcPct val="0"/>
              </a:spcBef>
              <a:buClrTx/>
              <a:buSzTx/>
              <a:buFontTx/>
              <a:buNone/>
            </a:pPr>
            <a:endParaRPr kumimoji="0"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1661" y="4483556"/>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239842" y="804672"/>
            <a:ext cx="5797063" cy="4766501"/>
          </a:xfrm>
        </p:spPr>
        <p:txBody>
          <a:bodyPr/>
          <a:lstStyle/>
          <a:p>
            <a:r>
              <a:rPr lang="en-US" sz="1800" b="0" i="0" u="none" strike="noStrike" baseline="0" dirty="0">
                <a:latin typeface="PalatinoLTStd-Roman"/>
              </a:rPr>
              <a:t>Some system in which, each hardware thread maintains </a:t>
            </a:r>
            <a:r>
              <a:rPr lang="en-US" sz="1800" b="0" i="0" u="none" strike="noStrike" baseline="0" dirty="0">
                <a:solidFill>
                  <a:srgbClr val="FF0000"/>
                </a:solidFill>
                <a:highlight>
                  <a:srgbClr val="FFFF00"/>
                </a:highlight>
                <a:latin typeface="PalatinoLTStd-Roman"/>
              </a:rPr>
              <a:t>its architectural state</a:t>
            </a:r>
            <a:r>
              <a:rPr lang="en-US" sz="1800" b="0" i="0" u="none" strike="noStrike" baseline="0" dirty="0">
                <a:latin typeface="PalatinoLTStd-Roman"/>
              </a:rPr>
              <a:t>,</a:t>
            </a:r>
          </a:p>
          <a:p>
            <a:pPr lvl="1"/>
            <a:r>
              <a:rPr lang="en-US" b="0" i="0" u="none" strike="noStrike" baseline="0" dirty="0">
                <a:latin typeface="PalatinoLTStd-Roman"/>
              </a:rPr>
              <a:t> such as </a:t>
            </a:r>
            <a:r>
              <a:rPr lang="en-US" b="0" i="0" u="none" strike="noStrike" baseline="0" dirty="0">
                <a:solidFill>
                  <a:srgbClr val="FF0000"/>
                </a:solidFill>
                <a:highlight>
                  <a:srgbClr val="FFFF00"/>
                </a:highlight>
                <a:latin typeface="PalatinoLTStd-Roman"/>
              </a:rPr>
              <a:t>instruction pointer </a:t>
            </a:r>
            <a:r>
              <a:rPr lang="en-US" b="0" i="0" u="none" strike="noStrike" baseline="0" dirty="0">
                <a:latin typeface="PalatinoLTStd-Roman"/>
              </a:rPr>
              <a:t>and </a:t>
            </a:r>
            <a:r>
              <a:rPr lang="en-US" b="0" i="0" u="none" strike="noStrike" baseline="0" dirty="0">
                <a:solidFill>
                  <a:srgbClr val="FF0000"/>
                </a:solidFill>
                <a:highlight>
                  <a:srgbClr val="FFFF00"/>
                </a:highlight>
                <a:latin typeface="PalatinoLTStd-Roman"/>
              </a:rPr>
              <a:t>register set</a:t>
            </a:r>
            <a:r>
              <a:rPr lang="en-US" b="0" i="0" u="none" strike="noStrike" baseline="0" dirty="0">
                <a:latin typeface="PalatinoLTStd-Roman"/>
              </a:rPr>
              <a:t>, and thus appears as a logical CPU that is available to run a software thread. </a:t>
            </a:r>
          </a:p>
          <a:p>
            <a:r>
              <a:rPr lang="en-US" b="0" i="0" u="none" strike="noStrike" baseline="0" dirty="0">
                <a:latin typeface="PalatinoLTStd-Roman"/>
              </a:rPr>
              <a:t>This is knowing as </a:t>
            </a:r>
            <a:r>
              <a:rPr lang="en-US" altLang="en-US" b="1" dirty="0">
                <a:solidFill>
                  <a:srgbClr val="FF0000"/>
                </a:solidFill>
              </a:rPr>
              <a:t>Chip-multithreading</a:t>
            </a:r>
            <a:r>
              <a:rPr lang="en-US" altLang="en-US" dirty="0">
                <a:solidFill>
                  <a:srgbClr val="FF0000"/>
                </a:solidFill>
              </a:rPr>
              <a:t> (CMT) </a:t>
            </a:r>
            <a:r>
              <a:rPr lang="en-US" altLang="en-US" dirty="0"/>
              <a:t>assigns </a:t>
            </a:r>
            <a:r>
              <a:rPr lang="en-US" altLang="en-US" dirty="0">
                <a:solidFill>
                  <a:srgbClr val="FF0000"/>
                </a:solidFill>
                <a:highlight>
                  <a:srgbClr val="FFFF00"/>
                </a:highlight>
              </a:rPr>
              <a:t>each </a:t>
            </a:r>
            <a:r>
              <a:rPr lang="en-US" altLang="en-US" dirty="0">
                <a:solidFill>
                  <a:srgbClr val="FF0000"/>
                </a:solidFill>
                <a:highlight>
                  <a:srgbClr val="FFFF00"/>
                </a:highlight>
                <a:latin typeface="Times New Roman" panose="02020603050405020304" pitchFamily="18" charset="0"/>
                <a:cs typeface="Times New Roman" panose="02020603050405020304" pitchFamily="18" charset="0"/>
              </a:rPr>
              <a:t>core multiple hardware threads</a:t>
            </a:r>
            <a:r>
              <a:rPr lang="en-US" altLang="en-US" dirty="0">
                <a:latin typeface="Times New Roman" panose="02020603050405020304" pitchFamily="18" charset="0"/>
                <a:cs typeface="Times New Roman" panose="02020603050405020304" pitchFamily="18" charset="0"/>
              </a:rPr>
              <a:t>. </a:t>
            </a:r>
          </a:p>
          <a:p>
            <a:r>
              <a:rPr lang="en-US" altLang="en-US" dirty="0">
                <a:highlight>
                  <a:srgbClr val="FFFF00"/>
                </a:highlight>
                <a:latin typeface="Times New Roman" panose="02020603050405020304" pitchFamily="18" charset="0"/>
                <a:cs typeface="Times New Roman" panose="02020603050405020304" pitchFamily="18" charset="0"/>
              </a:rPr>
              <a:t>On a </a:t>
            </a:r>
            <a:r>
              <a:rPr lang="en-US" altLang="en-US" b="1" dirty="0">
                <a:solidFill>
                  <a:srgbClr val="FF0000"/>
                </a:solidFill>
                <a:highlight>
                  <a:srgbClr val="FFFF00"/>
                </a:highlight>
                <a:latin typeface="Times New Roman" panose="02020603050405020304" pitchFamily="18" charset="0"/>
                <a:cs typeface="Times New Roman" panose="02020603050405020304" pitchFamily="18" charset="0"/>
              </a:rPr>
              <a:t>quad-core</a:t>
            </a:r>
            <a:r>
              <a:rPr lang="en-US" altLang="en-US" dirty="0">
                <a:highlight>
                  <a:srgbClr val="FFFF00"/>
                </a:highlight>
                <a:latin typeface="Times New Roman" panose="02020603050405020304" pitchFamily="18" charset="0"/>
                <a:cs typeface="Times New Roman" panose="02020603050405020304" pitchFamily="18" charset="0"/>
              </a:rPr>
              <a:t> system</a:t>
            </a:r>
            <a:r>
              <a:rPr lang="ar-JO" altLang="en-US" dirty="0">
                <a:highlight>
                  <a:srgbClr val="FFFF00"/>
                </a:highlight>
                <a:latin typeface="Times New Roman" panose="02020603050405020304" pitchFamily="18" charset="0"/>
                <a:cs typeface="Times New Roman" panose="02020603050405020304" pitchFamily="18" charset="0"/>
              </a:rPr>
              <a:t> رباعي </a:t>
            </a:r>
            <a:r>
              <a:rPr lang="en-US" altLang="en-US" dirty="0">
                <a:highlight>
                  <a:srgbClr val="FFFF00"/>
                </a:highlight>
                <a:latin typeface="Times New Roman" panose="02020603050405020304" pitchFamily="18" charset="0"/>
                <a:cs typeface="Times New Roman" panose="02020603050405020304" pitchFamily="18" charset="0"/>
              </a:rPr>
              <a:t> with 2 hardware threads per core, the operating system </a:t>
            </a:r>
            <a:r>
              <a:rPr lang="en-US" altLang="en-US" dirty="0">
                <a:highlight>
                  <a:srgbClr val="FFFF00"/>
                </a:highlight>
              </a:rPr>
              <a:t>sees </a:t>
            </a:r>
            <a:r>
              <a:rPr lang="en-US" altLang="en-US" u="sng" dirty="0">
                <a:solidFill>
                  <a:srgbClr val="FF0000"/>
                </a:solidFill>
                <a:highlight>
                  <a:srgbClr val="FFFF00"/>
                </a:highlight>
              </a:rPr>
              <a:t>8 logical processors.</a:t>
            </a:r>
          </a:p>
          <a:p>
            <a:pPr algn="l"/>
            <a:r>
              <a:rPr lang="en-US" sz="1800" b="0" i="0" u="none" strike="noStrike" baseline="0" dirty="0">
                <a:solidFill>
                  <a:srgbClr val="000000"/>
                </a:solidFill>
                <a:latin typeface="PalatinoLTStd-Roman"/>
              </a:rPr>
              <a:t>Intel processors use the </a:t>
            </a:r>
            <a:r>
              <a:rPr lang="en-US" sz="1800" b="0" i="0" u="none" strike="noStrike" baseline="0" dirty="0">
                <a:solidFill>
                  <a:srgbClr val="FF0000"/>
                </a:solidFill>
                <a:latin typeface="PalatinoLTStd-Roman"/>
              </a:rPr>
              <a:t>term </a:t>
            </a:r>
            <a:r>
              <a:rPr lang="en-US" sz="1800" b="1" i="0" u="none" strike="noStrike" baseline="0" dirty="0">
                <a:solidFill>
                  <a:srgbClr val="FF0000"/>
                </a:solidFill>
                <a:latin typeface="PalatinoLTStd-Bold"/>
              </a:rPr>
              <a:t>hyper-threading </a:t>
            </a:r>
            <a:r>
              <a:rPr lang="en-US" sz="1800" b="0" i="0" u="none" strike="noStrike" baseline="0" dirty="0">
                <a:solidFill>
                  <a:srgbClr val="FF0000"/>
                </a:solidFill>
                <a:latin typeface="PalatinoLTStd-Roman"/>
              </a:rPr>
              <a:t>(also known as </a:t>
            </a:r>
            <a:r>
              <a:rPr lang="en-US" sz="1800" b="1" i="0" u="none" strike="noStrike" baseline="0" dirty="0">
                <a:solidFill>
                  <a:srgbClr val="FF0000"/>
                </a:solidFill>
                <a:latin typeface="PalatinoLTStd-Bold"/>
              </a:rPr>
              <a:t>simultaneous multithreading </a:t>
            </a:r>
            <a:r>
              <a:rPr lang="en-US" sz="1800" b="0" i="0" u="none" strike="noStrike" baseline="0" dirty="0">
                <a:solidFill>
                  <a:srgbClr val="FF0000"/>
                </a:solidFill>
                <a:latin typeface="PalatinoLTStd-Roman"/>
              </a:rPr>
              <a:t>or SMT) </a:t>
            </a:r>
            <a:r>
              <a:rPr lang="en-US" sz="1800" b="0" i="0" u="none" strike="noStrike" baseline="0" dirty="0">
                <a:solidFill>
                  <a:srgbClr val="000000"/>
                </a:solidFill>
                <a:latin typeface="PalatinoLTStd-Roman"/>
              </a:rPr>
              <a:t>to describe assigning multiple hardware threads to a single processing core.</a:t>
            </a:r>
          </a:p>
          <a:p>
            <a:pPr lvl="1"/>
            <a:r>
              <a:rPr lang="en-US" sz="1600" b="0" i="0" u="none" strike="noStrike" baseline="0" dirty="0">
                <a:solidFill>
                  <a:srgbClr val="000000"/>
                </a:solidFill>
                <a:highlight>
                  <a:srgbClr val="FFFF00"/>
                </a:highlight>
                <a:latin typeface="PalatinoLTStd-Roman"/>
              </a:rPr>
              <a:t> </a:t>
            </a:r>
            <a:r>
              <a:rPr lang="en-US" sz="1600" b="0" i="0" u="none" strike="noStrike" baseline="0" dirty="0">
                <a:solidFill>
                  <a:srgbClr val="FF0000"/>
                </a:solidFill>
                <a:highlight>
                  <a:srgbClr val="FFFF00"/>
                </a:highlight>
                <a:latin typeface="PalatinoLTStd-Roman"/>
              </a:rPr>
              <a:t>ex. i7</a:t>
            </a:r>
            <a:r>
              <a:rPr lang="en-US" sz="1600" b="0" i="0" u="none" strike="noStrike" baseline="0" dirty="0">
                <a:solidFill>
                  <a:srgbClr val="000000"/>
                </a:solidFill>
                <a:latin typeface="PalatinoLTStd-Roman"/>
              </a:rPr>
              <a:t>—support </a:t>
            </a:r>
            <a:r>
              <a:rPr lang="en-US" sz="1600" b="0" i="0" u="none" strike="noStrike" baseline="0" dirty="0">
                <a:solidFill>
                  <a:srgbClr val="FF0000"/>
                </a:solidFill>
                <a:latin typeface="PalatinoLTStd-Roman"/>
              </a:rPr>
              <a:t>two threads per core</a:t>
            </a:r>
            <a:r>
              <a:rPr lang="en-US" sz="1600" b="0" i="0" u="none" strike="noStrike" baseline="0" dirty="0">
                <a:solidFill>
                  <a:srgbClr val="000000"/>
                </a:solidFill>
                <a:latin typeface="PalatinoLTStd-Roman"/>
              </a:rPr>
              <a:t>, with 8 cores it sees 16 logical CPUs.</a:t>
            </a:r>
          </a:p>
          <a:p>
            <a:pPr lvl="1"/>
            <a:r>
              <a:rPr lang="en-US" sz="1600" b="0" i="0" u="none" strike="noStrike" baseline="0" dirty="0">
                <a:solidFill>
                  <a:srgbClr val="FF0000"/>
                </a:solidFill>
                <a:highlight>
                  <a:srgbClr val="FFFF00"/>
                </a:highlight>
                <a:latin typeface="PalatinoLTStd-Roman"/>
              </a:rPr>
              <a:t>the Oracle Sparc M7 </a:t>
            </a:r>
            <a:r>
              <a:rPr lang="en-US" sz="1600" b="0" i="0" u="none" strike="noStrike" baseline="0" dirty="0">
                <a:solidFill>
                  <a:srgbClr val="000000"/>
                </a:solidFill>
                <a:latin typeface="PalatinoLTStd-Roman"/>
              </a:rPr>
              <a:t>processor supports </a:t>
            </a:r>
            <a:r>
              <a:rPr lang="en-US" sz="1600" b="0" i="0" u="none" strike="noStrike" baseline="0" dirty="0">
                <a:solidFill>
                  <a:srgbClr val="FF0000"/>
                </a:solidFill>
                <a:latin typeface="PalatinoLTStd-Roman"/>
              </a:rPr>
              <a:t>8 threads per core,</a:t>
            </a:r>
            <a:r>
              <a:rPr lang="en-US" sz="1600" b="0" i="0" u="none" strike="noStrike" baseline="0" dirty="0">
                <a:solidFill>
                  <a:srgbClr val="000000"/>
                </a:solidFill>
                <a:latin typeface="PalatinoLTStd-Roman"/>
              </a:rPr>
              <a:t> with 8 cores it sees  </a:t>
            </a:r>
            <a:r>
              <a:rPr lang="en-US" sz="1600" b="1" i="0" u="none" strike="noStrike" baseline="0" dirty="0">
                <a:solidFill>
                  <a:srgbClr val="FF0000"/>
                </a:solidFill>
                <a:latin typeface="PalatinoLTStd-Roman"/>
              </a:rPr>
              <a:t>64 logical CPUs.</a:t>
            </a:r>
            <a:endParaRPr lang="en-US" altLang="en-US" sz="1600" b="1" dirty="0">
              <a:solidFill>
                <a:srgbClr val="FF0000"/>
              </a:solidFill>
            </a:endParaRPr>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57732" y="1081491"/>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75472" y="205233"/>
            <a:ext cx="7557796" cy="576262"/>
          </a:xfrm>
        </p:spPr>
        <p:txBody>
          <a:bodyPr/>
          <a:lstStyle/>
          <a:p>
            <a:pPr eaLnBrk="1" hangingPunct="1"/>
            <a:r>
              <a:rPr lang="en-US" altLang="en-US" sz="2400" dirty="0"/>
              <a:t>Multithreaded Multicore System</a:t>
            </a:r>
            <a:r>
              <a:rPr lang="en-US" altLang="en-US" sz="2400" dirty="0">
                <a:solidFill>
                  <a:srgbClr val="FF0000"/>
                </a:solidFill>
              </a:rPr>
              <a:t> Chip-multithreading</a:t>
            </a:r>
            <a:endParaRPr lang="en-US" altLang="en-US" sz="2400" dirty="0"/>
          </a:p>
        </p:txBody>
      </p:sp>
      <p:cxnSp>
        <p:nvCxnSpPr>
          <p:cNvPr id="3" name="Straight Arrow Connector 2"/>
          <p:cNvCxnSpPr/>
          <p:nvPr/>
        </p:nvCxnSpPr>
        <p:spPr bwMode="auto">
          <a:xfrm>
            <a:off x="4572000" y="3646025"/>
            <a:ext cx="1585732" cy="6713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248197"/>
            <a:ext cx="7809722" cy="576262"/>
          </a:xfrm>
        </p:spPr>
        <p:txBody>
          <a:bodyPr/>
          <a:lstStyle/>
          <a:p>
            <a:r>
              <a:rPr lang="en-US" altLang="en-US" sz="2800" dirty="0"/>
              <a:t>Multithreaded Multicore System </a:t>
            </a:r>
            <a:r>
              <a:rPr lang="en-US" altLang="en-US" sz="2800" dirty="0">
                <a:solidFill>
                  <a:srgbClr val="FF0000"/>
                </a:solidFill>
              </a:rPr>
              <a:t>Chip-multithreading</a:t>
            </a:r>
            <a:endParaRPr lang="en-US" altLang="en-US" sz="2800" dirty="0"/>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224851" y="824459"/>
            <a:ext cx="4631962" cy="4966741"/>
          </a:xfrm>
        </p:spPr>
        <p:txBody>
          <a:bodyPr/>
          <a:lstStyle/>
          <a:p>
            <a:pPr algn="l"/>
            <a:r>
              <a:rPr lang="en-US" sz="1800" b="0" i="0" u="none" strike="noStrike" baseline="0" dirty="0">
                <a:latin typeface="PalatinoLTStd-Roman"/>
              </a:rPr>
              <a:t>The resources of the physical core (such as caches and pipelines) must be shared among its hardware threads, and therefore a </a:t>
            </a:r>
            <a:r>
              <a:rPr lang="en-US" sz="1800" b="0" i="0" u="none" strike="noStrike" baseline="0" dirty="0">
                <a:solidFill>
                  <a:srgbClr val="FF0000"/>
                </a:solidFill>
                <a:latin typeface="PalatinoLTStd-Roman"/>
              </a:rPr>
              <a:t>processing core can only execute one hardware thread at a time</a:t>
            </a:r>
            <a:r>
              <a:rPr lang="en-US" sz="1800" b="0" i="0" u="none" strike="noStrike" baseline="0" dirty="0">
                <a:latin typeface="PalatinoLTStd-Roman"/>
              </a:rPr>
              <a:t>. </a:t>
            </a:r>
          </a:p>
          <a:p>
            <a:pPr algn="l"/>
            <a:r>
              <a:rPr lang="en-US" sz="1800" b="0" i="0" u="none" strike="noStrike" baseline="0" dirty="0">
                <a:latin typeface="PalatinoLTStd-Roman"/>
              </a:rPr>
              <a:t>Thus, a multithreaded, multicore processor requires </a:t>
            </a:r>
            <a:r>
              <a:rPr lang="en-US" sz="1800" b="0" i="0" u="none" strike="noStrike" baseline="0" dirty="0">
                <a:solidFill>
                  <a:srgbClr val="FF0000"/>
                </a:solidFill>
                <a:latin typeface="PalatinoLTStd-Roman"/>
              </a:rPr>
              <a:t>two different levels of scheduling figure explains</a:t>
            </a:r>
            <a:r>
              <a:rPr lang="en-US" sz="1800" b="0" i="0" u="none" strike="noStrike" baseline="0" dirty="0">
                <a:latin typeface="PalatinoLTStd-Roman"/>
              </a:rPr>
              <a:t> a dual-threaded processing core.</a:t>
            </a:r>
          </a:p>
          <a:p>
            <a:pPr algn="l"/>
            <a:r>
              <a:rPr lang="en-US" altLang="en-US" dirty="0"/>
              <a:t>Two levels of scheduling:</a:t>
            </a:r>
          </a:p>
          <a:p>
            <a:pPr lvl="1"/>
            <a:r>
              <a:rPr lang="en-US" altLang="en-US" dirty="0"/>
              <a:t>1.The operating system deciding which software thread to run on a logical CPU.</a:t>
            </a:r>
          </a:p>
          <a:p>
            <a:pPr lvl="1"/>
            <a:r>
              <a:rPr lang="en-US" altLang="en-US" dirty="0"/>
              <a:t>2.How each core decides which hardware thread to run on the physical core.</a:t>
            </a:r>
            <a:br>
              <a:rPr lang="en-US" altLang="en-US" dirty="0"/>
            </a:br>
            <a:r>
              <a:rPr lang="en-US" altLang="en-US" dirty="0"/>
              <a:t/>
            </a:r>
            <a:br>
              <a:rPr lang="en-US" altLang="en-US" dirty="0"/>
            </a:br>
            <a:r>
              <a:rPr lang="en-US" altLang="en-US" dirty="0"/>
              <a:t/>
            </a:r>
            <a:br>
              <a:rPr lang="en-US" altLang="en-US" dirty="0"/>
            </a:br>
            <a:endParaRPr lang="en-US" altLang="en-US"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56813" y="1260475"/>
            <a:ext cx="428718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000" dirty="0"/>
              <a:t>Multiple-Processor Scheduling – </a:t>
            </a:r>
            <a:r>
              <a:rPr lang="en-US" altLang="en-US" sz="2000" dirty="0">
                <a:solidFill>
                  <a:srgbClr val="FF0000"/>
                </a:solidFill>
              </a:rPr>
              <a:t>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917024" cy="4699952"/>
          </a:xfrm>
        </p:spPr>
        <p:txBody>
          <a:bodyPr/>
          <a:lstStyle/>
          <a:p>
            <a:r>
              <a:rPr lang="en-US" altLang="en-US" sz="2400" dirty="0"/>
              <a:t>If </a:t>
            </a:r>
            <a:r>
              <a:rPr lang="en-US" altLang="zh-TW" sz="2400" b="1" dirty="0">
                <a:ea typeface="新細明體" panose="02020500000000000000" pitchFamily="18" charset="-120"/>
              </a:rPr>
              <a:t>Symmetric multiprocessing (</a:t>
            </a:r>
            <a:r>
              <a:rPr lang="en-US" altLang="en-US" sz="2400" dirty="0"/>
              <a:t>SMP), need to keep all CPUs loaded for efficiency</a:t>
            </a:r>
          </a:p>
          <a:p>
            <a:r>
              <a:rPr lang="en-US" altLang="en-US" sz="2400" b="1" dirty="0">
                <a:solidFill>
                  <a:srgbClr val="006699"/>
                </a:solidFill>
                <a:latin typeface="+mj-lt"/>
              </a:rPr>
              <a:t>Load</a:t>
            </a:r>
            <a:r>
              <a:rPr lang="en-US" altLang="en-US" sz="2400" b="1" dirty="0">
                <a:solidFill>
                  <a:srgbClr val="3366FF"/>
                </a:solidFill>
              </a:rPr>
              <a:t> </a:t>
            </a:r>
            <a:r>
              <a:rPr lang="en-US" altLang="en-US" sz="2400" b="1" dirty="0">
                <a:solidFill>
                  <a:srgbClr val="006699"/>
                </a:solidFill>
                <a:latin typeface="+mj-lt"/>
              </a:rPr>
              <a:t>balancing</a:t>
            </a:r>
            <a:r>
              <a:rPr lang="en-US" altLang="en-US" sz="2400" b="1" dirty="0">
                <a:solidFill>
                  <a:srgbClr val="3366FF"/>
                </a:solidFill>
              </a:rPr>
              <a:t> </a:t>
            </a:r>
            <a:r>
              <a:rPr lang="en-US" altLang="en-US" sz="2400" dirty="0"/>
              <a:t>attempts to keep workload evenly distributed by:</a:t>
            </a:r>
          </a:p>
          <a:p>
            <a:pPr lvl="1"/>
            <a:r>
              <a:rPr lang="en-US" altLang="en-US" sz="2400" b="1" dirty="0">
                <a:solidFill>
                  <a:srgbClr val="006699"/>
                </a:solidFill>
                <a:latin typeface="+mj-lt"/>
              </a:rPr>
              <a:t>Push</a:t>
            </a:r>
            <a:r>
              <a:rPr lang="en-US" altLang="en-US" sz="2400" b="1" dirty="0">
                <a:solidFill>
                  <a:srgbClr val="3366FF"/>
                </a:solidFill>
              </a:rPr>
              <a:t> </a:t>
            </a:r>
            <a:r>
              <a:rPr lang="en-US" altLang="en-US" sz="2400" b="1" dirty="0">
                <a:solidFill>
                  <a:srgbClr val="006699"/>
                </a:solidFill>
                <a:latin typeface="+mj-lt"/>
              </a:rPr>
              <a:t>migration</a:t>
            </a:r>
            <a:r>
              <a:rPr lang="en-US" altLang="en-US" sz="2400" b="1" dirty="0">
                <a:solidFill>
                  <a:srgbClr val="3366FF"/>
                </a:solidFill>
              </a:rPr>
              <a:t> </a:t>
            </a:r>
            <a:r>
              <a:rPr lang="en-US" altLang="en-US" sz="2400" dirty="0"/>
              <a:t>– periodic task checks load on each processor, and if found pushes task from overloaded CPU to other CPUs</a:t>
            </a:r>
            <a:endParaRPr lang="en-US" altLang="en-US" sz="2400" b="1" dirty="0">
              <a:solidFill>
                <a:srgbClr val="3366FF"/>
              </a:solidFill>
            </a:endParaRPr>
          </a:p>
          <a:p>
            <a:pPr lvl="1"/>
            <a:r>
              <a:rPr lang="en-US" altLang="en-US" sz="2400" b="1" dirty="0">
                <a:solidFill>
                  <a:srgbClr val="006699"/>
                </a:solidFill>
                <a:latin typeface="+mj-lt"/>
              </a:rPr>
              <a:t>Pull</a:t>
            </a:r>
            <a:r>
              <a:rPr lang="en-US" altLang="en-US" sz="2400" b="1" dirty="0">
                <a:solidFill>
                  <a:srgbClr val="3366FF"/>
                </a:solidFill>
              </a:rPr>
              <a:t> </a:t>
            </a:r>
            <a:r>
              <a:rPr lang="en-US" altLang="en-US" sz="2400" b="1" dirty="0">
                <a:solidFill>
                  <a:srgbClr val="006699"/>
                </a:solidFill>
                <a:latin typeface="+mj-lt"/>
              </a:rPr>
              <a:t>migration</a:t>
            </a:r>
            <a:r>
              <a:rPr lang="en-US" altLang="en-US" sz="2400" b="1" dirty="0">
                <a:solidFill>
                  <a:srgbClr val="3366FF"/>
                </a:solidFill>
              </a:rPr>
              <a:t> </a:t>
            </a:r>
            <a:r>
              <a:rPr lang="en-US" altLang="en-US" sz="2400" dirty="0"/>
              <a:t>– idle processors pulls waiting task from busy processor</a:t>
            </a:r>
          </a:p>
          <a:p>
            <a:endParaRPr lang="en-US" alt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a:t>
            </a:r>
            <a:r>
              <a:rPr lang="en-US" altLang="en-US" sz="2400" dirty="0">
                <a:solidFill>
                  <a:srgbClr val="FF0000"/>
                </a:solidFill>
              </a:rPr>
              <a:t>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299803" y="1070928"/>
            <a:ext cx="8728049" cy="4808537"/>
          </a:xfrm>
        </p:spPr>
        <p:txBody>
          <a:bodyPr/>
          <a:lstStyle/>
          <a:p>
            <a:r>
              <a:rPr lang="en-US" altLang="en-US" sz="2000" dirty="0"/>
              <a:t>When a thread </a:t>
            </a:r>
            <a:r>
              <a:rPr lang="en-US" altLang="en-US" dirty="0"/>
              <a:t>has</a:t>
            </a:r>
            <a:r>
              <a:rPr lang="en-US" altLang="en-US" sz="2000" dirty="0"/>
              <a:t> been running on one processor, the cache contents of that processor stores the memory accesses by that thread.</a:t>
            </a:r>
          </a:p>
          <a:p>
            <a:r>
              <a:rPr lang="en-US" altLang="en-US" sz="2000" dirty="0"/>
              <a:t>We refer to this as a thread having </a:t>
            </a:r>
            <a:r>
              <a:rPr lang="en-US" altLang="en-US" sz="2000" dirty="0">
                <a:solidFill>
                  <a:srgbClr val="FF0000"/>
                </a:solidFill>
              </a:rPr>
              <a:t>affinity</a:t>
            </a:r>
            <a:r>
              <a:rPr lang="en-US" altLang="en-US" sz="2000" dirty="0"/>
              <a:t>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types:</a:t>
            </a:r>
          </a:p>
          <a:p>
            <a:pPr lvl="1"/>
            <a:r>
              <a:rPr lang="en-US" altLang="en-US" sz="2000" b="1" dirty="0"/>
              <a:t>Soft affinity </a:t>
            </a:r>
            <a:r>
              <a:rPr lang="en-US" altLang="en-US" sz="2000" dirty="0"/>
              <a:t>– the operating system attempts to keep a thread running on the same processor, but no guarantees.</a:t>
            </a:r>
          </a:p>
          <a:p>
            <a:pPr lvl="1"/>
            <a:r>
              <a:rPr lang="en-US" altLang="en-US" sz="2000" b="1" dirty="0"/>
              <a:t>Hard affinity </a:t>
            </a:r>
            <a:r>
              <a:rPr lang="en-US" altLang="en-US" sz="2000" dirty="0"/>
              <a:t>– allows a process to specify a set of processors it may run on.</a:t>
            </a:r>
          </a:p>
          <a:p>
            <a:endParaRPr lang="en-US" alt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sz="2400" dirty="0"/>
              <a:t>Multiple-Processor Scheduling vs. </a:t>
            </a:r>
            <a:r>
              <a:rPr lang="en-US" altLang="en-US" sz="2400" dirty="0">
                <a:solidFill>
                  <a:srgbClr val="FF0000"/>
                </a:solidFill>
              </a:rPr>
              <a:t>Processor Affinity -NUMA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2320" y="4500834"/>
            <a:ext cx="5020924" cy="249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410933" y="855886"/>
            <a:ext cx="8498642"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Tx/>
              <a:buSzTx/>
            </a:pPr>
            <a:r>
              <a:rPr kumimoji="0" lang="en-US" altLang="en-US" sz="1600" dirty="0">
                <a:latin typeface="+mn-lt"/>
                <a:cs typeface="Simplified Arabic Fixed" panose="02070309020205020404" pitchFamily="49" charset="-78"/>
              </a:rPr>
              <a:t>If the operating system is </a:t>
            </a:r>
            <a:r>
              <a:rPr kumimoji="0" lang="en-US" altLang="en-US" sz="1600" dirty="0">
                <a:solidFill>
                  <a:srgbClr val="FF0000"/>
                </a:solidFill>
                <a:highlight>
                  <a:srgbClr val="FFFF00"/>
                </a:highlight>
                <a:latin typeface="+mn-lt"/>
                <a:cs typeface="Simplified Arabic Fixed" panose="02070309020205020404" pitchFamily="49" charset="-78"/>
              </a:rPr>
              <a:t>NUMA-aware, </a:t>
            </a:r>
            <a:r>
              <a:rPr kumimoji="0" lang="en-US" altLang="en-US" sz="1600" dirty="0">
                <a:solidFill>
                  <a:srgbClr val="FF0000"/>
                </a:solidFill>
                <a:latin typeface="+mn-lt"/>
                <a:cs typeface="Simplified Arabic Fixed" panose="02070309020205020404" pitchFamily="49" charset="-78"/>
              </a:rPr>
              <a:t>it will assign memory closes to the CPU the thread is running on. </a:t>
            </a:r>
          </a:p>
          <a:p>
            <a:pPr marL="285750" indent="-285750">
              <a:spcBef>
                <a:spcPct val="0"/>
              </a:spcBef>
              <a:buClrTx/>
              <a:buSzTx/>
            </a:pPr>
            <a:r>
              <a:rPr kumimoji="0" lang="en-US" altLang="en-US" sz="1600" dirty="0">
                <a:latin typeface="+mn-lt"/>
                <a:cs typeface="Simplified Arabic Fixed" panose="02070309020205020404" pitchFamily="49" charset="-78"/>
              </a:rPr>
              <a:t>In this type, load balancing often </a:t>
            </a:r>
            <a:r>
              <a:rPr kumimoji="0" lang="en-US" altLang="en-US" sz="1600" dirty="0">
                <a:solidFill>
                  <a:srgbClr val="FF0000"/>
                </a:solidFill>
                <a:latin typeface="+mn-lt"/>
                <a:cs typeface="Simplified Arabic Fixed" panose="02070309020205020404" pitchFamily="49" charset="-78"/>
              </a:rPr>
              <a:t>counteracts</a:t>
            </a:r>
            <a:r>
              <a:rPr kumimoji="0" lang="en-US" altLang="en-US" sz="1600" dirty="0">
                <a:latin typeface="+mn-lt"/>
                <a:cs typeface="Simplified Arabic Fixed" panose="02070309020205020404" pitchFamily="49" charset="-78"/>
              </a:rPr>
              <a:t> </a:t>
            </a:r>
            <a:r>
              <a:rPr kumimoji="0" lang="ar-JO" altLang="en-US" sz="1600" dirty="0">
                <a:latin typeface="+mn-lt"/>
                <a:cs typeface="Simplified Arabic Fixed" panose="02070309020205020404" pitchFamily="49" charset="-78"/>
              </a:rPr>
              <a:t>يقاوم</a:t>
            </a:r>
            <a:r>
              <a:rPr kumimoji="0" lang="en-US" altLang="en-US" sz="1600" dirty="0">
                <a:latin typeface="+mn-lt"/>
                <a:cs typeface="Simplified Arabic Fixed" panose="02070309020205020404" pitchFamily="49" charset="-78"/>
              </a:rPr>
              <a:t>the benefits of processor affinity</a:t>
            </a:r>
          </a:p>
          <a:p>
            <a:pPr marL="1028700" lvl="1">
              <a:spcBef>
                <a:spcPct val="0"/>
              </a:spcBef>
              <a:buClrTx/>
              <a:buSzTx/>
            </a:pPr>
            <a:r>
              <a:rPr kumimoji="0" lang="en-US" altLang="en-US" sz="1600" dirty="0">
                <a:solidFill>
                  <a:srgbClr val="FF0000"/>
                </a:solidFill>
                <a:latin typeface="+mn-lt"/>
                <a:cs typeface="Simplified Arabic Fixed" panose="02070309020205020404" pitchFamily="49" charset="-78"/>
              </a:rPr>
              <a:t>the </a:t>
            </a:r>
            <a:r>
              <a:rPr kumimoji="0" lang="en-US" altLang="en-US" sz="2400" dirty="0">
                <a:solidFill>
                  <a:srgbClr val="FF0000"/>
                </a:solidFill>
                <a:latin typeface="+mn-lt"/>
                <a:cs typeface="Simplified Arabic Fixed" panose="02070309020205020404" pitchFamily="49" charset="-78"/>
              </a:rPr>
              <a:t>benefit</a:t>
            </a:r>
            <a:r>
              <a:rPr kumimoji="0" lang="en-US" altLang="en-US" sz="1600" dirty="0">
                <a:solidFill>
                  <a:srgbClr val="FF0000"/>
                </a:solidFill>
                <a:latin typeface="+mn-lt"/>
                <a:cs typeface="Simplified Arabic Fixed" panose="02070309020205020404" pitchFamily="49" charset="-78"/>
              </a:rPr>
              <a:t> </a:t>
            </a:r>
            <a:r>
              <a:rPr kumimoji="0" lang="en-US" altLang="en-US" sz="1600" dirty="0">
                <a:latin typeface="+mn-lt"/>
                <a:cs typeface="Simplified Arabic Fixed" panose="02070309020205020404" pitchFamily="49" charset="-78"/>
              </a:rPr>
              <a:t>of keeping a thread running on the same processor is that the thread can take advantage of its data being in </a:t>
            </a:r>
            <a:r>
              <a:rPr kumimoji="0" lang="en-US" altLang="en-US" sz="1600" dirty="0">
                <a:solidFill>
                  <a:srgbClr val="FF0000"/>
                </a:solidFill>
                <a:latin typeface="+mn-lt"/>
                <a:cs typeface="Simplified Arabic Fixed" panose="02070309020205020404" pitchFamily="49" charset="-78"/>
              </a:rPr>
              <a:t>that processor’s cache memory.</a:t>
            </a:r>
          </a:p>
          <a:p>
            <a:pPr marL="1028700" lvl="1">
              <a:spcBef>
                <a:spcPct val="0"/>
              </a:spcBef>
              <a:buClrTx/>
              <a:buSzTx/>
            </a:pPr>
            <a:r>
              <a:rPr kumimoji="0" lang="en-US" altLang="en-US" sz="1600" dirty="0">
                <a:solidFill>
                  <a:srgbClr val="FF0000"/>
                </a:solidFill>
                <a:highlight>
                  <a:srgbClr val="FFFF00"/>
                </a:highlight>
                <a:latin typeface="+mn-lt"/>
                <a:cs typeface="Simplified Arabic Fixed" panose="02070309020205020404" pitchFamily="49" charset="-78"/>
              </a:rPr>
              <a:t>Balancing loads </a:t>
            </a:r>
            <a:r>
              <a:rPr kumimoji="0" lang="en-US" altLang="en-US" sz="1600" dirty="0">
                <a:latin typeface="+mn-lt"/>
                <a:cs typeface="Simplified Arabic Fixed" panose="02070309020205020404" pitchFamily="49" charset="-78"/>
              </a:rPr>
              <a:t>by moving a thread from one processor to another </a:t>
            </a:r>
            <a:r>
              <a:rPr kumimoji="0" lang="en-US" altLang="en-US" sz="1600" dirty="0">
                <a:solidFill>
                  <a:srgbClr val="FF0000"/>
                </a:solidFill>
                <a:latin typeface="+mn-lt"/>
                <a:cs typeface="Simplified Arabic Fixed" panose="02070309020205020404" pitchFamily="49" charset="-78"/>
              </a:rPr>
              <a:t>removes this benefit</a:t>
            </a:r>
            <a:r>
              <a:rPr kumimoji="0" lang="en-US" altLang="en-US" sz="1600" dirty="0">
                <a:latin typeface="+mn-lt"/>
                <a:cs typeface="Simplified Arabic Fixed" panose="02070309020205020404" pitchFamily="49" charset="-78"/>
              </a:rPr>
              <a:t>.</a:t>
            </a:r>
          </a:p>
          <a:p>
            <a:pPr marL="1028700" lvl="1">
              <a:spcBef>
                <a:spcPct val="0"/>
              </a:spcBef>
              <a:buClrTx/>
              <a:buSzTx/>
            </a:pPr>
            <a:r>
              <a:rPr kumimoji="0" lang="en-US" altLang="en-US" sz="1600" dirty="0">
                <a:latin typeface="+mn-lt"/>
                <a:cs typeface="Simplified Arabic Fixed" panose="02070309020205020404" pitchFamily="49" charset="-78"/>
              </a:rPr>
              <a:t>Similarly, </a:t>
            </a:r>
            <a:r>
              <a:rPr kumimoji="0" lang="en-US" altLang="en-US" dirty="0">
                <a:solidFill>
                  <a:srgbClr val="FF0000"/>
                </a:solidFill>
                <a:highlight>
                  <a:srgbClr val="FFFF00"/>
                </a:highlight>
                <a:latin typeface="+mn-lt"/>
                <a:cs typeface="Simplified Arabic Fixed" panose="02070309020205020404" pitchFamily="49" charset="-78"/>
              </a:rPr>
              <a:t>migrating</a:t>
            </a:r>
            <a:r>
              <a:rPr kumimoji="0" lang="en-US" altLang="en-US" sz="1600" dirty="0">
                <a:latin typeface="+mn-lt"/>
                <a:cs typeface="Simplified Arabic Fixed" panose="02070309020205020404" pitchFamily="49" charset="-78"/>
              </a:rPr>
              <a:t> a thread between processors may </a:t>
            </a:r>
            <a:r>
              <a:rPr kumimoji="0" lang="en-US" altLang="en-US" sz="1600" dirty="0">
                <a:solidFill>
                  <a:srgbClr val="FF0000"/>
                </a:solidFill>
                <a:latin typeface="+mn-lt"/>
                <a:cs typeface="Simplified Arabic Fixed" panose="02070309020205020404" pitchFamily="49" charset="-78"/>
              </a:rPr>
              <a:t>incur</a:t>
            </a:r>
            <a:r>
              <a:rPr kumimoji="0" lang="ar-SA" altLang="en-US" sz="1600" dirty="0">
                <a:solidFill>
                  <a:srgbClr val="FF0000"/>
                </a:solidFill>
                <a:latin typeface="+mn-lt"/>
                <a:cs typeface="Simplified Arabic Fixed" panose="02070309020205020404" pitchFamily="49" charset="-78"/>
              </a:rPr>
              <a:t>تتحمل</a:t>
            </a:r>
            <a:r>
              <a:rPr kumimoji="0" lang="en-US" altLang="en-US" sz="1600" dirty="0">
                <a:solidFill>
                  <a:srgbClr val="FF0000"/>
                </a:solidFill>
                <a:latin typeface="+mn-lt"/>
                <a:cs typeface="Simplified Arabic Fixed" panose="02070309020205020404" pitchFamily="49" charset="-78"/>
              </a:rPr>
              <a:t> a penalty </a:t>
            </a:r>
            <a:r>
              <a:rPr kumimoji="0" lang="en-US" altLang="en-US" sz="1600" dirty="0">
                <a:latin typeface="+mn-lt"/>
                <a:cs typeface="Simplified Arabic Fixed" panose="02070309020205020404" pitchFamily="49" charset="-78"/>
              </a:rPr>
              <a:t>on NUMA systems, where a thread may be moved to a processor that requires longer memory access times. </a:t>
            </a:r>
          </a:p>
          <a:p>
            <a:pPr marL="285750" indent="-285750">
              <a:spcBef>
                <a:spcPct val="0"/>
              </a:spcBef>
              <a:buClrTx/>
              <a:buSzTx/>
            </a:pPr>
            <a:r>
              <a:rPr kumimoji="0" lang="en-US" altLang="en-US" sz="1600" dirty="0">
                <a:latin typeface="+mn-lt"/>
                <a:cs typeface="Simplified Arabic Fixed" panose="02070309020205020404" pitchFamily="49" charset="-78"/>
              </a:rPr>
              <a:t>In other words, there is </a:t>
            </a:r>
            <a:r>
              <a:rPr kumimoji="0" lang="en-US" altLang="en-US" sz="1600" dirty="0">
                <a:solidFill>
                  <a:srgbClr val="FF0000"/>
                </a:solidFill>
                <a:latin typeface="+mn-lt"/>
                <a:cs typeface="Simplified Arabic Fixed" panose="02070309020205020404" pitchFamily="49" charset="-78"/>
              </a:rPr>
              <a:t>a natural tension between load balancing and minimizing memory access times.</a:t>
            </a:r>
            <a:r>
              <a:rPr kumimoji="0" lang="ar-JO" altLang="en-US" sz="1600" dirty="0">
                <a:solidFill>
                  <a:srgbClr val="FF0000"/>
                </a:solidFill>
                <a:latin typeface="+mn-lt"/>
                <a:cs typeface="Simplified Arabic Fixed" panose="02070309020205020404" pitchFamily="49" charset="-78"/>
              </a:rPr>
              <a:t>بمعنى آخر ، هناك شدعكسي بين موازنة الحمل وتقليل أوقات الوصول إلى الذاكرة.</a:t>
            </a:r>
            <a:r>
              <a:rPr kumimoji="0" lang="en-US" altLang="en-US" sz="1600" dirty="0">
                <a:solidFill>
                  <a:srgbClr val="FF0000"/>
                </a:solidFill>
                <a:latin typeface="+mn-lt"/>
                <a:cs typeface="Simplified Arabic Fixed" panose="02070309020205020404" pitchFamily="49" charset="-78"/>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a:t>
            </a:r>
          </a:p>
        </p:txBody>
      </p:sp>
    </p:spTree>
    <p:extLst>
      <p:ext uri="{BB962C8B-B14F-4D97-AF65-F5344CB8AC3E}">
        <p14:creationId xmlns:p14="http://schemas.microsoft.com/office/powerpoint/2010/main" val="3383054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solidFill>
                  <a:srgbClr val="FF0000"/>
                </a:solidFill>
              </a:rPr>
              <a:t>5.6.Real-Time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404734" y="1005840"/>
            <a:ext cx="8484433" cy="4575493"/>
          </a:xfrm>
        </p:spPr>
        <p:txBody>
          <a:bodyPr/>
          <a:lstStyle/>
          <a:p>
            <a:r>
              <a:rPr lang="en-US" altLang="en-US" sz="2000" dirty="0"/>
              <a:t>In this section, we explore</a:t>
            </a:r>
            <a:r>
              <a:rPr lang="ar-JO" altLang="en-US" sz="2000" dirty="0"/>
              <a:t> </a:t>
            </a:r>
            <a:r>
              <a:rPr lang="en-US" altLang="en-US" sz="2000" dirty="0"/>
              <a:t>several issues related to process scheduling in both soft and hard real-time</a:t>
            </a:r>
            <a:r>
              <a:rPr lang="ar-JO" altLang="en-US" sz="2000" dirty="0"/>
              <a:t> </a:t>
            </a:r>
            <a:r>
              <a:rPr lang="en-US" altLang="en-US" sz="2000" dirty="0"/>
              <a:t>operating systems</a:t>
            </a:r>
            <a:r>
              <a:rPr lang="ar-JO" altLang="en-US" sz="2000" dirty="0"/>
              <a:t> </a:t>
            </a:r>
            <a:r>
              <a:rPr lang="en-US" altLang="en-US" sz="2000" dirty="0"/>
              <a:t>Can present obvious challenges</a:t>
            </a:r>
          </a:p>
          <a:p>
            <a:r>
              <a:rPr lang="en-US" altLang="en-US" sz="2000" b="1" dirty="0">
                <a:solidFill>
                  <a:srgbClr val="006699"/>
                </a:solidFill>
                <a:latin typeface="+mj-lt"/>
              </a:rPr>
              <a:t>Soft real-time systems </a:t>
            </a:r>
            <a:r>
              <a:rPr lang="en-US" altLang="en-US" sz="2000" dirty="0"/>
              <a:t>– Critical real-time tasks have the highest priority, </a:t>
            </a:r>
            <a:r>
              <a:rPr lang="en-US" altLang="en-US" sz="2000" dirty="0">
                <a:solidFill>
                  <a:srgbClr val="FF0000"/>
                </a:solidFill>
              </a:rPr>
              <a:t>but no guarantee as to when tasks </a:t>
            </a:r>
            <a:r>
              <a:rPr lang="en-US" altLang="en-US" sz="2000" dirty="0"/>
              <a:t>will be scheduled</a:t>
            </a:r>
          </a:p>
          <a:p>
            <a:r>
              <a:rPr lang="en-US" altLang="en-US" sz="2000" b="1" dirty="0">
                <a:solidFill>
                  <a:srgbClr val="006699"/>
                </a:solidFill>
                <a:latin typeface="+mj-lt"/>
              </a:rPr>
              <a:t>Hard real-time systems </a:t>
            </a:r>
            <a:r>
              <a:rPr lang="en-US" altLang="en-US" sz="2000" b="1" dirty="0">
                <a:solidFill>
                  <a:srgbClr val="FF0000"/>
                </a:solidFill>
                <a:latin typeface="+mj-lt"/>
              </a:rPr>
              <a:t>– task must be serviced by its deadline</a:t>
            </a:r>
          </a:p>
          <a:p>
            <a:pPr lvl="1">
              <a:buFont typeface="Monotype Sorts" pitchFamily="-84" charset="2"/>
              <a:buNone/>
            </a:pPr>
            <a:r>
              <a:rPr lang="en-US" altLang="en-US" sz="2000" b="1" dirty="0">
                <a:solidFill>
                  <a:srgbClr val="006699"/>
                </a:solidFill>
                <a:latin typeface="+mj-lt"/>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solidFill>
                  <a:srgbClr val="FF0000"/>
                </a:solidFill>
              </a:rPr>
              <a:t>issues</a:t>
            </a:r>
            <a:endParaRPr lang="en-US" dirty="0"/>
          </a:p>
        </p:txBody>
      </p:sp>
      <p:sp>
        <p:nvSpPr>
          <p:cNvPr id="5" name="Text Placeholder 4"/>
          <p:cNvSpPr>
            <a:spLocks noGrp="1"/>
          </p:cNvSpPr>
          <p:nvPr>
            <p:ph type="body" idx="1"/>
          </p:nvPr>
        </p:nvSpPr>
        <p:spPr/>
        <p:txBody>
          <a:bodyPr/>
          <a:lstStyle/>
          <a:p>
            <a:r>
              <a:rPr lang="en-US" altLang="en-US" sz="3600" dirty="0">
                <a:solidFill>
                  <a:srgbClr val="FF0000"/>
                </a:solidFill>
              </a:rPr>
              <a:t>5.6.Real-Time CPU Scheduling -</a:t>
            </a:r>
            <a:endParaRPr lang="en-US" sz="3600" dirty="0">
              <a:solidFill>
                <a:srgbClr val="FF0000"/>
              </a:solidFill>
            </a:endParaRPr>
          </a:p>
          <a:p>
            <a:endParaRPr lang="en-US" sz="3600" dirty="0">
              <a:solidFill>
                <a:srgbClr val="FF0000"/>
              </a:solidFill>
            </a:endParaRPr>
          </a:p>
        </p:txBody>
      </p:sp>
    </p:spTree>
    <p:extLst>
      <p:ext uri="{BB962C8B-B14F-4D97-AF65-F5344CB8AC3E}">
        <p14:creationId xmlns:p14="http://schemas.microsoft.com/office/powerpoint/2010/main" val="14690020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dirty="0">
                <a:solidFill>
                  <a:srgbClr val="FF0000"/>
                </a:solidFill>
                <a:latin typeface="Times New Roman" panose="02020603050405020304" pitchFamily="18" charset="0"/>
                <a:cs typeface="Times New Roman" panose="02020603050405020304" pitchFamily="18" charset="0"/>
              </a:rPr>
              <a:t>5.6.1 Minimizing Latency</a:t>
            </a:r>
            <a:r>
              <a:rPr lang="ar-JO" dirty="0">
                <a:solidFill>
                  <a:srgbClr val="FF0000"/>
                </a:solidFill>
                <a:latin typeface="Times New Roman" panose="02020603050405020304" pitchFamily="18" charset="0"/>
                <a:cs typeface="Times New Roman" panose="02020603050405020304" pitchFamily="18" charset="0"/>
              </a:rPr>
              <a:t>تقليل زمن الوصول</a:t>
            </a:r>
            <a:endParaRPr lang="en-US" altLang="en-US" dirty="0">
              <a:solidFill>
                <a:srgbClr val="FF0000"/>
              </a:solidFill>
            </a:endParaRP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0" y="1097280"/>
            <a:ext cx="4956048" cy="5486400"/>
          </a:xfrm>
        </p:spPr>
        <p:txBody>
          <a:bodyPr/>
          <a:lstStyle/>
          <a:p>
            <a:r>
              <a:rPr lang="en-US" altLang="en-US" sz="2000" dirty="0">
                <a:solidFill>
                  <a:srgbClr val="FF0000"/>
                </a:solidFill>
                <a:latin typeface="Times New Roman" panose="02020603050405020304" pitchFamily="18" charset="0"/>
                <a:cs typeface="Times New Roman" panose="02020603050405020304" pitchFamily="18" charset="0"/>
              </a:rPr>
              <a:t>Event latency </a:t>
            </a:r>
            <a:r>
              <a:rPr lang="en-US" altLang="en-US" sz="2000" dirty="0">
                <a:latin typeface="Times New Roman" panose="02020603050405020304" pitchFamily="18" charset="0"/>
                <a:cs typeface="Times New Roman" panose="02020603050405020304" pitchFamily="18" charset="0"/>
              </a:rPr>
              <a:t>– </a:t>
            </a:r>
            <a:r>
              <a:rPr lang="en-US" altLang="en-US" sz="2000" dirty="0">
                <a:highlight>
                  <a:srgbClr val="FFFF00"/>
                </a:highlight>
                <a:latin typeface="Times New Roman" panose="02020603050405020304" pitchFamily="18" charset="0"/>
                <a:cs typeface="Times New Roman" panose="02020603050405020304" pitchFamily="18" charset="0"/>
              </a:rPr>
              <a:t>the amount of time that elapses from when an event occurs to when it is serviced.</a:t>
            </a:r>
          </a:p>
          <a:p>
            <a:r>
              <a:rPr lang="en-US" altLang="en-US" sz="2000" dirty="0">
                <a:latin typeface="Times New Roman" panose="02020603050405020304" pitchFamily="18" charset="0"/>
                <a:cs typeface="Times New Roman" panose="02020603050405020304" pitchFamily="18" charset="0"/>
              </a:rPr>
              <a:t>Two types of latencies affect performance</a:t>
            </a:r>
          </a:p>
          <a:p>
            <a:pPr marL="400050">
              <a:buFont typeface="+mj-lt"/>
              <a:buAutoNum type="arabicPeriod"/>
            </a:pP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Interrupt</a:t>
            </a:r>
            <a:r>
              <a:rPr lang="en-US" altLang="en-US" sz="2000" b="1" dirty="0">
                <a:latin typeface="Times New Roman" panose="02020603050405020304" pitchFamily="18" charset="0"/>
                <a:cs typeface="Times New Roman" panose="02020603050405020304" pitchFamily="18" charset="0"/>
              </a:rPr>
              <a:t> latency </a:t>
            </a:r>
            <a:r>
              <a:rPr lang="en-US" altLang="en-US" sz="2000" dirty="0">
                <a:latin typeface="Times New Roman" panose="02020603050405020304" pitchFamily="18" charset="0"/>
                <a:cs typeface="Times New Roman" panose="02020603050405020304" pitchFamily="18" charset="0"/>
              </a:rPr>
              <a:t>–time from arrival of interrupt to start of routine that services interrupt </a:t>
            </a:r>
            <a:r>
              <a:rPr lang="ar-JO" altLang="en-US" sz="2000" dirty="0">
                <a:latin typeface="Times New Roman" panose="02020603050405020304" pitchFamily="18" charset="0"/>
                <a:cs typeface="Times New Roman" panose="02020603050405020304" pitchFamily="18" charset="0"/>
              </a:rPr>
              <a:t>وقت بد المقاطعه</a:t>
            </a:r>
            <a:endParaRPr lang="en-US" altLang="en-US" sz="2000" dirty="0">
              <a:latin typeface="Times New Roman" panose="02020603050405020304" pitchFamily="18" charset="0"/>
              <a:cs typeface="Times New Roman" panose="02020603050405020304" pitchFamily="18" charset="0"/>
            </a:endParaRPr>
          </a:p>
          <a:p>
            <a:pPr algn="l">
              <a:buFont typeface="+mj-lt"/>
              <a:buAutoNum type="arabicPeriod"/>
            </a:pPr>
            <a:r>
              <a:rPr lang="en-US" altLang="en-US" sz="2000" b="1" dirty="0">
                <a:latin typeface="Times New Roman" panose="02020603050405020304" pitchFamily="18" charset="0"/>
                <a:cs typeface="Times New Roman" panose="02020603050405020304" pitchFamily="18" charset="0"/>
              </a:rPr>
              <a:t> </a:t>
            </a:r>
            <a:r>
              <a:rPr lang="en-US" altLang="en-US" sz="2000" b="1" dirty="0">
                <a:solidFill>
                  <a:srgbClr val="FF0000"/>
                </a:solidFill>
                <a:latin typeface="Times New Roman" panose="02020603050405020304" pitchFamily="18" charset="0"/>
                <a:cs typeface="Times New Roman" panose="02020603050405020304" pitchFamily="18" charset="0"/>
              </a:rPr>
              <a:t>Dispatch</a:t>
            </a:r>
            <a:r>
              <a:rPr lang="en-US" altLang="en-US" sz="2000" b="1" dirty="0">
                <a:latin typeface="Times New Roman" panose="02020603050405020304" pitchFamily="18" charset="0"/>
                <a:cs typeface="Times New Roman" panose="02020603050405020304" pitchFamily="18" charset="0"/>
              </a:rPr>
              <a:t> latency - </a:t>
            </a:r>
            <a:r>
              <a:rPr lang="en-US" altLang="en-US" sz="2000" dirty="0">
                <a:solidFill>
                  <a:srgbClr val="FF0000"/>
                </a:solidFill>
                <a:latin typeface="Times New Roman" panose="02020603050405020304" pitchFamily="18" charset="0"/>
                <a:cs typeface="Times New Roman" panose="02020603050405020304" pitchFamily="18" charset="0"/>
              </a:rPr>
              <a:t>time for schedule </a:t>
            </a:r>
            <a:r>
              <a:rPr lang="en-US" altLang="en-US" sz="2000" dirty="0">
                <a:latin typeface="Times New Roman" panose="02020603050405020304" pitchFamily="18" charset="0"/>
                <a:cs typeface="Times New Roman" panose="02020603050405020304" pitchFamily="18" charset="0"/>
              </a:rPr>
              <a:t>to take current process off CPU and switch to another </a:t>
            </a:r>
            <a:r>
              <a:rPr lang="ar-JO" altLang="en-US" sz="2000" dirty="0">
                <a:latin typeface="Times New Roman" panose="02020603050405020304" pitchFamily="18" charset="0"/>
                <a:cs typeface="Times New Roman" panose="02020603050405020304" pitchFamily="18" charset="0"/>
              </a:rPr>
              <a:t>زمن التبديل</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lvl="1">
              <a:buFont typeface="Monotype Sorts" pitchFamily="-84" charset="2"/>
              <a:buNone/>
            </a:pPr>
            <a:r>
              <a:rPr lang="en-US" altLang="en-US" sz="2000" dirty="0">
                <a:latin typeface="Times New Roman" panose="02020603050405020304" pitchFamily="18" charset="0"/>
                <a:cs typeface="Times New Roman" panose="02020603050405020304" pitchFamily="18" charset="0"/>
              </a:rPr>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12774" y="932561"/>
            <a:ext cx="4175258" cy="335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r>
              <a:rPr lang="en-US" altLang="en-US" dirty="0"/>
              <a:t/>
            </a:r>
            <a:br>
              <a:rPr lang="en-US" altLang="en-US" dirty="0"/>
            </a:br>
            <a:r>
              <a:rPr lang="en-US" altLang="en-US" dirty="0"/>
              <a:t>1.Interrupt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4460" y="914401"/>
            <a:ext cx="7817890" cy="56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r>
              <a:rPr lang="en-US" altLang="en-US" dirty="0"/>
              <a:t/>
            </a:r>
            <a:br>
              <a:rPr lang="en-US" altLang="en-US" dirty="0"/>
            </a:br>
            <a:r>
              <a:rPr lang="en-US" altLang="en-US" dirty="0"/>
              <a:t>2.Dispatch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104932" y="736114"/>
            <a:ext cx="3335181" cy="6016899"/>
          </a:xfrm>
        </p:spPr>
        <p:txBody>
          <a:bodyPr/>
          <a:lstStyle/>
          <a:p>
            <a:pPr algn="l"/>
            <a:r>
              <a:rPr lang="en-US" sz="2000" b="1" i="0" u="none" strike="noStrike" baseline="0" dirty="0">
                <a:solidFill>
                  <a:srgbClr val="FF0000"/>
                </a:solidFill>
                <a:latin typeface="PalatinoLTStd-Roman"/>
              </a:rPr>
              <a:t>the real-time operating systems minimize this latency as well</a:t>
            </a:r>
          </a:p>
          <a:p>
            <a:pPr algn="l"/>
            <a:r>
              <a:rPr lang="en-US" altLang="en-US" b="1" dirty="0">
                <a:solidFill>
                  <a:srgbClr val="FF0000"/>
                </a:solidFill>
                <a:highlight>
                  <a:srgbClr val="FFFF00"/>
                </a:highlight>
                <a:latin typeface="PalatinoLTStd-Roman"/>
              </a:rPr>
              <a:t>Conflict </a:t>
            </a:r>
            <a:r>
              <a:rPr lang="en-US" altLang="en-US" sz="2000" dirty="0">
                <a:solidFill>
                  <a:srgbClr val="FF0000"/>
                </a:solidFill>
              </a:rPr>
              <a:t>phase of dispatch latency</a:t>
            </a:r>
            <a:r>
              <a:rPr lang="en-US" altLang="en-US" sz="2000" dirty="0"/>
              <a:t>:</a:t>
            </a:r>
          </a:p>
          <a:p>
            <a:pPr lvl="1">
              <a:buFont typeface="Arial" panose="020B0604020202020204" pitchFamily="34" charset="0"/>
              <a:buAutoNum type="arabicPeriod"/>
            </a:pPr>
            <a:r>
              <a:rPr lang="en-US" altLang="en-US" sz="2000" dirty="0">
                <a:solidFill>
                  <a:srgbClr val="FF0000"/>
                </a:solidFill>
              </a:rPr>
              <a:t>Preemption</a:t>
            </a:r>
            <a:r>
              <a:rPr lang="en-US" altLang="en-US" sz="2000" dirty="0"/>
              <a:t> of any process running in kernel mode</a:t>
            </a:r>
          </a:p>
          <a:p>
            <a:pPr lvl="1">
              <a:buFont typeface="Arial" panose="020B0604020202020204" pitchFamily="34" charset="0"/>
              <a:buAutoNum type="arabicPeriod"/>
            </a:pPr>
            <a:r>
              <a:rPr lang="en-US" altLang="en-US" sz="2000" dirty="0">
                <a:solidFill>
                  <a:srgbClr val="FF0000"/>
                </a:solidFill>
              </a:rPr>
              <a:t>Release</a:t>
            </a:r>
            <a:r>
              <a:rPr lang="en-US" altLang="en-US" sz="2000" dirty="0"/>
              <a:t> by low-priority process of resources needed by high-priority processes</a:t>
            </a:r>
            <a:endParaRPr lang="ar-JO" altLang="en-US" sz="2000" dirty="0"/>
          </a:p>
          <a:p>
            <a:pPr algn="l"/>
            <a:r>
              <a:rPr lang="en-US" sz="1800" b="0" i="0" u="none" strike="noStrike" baseline="0" dirty="0">
                <a:solidFill>
                  <a:srgbClr val="FF0000"/>
                </a:solidFill>
                <a:latin typeface="PalatinoLTStd-Roman"/>
              </a:rPr>
              <a:t>Following the conflict phase</a:t>
            </a:r>
            <a:r>
              <a:rPr lang="en-US" sz="1800" b="0" i="0" u="none" strike="noStrike" baseline="0" dirty="0">
                <a:highlight>
                  <a:srgbClr val="FFFF00"/>
                </a:highlight>
                <a:latin typeface="PalatinoLTStd-Roman"/>
              </a:rPr>
              <a:t>, </a:t>
            </a:r>
            <a:r>
              <a:rPr lang="en-US" sz="1800" b="1" i="0" u="none" strike="noStrike" baseline="0" dirty="0">
                <a:solidFill>
                  <a:srgbClr val="FF0000"/>
                </a:solidFill>
                <a:highlight>
                  <a:srgbClr val="FFFF00"/>
                </a:highlight>
                <a:latin typeface="PalatinoLTStd-Roman"/>
              </a:rPr>
              <a:t>the dispatch phase </a:t>
            </a:r>
            <a:r>
              <a:rPr lang="en-US" sz="1800" b="0" i="0" u="none" strike="noStrike" baseline="0" dirty="0">
                <a:latin typeface="PalatinoLTStd-Roman"/>
              </a:rPr>
              <a:t>schedules the high-priority</a:t>
            </a:r>
            <a:r>
              <a:rPr lang="ar-JO" sz="1800" b="0" i="0" u="none" strike="noStrike" baseline="0" dirty="0">
                <a:latin typeface="PalatinoLTStd-Roman"/>
              </a:rPr>
              <a:t> </a:t>
            </a:r>
            <a:r>
              <a:rPr lang="en-US" sz="1800" b="0" i="0" u="none" strike="noStrike" baseline="0" dirty="0">
                <a:latin typeface="PalatinoLTStd-Roman"/>
              </a:rPr>
              <a:t>process onto an available CPU.</a:t>
            </a:r>
            <a:endParaRPr lang="en-US" altLang="en-US" sz="2000" dirty="0"/>
          </a:p>
          <a:p>
            <a:endParaRPr lang="en-US" altLang="en-US" sz="2000" dirty="0"/>
          </a:p>
          <a:p>
            <a:pPr lvl="1">
              <a:buFont typeface="Monotype Sorts" pitchFamily="-84" charset="2"/>
              <a:buNone/>
            </a:pPr>
            <a:r>
              <a:rPr lang="en-US" altLang="en-US" sz="2000"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0113" y="1097280"/>
            <a:ext cx="5598955" cy="517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p:cNvCxnSpPr/>
          <p:nvPr/>
        </p:nvCxnSpPr>
        <p:spPr bwMode="auto">
          <a:xfrm>
            <a:off x="1215342" y="2002420"/>
            <a:ext cx="4027990" cy="222233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 name="Straight Arrow Connector 4"/>
          <p:cNvCxnSpPr/>
          <p:nvPr/>
        </p:nvCxnSpPr>
        <p:spPr bwMode="auto">
          <a:xfrm>
            <a:off x="1296365" y="2812648"/>
            <a:ext cx="3761772" cy="15394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 name="Straight Arrow Connector 6"/>
          <p:cNvCxnSpPr/>
          <p:nvPr/>
        </p:nvCxnSpPr>
        <p:spPr bwMode="auto">
          <a:xfrm>
            <a:off x="1504709" y="3808071"/>
            <a:ext cx="3472405" cy="6713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333758"/>
          </a:xfrm>
        </p:spPr>
        <p:txBody>
          <a:bodyPr/>
          <a:lstStyle/>
          <a:p>
            <a:pPr eaLnBrk="1" hangingPunct="1"/>
            <a:r>
              <a:rPr lang="en-US" altLang="en-US" dirty="0"/>
              <a:t>5.6.2.Priority-based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224853" y="555585"/>
            <a:ext cx="8784236" cy="5170529"/>
          </a:xfrm>
        </p:spPr>
        <p:txBody>
          <a:bodyPr/>
          <a:lstStyle/>
          <a:p>
            <a:r>
              <a:rPr lang="en-US" dirty="0"/>
              <a:t>The most important feature of a real-time operating system is to respond immediately to a real-time process as soon as that process requires the </a:t>
            </a:r>
            <a:r>
              <a:rPr lang="en-US" dirty="0">
                <a:latin typeface="Times New Roman" panose="02020603050405020304" pitchFamily="18" charset="0"/>
                <a:cs typeface="Times New Roman" panose="02020603050405020304" pitchFamily="18" charset="0"/>
              </a:rPr>
              <a:t>CPU.</a:t>
            </a:r>
            <a:r>
              <a:rPr lang="ar-JO" dirty="0">
                <a:latin typeface="Times New Roman" panose="02020603050405020304" pitchFamily="18" charset="0"/>
                <a:cs typeface="Times New Roman" panose="02020603050405020304" pitchFamily="18" charset="0"/>
              </a:rPr>
              <a:t>الميزة الأكثر أهمية لنظام التشغيل في الوقت الفعلي هي الاستجابة الفورية لعملية في الوقت الفعلي بمجرد أن تتطلب هذه العملية وحدة المعالجة المركزية.</a:t>
            </a:r>
            <a:endParaRPr 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For </a:t>
            </a:r>
            <a:r>
              <a:rPr lang="en-US" altLang="en-US" b="1" dirty="0">
                <a:solidFill>
                  <a:srgbClr val="FF0000"/>
                </a:solidFill>
                <a:latin typeface="Times New Roman" panose="02020603050405020304" pitchFamily="18" charset="0"/>
                <a:cs typeface="Times New Roman" panose="02020603050405020304" pitchFamily="18" charset="0"/>
              </a:rPr>
              <a:t>real-time scheduling</a:t>
            </a:r>
            <a:r>
              <a:rPr lang="en-US" altLang="en-US" dirty="0">
                <a:latin typeface="Times New Roman" panose="02020603050405020304" pitchFamily="18" charset="0"/>
                <a:cs typeface="Times New Roman" panose="02020603050405020304" pitchFamily="18" charset="0"/>
              </a:rPr>
              <a:t>, scheduler must </a:t>
            </a:r>
            <a:r>
              <a:rPr lang="en-US" altLang="en-US" b="1" dirty="0">
                <a:solidFill>
                  <a:srgbClr val="FF0000"/>
                </a:solidFill>
                <a:latin typeface="Times New Roman" panose="02020603050405020304" pitchFamily="18" charset="0"/>
                <a:cs typeface="Times New Roman" panose="02020603050405020304" pitchFamily="18" charset="0"/>
              </a:rPr>
              <a:t>support preemptive, priority-based </a:t>
            </a:r>
            <a:r>
              <a:rPr lang="en-US" altLang="en-US" dirty="0">
                <a:latin typeface="Times New Roman" panose="02020603050405020304" pitchFamily="18" charset="0"/>
                <a:cs typeface="Times New Roman" panose="02020603050405020304" pitchFamily="18" charset="0"/>
              </a:rPr>
              <a:t>scheduling</a:t>
            </a:r>
          </a:p>
          <a:p>
            <a:pPr lvl="1"/>
            <a:r>
              <a:rPr lang="en-US" altLang="en-US" dirty="0">
                <a:solidFill>
                  <a:srgbClr val="FF0000"/>
                </a:solidFill>
                <a:latin typeface="Times New Roman" panose="02020603050405020304" pitchFamily="18" charset="0"/>
                <a:cs typeface="Times New Roman" panose="02020603050405020304" pitchFamily="18" charset="0"/>
              </a:rPr>
              <a:t>But only guarantees soft real-time</a:t>
            </a:r>
          </a:p>
          <a:p>
            <a:r>
              <a:rPr lang="en-US" altLang="en-US" dirty="0">
                <a:latin typeface="Times New Roman" panose="02020603050405020304" pitchFamily="18" charset="0"/>
                <a:cs typeface="Times New Roman" panose="02020603050405020304" pitchFamily="18" charset="0"/>
              </a:rPr>
              <a:t>For </a:t>
            </a:r>
            <a:r>
              <a:rPr lang="en-US" altLang="en-US" dirty="0">
                <a:solidFill>
                  <a:srgbClr val="FF0000"/>
                </a:solidFill>
                <a:latin typeface="Times New Roman" panose="02020603050405020304" pitchFamily="18" charset="0"/>
                <a:cs typeface="Times New Roman" panose="02020603050405020304" pitchFamily="18" charset="0"/>
              </a:rPr>
              <a:t>hard real-time must also provide ability to meet deadlines</a:t>
            </a:r>
          </a:p>
          <a:p>
            <a:r>
              <a:rPr lang="en-US" altLang="en-US" dirty="0">
                <a:latin typeface="Times New Roman" panose="02020603050405020304" pitchFamily="18" charset="0"/>
                <a:cs typeface="Times New Roman" panose="02020603050405020304" pitchFamily="18" charset="0"/>
              </a:rPr>
              <a:t>Processes have new characteristics: </a:t>
            </a:r>
            <a:r>
              <a:rPr lang="en-US" altLang="en-US" b="1" dirty="0">
                <a:solidFill>
                  <a:srgbClr val="006699"/>
                </a:solidFill>
                <a:latin typeface="Times New Roman" panose="02020603050405020304" pitchFamily="18" charset="0"/>
                <a:cs typeface="Times New Roman" panose="02020603050405020304" pitchFamily="18" charset="0"/>
              </a:rPr>
              <a:t>periodic</a:t>
            </a:r>
            <a:r>
              <a:rPr lang="en-US" altLang="en-US" dirty="0">
                <a:latin typeface="Times New Roman" panose="02020603050405020304" pitchFamily="18" charset="0"/>
                <a:cs typeface="Times New Roman" panose="02020603050405020304" pitchFamily="18" charset="0"/>
              </a:rPr>
              <a:t> ones require CPU at constant intervals </a:t>
            </a:r>
            <a:r>
              <a:rPr lang="ar-JO" altLang="en-US" dirty="0">
                <a:solidFill>
                  <a:srgbClr val="FF0000"/>
                </a:solidFill>
                <a:highlight>
                  <a:srgbClr val="FFFF00"/>
                </a:highlight>
                <a:latin typeface="Times New Roman" panose="02020603050405020304" pitchFamily="18" charset="0"/>
                <a:cs typeface="Times New Roman" panose="02020603050405020304" pitchFamily="18" charset="0"/>
              </a:rPr>
              <a:t>عدد مرات حاجة العمليه للنتفذ خلال الفتره المحدده</a:t>
            </a:r>
            <a:endParaRPr lang="en-US" altLang="en-US" dirty="0">
              <a:solidFill>
                <a:srgbClr val="FF0000"/>
              </a:solidFill>
              <a:highlight>
                <a:srgbClr val="FFFF00"/>
              </a:highlight>
              <a:latin typeface="Times New Roman" panose="02020603050405020304" pitchFamily="18" charset="0"/>
              <a:cs typeface="Times New Roman" panose="02020603050405020304" pitchFamily="18" charset="0"/>
            </a:endParaRPr>
          </a:p>
          <a:p>
            <a:pPr lvl="1"/>
            <a:r>
              <a:rPr lang="en-US" altLang="en-US" dirty="0">
                <a:latin typeface="Times New Roman" panose="02020603050405020304" pitchFamily="18" charset="0"/>
                <a:cs typeface="Times New Roman" panose="02020603050405020304" pitchFamily="18" charset="0"/>
              </a:rPr>
              <a:t>Has processing </a:t>
            </a:r>
            <a:r>
              <a:rPr lang="en-US" altLang="en-US" dirty="0">
                <a:solidFill>
                  <a:srgbClr val="FF0000"/>
                </a:solidFill>
                <a:latin typeface="Times New Roman" panose="02020603050405020304" pitchFamily="18" charset="0"/>
                <a:cs typeface="Times New Roman" panose="02020603050405020304" pitchFamily="18" charset="0"/>
              </a:rPr>
              <a:t>time </a:t>
            </a:r>
            <a:r>
              <a:rPr lang="en-US" altLang="en-US" i="1" dirty="0">
                <a:solidFill>
                  <a:srgbClr val="FF0000"/>
                </a:solidFill>
                <a:latin typeface="Times New Roman" panose="02020603050405020304" pitchFamily="18" charset="0"/>
                <a:cs typeface="Times New Roman" panose="02020603050405020304" pitchFamily="18" charset="0"/>
              </a:rPr>
              <a:t>t</a:t>
            </a:r>
            <a:r>
              <a:rPr lang="en-US" altLang="en-US" dirty="0">
                <a:solidFill>
                  <a:srgbClr val="FF0000"/>
                </a:solidFill>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rPr>
              <a:t>deadline </a:t>
            </a:r>
            <a:r>
              <a:rPr lang="en-US" altLang="en-US" i="1" dirty="0">
                <a:solidFill>
                  <a:srgbClr val="FF0000"/>
                </a:solidFill>
                <a:latin typeface="Times New Roman" panose="02020603050405020304" pitchFamily="18" charset="0"/>
                <a:cs typeface="Times New Roman" panose="02020603050405020304" pitchFamily="18" charset="0"/>
              </a:rPr>
              <a:t>d,</a:t>
            </a:r>
            <a:r>
              <a:rPr lang="en-US" altLang="en-US" i="1" dirty="0">
                <a:latin typeface="Times New Roman" panose="02020603050405020304" pitchFamily="18" charset="0"/>
                <a:cs typeface="Times New Roman" panose="02020603050405020304" pitchFamily="18" charset="0"/>
              </a:rPr>
              <a:t> </a:t>
            </a:r>
            <a:r>
              <a:rPr lang="en-US" altLang="en-US" dirty="0">
                <a:solidFill>
                  <a:srgbClr val="FF0000"/>
                </a:solidFill>
                <a:latin typeface="Times New Roman" panose="02020603050405020304" pitchFamily="18" charset="0"/>
                <a:cs typeface="Times New Roman" panose="02020603050405020304" pitchFamily="18" charset="0"/>
              </a:rPr>
              <a:t>period </a:t>
            </a:r>
            <a:r>
              <a:rPr lang="en-US" altLang="en-US" i="1" dirty="0">
                <a:solidFill>
                  <a:srgbClr val="FF0000"/>
                </a:solidFill>
                <a:latin typeface="Times New Roman" panose="02020603050405020304" pitchFamily="18" charset="0"/>
                <a:cs typeface="Times New Roman" panose="02020603050405020304" pitchFamily="18" charset="0"/>
              </a:rPr>
              <a:t>p</a:t>
            </a:r>
          </a:p>
          <a:p>
            <a:pPr lvl="1"/>
            <a:r>
              <a:rPr lang="en-US" altLang="en-US" dirty="0">
                <a:latin typeface="Times New Roman" panose="02020603050405020304" pitchFamily="18" charset="0"/>
                <a:cs typeface="Times New Roman" panose="02020603050405020304" pitchFamily="18" charset="0"/>
              </a:rPr>
              <a:t>0 ≤ </a:t>
            </a:r>
            <a:r>
              <a:rPr lang="en-US" altLang="en-US" i="1" dirty="0">
                <a:latin typeface="Times New Roman" panose="02020603050405020304" pitchFamily="18" charset="0"/>
                <a:cs typeface="Times New Roman" panose="02020603050405020304" pitchFamily="18" charset="0"/>
              </a:rPr>
              <a:t>t</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d</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anose="02020603050405020304" pitchFamily="18" charset="0"/>
                <a:cs typeface="Times New Roman" panose="02020603050405020304" pitchFamily="18" charset="0"/>
              </a:rPr>
              <a:t>p;                            . </a:t>
            </a:r>
            <a:r>
              <a:rPr lang="en-US" altLang="en-US" b="1" dirty="0">
                <a:solidFill>
                  <a:srgbClr val="006699"/>
                </a:solidFill>
                <a:latin typeface="Times New Roman" panose="02020603050405020304" pitchFamily="18" charset="0"/>
                <a:cs typeface="Times New Roman" panose="02020603050405020304" pitchFamily="18" charset="0"/>
              </a:rPr>
              <a:t>Rate</a:t>
            </a:r>
            <a:r>
              <a:rPr lang="en-US" altLang="en-US" dirty="0">
                <a:latin typeface="Times New Roman" panose="02020603050405020304" pitchFamily="18" charset="0"/>
                <a:cs typeface="Times New Roman" panose="02020603050405020304" pitchFamily="18" charset="0"/>
              </a:rPr>
              <a:t> of periodic task is </a:t>
            </a:r>
            <a:r>
              <a:rPr lang="en-US" altLang="en-US" dirty="0">
                <a:solidFill>
                  <a:srgbClr val="FF0000"/>
                </a:solidFill>
                <a:latin typeface="Times New Roman" panose="02020603050405020304" pitchFamily="18" charset="0"/>
                <a:cs typeface="Times New Roman" panose="02020603050405020304" pitchFamily="18" charset="0"/>
              </a:rPr>
              <a:t>1/</a:t>
            </a:r>
            <a:r>
              <a:rPr lang="en-US" altLang="en-US" i="1" dirty="0">
                <a:solidFill>
                  <a:srgbClr val="FF0000"/>
                </a:solidFill>
                <a:latin typeface="Times New Roman" panose="02020603050405020304" pitchFamily="18" charset="0"/>
                <a:cs typeface="Times New Roman" panose="02020603050405020304" pitchFamily="18" charset="0"/>
              </a:rPr>
              <a:t>p</a:t>
            </a:r>
            <a:endParaRPr lang="en-US" altLang="en-US" dirty="0">
              <a:solidFill>
                <a:srgbClr val="FF0000"/>
              </a:solidFill>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pPr lvl="1">
              <a:buFont typeface="Monotype Sorts" pitchFamily="-84" charset="2"/>
              <a:buNone/>
            </a:pPr>
            <a:r>
              <a:rPr lang="en-US" altLang="en-US" dirty="0">
                <a:latin typeface="Times New Roman" panose="02020603050405020304" pitchFamily="18" charset="0"/>
                <a:cs typeface="Times New Roman" panose="02020603050405020304" pitchFamily="18" charset="0"/>
              </a:rPr>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7896" y="4770660"/>
            <a:ext cx="5936104" cy="2143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333758"/>
          </a:xfrm>
        </p:spPr>
        <p:txBody>
          <a:bodyPr/>
          <a:lstStyle/>
          <a:p>
            <a:pPr eaLnBrk="1" hangingPunct="1"/>
            <a:r>
              <a:rPr lang="en-US" altLang="en-US" dirty="0"/>
              <a:t>5.6.2.Priority-based Scheduling </a:t>
            </a:r>
            <a:r>
              <a:rPr lang="en-US" altLang="en-US" dirty="0">
                <a:solidFill>
                  <a:srgbClr val="FF0000"/>
                </a:solidFill>
                <a:highlight>
                  <a:srgbClr val="FFFF00"/>
                </a:highlight>
              </a:rPr>
              <a:t>next</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224853" y="935421"/>
            <a:ext cx="8784236" cy="4790693"/>
          </a:xfrm>
        </p:spPr>
        <p:txBody>
          <a:bodyPr/>
          <a:lstStyle/>
          <a:p>
            <a:r>
              <a:rPr lang="en-US" dirty="0"/>
              <a:t> </a:t>
            </a:r>
            <a:endParaRPr lang="en-US" altLang="en-US" dirty="0">
              <a:latin typeface="Times New Roman" panose="02020603050405020304" pitchFamily="18" charset="0"/>
              <a:cs typeface="Times New Roman" panose="02020603050405020304" pitchFamily="18" charset="0"/>
            </a:endParaRPr>
          </a:p>
          <a:p>
            <a:pPr lvl="1">
              <a:buFont typeface="Monotype Sorts" pitchFamily="-84" charset="2"/>
              <a:buNone/>
            </a:pPr>
            <a:r>
              <a:rPr lang="en-US" altLang="en-US" dirty="0">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BCB32857-AAE8-4E1C-0114-00CEE6BE8A82}"/>
              </a:ext>
            </a:extLst>
          </p:cNvPr>
          <p:cNvSpPr txBox="1"/>
          <p:nvPr/>
        </p:nvSpPr>
        <p:spPr>
          <a:xfrm>
            <a:off x="325563" y="935421"/>
            <a:ext cx="8582816" cy="5262979"/>
          </a:xfrm>
          <a:prstGeom prst="rect">
            <a:avLst/>
          </a:prstGeom>
          <a:noFill/>
        </p:spPr>
        <p:txBody>
          <a:bodyPr wrap="square">
            <a:spAutoFit/>
          </a:bodyPr>
          <a:lstStyle/>
          <a:p>
            <a:pPr marL="285750" indent="-285750">
              <a:buFont typeface="Arial" panose="020B0604020202020204" pitchFamily="34" charset="0"/>
              <a:buChar char="•"/>
            </a:pPr>
            <a:r>
              <a:rPr lang="en-US" sz="2800" dirty="0"/>
              <a:t>There is unusual about this form of scheduling </a:t>
            </a:r>
          </a:p>
          <a:p>
            <a:pPr marL="742950" lvl="1" indent="-285750">
              <a:buFont typeface="Arial" panose="020B0604020202020204" pitchFamily="34" charset="0"/>
              <a:buChar char="•"/>
            </a:pPr>
            <a:r>
              <a:rPr lang="en-US" sz="2800" dirty="0"/>
              <a:t>announcing its deadline requirements to the scheduler. </a:t>
            </a:r>
          </a:p>
          <a:p>
            <a:pPr marL="742950" lvl="1" indent="-285750">
              <a:buFont typeface="Arial" panose="020B0604020202020204" pitchFamily="34" charset="0"/>
              <a:buChar char="•"/>
            </a:pPr>
            <a:r>
              <a:rPr lang="en-US" sz="2800" dirty="0"/>
              <a:t>Then, using </a:t>
            </a:r>
            <a:r>
              <a:rPr lang="en-US" sz="2800" dirty="0">
                <a:solidFill>
                  <a:srgbClr val="FF0000"/>
                </a:solidFill>
              </a:rPr>
              <a:t>an admission-control algorithm</a:t>
            </a:r>
            <a:r>
              <a:rPr lang="en-US" sz="2800" dirty="0"/>
              <a:t>, the scheduler : </a:t>
            </a:r>
          </a:p>
          <a:p>
            <a:pPr marL="1200150" lvl="2" indent="-285750">
              <a:buFont typeface="Arial" panose="020B0604020202020204" pitchFamily="34" charset="0"/>
              <a:buChar char="•"/>
            </a:pPr>
            <a:r>
              <a:rPr lang="en-US" sz="2800" dirty="0"/>
              <a:t>It either </a:t>
            </a:r>
            <a:r>
              <a:rPr lang="en-US" sz="2800" dirty="0">
                <a:solidFill>
                  <a:srgbClr val="FF0000"/>
                </a:solidFill>
                <a:highlight>
                  <a:srgbClr val="FFFF00"/>
                </a:highlight>
              </a:rPr>
              <a:t>admits the process</a:t>
            </a:r>
            <a:r>
              <a:rPr lang="en-US" sz="2800" dirty="0"/>
              <a:t>, guaranteeing that the process will complete on time, </a:t>
            </a:r>
          </a:p>
          <a:p>
            <a:pPr marL="1200150" lvl="2" indent="-285750">
              <a:buFont typeface="Arial" panose="020B0604020202020204" pitchFamily="34" charset="0"/>
              <a:buChar char="•"/>
            </a:pPr>
            <a:r>
              <a:rPr lang="en-US" sz="2800" dirty="0"/>
              <a:t>or </a:t>
            </a:r>
            <a:r>
              <a:rPr lang="en-US" sz="2800" dirty="0">
                <a:solidFill>
                  <a:srgbClr val="FF0000"/>
                </a:solidFill>
                <a:highlight>
                  <a:srgbClr val="FFFF00"/>
                </a:highlight>
              </a:rPr>
              <a:t>rejects the request </a:t>
            </a:r>
            <a:r>
              <a:rPr lang="en-US" sz="2800" dirty="0"/>
              <a:t>as impossible if it cannot guarantee that the task will be serviced by its deadline.</a:t>
            </a:r>
          </a:p>
        </p:txBody>
      </p:sp>
    </p:spTree>
    <p:extLst>
      <p:ext uri="{BB962C8B-B14F-4D97-AF65-F5344CB8AC3E}">
        <p14:creationId xmlns:p14="http://schemas.microsoft.com/office/powerpoint/2010/main" val="20720798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solidFill>
                  <a:srgbClr val="FF0000"/>
                </a:solidFill>
                <a:latin typeface="Times New Roman" panose="02020603050405020304" pitchFamily="18" charset="0"/>
                <a:cs typeface="Times New Roman" panose="02020603050405020304" pitchFamily="18" charset="0"/>
              </a:rPr>
              <a:t>5.6.3.Rate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0" y="841248"/>
            <a:ext cx="9144000" cy="4706747"/>
          </a:xfrm>
        </p:spPr>
        <p:txBody>
          <a:bodyPr/>
          <a:lstStyle/>
          <a:p>
            <a:pPr algn="l"/>
            <a:r>
              <a:rPr lang="en-US" sz="1800" b="0" i="0" u="none" strike="noStrike" baseline="0" dirty="0">
                <a:solidFill>
                  <a:srgbClr val="FF0000"/>
                </a:solidFill>
                <a:latin typeface="Times New Roman" panose="02020603050405020304" pitchFamily="18" charset="0"/>
                <a:cs typeface="Times New Roman" panose="02020603050405020304" pitchFamily="18" charset="0"/>
              </a:rPr>
              <a:t>The </a:t>
            </a:r>
            <a:r>
              <a:rPr lang="en-US" sz="1800" b="1" i="0" u="none" strike="noStrike" baseline="0" dirty="0">
                <a:solidFill>
                  <a:srgbClr val="FF0000"/>
                </a:solidFill>
                <a:latin typeface="Times New Roman" panose="02020603050405020304" pitchFamily="18" charset="0"/>
                <a:cs typeface="Times New Roman" panose="02020603050405020304" pitchFamily="18" charset="0"/>
              </a:rPr>
              <a:t>rate-monotonic </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scheduling algorithm schedules periodic tasks using </a:t>
            </a:r>
            <a:r>
              <a:rPr lang="en-US" sz="1800" b="1" i="0" u="none" strike="noStrike" baseline="0" dirty="0">
                <a:solidFill>
                  <a:srgbClr val="FF0000"/>
                </a:solidFill>
                <a:latin typeface="Times New Roman" panose="02020603050405020304" pitchFamily="18" charset="0"/>
                <a:cs typeface="Times New Roman" panose="02020603050405020304" pitchFamily="18" charset="0"/>
              </a:rPr>
              <a:t>a static priority policy with preemption</a:t>
            </a:r>
            <a:r>
              <a:rPr lang="en-US" sz="1800" b="1" i="0" u="none" strike="noStrike" baseline="0" dirty="0">
                <a:solidFill>
                  <a:srgbClr val="000000"/>
                </a:solidFill>
                <a:latin typeface="Times New Roman" panose="02020603050405020304" pitchFamily="18" charset="0"/>
                <a:cs typeface="Times New Roman" panose="02020603050405020304" pitchFamily="18" charset="0"/>
              </a:rPr>
              <a:t>.</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r>
              <a:rPr lang="ar-JO" sz="1800" b="0" i="0" u="none" strike="noStrike" baseline="0" dirty="0">
                <a:solidFill>
                  <a:srgbClr val="000000"/>
                </a:solidFill>
                <a:latin typeface="Times New Roman" panose="02020603050405020304" pitchFamily="18" charset="0"/>
                <a:cs typeface="Times New Roman" panose="02020603050405020304" pitchFamily="18" charset="0"/>
              </a:rPr>
              <a:t>تقوم خوارزمية الجدولة الرتيبة ذات المعدل بجدولة المهام الدورية باستخدام سياسة أولوية ثابتة مع الاستباقية.</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lvl="1"/>
            <a:r>
              <a:rPr lang="en-US" sz="2400" b="0" i="0" u="none" strike="noStrike" baseline="0" dirty="0" err="1">
                <a:solidFill>
                  <a:srgbClr val="FF0000"/>
                </a:solidFill>
                <a:latin typeface="Times New Roman" panose="02020603050405020304" pitchFamily="18" charset="0"/>
                <a:cs typeface="Times New Roman" panose="02020603050405020304" pitchFamily="18" charset="0"/>
              </a:rPr>
              <a:t>Idea:</a:t>
            </a:r>
            <a:r>
              <a:rPr lang="en-US" dirty="0" err="1">
                <a:solidFill>
                  <a:srgbClr val="000000"/>
                </a:solidFill>
                <a:latin typeface="Times New Roman" panose="02020603050405020304" pitchFamily="18" charset="0"/>
                <a:cs typeface="Times New Roman" panose="02020603050405020304" pitchFamily="18" charset="0"/>
              </a:rPr>
              <a:t>If</a:t>
            </a:r>
            <a:r>
              <a:rPr lang="en-US" b="0" i="0" u="none" strike="noStrike" baseline="0" dirty="0">
                <a:solidFill>
                  <a:srgbClr val="000000"/>
                </a:solidFill>
                <a:latin typeface="Times New Roman" panose="02020603050405020304" pitchFamily="18" charset="0"/>
                <a:cs typeface="Times New Roman" panose="02020603050405020304" pitchFamily="18" charset="0"/>
              </a:rPr>
              <a:t> a lower-priority process is running and a higher-priority process becomes available to run, it will preempt the lower-priority process. Upon entering the system, each periodic task is assigned a priority inversely based on its </a:t>
            </a:r>
            <a:r>
              <a:rPr lang="en-US" b="0" i="0" u="none" strike="noStrike" baseline="0" dirty="0">
                <a:solidFill>
                  <a:srgbClr val="FF0000"/>
                </a:solidFill>
                <a:latin typeface="Times New Roman" panose="02020603050405020304" pitchFamily="18" charset="0"/>
                <a:cs typeface="Times New Roman" panose="02020603050405020304" pitchFamily="18" charset="0"/>
              </a:rPr>
              <a:t>period.</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ar-JO" b="0" i="0" u="none" strike="noStrike" baseline="0" dirty="0">
                <a:solidFill>
                  <a:srgbClr val="FF0000"/>
                </a:solidFill>
                <a:latin typeface="Times New Roman" panose="02020603050405020304" pitchFamily="18" charset="0"/>
                <a:cs typeface="Times New Roman" panose="02020603050405020304" pitchFamily="18" charset="0"/>
              </a:rPr>
              <a:t>عند الدخول إلى النظام ، يتم تعيين أولوية لكل مهمة دورية عكسيا بناء على فترتها.</a:t>
            </a:r>
            <a:endParaRPr lang="en-US" b="0" i="0" u="none" strike="noStrike" baseline="0" dirty="0">
              <a:solidFill>
                <a:srgbClr val="FF0000"/>
              </a:solidFill>
              <a:latin typeface="Times New Roman" panose="02020603050405020304" pitchFamily="18" charset="0"/>
              <a:cs typeface="Times New Roman" panose="02020603050405020304" pitchFamily="18" charset="0"/>
            </a:endParaRPr>
          </a:p>
          <a:p>
            <a:pPr lvl="1"/>
            <a:r>
              <a:rPr lang="en-US" b="0" i="0" u="none" strike="noStrike" baseline="0" dirty="0">
                <a:solidFill>
                  <a:srgbClr val="FF0000"/>
                </a:solidFill>
                <a:latin typeface="Times New Roman" panose="02020603050405020304" pitchFamily="18" charset="0"/>
                <a:cs typeface="Times New Roman" panose="02020603050405020304" pitchFamily="18" charset="0"/>
              </a:rPr>
              <a:t>As the shorter the period</a:t>
            </a:r>
            <a:r>
              <a:rPr lang="ar-JO" b="0" i="0" u="none" strike="noStrike" baseline="0" dirty="0">
                <a:solidFill>
                  <a:srgbClr val="FF0000"/>
                </a:solidFill>
                <a:latin typeface="Times New Roman" panose="02020603050405020304" pitchFamily="18" charset="0"/>
                <a:cs typeface="Times New Roman" panose="02020603050405020304" pitchFamily="18" charset="0"/>
              </a:rPr>
              <a:t>مرحلة زمنية</a:t>
            </a:r>
            <a:r>
              <a:rPr lang="en-US" b="0" i="0" u="none" strike="noStrike" baseline="0" dirty="0">
                <a:solidFill>
                  <a:srgbClr val="000000"/>
                </a:solidFill>
                <a:latin typeface="Times New Roman" panose="02020603050405020304" pitchFamily="18" charset="0"/>
                <a:cs typeface="Times New Roman" panose="02020603050405020304" pitchFamily="18" charset="0"/>
              </a:rPr>
              <a:t>, the higher the priority; the longer the period, the lower the priority </a:t>
            </a:r>
          </a:p>
          <a:p>
            <a:pPr algn="l"/>
            <a:r>
              <a:rPr lang="en-US" dirty="0" err="1">
                <a:solidFill>
                  <a:srgbClr val="000000"/>
                </a:solidFill>
                <a:latin typeface="Times New Roman" panose="02020603050405020304" pitchFamily="18" charset="0"/>
                <a:cs typeface="Times New Roman" panose="02020603050405020304" pitchFamily="18" charset="0"/>
              </a:rPr>
              <a:t>So,</a:t>
            </a:r>
            <a:r>
              <a:rPr lang="en-US" altLang="en-US" dirty="0" err="1">
                <a:solidFill>
                  <a:srgbClr val="FF0000"/>
                </a:solidFill>
                <a:latin typeface="Times New Roman" panose="02020603050405020304" pitchFamily="18" charset="0"/>
                <a:cs typeface="Times New Roman" panose="02020603050405020304" pitchFamily="18" charset="0"/>
              </a:rPr>
              <a:t>A</a:t>
            </a:r>
            <a:r>
              <a:rPr lang="en-US" altLang="en-US" dirty="0">
                <a:solidFill>
                  <a:srgbClr val="FF0000"/>
                </a:solidFill>
                <a:latin typeface="Times New Roman" panose="02020603050405020304" pitchFamily="18" charset="0"/>
                <a:cs typeface="Times New Roman" panose="02020603050405020304" pitchFamily="18" charset="0"/>
              </a:rPr>
              <a:t> priority is assigned based on the inverse of its period</a:t>
            </a:r>
            <a:endParaRPr lang="en-US" altLang="en-US" sz="800" dirty="0">
              <a:solidFill>
                <a:srgbClr val="FF0000"/>
              </a:solidFill>
              <a:latin typeface="Times New Roman" panose="02020603050405020304" pitchFamily="18" charset="0"/>
              <a:cs typeface="Times New Roman" panose="02020603050405020304" pitchFamily="18" charset="0"/>
            </a:endParaRPr>
          </a:p>
          <a:p>
            <a:pPr lvl="1"/>
            <a:r>
              <a:rPr lang="en-US" altLang="en-US" dirty="0">
                <a:solidFill>
                  <a:srgbClr val="FF0000"/>
                </a:solidFill>
                <a:latin typeface="Times New Roman" panose="02020603050405020304" pitchFamily="18" charset="0"/>
                <a:cs typeface="Times New Roman" panose="02020603050405020304" pitchFamily="18" charset="0"/>
              </a:rPr>
              <a:t>Shorter periods = higher priority;</a:t>
            </a:r>
            <a:endParaRPr lang="en-US" altLang="en-US" sz="800" dirty="0">
              <a:solidFill>
                <a:srgbClr val="FF0000"/>
              </a:solidFill>
              <a:latin typeface="Times New Roman" panose="02020603050405020304" pitchFamily="18" charset="0"/>
              <a:cs typeface="Times New Roman" panose="02020603050405020304" pitchFamily="18" charset="0"/>
            </a:endParaRPr>
          </a:p>
          <a:p>
            <a:pPr lvl="1"/>
            <a:r>
              <a:rPr lang="en-US" altLang="en-US" dirty="0">
                <a:solidFill>
                  <a:srgbClr val="FF0000"/>
                </a:solidFill>
                <a:latin typeface="Times New Roman" panose="02020603050405020304" pitchFamily="18" charset="0"/>
                <a:cs typeface="Times New Roman" panose="02020603050405020304" pitchFamily="18" charset="0"/>
              </a:rPr>
              <a:t>Longer periods = lower priority</a:t>
            </a:r>
            <a:endParaRPr lang="en-US" altLang="en-US" sz="800" dirty="0">
              <a:solidFill>
                <a:srgbClr val="FF0000"/>
              </a:solidFill>
              <a:latin typeface="Times New Roman" panose="02020603050405020304" pitchFamily="18" charset="0"/>
              <a:cs typeface="Times New Roman" panose="02020603050405020304" pitchFamily="18" charset="0"/>
            </a:endParaRPr>
          </a:p>
          <a:p>
            <a:pPr lvl="1"/>
            <a:r>
              <a:rPr lang="en-US" altLang="en-US" dirty="0">
                <a:solidFill>
                  <a:srgbClr val="FF0000"/>
                </a:solidFill>
                <a:latin typeface="Times New Roman" panose="02020603050405020304" pitchFamily="18" charset="0"/>
                <a:cs typeface="Times New Roman" panose="02020603050405020304" pitchFamily="18" charset="0"/>
              </a:rPr>
              <a:t>P</a:t>
            </a:r>
            <a:r>
              <a:rPr lang="en-US" altLang="en-US" baseline="-25000" dirty="0">
                <a:solidFill>
                  <a:srgbClr val="FF0000"/>
                </a:solidFill>
                <a:latin typeface="Times New Roman" panose="02020603050405020304" pitchFamily="18" charset="0"/>
                <a:cs typeface="Times New Roman" panose="02020603050405020304" pitchFamily="18" charset="0"/>
              </a:rPr>
              <a:t>1</a:t>
            </a:r>
            <a:r>
              <a:rPr lang="en-US" altLang="en-US" dirty="0">
                <a:solidFill>
                  <a:srgbClr val="FF0000"/>
                </a:solidFill>
                <a:latin typeface="Times New Roman" panose="02020603050405020304" pitchFamily="18" charset="0"/>
                <a:cs typeface="Times New Roman" panose="02020603050405020304" pitchFamily="18" charset="0"/>
              </a:rPr>
              <a:t> is assigned a higher priority than P</a:t>
            </a:r>
            <a:r>
              <a:rPr lang="en-US" altLang="en-US" baseline="-25000" dirty="0">
                <a:solidFill>
                  <a:srgbClr val="FF0000"/>
                </a:solidFill>
                <a:latin typeface="Times New Roman" panose="02020603050405020304" pitchFamily="18" charset="0"/>
                <a:cs typeface="Times New Roman" panose="02020603050405020304" pitchFamily="18" charset="0"/>
              </a:rPr>
              <a:t>2</a:t>
            </a:r>
            <a:r>
              <a:rPr lang="en-US" altLang="en-US" dirty="0">
                <a:solidFill>
                  <a:srgbClr val="FF0000"/>
                </a:solidFill>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where, </a:t>
            </a:r>
            <a:r>
              <a:rPr lang="en-US" b="1" i="1" u="none" strike="noStrike" baseline="0" dirty="0">
                <a:latin typeface="Times New Roman" panose="02020603050405020304" pitchFamily="18" charset="0"/>
                <a:cs typeface="Times New Roman" panose="02020603050405020304" pitchFamily="18" charset="0"/>
              </a:rPr>
              <a:t>p</a:t>
            </a:r>
            <a:r>
              <a:rPr lang="en-US" b="1" i="0" u="none" strike="noStrike" baseline="0" dirty="0">
                <a:latin typeface="Times New Roman" panose="02020603050405020304" pitchFamily="18" charset="0"/>
                <a:cs typeface="Times New Roman" panose="02020603050405020304" pitchFamily="18" charset="0"/>
              </a:rPr>
              <a:t>1 = 50 and </a:t>
            </a:r>
            <a:r>
              <a:rPr lang="en-US" b="1" i="1" u="none" strike="noStrike" baseline="0" dirty="0">
                <a:latin typeface="Times New Roman" panose="02020603050405020304" pitchFamily="18" charset="0"/>
                <a:cs typeface="Times New Roman" panose="02020603050405020304" pitchFamily="18" charset="0"/>
              </a:rPr>
              <a:t>p</a:t>
            </a:r>
            <a:r>
              <a:rPr lang="en-US" b="1" i="0" u="none" strike="noStrike" baseline="0" dirty="0">
                <a:latin typeface="Times New Roman" panose="02020603050405020304" pitchFamily="18" charset="0"/>
                <a:cs typeface="Times New Roman" panose="02020603050405020304" pitchFamily="18" charset="0"/>
              </a:rPr>
              <a:t>2 = 100. </a:t>
            </a:r>
            <a:r>
              <a:rPr lang="en-US" altLang="en-US" dirty="0">
                <a:solidFill>
                  <a:srgbClr val="FF0000"/>
                </a:solidFill>
                <a:latin typeface="Times New Roman" panose="02020603050405020304" pitchFamily="18" charset="0"/>
                <a:cs typeface="Times New Roman" panose="02020603050405020304" pitchFamily="18" charset="0"/>
              </a:rPr>
              <a:t/>
            </a:r>
            <a:br>
              <a:rPr lang="en-US" altLang="en-US" dirty="0">
                <a:solidFill>
                  <a:srgbClr val="FF0000"/>
                </a:solidFill>
                <a:latin typeface="Times New Roman" panose="02020603050405020304" pitchFamily="18" charset="0"/>
                <a:cs typeface="Times New Roman" panose="02020603050405020304" pitchFamily="18" charset="0"/>
              </a:rPr>
            </a:br>
            <a:endParaRPr lang="en-US" altLang="en-US" dirty="0">
              <a:solidFill>
                <a:srgbClr val="FF0000"/>
              </a:solidFill>
              <a:latin typeface="Times New Roman" panose="02020603050405020304" pitchFamily="18" charset="0"/>
              <a:cs typeface="Times New Roman" panose="02020603050405020304" pitchFamily="18" charset="0"/>
            </a:endParaRPr>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48727" y="5344079"/>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251192" y="3480952"/>
            <a:ext cx="1810512" cy="646331"/>
          </a:xfrm>
          <a:prstGeom prst="rect">
            <a:avLst/>
          </a:prstGeom>
          <a:noFill/>
        </p:spPr>
        <p:txBody>
          <a:bodyPr wrap="square" rtlCol="0">
            <a:spAutoFit/>
          </a:bodyPr>
          <a:lstStyle/>
          <a:p>
            <a:r>
              <a:rPr lang="en-US" dirty="0"/>
              <a:t>T1 of p1=20</a:t>
            </a:r>
          </a:p>
          <a:p>
            <a:r>
              <a:rPr lang="en-US" dirty="0"/>
              <a:t>T2 of p2=35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linkClick r:id="rId2"/>
              </a:rPr>
              <a:t>Rate-monotonic scheduling – </a:t>
            </a:r>
            <a:r>
              <a:rPr lang="en-US" dirty="0" err="1">
                <a:hlinkClick r:id="rId2"/>
              </a:rPr>
              <a:t>GeeksforGeeks</a:t>
            </a:r>
            <a:endParaRPr lang="en-US" dirty="0"/>
          </a:p>
          <a:p>
            <a:r>
              <a:rPr lang="en-US" sz="3600" dirty="0">
                <a:solidFill>
                  <a:srgbClr val="FF0000"/>
                </a:solidFill>
              </a:rPr>
              <a:t>reference</a:t>
            </a:r>
            <a:endParaRPr lang="en-US" dirty="0">
              <a:solidFill>
                <a:srgbClr val="FF0000"/>
              </a:solidFill>
            </a:endParaRPr>
          </a:p>
        </p:txBody>
      </p:sp>
    </p:spTree>
    <p:extLst>
      <p:ext uri="{BB962C8B-B14F-4D97-AF65-F5344CB8AC3E}">
        <p14:creationId xmlns:p14="http://schemas.microsoft.com/office/powerpoint/2010/main" val="31381299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177422" y="715980"/>
            <a:ext cx="8966578" cy="4483100"/>
          </a:xfrm>
        </p:spPr>
        <p:txBody>
          <a:bodyPr/>
          <a:lstStyle/>
          <a:p>
            <a:pPr algn="l"/>
            <a:r>
              <a:rPr lang="en-US" sz="2800" b="0" i="0" u="none" strike="noStrike" baseline="0" dirty="0">
                <a:solidFill>
                  <a:srgbClr val="FF0000"/>
                </a:solidFill>
                <a:latin typeface="Times New Roman" panose="02020603050405020304" pitchFamily="18" charset="0"/>
                <a:cs typeface="Times New Roman" panose="02020603050405020304" pitchFamily="18" charset="0"/>
              </a:rPr>
              <a:t>Example :</a:t>
            </a:r>
            <a:r>
              <a:rPr lang="en-US" sz="1800" b="0" i="0" u="none" strike="noStrike" baseline="0" dirty="0">
                <a:latin typeface="Times New Roman" panose="02020603050405020304" pitchFamily="18" charset="0"/>
                <a:cs typeface="Times New Roman" panose="02020603050405020304" pitchFamily="18" charset="0"/>
              </a:rPr>
              <a:t> We have two processes,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1 and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2.</a:t>
            </a:r>
          </a:p>
          <a:p>
            <a:pPr algn="l"/>
            <a:r>
              <a:rPr lang="en-US" sz="1800" b="0" i="0" u="none" strike="noStrike" baseline="0" dirty="0">
                <a:latin typeface="Times New Roman" panose="02020603050405020304" pitchFamily="18" charset="0"/>
                <a:cs typeface="Times New Roman" panose="02020603050405020304" pitchFamily="18" charset="0"/>
              </a:rPr>
              <a:t> The </a:t>
            </a:r>
            <a:r>
              <a:rPr lang="en-US" sz="1800" b="0" i="0" u="none" strike="noStrike" baseline="0" dirty="0">
                <a:solidFill>
                  <a:srgbClr val="FF0000"/>
                </a:solidFill>
                <a:latin typeface="Times New Roman" panose="02020603050405020304" pitchFamily="18" charset="0"/>
                <a:cs typeface="Times New Roman" panose="02020603050405020304" pitchFamily="18" charset="0"/>
              </a:rPr>
              <a:t>periods</a:t>
            </a:r>
            <a:r>
              <a:rPr lang="en-US" sz="1800" b="0" i="0" u="none" strike="noStrike" baseline="0" dirty="0">
                <a:latin typeface="Times New Roman" panose="02020603050405020304" pitchFamily="18" charset="0"/>
                <a:cs typeface="Times New Roman" panose="02020603050405020304" pitchFamily="18" charset="0"/>
              </a:rPr>
              <a:t> for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1 and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2 as</a:t>
            </a:r>
            <a:r>
              <a:rPr lang="en-US" b="0" i="0" u="none" strike="noStrike" baseline="0" dirty="0">
                <a:solidFill>
                  <a:srgbClr val="FF0000"/>
                </a:solidFill>
                <a:latin typeface="Times New Roman" panose="02020603050405020304" pitchFamily="18" charset="0"/>
                <a:cs typeface="Times New Roman" panose="02020603050405020304" pitchFamily="18" charset="0"/>
              </a:rPr>
              <a:t>, </a:t>
            </a:r>
            <a:r>
              <a:rPr lang="en-US" b="0" i="1" u="none" strike="noStrike" baseline="0" dirty="0">
                <a:solidFill>
                  <a:srgbClr val="FF0000"/>
                </a:solidFill>
                <a:latin typeface="Times New Roman" panose="02020603050405020304" pitchFamily="18" charset="0"/>
                <a:cs typeface="Times New Roman" panose="02020603050405020304" pitchFamily="18" charset="0"/>
              </a:rPr>
              <a:t>p</a:t>
            </a:r>
            <a:r>
              <a:rPr lang="en-US" b="0" i="0" u="none" strike="noStrike" baseline="0" dirty="0">
                <a:solidFill>
                  <a:srgbClr val="FF0000"/>
                </a:solidFill>
                <a:latin typeface="Times New Roman" panose="02020603050405020304" pitchFamily="18" charset="0"/>
                <a:cs typeface="Times New Roman" panose="02020603050405020304" pitchFamily="18" charset="0"/>
              </a:rPr>
              <a:t>1 = 50 and </a:t>
            </a:r>
            <a:r>
              <a:rPr lang="en-US" b="0" i="1" u="none" strike="noStrike" baseline="0" dirty="0">
                <a:solidFill>
                  <a:srgbClr val="FF0000"/>
                </a:solidFill>
                <a:latin typeface="Times New Roman" panose="02020603050405020304" pitchFamily="18" charset="0"/>
                <a:cs typeface="Times New Roman" panose="02020603050405020304" pitchFamily="18" charset="0"/>
              </a:rPr>
              <a:t>p</a:t>
            </a:r>
            <a:r>
              <a:rPr lang="en-US" b="0" i="0" u="none" strike="noStrike" baseline="0" dirty="0">
                <a:solidFill>
                  <a:srgbClr val="FF0000"/>
                </a:solidFill>
                <a:latin typeface="Times New Roman" panose="02020603050405020304" pitchFamily="18" charset="0"/>
                <a:cs typeface="Times New Roman" panose="02020603050405020304" pitchFamily="18" charset="0"/>
              </a:rPr>
              <a:t>2 = 100</a:t>
            </a:r>
            <a:r>
              <a:rPr lang="en-US" b="0" i="0" u="none" strike="noStrike" baseline="0"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a:t>
            </a:r>
            <a:r>
              <a:rPr lang="en-US" sz="1800" b="0" i="0" u="none" strike="noStrike" baseline="0" dirty="0">
                <a:solidFill>
                  <a:srgbClr val="FF0000"/>
                </a:solidFill>
                <a:latin typeface="Times New Roman" panose="02020603050405020304" pitchFamily="18" charset="0"/>
                <a:cs typeface="Times New Roman" panose="02020603050405020304" pitchFamily="18" charset="0"/>
              </a:rPr>
              <a:t>processing times </a:t>
            </a:r>
            <a:r>
              <a:rPr lang="en-US" sz="1800" b="0" i="0" u="none" strike="noStrike" baseline="0" dirty="0">
                <a:latin typeface="Times New Roman" panose="02020603050405020304" pitchFamily="18" charset="0"/>
                <a:cs typeface="Times New Roman" panose="02020603050405020304" pitchFamily="18" charset="0"/>
              </a:rPr>
              <a:t>are </a:t>
            </a:r>
            <a:r>
              <a:rPr lang="en-US" sz="1800" b="0" i="1" u="none" strike="noStrike" baseline="0"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1 = </a:t>
            </a:r>
            <a:r>
              <a:rPr lang="en-US" sz="1800" b="0" i="0" u="none" strike="noStrike" baseline="0" dirty="0">
                <a:solidFill>
                  <a:srgbClr val="FF0000"/>
                </a:solidFill>
                <a:latin typeface="Times New Roman" panose="02020603050405020304" pitchFamily="18" charset="0"/>
                <a:cs typeface="Times New Roman" panose="02020603050405020304" pitchFamily="18" charset="0"/>
              </a:rPr>
              <a:t>20</a:t>
            </a:r>
            <a:r>
              <a:rPr lang="en-US" sz="1800" b="0" i="0" u="none" strike="noStrike" baseline="0" dirty="0">
                <a:latin typeface="Times New Roman" panose="02020603050405020304" pitchFamily="18" charset="0"/>
                <a:cs typeface="Times New Roman" panose="02020603050405020304" pitchFamily="18" charset="0"/>
              </a:rPr>
              <a:t> for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1 and </a:t>
            </a:r>
            <a:r>
              <a:rPr lang="en-US" sz="1800" b="0" i="1" u="none" strike="noStrike" baseline="0"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2 = </a:t>
            </a:r>
            <a:r>
              <a:rPr lang="en-US" sz="1800" b="0" i="0" u="none" strike="noStrike" baseline="0" dirty="0">
                <a:solidFill>
                  <a:srgbClr val="FF0000"/>
                </a:solidFill>
                <a:latin typeface="Times New Roman" panose="02020603050405020304" pitchFamily="18" charset="0"/>
                <a:cs typeface="Times New Roman" panose="02020603050405020304" pitchFamily="18" charset="0"/>
              </a:rPr>
              <a:t>35</a:t>
            </a:r>
            <a:r>
              <a:rPr lang="en-US" sz="1800" b="0" i="0" u="none" strike="noStrike" baseline="0" dirty="0">
                <a:latin typeface="Times New Roman" panose="02020603050405020304" pitchFamily="18" charset="0"/>
                <a:cs typeface="Times New Roman" panose="02020603050405020304" pitchFamily="18" charset="0"/>
              </a:rPr>
              <a:t> for </a:t>
            </a:r>
            <a:r>
              <a:rPr lang="en-US" sz="1800" b="0" i="1" u="none" strike="noStrike" baseline="0" dirty="0">
                <a:latin typeface="Times New Roman" panose="02020603050405020304" pitchFamily="18" charset="0"/>
                <a:cs typeface="Times New Roman" panose="02020603050405020304" pitchFamily="18" charset="0"/>
              </a:rPr>
              <a:t>P</a:t>
            </a:r>
            <a:r>
              <a:rPr lang="en-US" sz="1800" b="0" i="0" u="none" strike="noStrike" baseline="0" dirty="0">
                <a:latin typeface="Times New Roman" panose="02020603050405020304" pitchFamily="18" charset="0"/>
                <a:cs typeface="Times New Roman" panose="02020603050405020304" pitchFamily="18" charset="0"/>
              </a:rPr>
              <a:t>2.</a:t>
            </a:r>
          </a:p>
          <a:p>
            <a:r>
              <a:rPr lang="en-US" sz="1800" b="0" i="0" u="none" strike="noStrike" baseline="0" dirty="0">
                <a:latin typeface="Times New Roman" panose="02020603050405020304" pitchFamily="18" charset="0"/>
                <a:cs typeface="Times New Roman" panose="02020603050405020304" pitchFamily="18" charset="0"/>
              </a:rPr>
              <a:t> </a:t>
            </a:r>
            <a:r>
              <a:rPr lang="en-US" sz="1600" b="0" i="0" u="none" strike="noStrike" baseline="0" dirty="0">
                <a:latin typeface="Times New Roman" panose="02020603050405020304" pitchFamily="18" charset="0"/>
                <a:cs typeface="Times New Roman" panose="02020603050405020304" pitchFamily="18" charset="0"/>
              </a:rPr>
              <a:t>The </a:t>
            </a:r>
            <a:r>
              <a:rPr lang="en-US" sz="1600" b="1" i="0" u="none" strike="noStrike" baseline="0" dirty="0">
                <a:solidFill>
                  <a:srgbClr val="FF0000"/>
                </a:solidFill>
                <a:latin typeface="Times New Roman" panose="02020603050405020304" pitchFamily="18" charset="0"/>
                <a:cs typeface="Times New Roman" panose="02020603050405020304" pitchFamily="18" charset="0"/>
              </a:rPr>
              <a:t>deadline</a:t>
            </a:r>
            <a:r>
              <a:rPr lang="en-US" sz="1600" b="0" i="0" u="none" strike="noStrike" baseline="0" dirty="0">
                <a:latin typeface="Times New Roman" panose="02020603050405020304" pitchFamily="18" charset="0"/>
                <a:cs typeface="Times New Roman" panose="02020603050405020304" pitchFamily="18" charset="0"/>
              </a:rPr>
              <a:t> for each process requires that it complete its CPU burst by the start of its next period.</a:t>
            </a:r>
            <a:r>
              <a:rPr lang="ar-JO" sz="1600" b="0" i="0" u="none" strike="noStrike" baseline="0" dirty="0">
                <a:latin typeface="Times New Roman" panose="02020603050405020304" pitchFamily="18" charset="0"/>
                <a:cs typeface="Times New Roman" panose="02020603050405020304" pitchFamily="18" charset="0"/>
              </a:rPr>
              <a:t>يتطلب الموعد النهائي لكل عملية إكمال تنفيذ وحدة المعالجة المركزية الخاصة بها بحلول بداية الفترة التالية.</a:t>
            </a:r>
            <a:r>
              <a:rPr lang="en-US" altLang="en-US" sz="1600" dirty="0">
                <a:latin typeface="Times New Roman" panose="02020603050405020304" pitchFamily="18" charset="0"/>
                <a:cs typeface="Times New Roman" panose="02020603050405020304" pitchFamily="18" charset="0"/>
              </a:rPr>
              <a:t> </a:t>
            </a:r>
          </a:p>
          <a:p>
            <a:pPr algn="l"/>
            <a:r>
              <a:rPr lang="en-US" sz="1600" b="0" i="0" u="none" strike="noStrike" baseline="0" dirty="0">
                <a:highlight>
                  <a:srgbClr val="FFFF00"/>
                </a:highlight>
                <a:latin typeface="Times New Roman" panose="02020603050405020304" pitchFamily="18" charset="0"/>
                <a:cs typeface="Times New Roman" panose="02020603050405020304" pitchFamily="18" charset="0"/>
              </a:rPr>
              <a:t>We must first ask ourselves whether it is possible to schedule these tasks so that each meets its deadlines. </a:t>
            </a:r>
          </a:p>
          <a:p>
            <a:pPr algn="l"/>
            <a:r>
              <a:rPr lang="en-US" sz="1600" b="0" i="0" u="none" strike="noStrike" baseline="0" dirty="0">
                <a:latin typeface="Times New Roman" panose="02020603050405020304" pitchFamily="18" charset="0"/>
                <a:cs typeface="Times New Roman" panose="02020603050405020304" pitchFamily="18" charset="0"/>
              </a:rPr>
              <a:t>If we measure </a:t>
            </a:r>
            <a:r>
              <a:rPr lang="en-US" sz="1600" b="1" i="0" u="sng" strike="noStrike" baseline="0" dirty="0">
                <a:solidFill>
                  <a:srgbClr val="FF0000"/>
                </a:solidFill>
                <a:latin typeface="Times New Roman" panose="02020603050405020304" pitchFamily="18" charset="0"/>
                <a:cs typeface="Times New Roman" panose="02020603050405020304" pitchFamily="18" charset="0"/>
              </a:rPr>
              <a:t>the CPU utilization of a process </a:t>
            </a:r>
            <a:r>
              <a:rPr lang="en-US" sz="1600" b="1" i="1" u="sng" strike="noStrike" baseline="0" dirty="0">
                <a:solidFill>
                  <a:srgbClr val="FF0000"/>
                </a:solidFill>
                <a:latin typeface="Times New Roman" panose="02020603050405020304" pitchFamily="18" charset="0"/>
                <a:cs typeface="Times New Roman" panose="02020603050405020304" pitchFamily="18" charset="0"/>
              </a:rPr>
              <a:t>Pi </a:t>
            </a:r>
            <a:r>
              <a:rPr lang="en-US" sz="1600" b="0" i="0" u="none" strike="noStrike" baseline="0" dirty="0">
                <a:latin typeface="Times New Roman" panose="02020603050405020304" pitchFamily="18" charset="0"/>
                <a:cs typeface="Times New Roman" panose="02020603050405020304" pitchFamily="18" charset="0"/>
              </a:rPr>
              <a:t>as the ratio of its burst to its period—</a:t>
            </a:r>
            <a:r>
              <a:rPr lang="en-US" sz="1600" b="0" i="1" u="none" strike="noStrike" baseline="0" dirty="0" err="1">
                <a:latin typeface="Times New Roman" panose="02020603050405020304" pitchFamily="18" charset="0"/>
                <a:cs typeface="Times New Roman" panose="02020603050405020304" pitchFamily="18" charset="0"/>
              </a:rPr>
              <a:t>ti</a:t>
            </a:r>
            <a:r>
              <a:rPr lang="en-US" sz="1600" b="0" i="0" u="none" strike="noStrike" baseline="0" dirty="0" err="1">
                <a:latin typeface="Times New Roman" panose="02020603050405020304" pitchFamily="18" charset="0"/>
                <a:cs typeface="Times New Roman" panose="02020603050405020304" pitchFamily="18" charset="0"/>
              </a:rPr>
              <a:t>∕</a:t>
            </a:r>
            <a:r>
              <a:rPr lang="en-US" sz="1600" b="0" i="1" u="none" strike="noStrike" baseline="0" dirty="0" err="1">
                <a:latin typeface="Times New Roman" panose="02020603050405020304" pitchFamily="18" charset="0"/>
                <a:cs typeface="Times New Roman" panose="02020603050405020304" pitchFamily="18" charset="0"/>
              </a:rPr>
              <a:t>pi</a:t>
            </a:r>
            <a:endParaRPr lang="en-US" sz="1600" b="0" i="1" u="none" strike="noStrike" baseline="0" dirty="0">
              <a:latin typeface="Times New Roman" panose="02020603050405020304" pitchFamily="18" charset="0"/>
              <a:cs typeface="Times New Roman" panose="02020603050405020304" pitchFamily="18" charset="0"/>
            </a:endParaRPr>
          </a:p>
          <a:p>
            <a:pPr lvl="1"/>
            <a:r>
              <a:rPr lang="en-US" sz="1600" b="0" i="0" u="none" strike="noStrike" baseline="0" dirty="0">
                <a:latin typeface="Times New Roman" panose="02020603050405020304" pitchFamily="18" charset="0"/>
                <a:cs typeface="Times New Roman" panose="02020603050405020304" pitchFamily="18" charset="0"/>
              </a:rPr>
              <a:t>—the CPU utilization of </a:t>
            </a:r>
            <a:r>
              <a:rPr lang="en-US" sz="1600" b="0" i="1" u="none" strike="noStrike" baseline="0" dirty="0">
                <a:latin typeface="Times New Roman" panose="02020603050405020304" pitchFamily="18" charset="0"/>
                <a:cs typeface="Times New Roman" panose="02020603050405020304" pitchFamily="18" charset="0"/>
              </a:rPr>
              <a:t>P</a:t>
            </a:r>
            <a:r>
              <a:rPr lang="en-US" sz="1600" b="0" i="0" u="none" strike="noStrike" baseline="0" dirty="0">
                <a:latin typeface="Times New Roman" panose="02020603050405020304" pitchFamily="18" charset="0"/>
                <a:cs typeface="Times New Roman" panose="02020603050405020304" pitchFamily="18" charset="0"/>
              </a:rPr>
              <a:t>1 is 20∕50 = 0</a:t>
            </a:r>
            <a:r>
              <a:rPr lang="en-US" sz="1600" b="0" i="1" u="none" strike="noStrike" baseline="0" dirty="0">
                <a:latin typeface="Times New Roman" panose="02020603050405020304" pitchFamily="18" charset="0"/>
                <a:cs typeface="Times New Roman" panose="02020603050405020304" pitchFamily="18" charset="0"/>
              </a:rPr>
              <a:t>.</a:t>
            </a:r>
            <a:r>
              <a:rPr lang="en-US" sz="1600" b="0" i="0" u="none" strike="noStrike" baseline="0" dirty="0">
                <a:latin typeface="Times New Roman" panose="02020603050405020304" pitchFamily="18" charset="0"/>
                <a:cs typeface="Times New Roman" panose="02020603050405020304" pitchFamily="18" charset="0"/>
              </a:rPr>
              <a:t>40 and that of </a:t>
            </a:r>
            <a:r>
              <a:rPr lang="en-US" sz="1600" b="0" i="1" u="none" strike="noStrike" baseline="0" dirty="0">
                <a:latin typeface="Times New Roman" panose="02020603050405020304" pitchFamily="18" charset="0"/>
                <a:cs typeface="Times New Roman" panose="02020603050405020304" pitchFamily="18" charset="0"/>
              </a:rPr>
              <a:t>P</a:t>
            </a:r>
            <a:r>
              <a:rPr lang="en-US" sz="1600" b="0" i="0" u="none" strike="noStrike" baseline="0" dirty="0">
                <a:latin typeface="Times New Roman" panose="02020603050405020304" pitchFamily="18" charset="0"/>
                <a:cs typeface="Times New Roman" panose="02020603050405020304" pitchFamily="18" charset="0"/>
              </a:rPr>
              <a:t>2 is 35∕100 = 0</a:t>
            </a:r>
            <a:r>
              <a:rPr lang="en-US" sz="1600" b="0" i="1" u="none" strike="noStrike" baseline="0" dirty="0">
                <a:latin typeface="Times New Roman" panose="02020603050405020304" pitchFamily="18" charset="0"/>
                <a:cs typeface="Times New Roman" panose="02020603050405020304" pitchFamily="18" charset="0"/>
              </a:rPr>
              <a:t>.</a:t>
            </a:r>
            <a:r>
              <a:rPr lang="en-US" sz="1600" b="0" i="0" u="none" strike="noStrike" baseline="0" dirty="0">
                <a:latin typeface="Times New Roman" panose="02020603050405020304" pitchFamily="18" charset="0"/>
                <a:cs typeface="Times New Roman" panose="02020603050405020304" pitchFamily="18" charset="0"/>
              </a:rPr>
              <a:t>35, for </a:t>
            </a:r>
            <a:r>
              <a:rPr lang="en-US" sz="1600" b="1" i="0" u="none" strike="noStrike" baseline="0" dirty="0">
                <a:solidFill>
                  <a:srgbClr val="FF0000"/>
                </a:solidFill>
                <a:latin typeface="Times New Roman" panose="02020603050405020304" pitchFamily="18" charset="0"/>
                <a:cs typeface="Times New Roman" panose="02020603050405020304" pitchFamily="18" charset="0"/>
              </a:rPr>
              <a:t>a total CPU utilization of 75 percent. </a:t>
            </a:r>
          </a:p>
          <a:p>
            <a:pPr lvl="1"/>
            <a:r>
              <a:rPr lang="en-US" sz="1600" dirty="0">
                <a:highlight>
                  <a:srgbClr val="FFFF00"/>
                </a:highlight>
                <a:latin typeface="Times New Roman" panose="02020603050405020304" pitchFamily="18" charset="0"/>
                <a:cs typeface="Times New Roman" panose="02020603050405020304" pitchFamily="18" charset="0"/>
              </a:rPr>
              <a:t>So, </a:t>
            </a:r>
            <a:r>
              <a:rPr lang="en-US" sz="1600" b="0" i="0" u="none" strike="noStrike" baseline="0" dirty="0">
                <a:highlight>
                  <a:srgbClr val="FFFF00"/>
                </a:highlight>
                <a:latin typeface="Times New Roman" panose="02020603050405020304" pitchFamily="18" charset="0"/>
                <a:cs typeface="Times New Roman" panose="02020603050405020304" pitchFamily="18" charset="0"/>
              </a:rPr>
              <a:t>it seems we can schedule these tasks in such a way that both meet their deadlines and still leave the CPU with available cycles.</a:t>
            </a:r>
            <a:endParaRPr lang="en-US" altLang="en-US" sz="1600" dirty="0">
              <a:highlight>
                <a:srgbClr val="FFFF00"/>
              </a:highlight>
              <a:latin typeface="Times New Roman" panose="02020603050405020304" pitchFamily="18" charset="0"/>
              <a:cs typeface="Times New Roman" panose="02020603050405020304" pitchFamily="18" charset="0"/>
            </a:endParaRPr>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7672" y="4801556"/>
            <a:ext cx="8366078" cy="116688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694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sz="2400" dirty="0"/>
              <a:t>Rate Monotonic Scheduling. </a:t>
            </a:r>
            <a:r>
              <a:rPr lang="en-US" altLang="en-US" sz="2400" dirty="0">
                <a:solidFill>
                  <a:srgbClr val="FF0000"/>
                </a:solidFill>
              </a:rPr>
              <a:t>Explaining example</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256033" y="808786"/>
            <a:ext cx="8887967" cy="3860024"/>
          </a:xfrm>
        </p:spPr>
        <p:txBody>
          <a:bodyPr/>
          <a:lstStyle/>
          <a:p>
            <a:pPr algn="l"/>
            <a:r>
              <a:rPr lang="en-US" sz="1600" b="0" i="0" u="none" strike="noStrike" baseline="0" dirty="0">
                <a:latin typeface="PalatinoLTStd-Roman"/>
              </a:rPr>
              <a:t>Now suppose we </a:t>
            </a:r>
            <a:r>
              <a:rPr lang="en-US" sz="1600" b="0" i="0" u="none" strike="noStrike" baseline="0" dirty="0">
                <a:solidFill>
                  <a:srgbClr val="FF0000"/>
                </a:solidFill>
                <a:latin typeface="PalatinoLTStd-Roman"/>
              </a:rPr>
              <a:t>use rate-monotonic scheduling</a:t>
            </a:r>
            <a:r>
              <a:rPr lang="en-US" sz="1600" b="0" i="0" u="none" strike="noStrike" baseline="0" dirty="0">
                <a:latin typeface="PalatinoLTStd-Roman"/>
              </a:rPr>
              <a:t>, in which we assign </a:t>
            </a:r>
            <a:r>
              <a:rPr lang="en-US" sz="1600" b="0" i="1" u="none" strike="noStrike" baseline="0" dirty="0">
                <a:latin typeface="PalatinoLTStd-Italic"/>
              </a:rPr>
              <a:t>P</a:t>
            </a:r>
            <a:r>
              <a:rPr lang="en-US" sz="1600" b="0" i="0" u="none" strike="noStrike" baseline="0" dirty="0">
                <a:latin typeface="PalatinoLTStd-Roman"/>
              </a:rPr>
              <a:t>1 a higher priority than </a:t>
            </a:r>
            <a:r>
              <a:rPr lang="en-US" sz="1600" b="0" i="1" u="none" strike="noStrike" baseline="0" dirty="0">
                <a:latin typeface="PalatinoLTStd-Italic"/>
              </a:rPr>
              <a:t>P</a:t>
            </a:r>
            <a:r>
              <a:rPr lang="en-US" sz="1600" b="0" i="0" u="none" strike="noStrike" baseline="0" dirty="0">
                <a:latin typeface="PalatinoLTStd-Roman"/>
              </a:rPr>
              <a:t>2</a:t>
            </a:r>
            <a:r>
              <a:rPr lang="en-US" sz="1600" b="0" i="0" u="none" strike="noStrike" baseline="0" dirty="0">
                <a:highlight>
                  <a:srgbClr val="FFFF00"/>
                </a:highlight>
                <a:latin typeface="PalatinoLTStd-Roman"/>
              </a:rPr>
              <a:t>. as in figure;</a:t>
            </a:r>
          </a:p>
          <a:p>
            <a:pPr algn="l"/>
            <a:r>
              <a:rPr lang="en-US" sz="1600" b="0" i="1" u="none" strike="noStrike" baseline="0" dirty="0">
                <a:latin typeface="PalatinoLTStd-Italic"/>
              </a:rPr>
              <a:t>P</a:t>
            </a:r>
            <a:r>
              <a:rPr lang="en-US" sz="1600" b="0" i="0" u="none" strike="noStrike" baseline="0" dirty="0">
                <a:latin typeface="PalatinoLTStd-Roman"/>
              </a:rPr>
              <a:t>1 starts first and completes its CPU burst </a:t>
            </a:r>
            <a:r>
              <a:rPr lang="en-US" sz="1600" b="0" i="0" u="none" strike="noStrike" baseline="0" dirty="0">
                <a:solidFill>
                  <a:srgbClr val="FF0000"/>
                </a:solidFill>
                <a:latin typeface="PalatinoLTStd-Roman"/>
              </a:rPr>
              <a:t>at time 20</a:t>
            </a:r>
            <a:r>
              <a:rPr lang="en-US" sz="1600" b="0" i="0" u="none" strike="noStrike" baseline="0" dirty="0">
                <a:latin typeface="PalatinoLTStd-Roman"/>
              </a:rPr>
              <a:t>, thereby meeting its first deadline. </a:t>
            </a:r>
          </a:p>
          <a:p>
            <a:pPr algn="l"/>
            <a:r>
              <a:rPr lang="en-US" sz="1600" b="0" i="1" u="none" strike="noStrike" baseline="0" dirty="0">
                <a:latin typeface="PalatinoLTStd-Italic"/>
              </a:rPr>
              <a:t>P</a:t>
            </a:r>
            <a:r>
              <a:rPr lang="en-US" sz="1600" b="0" i="0" u="none" strike="noStrike" baseline="0" dirty="0">
                <a:latin typeface="PalatinoLTStd-Roman"/>
              </a:rPr>
              <a:t>2 starts running at this point and runs </a:t>
            </a:r>
            <a:r>
              <a:rPr lang="en-US" sz="1600" b="0" i="0" u="none" strike="noStrike" baseline="0" dirty="0">
                <a:solidFill>
                  <a:srgbClr val="FF0000"/>
                </a:solidFill>
                <a:latin typeface="PalatinoLTStd-Roman"/>
              </a:rPr>
              <a:t>until time 50</a:t>
            </a:r>
            <a:r>
              <a:rPr lang="en-US" sz="1600" b="0" i="0" u="none" strike="noStrike" baseline="0" dirty="0">
                <a:latin typeface="PalatinoLTStd-Roman"/>
              </a:rPr>
              <a:t>. At this time, it is preempted by </a:t>
            </a:r>
            <a:r>
              <a:rPr lang="en-US" sz="1600" b="0" i="1" u="none" strike="noStrike" baseline="0" dirty="0">
                <a:latin typeface="PalatinoLTStd-Italic"/>
              </a:rPr>
              <a:t>P</a:t>
            </a:r>
            <a:r>
              <a:rPr lang="en-US" sz="1600" b="0" i="0" u="none" strike="noStrike" baseline="0" dirty="0">
                <a:latin typeface="PalatinoLTStd-Roman"/>
              </a:rPr>
              <a:t>1, although it still has 5 milliseconds remaining in its CPU burst.</a:t>
            </a:r>
          </a:p>
          <a:p>
            <a:pPr algn="l"/>
            <a:r>
              <a:rPr lang="en-US" sz="1600" b="0" i="1" u="none" strike="noStrike" baseline="0" dirty="0">
                <a:latin typeface="PalatinoLTStd-Italic"/>
              </a:rPr>
              <a:t>P</a:t>
            </a:r>
            <a:r>
              <a:rPr lang="en-US" sz="1600" b="0" i="0" u="none" strike="noStrike" baseline="0" dirty="0">
                <a:latin typeface="PalatinoLTStd-Roman"/>
              </a:rPr>
              <a:t>1 completes its CPU burst at time 70, at which point the scheduler resumes </a:t>
            </a:r>
            <a:r>
              <a:rPr lang="en-US" sz="1600" b="0" i="1" u="none" strike="noStrike" baseline="0" dirty="0">
                <a:latin typeface="PalatinoLTStd-Italic"/>
              </a:rPr>
              <a:t>P</a:t>
            </a:r>
            <a:r>
              <a:rPr lang="en-US" sz="1600" b="0" i="0" u="none" strike="noStrike" baseline="0" dirty="0">
                <a:latin typeface="PalatinoLTStd-Roman"/>
              </a:rPr>
              <a:t>2.</a:t>
            </a:r>
          </a:p>
          <a:p>
            <a:pPr algn="l"/>
            <a:r>
              <a:rPr lang="en-US" sz="1600" b="0" i="1" u="none" strike="noStrike" baseline="0" dirty="0">
                <a:latin typeface="PalatinoLTStd-Italic"/>
              </a:rPr>
              <a:t>P</a:t>
            </a:r>
            <a:r>
              <a:rPr lang="en-US" sz="1600" b="0" i="0" u="none" strike="noStrike" baseline="0" dirty="0">
                <a:latin typeface="PalatinoLTStd-Roman"/>
              </a:rPr>
              <a:t>2 completes its CPU burst at time 75, also meeting </a:t>
            </a:r>
            <a:r>
              <a:rPr lang="en-US" sz="1600" b="0" i="0" u="none" strike="noStrike" baseline="0" dirty="0">
                <a:solidFill>
                  <a:srgbClr val="FF0000"/>
                </a:solidFill>
                <a:latin typeface="PalatinoLTStd-Roman"/>
              </a:rPr>
              <a:t>its first deadline. </a:t>
            </a:r>
            <a:r>
              <a:rPr lang="en-US" sz="1600" b="0" i="0" u="none" strike="noStrike" baseline="0" dirty="0">
                <a:latin typeface="PalatinoLTStd-Roman"/>
              </a:rPr>
              <a:t>The system is idle until time 100, when </a:t>
            </a:r>
            <a:r>
              <a:rPr lang="en-US" sz="1600" b="0" i="1" u="none" strike="noStrike" baseline="0" dirty="0">
                <a:latin typeface="PalatinoLTStd-Italic"/>
              </a:rPr>
              <a:t>P</a:t>
            </a:r>
            <a:r>
              <a:rPr lang="en-US" sz="1600" b="0" i="0" u="none" strike="noStrike" baseline="0" dirty="0">
                <a:latin typeface="PalatinoLTStd-Roman"/>
              </a:rPr>
              <a:t>1 is scheduled again.</a:t>
            </a:r>
            <a:endParaRPr lang="en-US" altLang="en-US" sz="1600" dirty="0"/>
          </a:p>
        </p:txBody>
      </p:sp>
      <p:pic>
        <p:nvPicPr>
          <p:cNvPr id="3" name="Picture 2">
            <a:extLst>
              <a:ext uri="{FF2B5EF4-FFF2-40B4-BE49-F238E27FC236}">
                <a16:creationId xmlns:a16="http://schemas.microsoft.com/office/drawing/2014/main" id="{E72995C4-377F-48DD-B7F5-AA028B08BC7F}"/>
              </a:ext>
            </a:extLst>
          </p:cNvPr>
          <p:cNvPicPr>
            <a:picLocks noChangeAspect="1"/>
          </p:cNvPicPr>
          <p:nvPr/>
        </p:nvPicPr>
        <p:blipFill>
          <a:blip r:embed="rId3"/>
          <a:stretch>
            <a:fillRect/>
          </a:stretch>
        </p:blipFill>
        <p:spPr>
          <a:xfrm>
            <a:off x="402337" y="5295330"/>
            <a:ext cx="8430768" cy="1288349"/>
          </a:xfrm>
          <a:prstGeom prst="rect">
            <a:avLst/>
          </a:prstGeom>
          <a:solidFill>
            <a:schemeClr val="tx1">
              <a:alpha val="74000"/>
            </a:schemeClr>
          </a:solidFill>
          <a:ln w="25400">
            <a:solidFill>
              <a:srgbClr val="000000">
                <a:alpha val="95000"/>
              </a:srgbClr>
            </a:solidFill>
          </a:ln>
        </p:spPr>
      </p:pic>
      <p:sp>
        <p:nvSpPr>
          <p:cNvPr id="4" name="TextBox 3">
            <a:extLst>
              <a:ext uri="{FF2B5EF4-FFF2-40B4-BE49-F238E27FC236}">
                <a16:creationId xmlns:a16="http://schemas.microsoft.com/office/drawing/2014/main" id="{A754B0AE-DFCE-4891-B8D5-D8422C9F0546}"/>
              </a:ext>
            </a:extLst>
          </p:cNvPr>
          <p:cNvSpPr txBox="1"/>
          <p:nvPr/>
        </p:nvSpPr>
        <p:spPr>
          <a:xfrm>
            <a:off x="4513860" y="3429000"/>
            <a:ext cx="4374107" cy="954107"/>
          </a:xfrm>
          <a:prstGeom prst="rect">
            <a:avLst/>
          </a:prstGeom>
          <a:noFill/>
          <a:ln w="19050">
            <a:solidFill>
              <a:srgbClr val="FF0000"/>
            </a:solidFill>
          </a:ln>
        </p:spPr>
        <p:txBody>
          <a:bodyPr wrap="square" rtlCol="0">
            <a:spAutoFit/>
          </a:bodyPr>
          <a:lstStyle/>
          <a:p>
            <a:pPr algn="l"/>
            <a:r>
              <a:rPr lang="en-US" sz="1400" b="0" i="0" u="none" strike="noStrike" baseline="0" dirty="0">
                <a:latin typeface="PalatinoLTStd-Roman"/>
              </a:rPr>
              <a:t> The </a:t>
            </a:r>
            <a:r>
              <a:rPr lang="en-US" sz="1400" b="0" i="0" u="none" strike="noStrike" baseline="0" dirty="0">
                <a:solidFill>
                  <a:srgbClr val="FF0000"/>
                </a:solidFill>
                <a:latin typeface="PalatinoLTStd-Roman"/>
              </a:rPr>
              <a:t>periods</a:t>
            </a:r>
            <a:r>
              <a:rPr lang="en-US" sz="1400" b="0" i="0" u="none" strike="noStrike" baseline="0" dirty="0">
                <a:latin typeface="PalatinoLTStd-Roman"/>
              </a:rPr>
              <a:t> for </a:t>
            </a:r>
            <a:r>
              <a:rPr lang="en-US" sz="1400" b="0" i="1" u="none" strike="noStrike" baseline="0" dirty="0">
                <a:latin typeface="PalatinoLTStd-Italic"/>
              </a:rPr>
              <a:t>P</a:t>
            </a:r>
            <a:r>
              <a:rPr lang="en-US" sz="1400" b="0" i="0" u="none" strike="noStrike" baseline="0" dirty="0">
                <a:latin typeface="PalatinoLTStd-Roman"/>
              </a:rPr>
              <a:t>1 and </a:t>
            </a:r>
            <a:r>
              <a:rPr lang="en-US" sz="1400" b="0" i="1" u="none" strike="noStrike" baseline="0" dirty="0">
                <a:latin typeface="PalatinoLTStd-Italic"/>
              </a:rPr>
              <a:t>P</a:t>
            </a:r>
            <a:r>
              <a:rPr lang="en-US" sz="1400" b="0" i="0" u="none" strike="noStrike" baseline="0" dirty="0">
                <a:latin typeface="PalatinoLTStd-Roman"/>
              </a:rPr>
              <a:t>2 as</a:t>
            </a:r>
            <a:r>
              <a:rPr lang="en-US" sz="1400" b="0" i="0" u="none" strike="noStrike" baseline="0" dirty="0">
                <a:solidFill>
                  <a:srgbClr val="FF0000"/>
                </a:solidFill>
                <a:latin typeface="PalatinoLTStd-Roman"/>
              </a:rPr>
              <a:t>, </a:t>
            </a:r>
            <a:r>
              <a:rPr lang="en-US" sz="1400" b="0" i="1" u="none" strike="noStrike" baseline="0" dirty="0">
                <a:solidFill>
                  <a:srgbClr val="FF0000"/>
                </a:solidFill>
                <a:latin typeface="PalatinoLTStd-Italic"/>
              </a:rPr>
              <a:t>p</a:t>
            </a:r>
            <a:r>
              <a:rPr lang="en-US" sz="1400" b="0" i="0" u="none" strike="noStrike" baseline="0" dirty="0">
                <a:solidFill>
                  <a:srgbClr val="FF0000"/>
                </a:solidFill>
                <a:latin typeface="PalatinoLTStd-Roman"/>
              </a:rPr>
              <a:t>1 </a:t>
            </a:r>
            <a:r>
              <a:rPr lang="en-US" sz="1400" b="0" i="0" u="none" strike="noStrike" baseline="0" dirty="0">
                <a:solidFill>
                  <a:srgbClr val="FF0000"/>
                </a:solidFill>
                <a:latin typeface="STIXMath-Regular"/>
              </a:rPr>
              <a:t>= </a:t>
            </a:r>
            <a:r>
              <a:rPr lang="en-US" sz="1400" b="0" i="0" u="none" strike="noStrike" baseline="0" dirty="0">
                <a:solidFill>
                  <a:srgbClr val="FF0000"/>
                </a:solidFill>
                <a:latin typeface="PalatinoLTStd-Roman"/>
              </a:rPr>
              <a:t>50 and </a:t>
            </a:r>
            <a:r>
              <a:rPr lang="en-US" sz="1400" b="0" i="1" u="none" strike="noStrike" baseline="0" dirty="0">
                <a:solidFill>
                  <a:srgbClr val="FF0000"/>
                </a:solidFill>
                <a:latin typeface="PalatinoLTStd-Italic"/>
              </a:rPr>
              <a:t>p</a:t>
            </a:r>
            <a:r>
              <a:rPr lang="en-US" sz="1400" b="0" i="0" u="none" strike="noStrike" baseline="0" dirty="0">
                <a:solidFill>
                  <a:srgbClr val="FF0000"/>
                </a:solidFill>
                <a:latin typeface="PalatinoLTStd-Roman"/>
              </a:rPr>
              <a:t>2 </a:t>
            </a:r>
            <a:r>
              <a:rPr lang="en-US" sz="1400" b="0" i="0" u="none" strike="noStrike" baseline="0" dirty="0">
                <a:solidFill>
                  <a:srgbClr val="FF0000"/>
                </a:solidFill>
                <a:latin typeface="STIXMath-Regular"/>
              </a:rPr>
              <a:t>= </a:t>
            </a:r>
            <a:r>
              <a:rPr lang="en-US" sz="1400" b="0" i="0" u="none" strike="noStrike" baseline="0" dirty="0">
                <a:solidFill>
                  <a:srgbClr val="FF0000"/>
                </a:solidFill>
                <a:latin typeface="PalatinoLTStd-Roman"/>
              </a:rPr>
              <a:t>100</a:t>
            </a:r>
            <a:r>
              <a:rPr lang="en-US" sz="1400" b="0" i="0" u="none" strike="noStrike" baseline="0" dirty="0">
                <a:latin typeface="PalatinoLTStd-Roman"/>
              </a:rPr>
              <a:t>. </a:t>
            </a:r>
          </a:p>
          <a:p>
            <a:r>
              <a:rPr lang="en-US" sz="1400" dirty="0">
                <a:latin typeface="PalatinoLTStd-Roman"/>
              </a:rPr>
              <a:t>T</a:t>
            </a:r>
            <a:r>
              <a:rPr lang="en-US" sz="1400" b="0" i="0" u="none" strike="noStrike" baseline="0" dirty="0">
                <a:latin typeface="PalatinoLTStd-Roman"/>
              </a:rPr>
              <a:t>he </a:t>
            </a:r>
            <a:r>
              <a:rPr lang="en-US" sz="1400" b="0" i="0" u="none" strike="noStrike" baseline="0" dirty="0">
                <a:solidFill>
                  <a:srgbClr val="FF0000"/>
                </a:solidFill>
                <a:latin typeface="PalatinoLTStd-Roman"/>
              </a:rPr>
              <a:t>processing times </a:t>
            </a:r>
            <a:r>
              <a:rPr lang="en-US" sz="1400" b="0" i="0" u="none" strike="noStrike" baseline="0" dirty="0">
                <a:latin typeface="PalatinoLTStd-Roman"/>
              </a:rPr>
              <a:t>are </a:t>
            </a:r>
            <a:r>
              <a:rPr lang="en-US" sz="1400" b="0" i="1" u="none" strike="noStrike" baseline="0" dirty="0">
                <a:latin typeface="PalatinoLTStd-Italic"/>
              </a:rPr>
              <a:t>t</a:t>
            </a:r>
            <a:r>
              <a:rPr lang="en-US" sz="1400" b="0" i="0" u="none" strike="noStrike" baseline="0" dirty="0">
                <a:latin typeface="PalatinoLTStd-Roman"/>
              </a:rPr>
              <a:t>1 </a:t>
            </a:r>
            <a:r>
              <a:rPr lang="en-US" sz="1400" b="0" i="0" u="none" strike="noStrike" baseline="0" dirty="0">
                <a:latin typeface="STIXMath-Regular"/>
              </a:rPr>
              <a:t>= </a:t>
            </a:r>
            <a:r>
              <a:rPr lang="en-US" sz="1400" b="0" i="0" u="none" strike="noStrike" baseline="0" dirty="0">
                <a:solidFill>
                  <a:srgbClr val="FF0000"/>
                </a:solidFill>
                <a:latin typeface="PalatinoLTStd-Roman"/>
              </a:rPr>
              <a:t>20</a:t>
            </a:r>
            <a:r>
              <a:rPr lang="en-US" sz="1400" b="0" i="0" u="none" strike="noStrike" baseline="0" dirty="0">
                <a:latin typeface="PalatinoLTStd-Roman"/>
              </a:rPr>
              <a:t> for </a:t>
            </a:r>
            <a:r>
              <a:rPr lang="en-US" sz="1400" b="0" i="1" u="none" strike="noStrike" baseline="0" dirty="0">
                <a:latin typeface="PalatinoLTStd-Italic"/>
              </a:rPr>
              <a:t>P</a:t>
            </a:r>
            <a:r>
              <a:rPr lang="en-US" sz="1400" b="0" i="0" u="none" strike="noStrike" baseline="0" dirty="0">
                <a:latin typeface="PalatinoLTStd-Roman"/>
              </a:rPr>
              <a:t>1 and </a:t>
            </a:r>
            <a:r>
              <a:rPr lang="en-US" sz="1400" b="0" i="1" u="none" strike="noStrike" baseline="0" dirty="0">
                <a:latin typeface="PalatinoLTStd-Italic"/>
              </a:rPr>
              <a:t>t</a:t>
            </a:r>
            <a:r>
              <a:rPr lang="en-US" sz="1400" b="0" i="0" u="none" strike="noStrike" baseline="0" dirty="0">
                <a:latin typeface="PalatinoLTStd-Roman"/>
              </a:rPr>
              <a:t>2 </a:t>
            </a:r>
            <a:r>
              <a:rPr lang="en-US" sz="1400" b="0" i="0" u="none" strike="noStrike" baseline="0" dirty="0">
                <a:latin typeface="STIXMath-Regular"/>
              </a:rPr>
              <a:t>= </a:t>
            </a:r>
            <a:r>
              <a:rPr lang="en-US" sz="1400" b="0" i="0" u="none" strike="noStrike" baseline="0" dirty="0">
                <a:solidFill>
                  <a:srgbClr val="FF0000"/>
                </a:solidFill>
                <a:latin typeface="PalatinoLTStd-Roman"/>
              </a:rPr>
              <a:t>35</a:t>
            </a:r>
            <a:r>
              <a:rPr lang="en-US" sz="1400" b="0" i="0" u="none" strike="noStrike" baseline="0" dirty="0">
                <a:latin typeface="PalatinoLTStd-Roman"/>
              </a:rPr>
              <a:t> for </a:t>
            </a:r>
            <a:r>
              <a:rPr lang="en-US" sz="1400" b="0" i="1" u="none" strike="noStrike" baseline="0" dirty="0">
                <a:latin typeface="PalatinoLTStd-Italic"/>
              </a:rPr>
              <a:t>P</a:t>
            </a:r>
            <a:r>
              <a:rPr lang="en-US" sz="1400" b="0" i="0" u="none" strike="noStrike" baseline="0" dirty="0">
                <a:latin typeface="PalatinoLTStd-Roman"/>
              </a:rPr>
              <a:t>2.</a:t>
            </a:r>
          </a:p>
          <a:p>
            <a:endParaRPr lang="en-US" sz="1400" dirty="0"/>
          </a:p>
        </p:txBody>
      </p:sp>
    </p:spTree>
    <p:extLst>
      <p:ext uri="{BB962C8B-B14F-4D97-AF65-F5344CB8AC3E}">
        <p14:creationId xmlns:p14="http://schemas.microsoft.com/office/powerpoint/2010/main" val="5260971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366712" y="873457"/>
            <a:ext cx="8777287" cy="4660602"/>
          </a:xfrm>
        </p:spPr>
        <p:txBody>
          <a:bodyPr/>
          <a:lstStyle/>
          <a:p>
            <a:pPr algn="l"/>
            <a:r>
              <a:rPr lang="en-US" sz="1800" b="1" i="0" u="none" strike="noStrike" baseline="0" dirty="0">
                <a:latin typeface="PalatinoLTStd-Roman"/>
              </a:rPr>
              <a:t> </a:t>
            </a:r>
            <a:r>
              <a:rPr lang="en-US" sz="1800" b="1" i="0" u="none" strike="noStrike" baseline="0" dirty="0">
                <a:highlight>
                  <a:srgbClr val="FFFF00"/>
                </a:highlight>
                <a:latin typeface="PalatinoLTStd-Roman"/>
              </a:rPr>
              <a:t>Suppose we assign </a:t>
            </a:r>
            <a:r>
              <a:rPr lang="en-US" sz="1800" b="1" i="1" u="none" strike="noStrike" baseline="0" dirty="0">
                <a:highlight>
                  <a:srgbClr val="FFFF00"/>
                </a:highlight>
                <a:latin typeface="PalatinoLTStd-Italic"/>
              </a:rPr>
              <a:t>P</a:t>
            </a:r>
            <a:r>
              <a:rPr lang="en-US" sz="1800" b="1" i="0" u="none" strike="noStrike" baseline="0" dirty="0">
                <a:highlight>
                  <a:srgbClr val="FFFF00"/>
                </a:highlight>
                <a:latin typeface="PalatinoLTStd-Roman"/>
              </a:rPr>
              <a:t>2 a higher priority than </a:t>
            </a:r>
            <a:r>
              <a:rPr lang="en-US" sz="1800" b="1" i="1" u="none" strike="noStrike" baseline="0" dirty="0">
                <a:highlight>
                  <a:srgbClr val="FFFF00"/>
                </a:highlight>
                <a:latin typeface="PalatinoLTStd-Italic"/>
              </a:rPr>
              <a:t>P</a:t>
            </a:r>
            <a:r>
              <a:rPr lang="en-US" sz="1800" b="1" i="0" u="none" strike="noStrike" baseline="0" dirty="0">
                <a:highlight>
                  <a:srgbClr val="FFFF00"/>
                </a:highlight>
                <a:latin typeface="PalatinoLTStd-Roman"/>
              </a:rPr>
              <a:t>1. </a:t>
            </a:r>
          </a:p>
          <a:p>
            <a:pPr algn="l"/>
            <a:r>
              <a:rPr lang="en-US" sz="1800" b="0" i="0" u="none" strike="noStrike" baseline="0" dirty="0">
                <a:latin typeface="PalatinoLTStd-Roman"/>
              </a:rPr>
              <a:t>The execution of </a:t>
            </a:r>
            <a:r>
              <a:rPr lang="en-US" sz="1800" b="0" i="1" u="none" strike="noStrike" baseline="0" dirty="0">
                <a:latin typeface="PalatinoLTStd-Italic"/>
              </a:rPr>
              <a:t>P</a:t>
            </a:r>
            <a:r>
              <a:rPr lang="en-US" sz="1800" b="0" i="0" u="none" strike="noStrike" baseline="0" dirty="0">
                <a:latin typeface="PalatinoLTStd-Roman"/>
              </a:rPr>
              <a:t>1 and </a:t>
            </a:r>
            <a:r>
              <a:rPr lang="en-US" sz="1800" b="0" i="1" u="none" strike="noStrike" baseline="0" dirty="0">
                <a:latin typeface="PalatinoLTStd-Italic"/>
              </a:rPr>
              <a:t>P</a:t>
            </a:r>
            <a:r>
              <a:rPr lang="en-US" sz="1800" b="0" i="0" u="none" strike="noStrike" baseline="0" dirty="0">
                <a:latin typeface="PalatinoLTStd-Roman"/>
              </a:rPr>
              <a:t>2 in this situation is shown in Figure 5.21. As we can see, </a:t>
            </a:r>
            <a:r>
              <a:rPr lang="en-US" sz="1800" b="0" i="1" u="none" strike="noStrike" baseline="0" dirty="0">
                <a:latin typeface="PalatinoLTStd-Italic"/>
              </a:rPr>
              <a:t>P</a:t>
            </a:r>
            <a:r>
              <a:rPr lang="en-US" sz="1800" b="0" i="0" u="none" strike="noStrike" baseline="0" dirty="0">
                <a:latin typeface="PalatinoLTStd-Roman"/>
              </a:rPr>
              <a:t>2 starts execution first and completes at time 35. At this point, </a:t>
            </a:r>
            <a:r>
              <a:rPr lang="en-US" sz="1800" b="0" i="1" u="none" strike="noStrike" baseline="0" dirty="0">
                <a:latin typeface="PalatinoLTStd-Italic"/>
              </a:rPr>
              <a:t>P</a:t>
            </a:r>
            <a:r>
              <a:rPr lang="en-US" sz="1800" b="0" i="0" u="none" strike="noStrike" baseline="0" dirty="0">
                <a:latin typeface="PalatinoLTStd-Roman"/>
              </a:rPr>
              <a:t>1 starts; it completes its CPU burst at time 55. </a:t>
            </a:r>
          </a:p>
          <a:p>
            <a:pPr algn="l"/>
            <a:r>
              <a:rPr lang="en-US" sz="1800" b="0" i="0" u="none" strike="noStrike" baseline="0" dirty="0">
                <a:latin typeface="PalatinoLTStd-Roman"/>
              </a:rPr>
              <a:t>However, the first deadline for </a:t>
            </a:r>
            <a:r>
              <a:rPr lang="en-US" sz="1800" b="0" i="1" u="none" strike="noStrike" baseline="0" dirty="0">
                <a:latin typeface="PalatinoLTStd-Italic"/>
              </a:rPr>
              <a:t>P</a:t>
            </a:r>
            <a:r>
              <a:rPr lang="en-US" sz="1800" b="0" i="0" u="none" strike="noStrike" baseline="0" dirty="0">
                <a:latin typeface="PalatinoLTStd-Roman"/>
              </a:rPr>
              <a:t>1 was at time 50, so the scheduler has caused </a:t>
            </a:r>
            <a:r>
              <a:rPr lang="en-US" sz="1800" b="0" i="1" u="sng" strike="noStrike" baseline="0" dirty="0">
                <a:solidFill>
                  <a:srgbClr val="FF0000"/>
                </a:solidFill>
                <a:latin typeface="PalatinoLTStd-Italic"/>
              </a:rPr>
              <a:t>P</a:t>
            </a:r>
            <a:r>
              <a:rPr lang="en-US" sz="1800" b="0" i="0" u="sng" strike="noStrike" baseline="0" dirty="0">
                <a:solidFill>
                  <a:srgbClr val="FF0000"/>
                </a:solidFill>
                <a:latin typeface="PalatinoLTStd-Roman"/>
              </a:rPr>
              <a:t>1</a:t>
            </a:r>
            <a:r>
              <a:rPr lang="en-US" sz="1800" b="0" i="0" u="none" strike="noStrike" baseline="0" dirty="0">
                <a:latin typeface="PalatinoLTStd-Roman"/>
              </a:rPr>
              <a:t> to </a:t>
            </a:r>
            <a:r>
              <a:rPr lang="en-US" sz="2400" b="0" i="0" u="none" strike="noStrike" baseline="0" dirty="0">
                <a:solidFill>
                  <a:srgbClr val="FF0000"/>
                </a:solidFill>
                <a:latin typeface="PalatinoLTStd-Roman"/>
              </a:rPr>
              <a:t>miss its deadline</a:t>
            </a:r>
            <a:r>
              <a:rPr lang="en-US" sz="2400" b="0" i="0" u="none" strike="noStrike" baseline="0" dirty="0">
                <a:latin typeface="PalatinoLTStd-Roman"/>
              </a:rPr>
              <a:t>.</a:t>
            </a:r>
            <a:endParaRPr lang="en-US" altLang="en-US" sz="2400" dirty="0"/>
          </a:p>
        </p:txBody>
      </p:sp>
      <p:pic>
        <p:nvPicPr>
          <p:cNvPr id="4" name="Picture 3">
            <a:extLst>
              <a:ext uri="{FF2B5EF4-FFF2-40B4-BE49-F238E27FC236}">
                <a16:creationId xmlns:a16="http://schemas.microsoft.com/office/drawing/2014/main" id="{BFFEA1E4-EDFF-43DF-9E24-03064A50283D}"/>
              </a:ext>
            </a:extLst>
          </p:cNvPr>
          <p:cNvPicPr>
            <a:picLocks noChangeAspect="1"/>
          </p:cNvPicPr>
          <p:nvPr/>
        </p:nvPicPr>
        <p:blipFill>
          <a:blip r:embed="rId3"/>
          <a:stretch>
            <a:fillRect/>
          </a:stretch>
        </p:blipFill>
        <p:spPr>
          <a:xfrm>
            <a:off x="558383" y="4015853"/>
            <a:ext cx="8027233" cy="2105059"/>
          </a:xfrm>
          <a:prstGeom prst="rect">
            <a:avLst/>
          </a:prstGeom>
          <a:ln>
            <a:solidFill>
              <a:srgbClr val="000000">
                <a:alpha val="96000"/>
              </a:srgbClr>
            </a:solidFill>
          </a:ln>
        </p:spPr>
      </p:pic>
      <p:sp>
        <p:nvSpPr>
          <p:cNvPr id="2" name="TextBox 1">
            <a:extLst>
              <a:ext uri="{FF2B5EF4-FFF2-40B4-BE49-F238E27FC236}">
                <a16:creationId xmlns:a16="http://schemas.microsoft.com/office/drawing/2014/main" id="{9409B7E6-85D1-49B8-8A70-58B9F0EF67AD}"/>
              </a:ext>
            </a:extLst>
          </p:cNvPr>
          <p:cNvSpPr txBox="1"/>
          <p:nvPr/>
        </p:nvSpPr>
        <p:spPr>
          <a:xfrm>
            <a:off x="4189864" y="2756848"/>
            <a:ext cx="4954136" cy="1477328"/>
          </a:xfrm>
          <a:prstGeom prst="rect">
            <a:avLst/>
          </a:prstGeom>
          <a:noFill/>
        </p:spPr>
        <p:txBody>
          <a:bodyPr wrap="square" rtlCol="0">
            <a:spAutoFit/>
          </a:bodyPr>
          <a:lstStyle/>
          <a:p>
            <a:pPr algn="l"/>
            <a:r>
              <a:rPr lang="en-US" sz="1800" b="0" i="0" u="none" strike="noStrike" baseline="0" dirty="0">
                <a:latin typeface="PalatinoLTStd-Roman"/>
              </a:rPr>
              <a:t> The </a:t>
            </a:r>
            <a:r>
              <a:rPr lang="en-US" sz="1800" b="0" i="0" u="none" strike="noStrike" baseline="0" dirty="0">
                <a:solidFill>
                  <a:srgbClr val="FF0000"/>
                </a:solidFill>
                <a:latin typeface="PalatinoLTStd-Roman"/>
              </a:rPr>
              <a:t>periods</a:t>
            </a:r>
            <a:r>
              <a:rPr lang="en-US" sz="1800" b="0" i="0" u="none" strike="noStrike" baseline="0" dirty="0">
                <a:latin typeface="PalatinoLTStd-Roman"/>
              </a:rPr>
              <a:t> for </a:t>
            </a:r>
            <a:r>
              <a:rPr lang="en-US" sz="1800" b="0" i="1" u="none" strike="noStrike" baseline="0" dirty="0">
                <a:latin typeface="PalatinoLTStd-Italic"/>
              </a:rPr>
              <a:t>P</a:t>
            </a:r>
            <a:r>
              <a:rPr lang="en-US" sz="1800" b="0" i="0" u="none" strike="noStrike" baseline="0" dirty="0">
                <a:latin typeface="PalatinoLTStd-Roman"/>
              </a:rPr>
              <a:t>1 and </a:t>
            </a:r>
            <a:r>
              <a:rPr lang="en-US" sz="1800" b="0" i="1" u="none" strike="noStrike" baseline="0" dirty="0">
                <a:latin typeface="PalatinoLTStd-Italic"/>
              </a:rPr>
              <a:t>P</a:t>
            </a:r>
            <a:r>
              <a:rPr lang="en-US" sz="1800" b="0" i="0" u="none" strike="noStrike" baseline="0" dirty="0">
                <a:latin typeface="PalatinoLTStd-Roman"/>
              </a:rPr>
              <a:t>2 as</a:t>
            </a:r>
            <a:r>
              <a:rPr lang="en-US" b="0" i="0" u="none" strike="noStrike" baseline="0" dirty="0">
                <a:solidFill>
                  <a:srgbClr val="FF0000"/>
                </a:solidFill>
                <a:latin typeface="PalatinoLTStd-Roman"/>
              </a:rPr>
              <a:t>, </a:t>
            </a:r>
            <a:r>
              <a:rPr lang="en-US" b="0" i="1" u="none" strike="noStrike" baseline="0" dirty="0">
                <a:solidFill>
                  <a:srgbClr val="FF0000"/>
                </a:solidFill>
                <a:latin typeface="PalatinoLTStd-Italic"/>
              </a:rPr>
              <a:t>p</a:t>
            </a:r>
            <a:r>
              <a:rPr lang="en-US" b="0" i="0" u="none" strike="noStrike" baseline="0" dirty="0">
                <a:solidFill>
                  <a:srgbClr val="FF0000"/>
                </a:solidFill>
                <a:latin typeface="PalatinoLTStd-Roman"/>
              </a:rPr>
              <a:t>1 </a:t>
            </a:r>
            <a:r>
              <a:rPr lang="en-US" b="0" i="0" u="none" strike="noStrike" baseline="0" dirty="0">
                <a:solidFill>
                  <a:srgbClr val="FF0000"/>
                </a:solidFill>
                <a:latin typeface="STIXMath-Regular"/>
              </a:rPr>
              <a:t>= </a:t>
            </a:r>
            <a:r>
              <a:rPr lang="en-US" b="0" i="0" u="none" strike="noStrike" baseline="0" dirty="0">
                <a:solidFill>
                  <a:srgbClr val="FF0000"/>
                </a:solidFill>
                <a:latin typeface="PalatinoLTStd-Roman"/>
              </a:rPr>
              <a:t>50 and </a:t>
            </a:r>
            <a:r>
              <a:rPr lang="en-US" b="0" i="1" u="none" strike="noStrike" baseline="0" dirty="0">
                <a:solidFill>
                  <a:srgbClr val="FF0000"/>
                </a:solidFill>
                <a:latin typeface="PalatinoLTStd-Italic"/>
              </a:rPr>
              <a:t>p</a:t>
            </a:r>
            <a:r>
              <a:rPr lang="en-US" b="0" i="0" u="none" strike="noStrike" baseline="0" dirty="0">
                <a:solidFill>
                  <a:srgbClr val="FF0000"/>
                </a:solidFill>
                <a:latin typeface="PalatinoLTStd-Roman"/>
              </a:rPr>
              <a:t>2 </a:t>
            </a:r>
            <a:r>
              <a:rPr lang="en-US" b="0" i="0" u="none" strike="noStrike" baseline="0" dirty="0">
                <a:solidFill>
                  <a:srgbClr val="FF0000"/>
                </a:solidFill>
                <a:latin typeface="STIXMath-Regular"/>
              </a:rPr>
              <a:t>= </a:t>
            </a:r>
            <a:r>
              <a:rPr lang="en-US" b="0" i="0" u="none" strike="noStrike" baseline="0" dirty="0">
                <a:solidFill>
                  <a:srgbClr val="FF0000"/>
                </a:solidFill>
                <a:latin typeface="PalatinoLTStd-Roman"/>
              </a:rPr>
              <a:t>100</a:t>
            </a:r>
            <a:r>
              <a:rPr lang="en-US" b="0" i="0" u="none" strike="noStrike" baseline="0" dirty="0">
                <a:latin typeface="PalatinoLTStd-Roman"/>
              </a:rPr>
              <a:t>. </a:t>
            </a:r>
          </a:p>
          <a:p>
            <a:r>
              <a:rPr lang="en-US" dirty="0">
                <a:latin typeface="PalatinoLTStd-Roman"/>
              </a:rPr>
              <a:t>T</a:t>
            </a:r>
            <a:r>
              <a:rPr lang="en-US" b="0" i="0" u="none" strike="noStrike" baseline="0" dirty="0">
                <a:latin typeface="PalatinoLTStd-Roman"/>
              </a:rPr>
              <a:t>he </a:t>
            </a:r>
            <a:r>
              <a:rPr lang="en-US" sz="1800" b="0" i="0" u="none" strike="noStrike" baseline="0" dirty="0">
                <a:solidFill>
                  <a:srgbClr val="FF0000"/>
                </a:solidFill>
                <a:latin typeface="PalatinoLTStd-Roman"/>
              </a:rPr>
              <a:t>processing times </a:t>
            </a:r>
            <a:r>
              <a:rPr lang="en-US" sz="1800" b="0" i="0" u="none" strike="noStrike" baseline="0" dirty="0">
                <a:latin typeface="PalatinoLTStd-Roman"/>
              </a:rPr>
              <a:t>are </a:t>
            </a:r>
            <a:r>
              <a:rPr lang="en-US" sz="1800" b="0" i="1" u="none" strike="noStrike" baseline="0" dirty="0">
                <a:latin typeface="PalatinoLTStd-Italic"/>
              </a:rPr>
              <a:t>t</a:t>
            </a:r>
            <a:r>
              <a:rPr lang="en-US" sz="1800" b="0" i="0" u="none" strike="noStrike" baseline="0" dirty="0">
                <a:latin typeface="PalatinoLTStd-Roman"/>
              </a:rPr>
              <a:t>1 </a:t>
            </a:r>
            <a:r>
              <a:rPr lang="en-US" sz="1800" b="0" i="0" u="none" strike="noStrike" baseline="0" dirty="0">
                <a:latin typeface="STIXMath-Regular"/>
              </a:rPr>
              <a:t>= </a:t>
            </a:r>
            <a:r>
              <a:rPr lang="en-US" sz="1800" b="0" i="0" u="none" strike="noStrike" baseline="0" dirty="0">
                <a:solidFill>
                  <a:srgbClr val="FF0000"/>
                </a:solidFill>
                <a:latin typeface="PalatinoLTStd-Roman"/>
              </a:rPr>
              <a:t>20</a:t>
            </a:r>
            <a:r>
              <a:rPr lang="en-US" sz="1800" b="0" i="0" u="none" strike="noStrike" baseline="0" dirty="0">
                <a:latin typeface="PalatinoLTStd-Roman"/>
              </a:rPr>
              <a:t> for </a:t>
            </a:r>
            <a:r>
              <a:rPr lang="en-US" sz="1800" b="0" i="1" u="none" strike="noStrike" baseline="0" dirty="0">
                <a:latin typeface="PalatinoLTStd-Italic"/>
              </a:rPr>
              <a:t>P</a:t>
            </a:r>
            <a:r>
              <a:rPr lang="en-US" sz="1800" b="0" i="0" u="none" strike="noStrike" baseline="0" dirty="0">
                <a:latin typeface="PalatinoLTStd-Roman"/>
              </a:rPr>
              <a:t>1 and </a:t>
            </a:r>
            <a:r>
              <a:rPr lang="en-US" sz="1800" b="0" i="1" u="none" strike="noStrike" baseline="0" dirty="0">
                <a:latin typeface="PalatinoLTStd-Italic"/>
              </a:rPr>
              <a:t>t</a:t>
            </a:r>
            <a:r>
              <a:rPr lang="en-US" sz="1800" b="0" i="0" u="none" strike="noStrike" baseline="0" dirty="0">
                <a:latin typeface="PalatinoLTStd-Roman"/>
              </a:rPr>
              <a:t>2 </a:t>
            </a:r>
            <a:r>
              <a:rPr lang="en-US" sz="1800" b="0" i="0" u="none" strike="noStrike" baseline="0" dirty="0">
                <a:latin typeface="STIXMath-Regular"/>
              </a:rPr>
              <a:t>= </a:t>
            </a:r>
            <a:r>
              <a:rPr lang="en-US" sz="1800" b="0" i="0" u="none" strike="noStrike" baseline="0" dirty="0">
                <a:solidFill>
                  <a:srgbClr val="FF0000"/>
                </a:solidFill>
                <a:latin typeface="PalatinoLTStd-Roman"/>
              </a:rPr>
              <a:t>35</a:t>
            </a:r>
            <a:r>
              <a:rPr lang="en-US" sz="1800" b="0" i="0" u="none" strike="noStrike" baseline="0" dirty="0">
                <a:latin typeface="PalatinoLTStd-Roman"/>
              </a:rPr>
              <a:t> for </a:t>
            </a:r>
            <a:r>
              <a:rPr lang="en-US" sz="1800" b="0" i="1" u="none" strike="noStrike" baseline="0" dirty="0">
                <a:latin typeface="PalatinoLTStd-Italic"/>
              </a:rPr>
              <a:t>P</a:t>
            </a:r>
            <a:r>
              <a:rPr lang="en-US" sz="1800" b="0" i="0" u="none" strike="noStrike" baseline="0" dirty="0">
                <a:latin typeface="PalatinoLTStd-Roman"/>
              </a:rPr>
              <a:t>2.</a:t>
            </a:r>
          </a:p>
          <a:p>
            <a:endParaRPr lang="en-US" dirty="0"/>
          </a:p>
        </p:txBody>
      </p:sp>
    </p:spTree>
    <p:extLst>
      <p:ext uri="{BB962C8B-B14F-4D97-AF65-F5344CB8AC3E}">
        <p14:creationId xmlns:p14="http://schemas.microsoft.com/office/powerpoint/2010/main" val="23280341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430123"/>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164892" y="808785"/>
            <a:ext cx="8979107" cy="4961394"/>
          </a:xfrm>
        </p:spPr>
        <p:txBody>
          <a:bodyPr/>
          <a:lstStyle/>
          <a:p>
            <a:pPr algn="l"/>
            <a:r>
              <a:rPr lang="en-US" sz="2000" b="0" i="0" u="none" strike="noStrike" baseline="0" dirty="0">
                <a:latin typeface="PalatinoLTStd-Roman"/>
              </a:rPr>
              <a:t> Rate-monotonic scheduling is considered </a:t>
            </a:r>
            <a:r>
              <a:rPr lang="en-US" sz="2000" b="0" i="0" u="none" strike="noStrike" baseline="0" dirty="0">
                <a:solidFill>
                  <a:srgbClr val="FF0000"/>
                </a:solidFill>
                <a:latin typeface="PalatinoLTStd-Roman"/>
              </a:rPr>
              <a:t>optimal</a:t>
            </a:r>
            <a:r>
              <a:rPr lang="en-US" sz="2000" b="0" i="0" u="none" strike="noStrike" baseline="0" dirty="0">
                <a:latin typeface="PalatinoLTStd-Roman"/>
              </a:rPr>
              <a:t> </a:t>
            </a:r>
          </a:p>
          <a:p>
            <a:pPr lvl="1"/>
            <a:r>
              <a:rPr lang="en-US" sz="2000" b="0" i="0" u="none" strike="noStrike" baseline="0" dirty="0">
                <a:solidFill>
                  <a:srgbClr val="FF0000"/>
                </a:solidFill>
                <a:highlight>
                  <a:srgbClr val="FFFF00"/>
                </a:highlight>
                <a:latin typeface="PalatinoLTStd-Roman"/>
              </a:rPr>
              <a:t>if a set of processes cannot be scheduled by this algorithm, it cannot be scheduled by any other algorithm that assigns static priorities. </a:t>
            </a:r>
          </a:p>
          <a:p>
            <a:pPr algn="l"/>
            <a:r>
              <a:rPr lang="en-US" sz="2000" b="0" i="0" u="none" strike="noStrike" baseline="0" dirty="0">
                <a:latin typeface="PalatinoLTStd-Roman"/>
              </a:rPr>
              <a:t>Let’s next examine a set of processes </a:t>
            </a:r>
            <a:r>
              <a:rPr lang="en-US" sz="2800" b="1" i="0" u="none" strike="noStrike" baseline="0" dirty="0">
                <a:solidFill>
                  <a:srgbClr val="FF0000"/>
                </a:solidFill>
                <a:latin typeface="PalatinoLTStd-Roman"/>
              </a:rPr>
              <a:t>that cannot be scheduled using the </a:t>
            </a:r>
            <a:r>
              <a:rPr lang="en-US" sz="2800" b="1" dirty="0">
                <a:solidFill>
                  <a:srgbClr val="FF0000"/>
                </a:solidFill>
                <a:latin typeface="PalatinoLTStd-Roman"/>
              </a:rPr>
              <a:t>rate-monotonic algorithm.</a:t>
            </a:r>
          </a:p>
          <a:p>
            <a:pPr lvl="1"/>
            <a:r>
              <a:rPr lang="en-US" sz="2000" b="0" i="0" u="none" strike="noStrike" baseline="0" dirty="0">
                <a:latin typeface="PalatinoLTStd-Roman"/>
              </a:rPr>
              <a:t>Assume that process </a:t>
            </a:r>
            <a:r>
              <a:rPr lang="en-US" sz="2000" b="0" i="1" u="none" strike="noStrike" baseline="0" dirty="0">
                <a:latin typeface="PalatinoLTStd-Italic"/>
              </a:rPr>
              <a:t>P</a:t>
            </a:r>
            <a:r>
              <a:rPr lang="en-US" sz="2000" b="0" i="0" u="none" strike="noStrike" baseline="0" dirty="0">
                <a:latin typeface="PalatinoLTStd-Roman"/>
              </a:rPr>
              <a:t>1 has a period of </a:t>
            </a:r>
            <a:r>
              <a:rPr lang="en-US" sz="2000" b="0" i="1" u="none" strike="noStrike" baseline="0" dirty="0">
                <a:latin typeface="PalatinoLTStd-Italic"/>
              </a:rPr>
              <a:t>p</a:t>
            </a:r>
            <a:r>
              <a:rPr lang="en-US" sz="2000" b="0" i="0" u="none" strike="noStrike" baseline="0" dirty="0">
                <a:latin typeface="PalatinoLTStd-Roman"/>
              </a:rPr>
              <a:t>1 </a:t>
            </a:r>
            <a:r>
              <a:rPr lang="en-US" sz="2000" b="0" i="0" u="none" strike="noStrike" baseline="0" dirty="0">
                <a:latin typeface="STIXMath-Regular"/>
              </a:rPr>
              <a:t>= </a:t>
            </a:r>
            <a:r>
              <a:rPr lang="en-US" sz="2000" b="0" i="0" u="none" strike="noStrike" baseline="0" dirty="0">
                <a:latin typeface="PalatinoLTStd-Roman"/>
              </a:rPr>
              <a:t>50 and a CPU burst of </a:t>
            </a:r>
            <a:r>
              <a:rPr lang="en-US" sz="2000" b="0" i="1" u="none" strike="noStrike" baseline="0" dirty="0">
                <a:latin typeface="PalatinoLTStd-Italic"/>
              </a:rPr>
              <a:t>t</a:t>
            </a:r>
            <a:r>
              <a:rPr lang="en-US" sz="2000" b="0" i="0" u="none" strike="noStrike" baseline="0" dirty="0">
                <a:latin typeface="PalatinoLTStd-Roman"/>
              </a:rPr>
              <a:t>1 </a:t>
            </a:r>
            <a:r>
              <a:rPr lang="en-US" sz="2000" b="0" i="0" u="none" strike="noStrike" baseline="0" dirty="0">
                <a:latin typeface="STIXMath-Regular"/>
              </a:rPr>
              <a:t>= </a:t>
            </a:r>
            <a:r>
              <a:rPr lang="en-US" sz="2000" b="0" i="0" u="none" strike="noStrike" baseline="0" dirty="0">
                <a:latin typeface="PalatinoLTStd-Roman"/>
              </a:rPr>
              <a:t>25.</a:t>
            </a:r>
          </a:p>
          <a:p>
            <a:pPr lvl="1"/>
            <a:r>
              <a:rPr lang="en-US" sz="2000" b="0" i="0" u="none" strike="noStrike" baseline="0" dirty="0">
                <a:latin typeface="PalatinoLTStd-Roman"/>
              </a:rPr>
              <a:t>For </a:t>
            </a:r>
            <a:r>
              <a:rPr lang="en-US" sz="2000" b="0" i="1" u="none" strike="noStrike" baseline="0" dirty="0">
                <a:latin typeface="PalatinoLTStd-Italic"/>
              </a:rPr>
              <a:t>P</a:t>
            </a:r>
            <a:r>
              <a:rPr lang="en-US" sz="2000" b="0" i="0" u="none" strike="noStrike" baseline="0" dirty="0">
                <a:latin typeface="PalatinoLTStd-Roman"/>
              </a:rPr>
              <a:t>2, the corresponding values are </a:t>
            </a:r>
            <a:r>
              <a:rPr lang="en-US" sz="2000" b="0" i="1" u="none" strike="noStrike" baseline="0" dirty="0">
                <a:latin typeface="PalatinoLTStd-Italic"/>
              </a:rPr>
              <a:t>p</a:t>
            </a:r>
            <a:r>
              <a:rPr lang="en-US" sz="2000" b="0" i="0" u="none" strike="noStrike" baseline="0" dirty="0">
                <a:latin typeface="PalatinoLTStd-Roman"/>
              </a:rPr>
              <a:t>2 </a:t>
            </a:r>
            <a:r>
              <a:rPr lang="en-US" sz="2000" b="0" i="0" u="none" strike="noStrike" baseline="0" dirty="0">
                <a:latin typeface="STIXMath-Regular"/>
              </a:rPr>
              <a:t>= </a:t>
            </a:r>
            <a:r>
              <a:rPr lang="en-US" sz="2000" b="0" i="0" u="none" strike="noStrike" baseline="0" dirty="0">
                <a:latin typeface="PalatinoLTStd-Roman"/>
              </a:rPr>
              <a:t>80 and </a:t>
            </a:r>
            <a:r>
              <a:rPr lang="en-US" sz="2000" b="0" i="1" u="none" strike="noStrike" baseline="0" dirty="0">
                <a:latin typeface="PalatinoLTStd-Italic"/>
              </a:rPr>
              <a:t>t</a:t>
            </a:r>
            <a:r>
              <a:rPr lang="en-US" sz="2000" b="0" i="0" u="none" strike="noStrike" baseline="0" dirty="0">
                <a:latin typeface="PalatinoLTStd-Roman"/>
              </a:rPr>
              <a:t>2 </a:t>
            </a:r>
            <a:r>
              <a:rPr lang="en-US" sz="2000" b="0" i="0" u="none" strike="noStrike" baseline="0" dirty="0">
                <a:latin typeface="STIXMath-Regular"/>
              </a:rPr>
              <a:t>= </a:t>
            </a:r>
            <a:r>
              <a:rPr lang="en-US" sz="2000" b="0" i="0" u="none" strike="noStrike" baseline="0" dirty="0">
                <a:latin typeface="PalatinoLTStd-Roman"/>
              </a:rPr>
              <a:t>35. </a:t>
            </a:r>
          </a:p>
          <a:p>
            <a:pPr algn="l"/>
            <a:r>
              <a:rPr lang="en-US" sz="2000" b="1" i="0" u="none" strike="noStrike" baseline="0" dirty="0">
                <a:solidFill>
                  <a:srgbClr val="FF0000"/>
                </a:solidFill>
                <a:latin typeface="PalatinoLTStd-Roman"/>
              </a:rPr>
              <a:t>Rate-monotonic</a:t>
            </a:r>
            <a:r>
              <a:rPr lang="en-US" sz="2000" b="1" dirty="0">
                <a:solidFill>
                  <a:srgbClr val="FF0000"/>
                </a:solidFill>
                <a:latin typeface="PalatinoLTStd-Roman"/>
              </a:rPr>
              <a:t> </a:t>
            </a:r>
          </a:p>
          <a:p>
            <a:pPr lvl="1"/>
            <a:r>
              <a:rPr lang="en-US" sz="2000" b="0" i="0" u="none" strike="noStrike" baseline="0" dirty="0">
                <a:latin typeface="PalatinoLTStd-Roman"/>
              </a:rPr>
              <a:t>scheduling would </a:t>
            </a:r>
            <a:r>
              <a:rPr lang="en-US" sz="2000" b="0" i="0" u="none" strike="noStrike" baseline="0" dirty="0">
                <a:solidFill>
                  <a:srgbClr val="FF0000"/>
                </a:solidFill>
                <a:latin typeface="PalatinoLTStd-Roman"/>
              </a:rPr>
              <a:t>assign process </a:t>
            </a:r>
            <a:r>
              <a:rPr lang="en-US" sz="2000" b="0" i="1" u="none" strike="noStrike" baseline="0" dirty="0">
                <a:solidFill>
                  <a:srgbClr val="FF0000"/>
                </a:solidFill>
                <a:latin typeface="PalatinoLTStd-Italic"/>
              </a:rPr>
              <a:t>P</a:t>
            </a:r>
            <a:r>
              <a:rPr lang="en-US" sz="2000" b="0" i="0" u="none" strike="noStrike" baseline="0" dirty="0">
                <a:solidFill>
                  <a:srgbClr val="FF0000"/>
                </a:solidFill>
                <a:latin typeface="PalatinoLTStd-Roman"/>
              </a:rPr>
              <a:t>1 a higher priority</a:t>
            </a:r>
            <a:r>
              <a:rPr lang="en-US" sz="2000" b="0" i="0" u="none" strike="noStrike" baseline="0" dirty="0">
                <a:latin typeface="PalatinoLTStd-Roman"/>
              </a:rPr>
              <a:t>, as it has the shorter period. </a:t>
            </a:r>
          </a:p>
          <a:p>
            <a:pPr lvl="1"/>
            <a:r>
              <a:rPr lang="en-US" sz="2000" b="0" i="0" u="none" strike="noStrike" baseline="0" dirty="0">
                <a:latin typeface="PalatinoLTStd-Roman"/>
              </a:rPr>
              <a:t>The total CPU utilization of the two processes is (25</a:t>
            </a:r>
            <a:r>
              <a:rPr lang="en-US" sz="2000" b="0" i="0" u="none" strike="noStrike" baseline="0" dirty="0">
                <a:latin typeface="STIXMath-Regular"/>
              </a:rPr>
              <a:t>∕</a:t>
            </a:r>
            <a:r>
              <a:rPr lang="en-US" sz="2000" b="0" i="0" u="none" strike="noStrike" baseline="0" dirty="0">
                <a:latin typeface="PalatinoLTStd-Roman"/>
              </a:rPr>
              <a:t>50) </a:t>
            </a:r>
            <a:r>
              <a:rPr lang="en-US" sz="2000" b="0" i="0" u="none" strike="noStrike" baseline="0" dirty="0">
                <a:latin typeface="STIXMath-Regular"/>
              </a:rPr>
              <a:t>+ </a:t>
            </a:r>
            <a:r>
              <a:rPr lang="en-US" sz="2000" b="0" i="0" u="none" strike="noStrike" baseline="0" dirty="0">
                <a:latin typeface="PalatinoLTStd-Roman"/>
              </a:rPr>
              <a:t>(35</a:t>
            </a:r>
            <a:r>
              <a:rPr lang="en-US" sz="2000" b="0" i="0" u="none" strike="noStrike" baseline="0" dirty="0">
                <a:latin typeface="STIXMath-Regular"/>
              </a:rPr>
              <a:t>∕</a:t>
            </a:r>
            <a:r>
              <a:rPr lang="en-US" sz="2000" b="0" i="0" u="none" strike="noStrike" baseline="0" dirty="0">
                <a:latin typeface="PalatinoLTStd-Roman"/>
              </a:rPr>
              <a:t>80) </a:t>
            </a:r>
            <a:r>
              <a:rPr lang="en-US" sz="2000" b="0" i="0" u="none" strike="noStrike" baseline="0" dirty="0">
                <a:latin typeface="STIXMath-Regular"/>
              </a:rPr>
              <a:t>= </a:t>
            </a:r>
            <a:r>
              <a:rPr lang="en-US" sz="2000" b="0" i="0" u="none" strike="noStrike" baseline="0" dirty="0">
                <a:latin typeface="PalatinoLTStd-Roman"/>
              </a:rPr>
              <a:t>0</a:t>
            </a:r>
            <a:r>
              <a:rPr lang="en-US" sz="2000" b="0" i="1" u="none" strike="noStrike" baseline="0" dirty="0">
                <a:latin typeface="STIXMath-Italic"/>
              </a:rPr>
              <a:t>.</a:t>
            </a:r>
            <a:r>
              <a:rPr lang="en-US" sz="2000" b="0" i="0" u="none" strike="noStrike" baseline="0" dirty="0">
                <a:latin typeface="PalatinoLTStd-Roman"/>
              </a:rPr>
              <a:t>94, and still leave the CPU with 6 percent available time. </a:t>
            </a:r>
          </a:p>
        </p:txBody>
      </p:sp>
    </p:spTree>
    <p:extLst>
      <p:ext uri="{BB962C8B-B14F-4D97-AF65-F5344CB8AC3E}">
        <p14:creationId xmlns:p14="http://schemas.microsoft.com/office/powerpoint/2010/main" val="3989878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430123"/>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164892" y="808785"/>
            <a:ext cx="8979107" cy="4961394"/>
          </a:xfrm>
        </p:spPr>
        <p:txBody>
          <a:bodyPr/>
          <a:lstStyle/>
          <a:p>
            <a:pPr algn="l"/>
            <a:r>
              <a:rPr lang="en-US" b="0" i="0" u="none" strike="noStrike" baseline="0" dirty="0">
                <a:latin typeface="PalatinoLTStd-Roman"/>
              </a:rPr>
              <a:t> </a:t>
            </a:r>
            <a:r>
              <a:rPr lang="en-US" dirty="0">
                <a:latin typeface="PalatinoLTStd-Roman"/>
              </a:rPr>
              <a:t> </a:t>
            </a:r>
            <a:r>
              <a:rPr lang="en-US" dirty="0">
                <a:solidFill>
                  <a:srgbClr val="FF0000"/>
                </a:solidFill>
              </a:rPr>
              <a:t>Figure 5.23 </a:t>
            </a:r>
            <a:r>
              <a:rPr lang="en-US" b="0" i="0" u="none" strike="noStrike" baseline="0" dirty="0">
                <a:latin typeface="PalatinoLTStd-Roman"/>
              </a:rPr>
              <a:t> shows the scheduling of processes </a:t>
            </a:r>
            <a:r>
              <a:rPr lang="en-US" b="0" i="1" u="none" strike="noStrike" baseline="0" dirty="0">
                <a:latin typeface="PalatinoLTStd-Italic"/>
              </a:rPr>
              <a:t>P</a:t>
            </a:r>
            <a:r>
              <a:rPr lang="en-US" b="0" i="0" u="none" strike="noStrike" baseline="0" dirty="0">
                <a:latin typeface="PalatinoLTStd-Roman"/>
              </a:rPr>
              <a:t>1 and </a:t>
            </a:r>
            <a:r>
              <a:rPr lang="en-US" b="0" i="1" u="none" strike="noStrike" baseline="0" dirty="0">
                <a:latin typeface="PalatinoLTStd-Italic"/>
              </a:rPr>
              <a:t>P</a:t>
            </a:r>
            <a:r>
              <a:rPr lang="en-US" b="0" i="0" u="none" strike="noStrike" baseline="0" dirty="0">
                <a:latin typeface="PalatinoLTStd-Roman"/>
              </a:rPr>
              <a:t>2.</a:t>
            </a:r>
          </a:p>
          <a:p>
            <a:pPr lvl="1"/>
            <a:r>
              <a:rPr lang="en-US" b="0" i="0" u="none" strike="noStrike" baseline="0" dirty="0">
                <a:latin typeface="PalatinoLTStd-Roman"/>
              </a:rPr>
              <a:t> Initially, </a:t>
            </a:r>
            <a:r>
              <a:rPr lang="en-US" b="0" i="1" u="none" strike="noStrike" baseline="0" dirty="0">
                <a:latin typeface="PalatinoLTStd-Italic"/>
              </a:rPr>
              <a:t>P</a:t>
            </a:r>
            <a:r>
              <a:rPr lang="en-US" b="0" i="0" u="none" strike="noStrike" baseline="0" dirty="0">
                <a:latin typeface="PalatinoLTStd-Roman"/>
              </a:rPr>
              <a:t>1 runs until it completes its CPU burst at time 25.</a:t>
            </a:r>
          </a:p>
          <a:p>
            <a:pPr lvl="1"/>
            <a:r>
              <a:rPr lang="en-US" b="0" i="0" u="none" strike="noStrike" baseline="0" dirty="0">
                <a:latin typeface="PalatinoLTStd-Roman"/>
              </a:rPr>
              <a:t> Process </a:t>
            </a:r>
            <a:r>
              <a:rPr lang="en-US" b="0" i="1" u="none" strike="noStrike" baseline="0" dirty="0">
                <a:latin typeface="PalatinoLTStd-Italic"/>
              </a:rPr>
              <a:t>P</a:t>
            </a:r>
            <a:r>
              <a:rPr lang="en-US" b="0" i="0" u="none" strike="noStrike" baseline="0" dirty="0">
                <a:latin typeface="PalatinoLTStd-Roman"/>
              </a:rPr>
              <a:t>2 then begins running and runs until time 50, when it is preempted by </a:t>
            </a:r>
            <a:r>
              <a:rPr lang="en-US" b="0" i="1" u="none" strike="noStrike" baseline="0" dirty="0">
                <a:latin typeface="PalatinoLTStd-Italic"/>
              </a:rPr>
              <a:t>P</a:t>
            </a:r>
            <a:r>
              <a:rPr lang="en-US" b="0" i="0" u="none" strike="noStrike" baseline="0" dirty="0">
                <a:latin typeface="PalatinoLTStd-Roman"/>
              </a:rPr>
              <a:t>1.</a:t>
            </a:r>
          </a:p>
          <a:p>
            <a:pPr lvl="1"/>
            <a:r>
              <a:rPr lang="en-US" b="0" i="0" u="none" strike="noStrike" baseline="0" dirty="0">
                <a:latin typeface="PalatinoLTStd-Roman"/>
              </a:rPr>
              <a:t> At this point, </a:t>
            </a:r>
            <a:r>
              <a:rPr lang="en-US" b="0" i="1" u="none" strike="noStrike" baseline="0" dirty="0">
                <a:solidFill>
                  <a:srgbClr val="FF0000"/>
                </a:solidFill>
                <a:latin typeface="PalatinoLTStd-Italic"/>
              </a:rPr>
              <a:t>P</a:t>
            </a:r>
            <a:r>
              <a:rPr lang="en-US" b="0" i="0" u="none" strike="noStrike" baseline="0" dirty="0">
                <a:solidFill>
                  <a:srgbClr val="FF0000"/>
                </a:solidFill>
                <a:latin typeface="PalatinoLTStd-Roman"/>
              </a:rPr>
              <a:t>2 still has 10 milliseconds remaining in its CPU burst. </a:t>
            </a:r>
          </a:p>
          <a:p>
            <a:pPr lvl="1"/>
            <a:r>
              <a:rPr lang="en-US" b="0" i="0" u="none" strike="noStrike" baseline="0" dirty="0">
                <a:latin typeface="PalatinoLTStd-Roman"/>
              </a:rPr>
              <a:t>Process </a:t>
            </a:r>
            <a:r>
              <a:rPr lang="en-US" b="0" i="1" u="none" strike="noStrike" baseline="0" dirty="0">
                <a:latin typeface="PalatinoLTStd-Italic"/>
              </a:rPr>
              <a:t>P</a:t>
            </a:r>
            <a:r>
              <a:rPr lang="en-US" b="0" i="0" u="none" strike="noStrike" baseline="0" dirty="0">
                <a:latin typeface="PalatinoLTStd-Roman"/>
              </a:rPr>
              <a:t>1 runs until time 75;</a:t>
            </a:r>
          </a:p>
          <a:p>
            <a:pPr lvl="1"/>
            <a:r>
              <a:rPr lang="en-US" b="0" i="0" u="none" strike="noStrike" baseline="0" dirty="0">
                <a:latin typeface="PalatinoLTStd-Roman"/>
              </a:rPr>
              <a:t> consequently, </a:t>
            </a:r>
            <a:r>
              <a:rPr lang="en-US" b="0" i="0" u="none" strike="noStrike" baseline="0" dirty="0">
                <a:solidFill>
                  <a:srgbClr val="FF0000"/>
                </a:solidFill>
                <a:highlight>
                  <a:srgbClr val="FFFF00"/>
                </a:highlight>
                <a:latin typeface="PalatinoLTStd-Roman"/>
              </a:rPr>
              <a:t>P2 finishes its burst at time </a:t>
            </a:r>
            <a:r>
              <a:rPr lang="en-US" sz="2400" b="1" i="0" u="none" strike="noStrike" baseline="0" dirty="0">
                <a:solidFill>
                  <a:srgbClr val="FF0000"/>
                </a:solidFill>
                <a:highlight>
                  <a:srgbClr val="FFFF00"/>
                </a:highlight>
                <a:latin typeface="PalatinoLTStd-Roman"/>
              </a:rPr>
              <a:t>85</a:t>
            </a:r>
            <a:r>
              <a:rPr lang="en-US" b="0" i="0" u="none" strike="noStrike" baseline="0" dirty="0">
                <a:solidFill>
                  <a:srgbClr val="FF0000"/>
                </a:solidFill>
                <a:highlight>
                  <a:srgbClr val="FFFF00"/>
                </a:highlight>
                <a:latin typeface="PalatinoLTStd-Roman"/>
              </a:rPr>
              <a:t>, after the deadline for completion of its CPU burst at time 80.</a:t>
            </a:r>
            <a:endParaRPr lang="en-US" altLang="en-US" dirty="0">
              <a:solidFill>
                <a:srgbClr val="FF0000"/>
              </a:solidFill>
              <a:highlight>
                <a:srgbClr val="FFFF00"/>
              </a:highlight>
            </a:endParaRPr>
          </a:p>
        </p:txBody>
      </p:sp>
      <p:pic>
        <p:nvPicPr>
          <p:cNvPr id="4" name="Picture 3">
            <a:extLst>
              <a:ext uri="{FF2B5EF4-FFF2-40B4-BE49-F238E27FC236}">
                <a16:creationId xmlns:a16="http://schemas.microsoft.com/office/drawing/2014/main" id="{B0C25997-4EC3-466F-AFE3-BFC836E8905C}"/>
              </a:ext>
            </a:extLst>
          </p:cNvPr>
          <p:cNvPicPr>
            <a:picLocks noChangeAspect="1"/>
          </p:cNvPicPr>
          <p:nvPr/>
        </p:nvPicPr>
        <p:blipFill>
          <a:blip r:embed="rId3"/>
          <a:stretch>
            <a:fillRect/>
          </a:stretch>
        </p:blipFill>
        <p:spPr>
          <a:xfrm>
            <a:off x="371007" y="4277710"/>
            <a:ext cx="8401986" cy="2095569"/>
          </a:xfrm>
          <a:prstGeom prst="rect">
            <a:avLst/>
          </a:prstGeom>
        </p:spPr>
      </p:pic>
    </p:spTree>
    <p:extLst>
      <p:ext uri="{BB962C8B-B14F-4D97-AF65-F5344CB8AC3E}">
        <p14:creationId xmlns:p14="http://schemas.microsoft.com/office/powerpoint/2010/main" val="2550986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worst-case CPU utilization</a:t>
            </a:r>
          </a:p>
        </p:txBody>
      </p:sp>
      <p:sp>
        <p:nvSpPr>
          <p:cNvPr id="3" name="Content Placeholder 2"/>
          <p:cNvSpPr>
            <a:spLocks noGrp="1"/>
          </p:cNvSpPr>
          <p:nvPr>
            <p:ph idx="1"/>
          </p:nvPr>
        </p:nvSpPr>
        <p:spPr/>
        <p:txBody>
          <a:bodyPr/>
          <a:lstStyle/>
          <a:p>
            <a:r>
              <a:rPr lang="en-US" dirty="0"/>
              <a:t>The worst-case CPU utilization for scheduling </a:t>
            </a:r>
            <a:r>
              <a:rPr lang="en-US" i="1" dirty="0"/>
              <a:t>N </a:t>
            </a:r>
            <a:r>
              <a:rPr lang="en-US" dirty="0"/>
              <a:t>processes is:</a:t>
            </a:r>
          </a:p>
          <a:p>
            <a:pPr lvl="1"/>
            <a:r>
              <a:rPr lang="en-US" sz="2800" i="1" dirty="0">
                <a:solidFill>
                  <a:srgbClr val="FF0000"/>
                </a:solidFill>
              </a:rPr>
              <a:t>N</a:t>
            </a:r>
            <a:r>
              <a:rPr lang="en-US" sz="2800" dirty="0">
                <a:solidFill>
                  <a:srgbClr val="FF0000"/>
                </a:solidFill>
              </a:rPr>
              <a:t>(2</a:t>
            </a:r>
            <a:r>
              <a:rPr lang="en-US" sz="2800" baseline="30000" dirty="0">
                <a:solidFill>
                  <a:srgbClr val="FF0000"/>
                </a:solidFill>
              </a:rPr>
              <a:t>1∕</a:t>
            </a:r>
            <a:r>
              <a:rPr lang="en-US" sz="2800" i="1" baseline="30000" dirty="0">
                <a:solidFill>
                  <a:srgbClr val="FF0000"/>
                </a:solidFill>
              </a:rPr>
              <a:t>N </a:t>
            </a:r>
            <a:r>
              <a:rPr lang="en-US" sz="2800" dirty="0">
                <a:solidFill>
                  <a:srgbClr val="FF0000"/>
                </a:solidFill>
              </a:rPr>
              <a:t>− 1)</a:t>
            </a:r>
            <a:r>
              <a:rPr lang="en-US" sz="2800" i="1" dirty="0">
                <a:solidFill>
                  <a:srgbClr val="FF0000"/>
                </a:solidFill>
              </a:rPr>
              <a:t>.</a:t>
            </a:r>
          </a:p>
          <a:p>
            <a:r>
              <a:rPr lang="en-US" i="1" dirty="0"/>
              <a:t>For two processes N</a:t>
            </a:r>
            <a:r>
              <a:rPr lang="en-US" dirty="0"/>
              <a:t>(2</a:t>
            </a:r>
            <a:r>
              <a:rPr lang="en-US" baseline="30000" dirty="0"/>
              <a:t>1∕</a:t>
            </a:r>
            <a:r>
              <a:rPr lang="en-US" i="1" baseline="30000" dirty="0"/>
              <a:t>N </a:t>
            </a:r>
            <a:r>
              <a:rPr lang="en-US" dirty="0"/>
              <a:t>− 1)</a:t>
            </a:r>
            <a:r>
              <a:rPr lang="en-US" i="1" dirty="0"/>
              <a:t>= </a:t>
            </a:r>
            <a:r>
              <a:rPr lang="en-US" dirty="0"/>
              <a:t>about </a:t>
            </a:r>
            <a:r>
              <a:rPr lang="en-US" dirty="0">
                <a:solidFill>
                  <a:srgbClr val="FF0000"/>
                </a:solidFill>
                <a:highlight>
                  <a:srgbClr val="FFFF00"/>
                </a:highlight>
              </a:rPr>
              <a:t>83</a:t>
            </a:r>
            <a:r>
              <a:rPr lang="en-US" dirty="0"/>
              <a:t> percent</a:t>
            </a:r>
          </a:p>
          <a:p>
            <a:r>
              <a:rPr lang="en-US" dirty="0"/>
              <a:t>For the two processes scheduled in </a:t>
            </a:r>
            <a:r>
              <a:rPr lang="en-US" dirty="0">
                <a:solidFill>
                  <a:srgbClr val="FF0000"/>
                </a:solidFill>
              </a:rPr>
              <a:t>Figure 5.23</a:t>
            </a:r>
            <a:r>
              <a:rPr lang="en-US" dirty="0"/>
              <a:t>, combined CPU utilization is approximately </a:t>
            </a:r>
            <a:r>
              <a:rPr lang="en-US" dirty="0">
                <a:solidFill>
                  <a:srgbClr val="FF0000"/>
                </a:solidFill>
              </a:rPr>
              <a:t>94 percent</a:t>
            </a:r>
            <a:r>
              <a:rPr lang="en-US" dirty="0"/>
              <a:t>; </a:t>
            </a:r>
          </a:p>
          <a:p>
            <a:r>
              <a:rPr lang="en-US" dirty="0">
                <a:solidFill>
                  <a:srgbClr val="FF0000"/>
                </a:solidFill>
                <a:highlight>
                  <a:srgbClr val="FFFF00"/>
                </a:highlight>
              </a:rPr>
              <a:t>therefore</a:t>
            </a:r>
            <a:r>
              <a:rPr lang="en-US" dirty="0"/>
              <a:t>, rate-monotonic scheduling </a:t>
            </a:r>
            <a:r>
              <a:rPr lang="en-US" dirty="0">
                <a:solidFill>
                  <a:srgbClr val="FF0000"/>
                </a:solidFill>
              </a:rPr>
              <a:t>cannot guarantee </a:t>
            </a:r>
            <a:r>
              <a:rPr lang="en-US" dirty="0"/>
              <a:t>that they can be scheduled so that they meet their </a:t>
            </a:r>
            <a:r>
              <a:rPr lang="en-US" dirty="0">
                <a:solidFill>
                  <a:srgbClr val="FF0000"/>
                </a:solidFill>
                <a:highlight>
                  <a:srgbClr val="FFFF00"/>
                </a:highlight>
              </a:rPr>
              <a:t>deadlines</a:t>
            </a:r>
            <a:r>
              <a:rPr lang="en-US" dirty="0"/>
              <a:t>. </a:t>
            </a:r>
          </a:p>
        </p:txBody>
      </p:sp>
    </p:spTree>
    <p:extLst>
      <p:ext uri="{BB962C8B-B14F-4D97-AF65-F5344CB8AC3E}">
        <p14:creationId xmlns:p14="http://schemas.microsoft.com/office/powerpoint/2010/main" val="32835731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altLang="en-US" dirty="0"/>
              <a:t>Rate Monotonic Scheduling</a:t>
            </a:r>
            <a:endParaRPr lang="en-US" dirty="0"/>
          </a:p>
        </p:txBody>
      </p:sp>
      <p:sp>
        <p:nvSpPr>
          <p:cNvPr id="3" name="Content Placeholder 2"/>
          <p:cNvSpPr>
            <a:spLocks noGrp="1"/>
          </p:cNvSpPr>
          <p:nvPr>
            <p:ph idx="1"/>
          </p:nvPr>
        </p:nvSpPr>
        <p:spPr>
          <a:xfrm>
            <a:off x="457200" y="1233488"/>
            <a:ext cx="8537944" cy="4530725"/>
          </a:xfrm>
        </p:spPr>
        <p:txBody>
          <a:bodyPr/>
          <a:lstStyle/>
          <a:p>
            <a:pPr lvl="3"/>
            <a:r>
              <a:rPr lang="en-US" dirty="0"/>
              <a:t>period</a:t>
            </a:r>
          </a:p>
          <a:p>
            <a:r>
              <a:rPr lang="en-US" dirty="0"/>
              <a:t>T1	3	20		L.C.M=20</a:t>
            </a:r>
          </a:p>
          <a:p>
            <a:r>
              <a:rPr lang="en-US" dirty="0"/>
              <a:t>T2	2	5		priority T2&gt;T3&gt;T1</a:t>
            </a:r>
          </a:p>
          <a:p>
            <a:r>
              <a:rPr lang="en-US" dirty="0"/>
              <a:t>T3	2	10</a:t>
            </a:r>
          </a:p>
          <a:p>
            <a:endParaRPr lang="en-US" dirty="0"/>
          </a:p>
        </p:txBody>
      </p:sp>
      <p:pic>
        <p:nvPicPr>
          <p:cNvPr id="4" name="Picture 3"/>
          <p:cNvPicPr>
            <a:picLocks noChangeAspect="1"/>
          </p:cNvPicPr>
          <p:nvPr/>
        </p:nvPicPr>
        <p:blipFill>
          <a:blip r:embed="rId2"/>
          <a:stretch>
            <a:fillRect/>
          </a:stretch>
        </p:blipFill>
        <p:spPr>
          <a:xfrm>
            <a:off x="371363" y="976866"/>
            <a:ext cx="8124825" cy="5372100"/>
          </a:xfrm>
          <a:prstGeom prst="rect">
            <a:avLst/>
          </a:prstGeom>
        </p:spPr>
      </p:pic>
    </p:spTree>
    <p:extLst>
      <p:ext uri="{BB962C8B-B14F-4D97-AF65-F5344CB8AC3E}">
        <p14:creationId xmlns:p14="http://schemas.microsoft.com/office/powerpoint/2010/main" val="35235095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811763" y="121920"/>
            <a:ext cx="8309377" cy="571412"/>
          </a:xfrm>
        </p:spPr>
        <p:txBody>
          <a:bodyPr/>
          <a:lstStyle/>
          <a:p>
            <a:pPr eaLnBrk="1" hangingPunct="1"/>
            <a:r>
              <a:rPr lang="en-US" altLang="en-US" sz="2800" dirty="0"/>
              <a:t>5.6.4.Earliest </a:t>
            </a:r>
            <a:r>
              <a:rPr lang="en-US" altLang="en-US" sz="2800" u="sng" dirty="0">
                <a:solidFill>
                  <a:srgbClr val="FF0000"/>
                </a:solidFill>
              </a:rPr>
              <a:t>Deadline</a:t>
            </a:r>
            <a:r>
              <a:rPr lang="en-US" altLang="en-US" sz="2800" dirty="0"/>
              <a:t>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567559" y="903890"/>
            <a:ext cx="8387255" cy="4836510"/>
          </a:xfrm>
        </p:spPr>
        <p:txBody>
          <a:bodyPr/>
          <a:lstStyle/>
          <a:p>
            <a:r>
              <a:rPr lang="en-US" sz="2400" dirty="0"/>
              <a:t>Earliest deadline first (EDF) is a</a:t>
            </a:r>
            <a:r>
              <a:rPr lang="en-US" sz="2400" b="1" dirty="0"/>
              <a:t> dynamic priority scheduling algorithm</a:t>
            </a:r>
            <a:r>
              <a:rPr lang="en-US" sz="2400" dirty="0"/>
              <a:t> that is used to place processes in a priority queue.</a:t>
            </a:r>
          </a:p>
          <a:p>
            <a:r>
              <a:rPr lang="en-US" sz="2400" dirty="0"/>
              <a:t> Whenever a scheduling event occurs (e.g., thread finishes, grabs a mutex) the queue will </a:t>
            </a:r>
            <a:r>
              <a:rPr lang="en-US" sz="2400" dirty="0">
                <a:solidFill>
                  <a:srgbClr val="FF0000"/>
                </a:solidFill>
                <a:highlight>
                  <a:srgbClr val="FFFF00"/>
                </a:highlight>
              </a:rPr>
              <a:t>search for the processes closest to its deadline,</a:t>
            </a:r>
            <a:r>
              <a:rPr lang="ar-SA" sz="2400" dirty="0">
                <a:solidFill>
                  <a:srgbClr val="FF0000"/>
                </a:solidFill>
                <a:latin typeface="Times New Roman" panose="02020603050405020304" pitchFamily="18" charset="0"/>
                <a:cs typeface="Times New Roman" panose="02020603050405020304" pitchFamily="18" charset="0"/>
              </a:rPr>
              <a:t> البحث عن العمليات الأقرب إلى الموعد النهائي ،</a:t>
            </a:r>
            <a:r>
              <a:rPr lang="en-US" sz="2400" dirty="0"/>
              <a:t> and that process will be the next to be scheduled for execution.</a:t>
            </a:r>
            <a:endParaRPr lang="en-US" altLang="en-US" sz="2400" dirty="0"/>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9593" y="4056993"/>
            <a:ext cx="7546848" cy="1683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811763" y="121920"/>
            <a:ext cx="8309377" cy="571412"/>
          </a:xfrm>
        </p:spPr>
        <p:txBody>
          <a:bodyPr/>
          <a:lstStyle/>
          <a:p>
            <a:pPr eaLnBrk="1" hangingPunct="1"/>
            <a:r>
              <a:rPr lang="en-US" altLang="en-US" sz="2800" dirty="0"/>
              <a:t>5.6.4.Earliest </a:t>
            </a:r>
            <a:r>
              <a:rPr lang="en-US" altLang="en-US" sz="2800" u="sng" dirty="0">
                <a:solidFill>
                  <a:srgbClr val="FF0000"/>
                </a:solidFill>
              </a:rPr>
              <a:t>Deadline</a:t>
            </a:r>
            <a:r>
              <a:rPr lang="en-US" altLang="en-US" sz="2800" dirty="0"/>
              <a:t> First Scheduling </a:t>
            </a:r>
            <a:r>
              <a:rPr lang="en-US" altLang="en-US" sz="2800"/>
              <a:t>(EDF)XX</a:t>
            </a:r>
            <a:endParaRPr lang="en-US" altLang="en-US" sz="2800" dirty="0"/>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830317"/>
            <a:ext cx="8116316" cy="4910083"/>
          </a:xfrm>
        </p:spPr>
        <p:txBody>
          <a:bodyPr/>
          <a:lstStyle/>
          <a:p>
            <a:r>
              <a:rPr lang="en-US" altLang="en-US" sz="2400" dirty="0"/>
              <a:t>Priorities are assigned according to deadlines:</a:t>
            </a:r>
          </a:p>
          <a:p>
            <a:pPr lvl="1"/>
            <a:r>
              <a:rPr lang="en-US" altLang="en-US" sz="2400" dirty="0"/>
              <a:t>The earlier the </a:t>
            </a:r>
            <a:r>
              <a:rPr lang="en-US" altLang="en-US" sz="2400" dirty="0">
                <a:solidFill>
                  <a:srgbClr val="FF0000"/>
                </a:solidFill>
              </a:rPr>
              <a:t>deadline</a:t>
            </a:r>
            <a:r>
              <a:rPr lang="en-US" altLang="en-US" sz="2400" dirty="0"/>
              <a:t>, the </a:t>
            </a:r>
            <a:r>
              <a:rPr lang="en-US" altLang="en-US" sz="2400" dirty="0">
                <a:solidFill>
                  <a:srgbClr val="FF0000"/>
                </a:solidFill>
              </a:rPr>
              <a:t>higher</a:t>
            </a:r>
            <a:r>
              <a:rPr lang="en-US" altLang="en-US" sz="2400" dirty="0"/>
              <a:t> the priority</a:t>
            </a:r>
          </a:p>
          <a:p>
            <a:pPr lvl="1"/>
            <a:r>
              <a:rPr lang="en-US" altLang="en-US" sz="2400" dirty="0"/>
              <a:t>The later the </a:t>
            </a:r>
            <a:r>
              <a:rPr lang="en-US" altLang="en-US" sz="2400" dirty="0">
                <a:solidFill>
                  <a:srgbClr val="FF0000"/>
                </a:solidFill>
              </a:rPr>
              <a:t>deadline</a:t>
            </a:r>
            <a:r>
              <a:rPr lang="en-US" altLang="en-US" sz="2400" dirty="0"/>
              <a:t>, the </a:t>
            </a:r>
            <a:r>
              <a:rPr lang="en-US" altLang="en-US" sz="2400" dirty="0">
                <a:solidFill>
                  <a:srgbClr val="FF0000"/>
                </a:solidFill>
              </a:rPr>
              <a:t>lower</a:t>
            </a:r>
            <a:r>
              <a:rPr lang="en-US" altLang="en-US" sz="2400" dirty="0"/>
              <a:t> the priority</a:t>
            </a:r>
          </a:p>
          <a:p>
            <a:r>
              <a:rPr lang="en-US" sz="2400" dirty="0"/>
              <a:t>However, whereas rate-monotonic scheduling allows </a:t>
            </a:r>
            <a:r>
              <a:rPr lang="en-US" sz="2400" i="1" dirty="0"/>
              <a:t>P</a:t>
            </a:r>
            <a:r>
              <a:rPr lang="en-US" sz="2400" dirty="0"/>
              <a:t>1 to preempt </a:t>
            </a:r>
            <a:r>
              <a:rPr lang="en-US" sz="2400" i="1" dirty="0"/>
              <a:t>P</a:t>
            </a:r>
            <a:r>
              <a:rPr lang="en-US" sz="2400" dirty="0"/>
              <a:t>2 at the beginning of its next period at time 50, </a:t>
            </a:r>
            <a:r>
              <a:rPr lang="en-US" sz="2400" dirty="0">
                <a:solidFill>
                  <a:srgbClr val="FF0000"/>
                </a:solidFill>
              </a:rPr>
              <a:t>EDF</a:t>
            </a:r>
            <a:r>
              <a:rPr lang="en-US" sz="2400" dirty="0"/>
              <a:t> scheduling allows process </a:t>
            </a:r>
            <a:r>
              <a:rPr lang="en-US" sz="2400" i="1" dirty="0"/>
              <a:t>P</a:t>
            </a:r>
            <a:r>
              <a:rPr lang="en-US" sz="2400" dirty="0"/>
              <a:t>2 to </a:t>
            </a:r>
            <a:r>
              <a:rPr lang="en-US" sz="2400" dirty="0">
                <a:solidFill>
                  <a:srgbClr val="FF0000"/>
                </a:solidFill>
                <a:highlight>
                  <a:srgbClr val="FFFF00"/>
                </a:highlight>
              </a:rPr>
              <a:t>continue running. </a:t>
            </a:r>
            <a:endParaRPr lang="en-US" altLang="en-US" sz="2400" dirty="0">
              <a:solidFill>
                <a:srgbClr val="FF0000"/>
              </a:solidFill>
              <a:highlight>
                <a:srgbClr val="FFFF00"/>
              </a:highlight>
            </a:endParaRP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96475" y="3941379"/>
            <a:ext cx="7400987" cy="136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98500" y="5594411"/>
            <a:ext cx="8116316" cy="646331"/>
          </a:xfrm>
          <a:prstGeom prst="rect">
            <a:avLst/>
          </a:prstGeom>
        </p:spPr>
        <p:txBody>
          <a:bodyPr wrap="square">
            <a:spAutoFit/>
          </a:bodyPr>
          <a:lstStyle/>
          <a:p>
            <a:r>
              <a:rPr lang="en-US" dirty="0">
                <a:solidFill>
                  <a:srgbClr val="FF0000"/>
                </a:solidFill>
              </a:rPr>
              <a:t>Recall that P1 has values of p1 = 50 and t1 = 25 and that P2 has</a:t>
            </a:r>
          </a:p>
          <a:p>
            <a:r>
              <a:rPr lang="en-US" dirty="0">
                <a:solidFill>
                  <a:srgbClr val="FF0000"/>
                </a:solidFill>
              </a:rPr>
              <a:t>values of p2 = 80 and t2 = 35.</a:t>
            </a:r>
          </a:p>
        </p:txBody>
      </p:sp>
    </p:spTree>
    <p:extLst>
      <p:ext uri="{BB962C8B-B14F-4D97-AF65-F5344CB8AC3E}">
        <p14:creationId xmlns:p14="http://schemas.microsoft.com/office/powerpoint/2010/main" val="16121308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811763" y="121920"/>
            <a:ext cx="8309377" cy="571412"/>
          </a:xfrm>
        </p:spPr>
        <p:txBody>
          <a:bodyPr/>
          <a:lstStyle/>
          <a:p>
            <a:pPr eaLnBrk="1" hangingPunct="1"/>
            <a:r>
              <a:rPr lang="en-US" altLang="en-US" sz="2800" dirty="0"/>
              <a:t>5.6.4.Earliest </a:t>
            </a:r>
            <a:r>
              <a:rPr lang="en-US" altLang="en-US" sz="2800" u="sng" dirty="0">
                <a:solidFill>
                  <a:srgbClr val="FF0000"/>
                </a:solidFill>
              </a:rPr>
              <a:t>Deadline</a:t>
            </a:r>
            <a:r>
              <a:rPr lang="en-US" altLang="en-US" sz="2800" dirty="0"/>
              <a:t>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448057" y="1257300"/>
            <a:ext cx="8558784" cy="4483100"/>
          </a:xfrm>
        </p:spPr>
        <p:txBody>
          <a:bodyPr/>
          <a:lstStyle/>
          <a:p>
            <a:r>
              <a:rPr lang="en-US" i="1" dirty="0"/>
              <a:t>P</a:t>
            </a:r>
            <a:r>
              <a:rPr lang="en-US" dirty="0"/>
              <a:t>2 now has a higher priority than </a:t>
            </a:r>
            <a:r>
              <a:rPr lang="en-US" i="1" dirty="0"/>
              <a:t>P</a:t>
            </a:r>
            <a:r>
              <a:rPr lang="en-US" dirty="0"/>
              <a:t>1 because its next deadline (at time 80) is earlier than that of </a:t>
            </a:r>
            <a:r>
              <a:rPr lang="en-US" i="1" dirty="0"/>
              <a:t>P</a:t>
            </a:r>
            <a:r>
              <a:rPr lang="en-US" dirty="0"/>
              <a:t>1 (at time 100). </a:t>
            </a:r>
          </a:p>
          <a:p>
            <a:r>
              <a:rPr lang="en-US" dirty="0"/>
              <a:t>Thus, both </a:t>
            </a:r>
            <a:r>
              <a:rPr lang="en-US" i="1" dirty="0"/>
              <a:t>P</a:t>
            </a:r>
            <a:r>
              <a:rPr lang="en-US" dirty="0"/>
              <a:t>1 and </a:t>
            </a:r>
            <a:r>
              <a:rPr lang="en-US" i="1" dirty="0"/>
              <a:t>P</a:t>
            </a:r>
            <a:r>
              <a:rPr lang="en-US" dirty="0"/>
              <a:t>2 meet their first deadlines. Process </a:t>
            </a:r>
            <a:r>
              <a:rPr lang="en-US" i="1" dirty="0"/>
              <a:t>P</a:t>
            </a:r>
            <a:r>
              <a:rPr lang="en-US" dirty="0"/>
              <a:t>1 again begins running at time 60 and completes its second CPU burst at time 85, also meeting its second deadline at time 100.</a:t>
            </a:r>
          </a:p>
          <a:p>
            <a:r>
              <a:rPr lang="en-US" dirty="0"/>
              <a:t> </a:t>
            </a:r>
            <a:r>
              <a:rPr lang="en-US" i="1" dirty="0"/>
              <a:t>P</a:t>
            </a:r>
            <a:r>
              <a:rPr lang="en-US" dirty="0"/>
              <a:t>2 begins running at this point, only to be preempted by </a:t>
            </a:r>
            <a:r>
              <a:rPr lang="en-US" i="1" dirty="0"/>
              <a:t>P</a:t>
            </a:r>
            <a:r>
              <a:rPr lang="en-US" dirty="0"/>
              <a:t>1 at the start of its next period at time 100. </a:t>
            </a:r>
          </a:p>
          <a:p>
            <a:r>
              <a:rPr lang="en-US" sz="2000" i="1" dirty="0">
                <a:solidFill>
                  <a:srgbClr val="FF0000"/>
                </a:solidFill>
              </a:rPr>
              <a:t>P</a:t>
            </a:r>
            <a:r>
              <a:rPr lang="en-US" sz="2000" dirty="0">
                <a:solidFill>
                  <a:srgbClr val="FF0000"/>
                </a:solidFill>
              </a:rPr>
              <a:t>2 is preempted because </a:t>
            </a:r>
            <a:r>
              <a:rPr lang="en-US" sz="2000" i="1" dirty="0">
                <a:solidFill>
                  <a:srgbClr val="FF0000"/>
                </a:solidFill>
              </a:rPr>
              <a:t>P</a:t>
            </a:r>
            <a:r>
              <a:rPr lang="en-US" sz="2000" dirty="0">
                <a:solidFill>
                  <a:srgbClr val="FF0000"/>
                </a:solidFill>
              </a:rPr>
              <a:t>1 has an earlier deadline (time 150) than </a:t>
            </a:r>
            <a:r>
              <a:rPr lang="en-US" sz="2000" i="1" dirty="0">
                <a:solidFill>
                  <a:srgbClr val="FF0000"/>
                </a:solidFill>
              </a:rPr>
              <a:t>P</a:t>
            </a:r>
            <a:r>
              <a:rPr lang="en-US" sz="2000" dirty="0">
                <a:solidFill>
                  <a:srgbClr val="FF0000"/>
                </a:solidFill>
              </a:rPr>
              <a:t>2 (time 160). </a:t>
            </a:r>
            <a:r>
              <a:rPr lang="en-US" dirty="0"/>
              <a:t>At time 125, </a:t>
            </a:r>
            <a:r>
              <a:rPr lang="en-US" i="1" dirty="0"/>
              <a:t>P</a:t>
            </a:r>
            <a:r>
              <a:rPr lang="en-US" dirty="0"/>
              <a:t>1 completes its CPU burst and </a:t>
            </a:r>
            <a:r>
              <a:rPr lang="en-US" i="1" dirty="0"/>
              <a:t>P</a:t>
            </a:r>
            <a:r>
              <a:rPr lang="en-US" dirty="0"/>
              <a:t>2 resumes execution, finishing at time 145 and meeting its deadline as well. The system is idle until time 150, when </a:t>
            </a:r>
            <a:r>
              <a:rPr lang="en-US" i="1" dirty="0"/>
              <a:t>P</a:t>
            </a:r>
            <a:r>
              <a:rPr lang="en-US" dirty="0"/>
              <a:t>1 is scheduled to run once again.</a:t>
            </a:r>
            <a:endParaRPr lang="en-US" altLang="en-US" dirty="0"/>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9576" y="4848828"/>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98500" y="4664162"/>
            <a:ext cx="8116316" cy="369332"/>
          </a:xfrm>
          <a:prstGeom prst="rect">
            <a:avLst/>
          </a:prstGeom>
        </p:spPr>
        <p:txBody>
          <a:bodyPr wrap="square">
            <a:spAutoFit/>
          </a:bodyPr>
          <a:lstStyle/>
          <a:p>
            <a:endParaRPr lang="en-US" dirty="0">
              <a:solidFill>
                <a:srgbClr val="FF0000"/>
              </a:solidFill>
            </a:endParaRPr>
          </a:p>
        </p:txBody>
      </p:sp>
    </p:spTree>
    <p:extLst>
      <p:ext uri="{BB962C8B-B14F-4D97-AF65-F5344CB8AC3E}">
        <p14:creationId xmlns:p14="http://schemas.microsoft.com/office/powerpoint/2010/main" val="18885795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5.6.5.</a:t>
            </a:r>
            <a:r>
              <a:rPr lang="en-US" dirty="0"/>
              <a:t>Proportional Share Scheduling</a:t>
            </a:r>
          </a:p>
        </p:txBody>
      </p:sp>
      <p:sp>
        <p:nvSpPr>
          <p:cNvPr id="3" name="Content Placeholder 2"/>
          <p:cNvSpPr>
            <a:spLocks noGrp="1"/>
          </p:cNvSpPr>
          <p:nvPr>
            <p:ph idx="1"/>
          </p:nvPr>
        </p:nvSpPr>
        <p:spPr/>
        <p:txBody>
          <a:bodyPr/>
          <a:lstStyle/>
          <a:p>
            <a:r>
              <a:rPr lang="en-US" dirty="0"/>
              <a:t>Proportional Share Scheduling is a</a:t>
            </a:r>
            <a:r>
              <a:rPr lang="en-US" b="1" dirty="0"/>
              <a:t> type of scheduling that </a:t>
            </a:r>
            <a:r>
              <a:rPr lang="en-US" b="1" dirty="0" err="1"/>
              <a:t>preallocates</a:t>
            </a:r>
            <a:r>
              <a:rPr lang="en-US" b="1" dirty="0"/>
              <a:t> certain amount of CPU time to each of the processes</a:t>
            </a:r>
            <a:r>
              <a:rPr lang="en-US" dirty="0"/>
              <a:t>.</a:t>
            </a:r>
          </a:p>
          <a:p>
            <a:r>
              <a:rPr lang="en-US" dirty="0"/>
              <a:t> In a proportional share algorithm every job has a weight, and jobs receive a share of the available resources proportional to the weight of every job.</a:t>
            </a:r>
          </a:p>
          <a:p>
            <a:r>
              <a:rPr lang="en-US" b="1" dirty="0"/>
              <a:t>Proportional share </a:t>
            </a:r>
            <a:r>
              <a:rPr lang="en-US" dirty="0"/>
              <a:t>schedulers operate by allocating </a:t>
            </a:r>
            <a:r>
              <a:rPr lang="en-US" i="1" dirty="0"/>
              <a:t>T </a:t>
            </a:r>
            <a:r>
              <a:rPr lang="en-US" dirty="0"/>
              <a:t>shares among all applications.</a:t>
            </a:r>
          </a:p>
          <a:p>
            <a:r>
              <a:rPr lang="en-US" dirty="0"/>
              <a:t>An application can receive </a:t>
            </a:r>
            <a:r>
              <a:rPr lang="en-US" i="1" dirty="0"/>
              <a:t>N </a:t>
            </a:r>
            <a:r>
              <a:rPr lang="en-US" dirty="0"/>
              <a:t>shares of time, thus ensuring that the</a:t>
            </a:r>
          </a:p>
          <a:p>
            <a:r>
              <a:rPr lang="en-US" dirty="0"/>
              <a:t>application will have </a:t>
            </a:r>
            <a:r>
              <a:rPr lang="en-US" i="1" dirty="0"/>
              <a:t>N</a:t>
            </a:r>
            <a:r>
              <a:rPr lang="en-US" dirty="0"/>
              <a:t>∕</a:t>
            </a:r>
            <a:r>
              <a:rPr lang="en-US" i="1" dirty="0"/>
              <a:t>T </a:t>
            </a:r>
            <a:r>
              <a:rPr lang="en-US" dirty="0"/>
              <a:t>of the total processor time.</a:t>
            </a:r>
          </a:p>
          <a:p>
            <a:r>
              <a:rPr lang="en-US" dirty="0"/>
              <a:t>As an example, assume that a total of </a:t>
            </a:r>
            <a:r>
              <a:rPr lang="en-US" i="1" dirty="0"/>
              <a:t>T </a:t>
            </a:r>
            <a:r>
              <a:rPr lang="en-US" dirty="0"/>
              <a:t>= 100 shares is to be divided among three processes, </a:t>
            </a:r>
            <a:r>
              <a:rPr lang="en-US" i="1" dirty="0"/>
              <a:t>A</a:t>
            </a:r>
            <a:r>
              <a:rPr lang="en-US" dirty="0"/>
              <a:t>, </a:t>
            </a:r>
            <a:r>
              <a:rPr lang="en-US" i="1" dirty="0"/>
              <a:t>B</a:t>
            </a:r>
            <a:r>
              <a:rPr lang="en-US" dirty="0"/>
              <a:t>, and  </a:t>
            </a:r>
            <a:r>
              <a:rPr lang="en-US" i="1" dirty="0"/>
              <a:t>C</a:t>
            </a:r>
            <a:r>
              <a:rPr lang="en-US" dirty="0"/>
              <a:t>. </a:t>
            </a:r>
            <a:r>
              <a:rPr lang="en-US" i="1" dirty="0"/>
              <a:t>A </a:t>
            </a:r>
            <a:r>
              <a:rPr lang="en-US" dirty="0"/>
              <a:t>is assigned 50 shares, </a:t>
            </a:r>
            <a:r>
              <a:rPr lang="en-US" i="1" dirty="0"/>
              <a:t>B </a:t>
            </a:r>
            <a:r>
              <a:rPr lang="en-US" dirty="0"/>
              <a:t>is assigned 15 shares, and </a:t>
            </a:r>
            <a:r>
              <a:rPr lang="en-US" i="1" dirty="0"/>
              <a:t>C </a:t>
            </a:r>
            <a:r>
              <a:rPr lang="en-US" dirty="0"/>
              <a:t>is assigned 20 shares.</a:t>
            </a:r>
          </a:p>
          <a:p>
            <a:r>
              <a:rPr lang="en-US" dirty="0"/>
              <a:t>This scheme ensures that </a:t>
            </a:r>
            <a:r>
              <a:rPr lang="en-US" i="1" dirty="0"/>
              <a:t>A </a:t>
            </a:r>
            <a:r>
              <a:rPr lang="en-US" dirty="0"/>
              <a:t>will have 50 percent of total processor time, </a:t>
            </a:r>
            <a:r>
              <a:rPr lang="en-US" i="1" dirty="0"/>
              <a:t>B </a:t>
            </a:r>
            <a:r>
              <a:rPr lang="en-US" dirty="0"/>
              <a:t>will have 15 percent, and </a:t>
            </a:r>
            <a:r>
              <a:rPr lang="en-US" i="1" dirty="0"/>
              <a:t>C </a:t>
            </a:r>
            <a:r>
              <a:rPr lang="en-US" dirty="0"/>
              <a:t>will have 20 percent.</a:t>
            </a:r>
          </a:p>
        </p:txBody>
      </p:sp>
    </p:spTree>
    <p:extLst>
      <p:ext uri="{BB962C8B-B14F-4D97-AF65-F5344CB8AC3E}">
        <p14:creationId xmlns:p14="http://schemas.microsoft.com/office/powerpoint/2010/main" val="39473509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Proportional share schedulers must work in conjunction with an admission-control policy to guarantee that an application receives its allocated shares of time. An admission-control policy will admit a client requesting a particular number of shares only if sufficient shares are available. </a:t>
            </a:r>
          </a:p>
          <a:p>
            <a:pPr algn="r" rtl="1"/>
            <a:r>
              <a:rPr lang="ar-JO" dirty="0">
                <a:latin typeface="Times New Roman" panose="02020603050405020304" pitchFamily="18" charset="0"/>
                <a:cs typeface="Times New Roman" panose="02020603050405020304" pitchFamily="18" charset="0"/>
              </a:rPr>
              <a:t>يجب أن يعمل مجدولو الأسهم التناسبية جنبا إلى جنب مع سياسة مراقبة القبول لضمان حصول الطلب على حصصه المخصصة من الوقت. لن تسمح سياسة مراقبة القبول للعميل بطلب عدد معين من الأسهم إلا في حالة توفر أسهم كافية.</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our current example, we have allocated 50 + 15 + 20 = 85 shares of the total of 100 shares. If a new process </a:t>
            </a:r>
            <a:r>
              <a:rPr lang="en-US" i="1" dirty="0">
                <a:latin typeface="Times New Roman" panose="02020603050405020304" pitchFamily="18" charset="0"/>
                <a:cs typeface="Times New Roman" panose="02020603050405020304" pitchFamily="18" charset="0"/>
              </a:rPr>
              <a:t>D </a:t>
            </a:r>
            <a:r>
              <a:rPr lang="en-US" dirty="0">
                <a:latin typeface="Times New Roman" panose="02020603050405020304" pitchFamily="18" charset="0"/>
                <a:cs typeface="Times New Roman" panose="02020603050405020304" pitchFamily="18" charset="0"/>
              </a:rPr>
              <a:t>requested 30 shares, the admission controller would deny </a:t>
            </a:r>
            <a:r>
              <a:rPr lang="en-US" i="1" dirty="0">
                <a:latin typeface="Times New Roman" panose="02020603050405020304" pitchFamily="18" charset="0"/>
                <a:cs typeface="Times New Roman" panose="02020603050405020304" pitchFamily="18" charset="0"/>
              </a:rPr>
              <a:t>D </a:t>
            </a:r>
            <a:r>
              <a:rPr lang="en-US" dirty="0">
                <a:latin typeface="Times New Roman" panose="02020603050405020304" pitchFamily="18" charset="0"/>
                <a:cs typeface="Times New Roman" panose="02020603050405020304" pitchFamily="18" charset="0"/>
              </a:rPr>
              <a:t>entry into the system.</a:t>
            </a:r>
          </a:p>
          <a:p>
            <a:pPr algn="r" rtl="1"/>
            <a:r>
              <a:rPr lang="ar-JO" dirty="0">
                <a:latin typeface="Times New Roman" panose="02020603050405020304" pitchFamily="18" charset="0"/>
                <a:cs typeface="Times New Roman" panose="02020603050405020304" pitchFamily="18" charset="0"/>
              </a:rPr>
              <a:t>في مثالنا الحالي ، خصصنا 50 + 15 + 20 = 85 سهما من إجمالي 100 سهم. وإذا طلبت عملية جديدة دال 30 سهما، فإن مراقب القبول سيرفض دخول دال إلى النظام.</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4471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a:t>
            </a:r>
          </a:p>
        </p:txBody>
      </p:sp>
    </p:spTree>
    <p:extLst>
      <p:ext uri="{BB962C8B-B14F-4D97-AF65-F5344CB8AC3E}">
        <p14:creationId xmlns:p14="http://schemas.microsoft.com/office/powerpoint/2010/main" val="37978040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569E1B-FF83-4EB9-94BD-9960D5DF4D23}">
  <ds:schemaRefs>
    <ds:schemaRef ds:uri="35ac72bb-6e66-44cc-83f8-5100c656d1f7"/>
    <ds:schemaRef ds:uri="http://schemas.microsoft.com/office/2006/documentManagement/types"/>
    <ds:schemaRef ds:uri="http://www.w3.org/XML/1998/namespac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e5b6be36-7386-47fb-8a9a-07470a3e7672"/>
    <ds:schemaRef ds:uri="http://purl.org/dc/dcmitype/"/>
    <ds:schemaRef ds:uri="http://purl.org/dc/terms/"/>
    <ds:schemaRef ds:uri="904fd754-02b4-4b83-8de5-fcec4d9ad888"/>
    <ds:schemaRef ds:uri="30552f9c-0f0b-4b22-ae40-6a7e015281a6"/>
    <ds:schemaRef ds:uri="http://schemas.microsoft.com/sharepoint/v3"/>
  </ds:schemaRefs>
</ds:datastoreItem>
</file>

<file path=customXml/itemProps2.xml><?xml version="1.0" encoding="utf-8"?>
<ds:datastoreItem xmlns:ds="http://schemas.openxmlformats.org/officeDocument/2006/customXml" ds:itemID="{72DF6BB4-4A0F-4EDB-A61A-33226D2FDF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B5E706-03A5-42FD-97C0-3CCF6A0024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OS8</Template>
  <TotalTime>20074</TotalTime>
  <Words>5646</Words>
  <Application>Microsoft Office PowerPoint</Application>
  <PresentationFormat>On-screen Show (4:3)</PresentationFormat>
  <Paragraphs>559</Paragraphs>
  <Slides>74</Slides>
  <Notes>58</Notes>
  <HiddenSlides>0</HiddenSlides>
  <MMClips>0</MMClips>
  <ScaleCrop>false</ScaleCrop>
  <HeadingPairs>
    <vt:vector size="8" baseType="variant">
      <vt:variant>
        <vt:lpstr>Fonts Used</vt:lpstr>
      </vt:variant>
      <vt:variant>
        <vt:i4>22</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98" baseType="lpstr">
      <vt:lpstr>ＭＳ Ｐゴシック</vt:lpstr>
      <vt:lpstr>ＭＳ Ｐゴシック</vt:lpstr>
      <vt:lpstr>Arial</vt:lpstr>
      <vt:lpstr>Calibri</vt:lpstr>
      <vt:lpstr>Courier New</vt:lpstr>
      <vt:lpstr>Helvetica</vt:lpstr>
      <vt:lpstr>HelveticaNeueLTStd-BdEx</vt:lpstr>
      <vt:lpstr>Lucida Grande</vt:lpstr>
      <vt:lpstr>Monotype Sorts</vt:lpstr>
      <vt:lpstr>PalatinoLTStd-Bold</vt:lpstr>
      <vt:lpstr>PalatinoLTStd-Italic</vt:lpstr>
      <vt:lpstr>PalatinoLTStd-Roman</vt:lpstr>
      <vt:lpstr>新細明體</vt:lpstr>
      <vt:lpstr>Simplified Arabic</vt:lpstr>
      <vt:lpstr>Simplified Arabic Fixed</vt:lpstr>
      <vt:lpstr>STIXMath-Italic</vt:lpstr>
      <vt:lpstr>STIXMath-Regular</vt:lpstr>
      <vt:lpstr>Symbol</vt:lpstr>
      <vt:lpstr>Times New Roman</vt:lpstr>
      <vt:lpstr>Verdana</vt:lpstr>
      <vt:lpstr>Webdings</vt:lpstr>
      <vt:lpstr>Wingdings</vt:lpstr>
      <vt:lpstr>os-8</vt:lpstr>
      <vt:lpstr>Equation</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Scheduling algorithms</vt:lpstr>
      <vt:lpstr>First- Come, First-Served (FCFS) Scheduling</vt:lpstr>
      <vt:lpstr>First- Come, First-Served (FCFS) Scheduling</vt:lpstr>
      <vt:lpstr>FCFS Scheduling (Cont.)</vt:lpstr>
      <vt:lpstr>(2) Shortest-Job-First (SJF) Scheduling</vt:lpstr>
      <vt:lpstr>Shortest-Job-First (SJF) Scheduling</vt:lpstr>
      <vt:lpstr>Shortest-Job-First (SJF) Scheduling</vt:lpstr>
      <vt:lpstr>Example of SJF</vt:lpstr>
      <vt:lpstr>Determining Length of Next CPU Burst</vt:lpstr>
      <vt:lpstr>Prediction of the Length of the Next CPU Burst</vt:lpstr>
      <vt:lpstr>Examples of Exponential Averaging</vt:lpstr>
      <vt:lpstr>Example of Shortest-remaining-time-first</vt:lpstr>
      <vt:lpstr>Round Robin (RR)</vt:lpstr>
      <vt:lpstr>Example of RR with Time Quantum = 4</vt:lpstr>
      <vt:lpstr>Time Quantum and Context Switch Time</vt:lpstr>
      <vt:lpstr>Turnaround Time Varies With The Time Quantum</vt:lpstr>
      <vt:lpstr>Turnaround Time Varies With The Time Quantum</vt:lpstr>
      <vt:lpstr>Priority Scheduling</vt:lpstr>
      <vt:lpstr>Priority Scheduling w/ Round-Robin</vt:lpstr>
      <vt:lpstr>Example of Priority Scheduling</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5.5 Multiple-Processor Scheduling</vt:lpstr>
      <vt:lpstr>5.5.Multiple-Processor Scheduling</vt:lpstr>
      <vt:lpstr>5.5.1 Approaches to Multiple-Processor Scheduling </vt:lpstr>
      <vt:lpstr>5.5.2 Multicore Processors(+)</vt:lpstr>
      <vt:lpstr>Multithreaded Multicore System(+)</vt:lpstr>
      <vt:lpstr>Multithreaded Multicore System Chip-multithreading</vt:lpstr>
      <vt:lpstr>Multithreaded Multicore System Chip-multithreading</vt:lpstr>
      <vt:lpstr>Multiple-Processor Scheduling – Load Balancing</vt:lpstr>
      <vt:lpstr>Multiple-Processor Scheduling – Processor Affinity</vt:lpstr>
      <vt:lpstr>Multiple-Processor Scheduling vs. Processor Affinity -NUMA and CPU Scheduling(+)</vt:lpstr>
      <vt:lpstr>lecture</vt:lpstr>
      <vt:lpstr>5.6.Real-Time CPU Scheduling</vt:lpstr>
      <vt:lpstr>issues</vt:lpstr>
      <vt:lpstr>5.6.1 Minimizing Latencyتقليل زمن الوصول</vt:lpstr>
      <vt:lpstr> 1.Interrupt Latency</vt:lpstr>
      <vt:lpstr> 2.Dispatch Latency</vt:lpstr>
      <vt:lpstr>5.6.2.Priority-based Scheduling</vt:lpstr>
      <vt:lpstr>5.6.2.Priority-based Scheduling next</vt:lpstr>
      <vt:lpstr>5.6.3.Rate Monotonic Scheduling</vt:lpstr>
      <vt:lpstr>PowerPoint Presentation</vt:lpstr>
      <vt:lpstr>Rate Monotonic Scheduling</vt:lpstr>
      <vt:lpstr>Rate Monotonic Scheduling. Explaining example</vt:lpstr>
      <vt:lpstr>Rate Monotonic Scheduling</vt:lpstr>
      <vt:lpstr>Rate Monotonic Scheduling</vt:lpstr>
      <vt:lpstr>Rate Monotonic Scheduling</vt:lpstr>
      <vt:lpstr>The worst-case CPU utilization</vt:lpstr>
      <vt:lpstr>Example Rate Monotonic Scheduling</vt:lpstr>
      <vt:lpstr>5.6.4.Earliest Deadline First Scheduling (EDF)</vt:lpstr>
      <vt:lpstr>5.6.4.Earliest Deadline First Scheduling (EDF)XX</vt:lpstr>
      <vt:lpstr>5.6.4.Earliest Deadline First Scheduling (EDF)</vt:lpstr>
      <vt:lpstr>5.6.5.Proportional Share Scheduling</vt:lpstr>
      <vt:lpstr>PowerPoint Presentation</vt:lpstr>
      <vt:lpstr>lecture</vt:lpstr>
      <vt:lpstr>Proportional Share Scheduling</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mo</cp:lastModifiedBy>
  <cp:revision>345</cp:revision>
  <cp:lastPrinted>2013-09-10T17:57:57Z</cp:lastPrinted>
  <dcterms:created xsi:type="dcterms:W3CDTF">2011-01-13T23:43:38Z</dcterms:created>
  <dcterms:modified xsi:type="dcterms:W3CDTF">2024-06-01T23:16:26Z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
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49"/>
  </p:notesMasterIdLst>
  <p:handoutMasterIdLst>
    <p:handoutMasterId r:id="rId50"/>
  </p:handoutMasterIdLst>
  <p:sldIdLst>
    <p:sldId id="330" r:id="rId5"/>
    <p:sldId id="411" r:id="rId6"/>
    <p:sldId id="412" r:id="rId7"/>
    <p:sldId id="413" r:id="rId8"/>
    <p:sldId id="468" r:id="rId9"/>
    <p:sldId id="415" r:id="rId10"/>
    <p:sldId id="417" r:id="rId11"/>
    <p:sldId id="419" r:id="rId12"/>
    <p:sldId id="421" r:id="rId13"/>
    <p:sldId id="501" r:id="rId14"/>
    <p:sldId id="426" r:id="rId15"/>
    <p:sldId id="428" r:id="rId16"/>
    <p:sldId id="429" r:id="rId17"/>
    <p:sldId id="431" r:id="rId18"/>
    <p:sldId id="434" r:id="rId19"/>
    <p:sldId id="471" r:id="rId20"/>
    <p:sldId id="502" r:id="rId21"/>
    <p:sldId id="435" r:id="rId22"/>
    <p:sldId id="527" r:id="rId23"/>
    <p:sldId id="436" r:id="rId24"/>
    <p:sldId id="359" r:id="rId25"/>
    <p:sldId id="516" r:id="rId26"/>
    <p:sldId id="503" r:id="rId27"/>
    <p:sldId id="490" r:id="rId28"/>
    <p:sldId id="491" r:id="rId29"/>
    <p:sldId id="492" r:id="rId30"/>
    <p:sldId id="521" r:id="rId31"/>
    <p:sldId id="522" r:id="rId32"/>
    <p:sldId id="523" r:id="rId33"/>
    <p:sldId id="524" r:id="rId34"/>
    <p:sldId id="525" r:id="rId35"/>
    <p:sldId id="530" r:id="rId36"/>
    <p:sldId id="479" r:id="rId37"/>
    <p:sldId id="473" r:id="rId38"/>
    <p:sldId id="360" r:id="rId39"/>
    <p:sldId id="445" r:id="rId40"/>
    <p:sldId id="446" r:id="rId41"/>
    <p:sldId id="447" r:id="rId42"/>
    <p:sldId id="448" r:id="rId43"/>
    <p:sldId id="518" r:id="rId44"/>
    <p:sldId id="451" r:id="rId45"/>
    <p:sldId id="496" r:id="rId46"/>
    <p:sldId id="455" r:id="rId47"/>
    <p:sldId id="510" r:id="rId48"/>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10" autoAdjust="0"/>
    <p:restoredTop sz="95033" autoAdjust="0"/>
  </p:normalViewPr>
  <p:slideViewPr>
    <p:cSldViewPr snapToGrid="0">
      <p:cViewPr>
        <p:scale>
          <a:sx n="93" d="100"/>
          <a:sy n="93" d="100"/>
        </p:scale>
        <p:origin x="552" y="44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4" d="100"/>
        <a:sy n="94" d="100"/>
      </p:scale>
      <p:origin x="0" y="-905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A12DC8-9922-4E6E-BC02-F6A637672188}"/>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3" name="Rectangle 3">
            <a:extLst>
              <a:ext uri="{FF2B5EF4-FFF2-40B4-BE49-F238E27FC236}">
                <a16:creationId xmlns:a16="http://schemas.microsoft.com/office/drawing/2014/main" id="{6E72947A-FE2E-4445-85D8-C03306D26DD8}"/>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algn="r" defTabSz="882650">
              <a:defRPr sz="1100">
                <a:latin typeface="Helvetica" panose="020B0604020202020204" pitchFamily="34" charset="0"/>
              </a:defRPr>
            </a:lvl1pPr>
          </a:lstStyle>
          <a:p>
            <a:pPr>
              <a:defRPr/>
            </a:pPr>
            <a:endParaRPr lang="en-US" altLang="en-US"/>
          </a:p>
        </p:txBody>
      </p:sp>
      <p:sp>
        <p:nvSpPr>
          <p:cNvPr id="46084" name="Rectangle 4">
            <a:extLst>
              <a:ext uri="{FF2B5EF4-FFF2-40B4-BE49-F238E27FC236}">
                <a16:creationId xmlns:a16="http://schemas.microsoft.com/office/drawing/2014/main" id="{C64A7CC0-6DD4-4720-82BF-E4908F4AFFA7}"/>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5" name="Rectangle 5">
            <a:extLst>
              <a:ext uri="{FF2B5EF4-FFF2-40B4-BE49-F238E27FC236}">
                <a16:creationId xmlns:a16="http://schemas.microsoft.com/office/drawing/2014/main" id="{6BE9BEEC-119C-420C-8C74-AFCA5FA1C4C9}"/>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algn="r" defTabSz="882650">
              <a:defRPr sz="1100">
                <a:latin typeface="Helvetica" charset="0"/>
                <a:ea typeface="MS PGothic" charset="-128"/>
              </a:defRPr>
            </a:lvl1pPr>
          </a:lstStyle>
          <a:p>
            <a:pPr>
              <a:defRPr/>
            </a:pPr>
            <a:fld id="{896B91AD-C34E-4B05-8D9C-1014E5F01E33}"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715B35B-6971-4CC0-B4FB-95B01BCF426E}"/>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47" name="Rectangle 3">
            <a:extLst>
              <a:ext uri="{FF2B5EF4-FFF2-40B4-BE49-F238E27FC236}">
                <a16:creationId xmlns:a16="http://schemas.microsoft.com/office/drawing/2014/main" id="{2A02FF1F-3F52-47A2-B35E-EBB0E228297E}"/>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algn="r" defTabSz="930275">
              <a:defRPr sz="1200">
                <a:latin typeface="Times New Roman" panose="02020603050405020304"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12612CE7-EF94-4293-9356-A0763F4E73EB}"/>
              </a:ext>
            </a:extLst>
          </p:cNvPr>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43BD7482-5C58-44F9-A08E-BFE34494D0D8}"/>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AC6369B-F957-4079-90E1-CA217ED505C7}"/>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51" name="Rectangle 7">
            <a:extLst>
              <a:ext uri="{FF2B5EF4-FFF2-40B4-BE49-F238E27FC236}">
                <a16:creationId xmlns:a16="http://schemas.microsoft.com/office/drawing/2014/main" id="{D62366FD-3440-43D4-A730-7A55A662E47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algn="r" defTabSz="930275">
              <a:defRPr sz="1200">
                <a:latin typeface="Times New Roman" charset="0"/>
                <a:ea typeface="MS PGothic" charset="-128"/>
              </a:defRPr>
            </a:lvl1pPr>
          </a:lstStyle>
          <a:p>
            <a:pPr>
              <a:defRPr/>
            </a:pPr>
            <a:fld id="{73B872E8-FDB0-4502-A51A-B7A4A00AC4E7}"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DEF1EC1-A032-4256-A5B8-82331B81B1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B6FBBD-AF90-4377-83FA-2F3819AD38A1}"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1DCEB876-7853-4EC8-86DE-2233D519AA5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1317CDD3-494C-45D9-A8EF-4B0E12327A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0DF96DF-3F74-4EB3-AA2E-7D9494973AAF}"/>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E2557FD8-EB60-4E74-935E-C71DFE670F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BCFB357-A457-418B-BC82-12A779287133}"/>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4AC72817-56C5-4C77-BF6F-D63723000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730F164-3563-441D-A2BB-9ECF873C6BA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58081F0E-1362-4F6F-BE70-E88D6BFB0B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FB97593-0041-4772-A59B-E780BE22DF40}"/>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677EF500-B7A4-4BC7-84F3-DC9FCA5B57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9F52C5D-9955-47A2-9EA6-38FEB66EF379}"/>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E6218432-9C5A-4AD0-9E05-B77965972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F878B3E-8479-4A7F-B924-0DB8314B2376}"/>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2282D934-92EA-49D5-A68F-69E0FE5307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9AB2CB0-7084-4003-8F6F-84F247F5EB38}"/>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808F682-D9AD-4570-A2CA-1F45861E4D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D975521-C031-44A8-80BF-39B38B75F005}"/>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A3DECD5-2795-49AC-8BF6-9DFEFF419D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FCFEC24-8D51-4AAB-8657-81C98775092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FAB513B-E127-4650-9171-574B0AF722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40D38BF-69C0-4827-8412-7858C3DF17A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44858F79-C01D-482F-8DDE-C80780DD0A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EC96916-1BAE-4A4E-BF94-2604763DB99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FEBB5C8-282F-4906-80B9-C81D701613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7605DEB-C81B-41F2-ABA8-D21CD717FA7A}"/>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520811E7-D32E-4B74-9C5E-4F2EBBA715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ADFF460-F732-4F8E-9BEC-BDC62B69C0FD}"/>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E427A0BF-8535-41FD-9918-F0C0C2585C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99F2A1A-F415-4861-9317-8DF50F438DE9}"/>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68EDBADE-A031-473C-85B2-8404A68200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3A7F482-09C8-4234-BA8B-E06C784513B0}"/>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F97F5174-3BAF-4B1B-846E-3DB7430B29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6F678B6-0AFA-4070-84E8-E0DDD2DCB29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607DE2B4-6350-4A16-8897-F8F2804C1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Times New Roman" charset="0"/>
                <a:ea typeface="MS PGothic" pitchFamily="34" charset="-128"/>
                <a:cs typeface="MS PGothic" panose="020B0600070205080204" pitchFamily="34" charset="-128"/>
              </a:rPr>
              <a:t>The Chrome browser utilizes a </a:t>
            </a:r>
            <a:r>
              <a:rPr lang="en-US" sz="1200" b="0" i="0" kern="1200" dirty="0" err="1">
                <a:solidFill>
                  <a:schemeClr val="tx1"/>
                </a:solidFill>
                <a:effectLst/>
                <a:latin typeface="Times New Roman" charset="0"/>
                <a:ea typeface="MS PGothic" pitchFamily="34" charset="-128"/>
                <a:cs typeface="MS PGothic" panose="020B0600070205080204" pitchFamily="34" charset="-128"/>
              </a:rPr>
              <a:t>multiprocess</a:t>
            </a:r>
            <a:r>
              <a:rPr lang="en-US" sz="1200" b="0" i="0" kern="1200" dirty="0">
                <a:solidFill>
                  <a:schemeClr val="tx1"/>
                </a:solidFill>
                <a:effectLst/>
                <a:latin typeface="Times New Roman" charset="0"/>
                <a:ea typeface="MS PGothic" pitchFamily="34" charset="-128"/>
                <a:cs typeface="MS PGothic" panose="020B0600070205080204" pitchFamily="34" charset="-128"/>
              </a:rPr>
              <a:t> architecture which has numerous advantages. One of the main advantages is improved stability. By separating each tab into its own process, if one tab crashes or encounters an issue, it does not affect the other tabs or the entire browser. This means that users can continue using the other tabs without interruption.</a:t>
            </a:r>
          </a:p>
          <a:p>
            <a:r>
              <a:rPr lang="en-US" sz="1200" b="0" i="0" kern="1200" dirty="0">
                <a:solidFill>
                  <a:schemeClr val="tx1"/>
                </a:solidFill>
                <a:effectLst/>
                <a:latin typeface="Times New Roman" charset="0"/>
                <a:ea typeface="MS PGothic" pitchFamily="34" charset="-128"/>
                <a:cs typeface="MS PGothic" panose="020B0600070205080204" pitchFamily="34" charset="-128"/>
              </a:rPr>
              <a:t>Another advantage is enhanced security. Each tab runs in a separate process, which prevents malicious websites from accessing other tabs or the user's computer. This isolation helps to reduce the risk of malware infections and keeps user data secure.</a:t>
            </a:r>
          </a:p>
          <a:p>
            <a:r>
              <a:rPr lang="en-US" sz="1200" b="0" i="0" kern="1200" dirty="0">
                <a:solidFill>
                  <a:schemeClr val="tx1"/>
                </a:solidFill>
                <a:effectLst/>
                <a:latin typeface="Times New Roman" charset="0"/>
                <a:ea typeface="MS PGothic" pitchFamily="34" charset="-128"/>
                <a:cs typeface="MS PGothic" panose="020B0600070205080204" pitchFamily="34" charset="-128"/>
              </a:rPr>
              <a:t>Furthermore, the </a:t>
            </a:r>
            <a:r>
              <a:rPr lang="en-US" sz="1200" b="0" i="0" kern="1200" dirty="0" err="1">
                <a:solidFill>
                  <a:schemeClr val="tx1"/>
                </a:solidFill>
                <a:effectLst/>
                <a:latin typeface="Times New Roman" charset="0"/>
                <a:ea typeface="MS PGothic" pitchFamily="34" charset="-128"/>
                <a:cs typeface="MS PGothic" panose="020B0600070205080204" pitchFamily="34" charset="-128"/>
              </a:rPr>
              <a:t>multiprocess</a:t>
            </a:r>
            <a:r>
              <a:rPr lang="en-US" sz="1200" b="0" i="0" kern="1200" dirty="0">
                <a:solidFill>
                  <a:schemeClr val="tx1"/>
                </a:solidFill>
                <a:effectLst/>
                <a:latin typeface="Times New Roman" charset="0"/>
                <a:ea typeface="MS PGothic" pitchFamily="34" charset="-128"/>
                <a:cs typeface="MS PGothic" panose="020B0600070205080204" pitchFamily="34" charset="-128"/>
              </a:rPr>
              <a:t> architecture allows for better resource management. Each tab can utilize its own resources, such as CPU and memory, independently. This improves performance</a:t>
            </a:r>
          </a:p>
          <a:p>
            <a:r>
              <a:rPr lang="ar-JO" sz="1200" b="0" i="0" kern="1200" dirty="0">
                <a:solidFill>
                  <a:schemeClr val="tx1"/>
                </a:solidFill>
                <a:effectLst/>
                <a:latin typeface="Times New Roman" charset="0"/>
                <a:ea typeface="MS PGothic" pitchFamily="34" charset="-128"/>
                <a:cs typeface="MS PGothic" panose="020B0600070205080204" pitchFamily="34" charset="-128"/>
              </a:rPr>
              <a:t>يستخدم متصفح </a:t>
            </a:r>
            <a:r>
              <a:rPr lang="en-US" sz="1200" b="0" i="0" kern="1200" dirty="0">
                <a:solidFill>
                  <a:schemeClr val="tx1"/>
                </a:solidFill>
                <a:effectLst/>
                <a:latin typeface="Times New Roman" charset="0"/>
                <a:ea typeface="MS PGothic" pitchFamily="34" charset="-128"/>
                <a:cs typeface="MS PGothic" panose="020B0600070205080204" pitchFamily="34" charset="-128"/>
              </a:rPr>
              <a:t>Chrome </a:t>
            </a:r>
            <a:r>
              <a:rPr lang="ar-JO" sz="1200" b="0" i="0" kern="1200" dirty="0">
                <a:solidFill>
                  <a:schemeClr val="tx1"/>
                </a:solidFill>
                <a:effectLst/>
                <a:latin typeface="Times New Roman" charset="0"/>
                <a:ea typeface="MS PGothic" pitchFamily="34" charset="-128"/>
                <a:cs typeface="MS PGothic" panose="020B0600070205080204" pitchFamily="34" charset="-128"/>
              </a:rPr>
              <a:t>بنية متعددة العمليات لها مزايا عديدة. واحدة من المزايا الرئيسية هي تحسين الاستقرار. من خلال فصل كل علامة تبويب إلى عملية خاصة بها ، إذا تعطلت إحدى علامات التبويب أو واجهت مشكلة ، فلن يؤثر ذلك على علامات التبويب الأخرى أو المتصفح بأكمله. هذا يعني أنه يمكن للمستخدمين الاستمرار في استخدام علامات التبويب الأخرى دون انقطاع. </a:t>
            </a:r>
          </a:p>
          <a:p>
            <a:r>
              <a:rPr lang="ar-JO" sz="1200" b="0" i="0" kern="1200" dirty="0">
                <a:solidFill>
                  <a:schemeClr val="tx1"/>
                </a:solidFill>
                <a:effectLst/>
                <a:latin typeface="Times New Roman" charset="0"/>
                <a:ea typeface="MS PGothic" pitchFamily="34" charset="-128"/>
                <a:cs typeface="MS PGothic" panose="020B0600070205080204" pitchFamily="34" charset="-128"/>
              </a:rPr>
              <a:t>ميزة أخرى هي تعزيز الأمن. يتم تشغيل كل علامة تبويب في عملية منفصلة ، مما يمنع مواقع الويب الضارة من الوصول إلى علامات تبويب أخرى أو إلى كمبيوتر المستخدم. يساعد هذا العزل على تقليل مخاطر الإصابة بالبرامج الضارة ويحافظ على أمان بيانات المستخدم.</a:t>
            </a:r>
          </a:p>
          <a:p>
            <a:r>
              <a:rPr lang="ar-JO" sz="1200" b="0" i="0" kern="1200" dirty="0">
                <a:solidFill>
                  <a:schemeClr val="tx1"/>
                </a:solidFill>
                <a:effectLst/>
                <a:latin typeface="Times New Roman" charset="0"/>
                <a:ea typeface="MS PGothic" pitchFamily="34" charset="-128"/>
                <a:cs typeface="MS PGothic" panose="020B0600070205080204" pitchFamily="34" charset="-128"/>
              </a:rPr>
              <a:t> علاوة على ذلك ، تسمح البنية متعددة العمليات بإدارة أفضل للموارد. يمكن لكل علامة تبويب استخدام مواردها الخاصة ، مثل وحدة المعالجة المركزية والذاكرة ، بشكل مستقل. هذا يحسن الأداء</a:t>
            </a:r>
            <a:endParaRPr lang="en-US" sz="1200" b="0" i="0" kern="1200" dirty="0">
              <a:solidFill>
                <a:schemeClr val="tx1"/>
              </a:solidFill>
              <a:effectLst/>
              <a:latin typeface="Times New Roman" charset="0"/>
              <a:ea typeface="MS PGothic" pitchFamily="34" charset="-128"/>
              <a:cs typeface="MS PGothic" panose="020B0600070205080204" pitchFamily="34" charset="-128"/>
            </a:endParaRPr>
          </a:p>
          <a:p>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B8301404-D876-4FA9-9859-EB43354FAFAE}"/>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EB83674B-F150-4C3E-831A-26B553169A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254272E-8B5C-40B4-A4EA-B3AC2155864E}"/>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9D1E1BBA-BF49-429D-819D-3CEAF021F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8643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239251B-FC33-4D40-B148-0129E1B72AE4}"/>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17AC1CC3-87E4-46BB-A172-67B5A6F5F1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9012D2EB-E5CC-432C-AA35-77EFC9F89485}"/>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03456285-A128-4E7C-BB44-15A078AAE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D856385-0064-4BB9-8988-568621472550}"/>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889C8C6F-0009-4DC3-B43A-17955C7C84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B49629EB-AB81-479E-8FE7-E7DEFE8390A0}"/>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F6953B83-564C-41A0-B89B-0BB8D611B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085336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8A1752F3-9769-4F81-A848-54098A15C8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329CD1A-AE72-4F61-8821-1DA62212AA59}"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2831E14A-C331-4555-A8C3-1457C596F42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A0ABAF6A-CE19-4868-B5E3-A38DB65BE4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0335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4D3C1504-DE2D-4887-8827-E09054DAE8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BF11701-DA1F-421D-A56C-66611BA250E3}"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1F122118-23A7-4491-BF21-7CA9F458BDE5}"/>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76BB2CE-B3E7-43A0-B4C8-E70E2791B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80839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7DE31E6-8C1D-4E43-8FC9-1E2F3766D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BBD69-54AE-4751-B982-30356D027400}"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8DB144-017B-4356-8EB3-B56BEAA00FD5}"/>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8FA50972-E87E-46C7-B77B-BB77C65B2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57063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7DE31E6-8C1D-4E43-8FC9-1E2F3766D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BBD69-54AE-4751-B982-30356D027400}"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8DB144-017B-4356-8EB3-B56BEAA00FD5}"/>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8FA50972-E87E-46C7-B77B-BB77C65B2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412872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ADE71AF2-BE40-466B-B1D6-529EC4391F00}"/>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163544B4-63EF-4C2F-8659-49A75C26F2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66F45FA-B662-4E14-83BC-2CA84F5CF7B6}"/>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67B2FD97-934F-4AF8-A525-6E87AD2A06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4C8FA0E1-3EB3-4E2B-963D-980FCF3F4D0F}"/>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23C93D2C-31D7-493E-84F1-0B33AC4A11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10BBC64-6D22-40D9-8A39-A922F2B55011}"/>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DEFA5C88-3591-4F38-8DE2-ED780B85BE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EE794A5A-A3D6-4F4A-AC5D-7848682BF0CB}"/>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51B19849-C4BE-437E-8FA6-62C406FD6A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40D6A5B-2DF8-46AB-99E3-DD4447D91D92}"/>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43A5627-CB21-4B22-827F-59A9C190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68B1FC-40C0-4209-B546-5BC55506CCE8}"/>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E1D34BBE-98B7-491C-B523-E80B67BE05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619451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B3A5B9D-7073-4B04-815D-4C28F8C6294A}"/>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BC76B9EF-EFF6-4934-98D1-D26E322C1B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9BD35E56-DD67-4ECB-BD37-13A2B5AEECCF}"/>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671B6D1F-21BA-45DA-B276-24F324AE8A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459F42AB-B2FE-430D-B9BB-6A59FD8514A4}"/>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6AA9600B-65A8-48A0-AEBE-270116A2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AF59525-78E1-4DD8-A170-40C6713E65FA}"/>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63C1A84E-D626-48F7-9E90-4ECA8C9E4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785276E-E512-431C-9863-60C16073997B}"/>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A16CBBBC-832D-4981-B7BE-1E6129BC1A7C}"/>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5" name="Rectangle 5">
              <a:extLst>
                <a:ext uri="{FF2B5EF4-FFF2-40B4-BE49-F238E27FC236}">
                  <a16:creationId xmlns:a16="http://schemas.microsoft.com/office/drawing/2014/main" id="{ECCF6664-2599-48D7-AF8C-34B0B9441612}"/>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6" name="Rectangle 6">
              <a:extLst>
                <a:ext uri="{FF2B5EF4-FFF2-40B4-BE49-F238E27FC236}">
                  <a16:creationId xmlns:a16="http://schemas.microsoft.com/office/drawing/2014/main" id="{C5EC98FB-CBB8-449B-A94E-B0B58773A4D4}"/>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grpSp>
      <p:sp>
        <p:nvSpPr>
          <p:cNvPr id="7" name="Text Box 7">
            <a:extLst>
              <a:ext uri="{FF2B5EF4-FFF2-40B4-BE49-F238E27FC236}">
                <a16:creationId xmlns:a16="http://schemas.microsoft.com/office/drawing/2014/main" id="{F334230E-B06E-4011-9947-832BC9534778}"/>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25BFB58C-5B52-429B-BF7C-2A3DD468AE0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sz="1000" b="1" dirty="0">
                <a:solidFill>
                  <a:srgbClr val="336699"/>
                </a:solidFill>
                <a:latin typeface="Helvetica" pitchFamily="-84" charset="0"/>
              </a:rPr>
              <a:t>Operating System Concepts – 10</a:t>
            </a:r>
            <a:r>
              <a:rPr lang="en-US" sz="1000" b="1" baseline="30000" dirty="0">
                <a:solidFill>
                  <a:srgbClr val="336699"/>
                </a:solidFill>
                <a:latin typeface="Helvetica" pitchFamily="-84" charset="0"/>
              </a:rPr>
              <a:t>th</a:t>
            </a:r>
            <a:r>
              <a:rPr 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D3E76B3A-1933-415B-8018-61828BE85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568F85F6-D2B1-49C8-8F26-5A6CD47E834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466835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006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5660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6875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0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4732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399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00291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3869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912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9995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34B7DADE-05C1-4235-BC95-7FD16DF5A58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C13949F-D9D1-4EE3-9FC6-AFE9404AECD0}"/>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2156033E-2A1D-44DE-9E54-71D4B4B6E84C}"/>
              </a:ext>
            </a:extLst>
          </p:cNvPr>
          <p:cNvSpPr>
            <a:spLocks noGrp="1" noChangeArrowheads="1"/>
          </p:cNvSpPr>
          <p:nvPr>
            <p:ph type="body" idx="1"/>
          </p:nvPr>
        </p:nvSpPr>
        <p:spPr bwMode="auto">
          <a:xfrm>
            <a:off x="790575" y="1233488"/>
            <a:ext cx="7743825"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44A806BF-A0C0-4368-AD58-420F34B3A6F7}"/>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0" name="Line 6">
            <a:extLst>
              <a:ext uri="{FF2B5EF4-FFF2-40B4-BE49-F238E27FC236}">
                <a16:creationId xmlns:a16="http://schemas.microsoft.com/office/drawing/2014/main" id="{38CA0CBE-E7DB-4B13-BE0C-81E2F34D25C5}"/>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E66E26E9-18B9-458C-AE7B-19180B81EF90}"/>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2" name="Rectangle 8">
            <a:extLst>
              <a:ext uri="{FF2B5EF4-FFF2-40B4-BE49-F238E27FC236}">
                <a16:creationId xmlns:a16="http://schemas.microsoft.com/office/drawing/2014/main" id="{2CCFF09E-8C15-497C-99D4-D11290D2DDF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3" name="Text Box 9">
            <a:extLst>
              <a:ext uri="{FF2B5EF4-FFF2-40B4-BE49-F238E27FC236}">
                <a16:creationId xmlns:a16="http://schemas.microsoft.com/office/drawing/2014/main" id="{332EE4A3-5FFF-44B0-9A59-5F8CE7D7599F}"/>
              </a:ext>
            </a:extLst>
          </p:cNvPr>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x-none" sz="1000" b="1">
                <a:solidFill>
                  <a:srgbClr val="006699"/>
                </a:solidFill>
                <a:latin typeface="Helvetica" charset="0"/>
              </a:rPr>
              <a:t>3.</a:t>
            </a:r>
            <a:fld id="{A6EDADC4-5648-406C-94CA-EDDB863B04E2}" type="slidenum">
              <a:rPr lang="en-US" altLang="x-none" sz="1000" b="1" smtClean="0">
                <a:solidFill>
                  <a:srgbClr val="006699"/>
                </a:solidFill>
                <a:latin typeface="Helvetica" charset="0"/>
              </a:rPr>
              <a:pPr algn="ctr">
                <a:spcBef>
                  <a:spcPct val="50000"/>
                </a:spcBef>
                <a:defRPr/>
              </a:pPr>
              <a:t>‹#›</a:t>
            </a:fld>
            <a:endParaRPr lang="en-US" altLang="x-none" sz="1000" b="1">
              <a:solidFill>
                <a:srgbClr val="006699"/>
              </a:solidFill>
              <a:latin typeface="Helvetica" charset="0"/>
            </a:endParaRPr>
          </a:p>
        </p:txBody>
      </p:sp>
      <p:sp>
        <p:nvSpPr>
          <p:cNvPr id="1034" name="Text Box 10">
            <a:extLst>
              <a:ext uri="{FF2B5EF4-FFF2-40B4-BE49-F238E27FC236}">
                <a16:creationId xmlns:a16="http://schemas.microsoft.com/office/drawing/2014/main" id="{4AE1926B-ED4A-404A-BC01-96D11B8A42EE}"/>
              </a:ext>
            </a:extLst>
          </p:cNvPr>
          <p:cNvSpPr txBox="1">
            <a:spLocks noChangeArrowheads="1"/>
          </p:cNvSpPr>
          <p:nvPr/>
        </p:nvSpPr>
        <p:spPr bwMode="auto">
          <a:xfrm>
            <a:off x="6430963" y="6613525"/>
            <a:ext cx="2713037"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32010AC7-36CA-437D-BB87-25E8B15E0034}"/>
              </a:ext>
            </a:extLst>
          </p:cNvPr>
          <p:cNvSpPr txBox="1">
            <a:spLocks noChangeArrowheads="1"/>
          </p:cNvSpPr>
          <p:nvPr/>
        </p:nvSpPr>
        <p:spPr bwMode="auto">
          <a:xfrm>
            <a:off x="185738" y="659447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sz="1000" b="1" dirty="0">
                <a:solidFill>
                  <a:srgbClr val="006699"/>
                </a:solidFill>
                <a:latin typeface="Helvetica" pitchFamily="-84" charset="0"/>
              </a:rPr>
              <a:t>Operating System Concepts – 10</a:t>
            </a:r>
            <a:r>
              <a:rPr lang="en-US" sz="1000" b="1" baseline="30000" dirty="0">
                <a:solidFill>
                  <a:srgbClr val="006699"/>
                </a:solidFill>
                <a:latin typeface="Helvetica" pitchFamily="-84" charset="0"/>
              </a:rPr>
              <a:t>th</a:t>
            </a:r>
            <a:r>
              <a:rPr 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09E176C0-BBA8-45C3-9F79-40005E1FFE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15" r:id="rId1"/>
    <p:sldLayoutId id="2147484205" r:id="rId2"/>
    <p:sldLayoutId id="2147484206" r:id="rId3"/>
    <p:sldLayoutId id="2147484207" r:id="rId4"/>
    <p:sldLayoutId id="2147484208" r:id="rId5"/>
    <p:sldLayoutId id="2147484209" r:id="rId6"/>
    <p:sldLayoutId id="2147484210" r:id="rId7"/>
    <p:sldLayoutId id="2147484211" r:id="rId8"/>
    <p:sldLayoutId id="2147484212" r:id="rId9"/>
    <p:sldLayoutId id="2147484213" r:id="rId10"/>
    <p:sldLayoutId id="2147484214"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9BD8569B-4861-4CBE-8902-C2DD5C49C833}"/>
              </a:ext>
            </a:extLst>
          </p:cNvPr>
          <p:cNvSpPr>
            <a:spLocks noGrp="1" noChangeArrowheads="1"/>
          </p:cNvSpPr>
          <p:nvPr>
            <p:ph type="ctrTitle"/>
          </p:nvPr>
        </p:nvSpPr>
        <p:spPr>
          <a:xfrm>
            <a:off x="371475" y="1831975"/>
            <a:ext cx="8458200" cy="1143000"/>
          </a:xfrm>
          <a:noFill/>
        </p:spPr>
        <p:txBody>
          <a:bodyPr/>
          <a:lstStyle/>
          <a:p>
            <a:pPr eaLnBrk="1" hangingPunct="1"/>
            <a:r>
              <a:rPr lang="en-US" altLang="en-US"/>
              <a:t>Chapter 3:  Processes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3F2AA79-94D9-4276-9C41-F8DFF3001472}"/>
              </a:ext>
            </a:extLst>
          </p:cNvPr>
          <p:cNvSpPr>
            <a:spLocks noGrp="1" noChangeArrowheads="1"/>
          </p:cNvSpPr>
          <p:nvPr>
            <p:ph type="title"/>
          </p:nvPr>
        </p:nvSpPr>
        <p:spPr>
          <a:xfrm>
            <a:off x="1644650" y="228600"/>
            <a:ext cx="6380163" cy="576263"/>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C7B4A6B-A9B9-465A-90EA-66F577052347}"/>
              </a:ext>
            </a:extLst>
          </p:cNvPr>
          <p:cNvSpPr>
            <a:spLocks noGrp="1" noChangeArrowheads="1"/>
          </p:cNvSpPr>
          <p:nvPr>
            <p:ph type="body" idx="1"/>
          </p:nvPr>
        </p:nvSpPr>
        <p:spPr>
          <a:xfrm>
            <a:off x="801688" y="1149350"/>
            <a:ext cx="7791450" cy="3822700"/>
          </a:xfrm>
        </p:spPr>
        <p:txBody>
          <a:bodyPr/>
          <a:lstStyle/>
          <a:p>
            <a:r>
              <a:rPr lang="en-US" altLang="en-US" dirty="0"/>
              <a:t>Process Concept</a:t>
            </a:r>
          </a:p>
          <a:p>
            <a:r>
              <a:rPr lang="en-US" altLang="en-US" dirty="0"/>
              <a:t>Process Scheduling</a:t>
            </a:r>
          </a:p>
          <a:p>
            <a:r>
              <a:rPr lang="en-US" altLang="en-US" dirty="0"/>
              <a:t>Operations on Processes</a:t>
            </a:r>
          </a:p>
          <a:p>
            <a:r>
              <a:rPr lang="en-US" altLang="en-US" dirty="0"/>
              <a:t>Interprocess Communication</a:t>
            </a:r>
          </a:p>
          <a:p>
            <a:r>
              <a:rPr lang="en-US" altLang="en-US" dirty="0"/>
              <a:t>IPC in Shared-Memory Systems</a:t>
            </a:r>
          </a:p>
          <a:p>
            <a:r>
              <a:rPr lang="en-US" altLang="en-US" dirty="0"/>
              <a:t>IPC in Message-Passing Systems</a:t>
            </a:r>
          </a:p>
          <a:p>
            <a:r>
              <a:rPr lang="en-US" altLang="en-US" dirty="0"/>
              <a:t>Examples of IPC Systems</a:t>
            </a:r>
          </a:p>
          <a:p>
            <a:r>
              <a:rPr lang="en-US" altLang="en-US" dirty="0"/>
              <a:t>Communication in Client-Server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28163CEC-73A6-4E96-880E-3A57C5F4B18D}"/>
              </a:ext>
            </a:extLst>
          </p:cNvPr>
          <p:cNvSpPr>
            <a:spLocks noGrp="1" noChangeArrowheads="1"/>
          </p:cNvSpPr>
          <p:nvPr>
            <p:ph type="title"/>
          </p:nvPr>
        </p:nvSpPr>
        <p:spPr>
          <a:xfrm>
            <a:off x="457200" y="236538"/>
            <a:ext cx="8229600" cy="576262"/>
          </a:xfrm>
        </p:spPr>
        <p:txBody>
          <a:bodyPr/>
          <a:lstStyle/>
          <a:p>
            <a:pPr eaLnBrk="1" hangingPunct="1"/>
            <a:r>
              <a:rPr lang="en-US" altLang="en-US"/>
              <a:t>Objectives</a:t>
            </a:r>
          </a:p>
        </p:txBody>
      </p:sp>
      <p:sp>
        <p:nvSpPr>
          <p:cNvPr id="9219" name="Content Placeholder 2">
            <a:extLst>
              <a:ext uri="{FF2B5EF4-FFF2-40B4-BE49-F238E27FC236}">
                <a16:creationId xmlns:a16="http://schemas.microsoft.com/office/drawing/2014/main" id="{A0DD2938-EA4E-48BC-A833-20DE32AC1BFC}"/>
              </a:ext>
            </a:extLst>
          </p:cNvPr>
          <p:cNvSpPr>
            <a:spLocks noGrp="1" noChangeArrowheads="1"/>
          </p:cNvSpPr>
          <p:nvPr>
            <p:ph idx="1"/>
          </p:nvPr>
        </p:nvSpPr>
        <p:spPr>
          <a:xfrm>
            <a:off x="801688" y="1138238"/>
            <a:ext cx="7745412" cy="4530725"/>
          </a:xfrm>
        </p:spPr>
        <p:txBody>
          <a:bodyPr/>
          <a:lstStyle/>
          <a:p>
            <a:r>
              <a:rPr lang="en-US" altLang="en-US" dirty="0"/>
              <a:t>Identify the separate components of a process and illustrate how they are represented and scheduled in an operating system.</a:t>
            </a:r>
          </a:p>
          <a:p>
            <a:r>
              <a:rPr lang="en-US" altLang="en-US" dirty="0"/>
              <a:t>Describe how processes are created and terminated in an operating system, including developing programs using the appropriate system calls that perform these operations.</a:t>
            </a:r>
          </a:p>
          <a:p>
            <a:r>
              <a:rPr lang="en-US" altLang="en-US" dirty="0"/>
              <a:t>Describe and contrast </a:t>
            </a:r>
            <a:r>
              <a:rPr lang="en-US" altLang="en-US" dirty="0" err="1"/>
              <a:t>interprocess</a:t>
            </a:r>
            <a:r>
              <a:rPr lang="en-US" altLang="en-US" dirty="0"/>
              <a:t> communication using shared memory and message passing.</a:t>
            </a:r>
          </a:p>
          <a:p>
            <a:r>
              <a:rPr lang="en-US" altLang="en-US" dirty="0"/>
              <a:t>Design programs that uses pipes and POSIX shared memory to perform </a:t>
            </a:r>
            <a:r>
              <a:rPr lang="en-US" altLang="en-US" dirty="0" err="1"/>
              <a:t>interprocess</a:t>
            </a:r>
            <a:r>
              <a:rPr lang="en-US" altLang="en-US" dirty="0"/>
              <a:t> communication.</a:t>
            </a:r>
          </a:p>
          <a:p>
            <a:r>
              <a:rPr lang="en-US" altLang="en-US" dirty="0"/>
              <a:t>Describe client-server communication using sockets and remote procedure calls.</a:t>
            </a:r>
          </a:p>
          <a:p>
            <a:r>
              <a:rPr lang="en-US" altLang="en-US" dirty="0"/>
              <a:t>Design kernel modules that interact with the Linux operating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7E8AE27-E50C-40A0-B477-CFFEC3475E01}"/>
              </a:ext>
            </a:extLst>
          </p:cNvPr>
          <p:cNvSpPr>
            <a:spLocks noGrp="1" noChangeArrowheads="1"/>
          </p:cNvSpPr>
          <p:nvPr>
            <p:ph type="title"/>
          </p:nvPr>
        </p:nvSpPr>
        <p:spPr>
          <a:xfrm>
            <a:off x="1576388" y="222250"/>
            <a:ext cx="6107112" cy="576263"/>
          </a:xfrm>
        </p:spPr>
        <p:txBody>
          <a:bodyPr/>
          <a:lstStyle/>
          <a:p>
            <a:pPr eaLnBrk="1" hangingPunct="1"/>
            <a:r>
              <a:rPr lang="en-US" altLang="en-US"/>
              <a:t>Process Concept</a:t>
            </a:r>
          </a:p>
        </p:txBody>
      </p:sp>
      <p:sp>
        <p:nvSpPr>
          <p:cNvPr id="11267" name="Rectangle 3">
            <a:extLst>
              <a:ext uri="{FF2B5EF4-FFF2-40B4-BE49-F238E27FC236}">
                <a16:creationId xmlns:a16="http://schemas.microsoft.com/office/drawing/2014/main" id="{5D446FCF-843C-4B0E-B66C-D60BED27776C}"/>
              </a:ext>
            </a:extLst>
          </p:cNvPr>
          <p:cNvSpPr>
            <a:spLocks noGrp="1" noChangeArrowheads="1"/>
          </p:cNvSpPr>
          <p:nvPr>
            <p:ph type="body" idx="1"/>
          </p:nvPr>
        </p:nvSpPr>
        <p:spPr>
          <a:xfrm>
            <a:off x="793750" y="1206500"/>
            <a:ext cx="7624536" cy="4758871"/>
          </a:xfrm>
        </p:spPr>
        <p:txBody>
          <a:bodyPr/>
          <a:lstStyle/>
          <a:p>
            <a:pPr>
              <a:lnSpc>
                <a:spcPct val="90000"/>
              </a:lnSpc>
            </a:pPr>
            <a:r>
              <a:rPr lang="en-US" altLang="en-US" dirty="0"/>
              <a:t>An operating system executes a variety of programs that run as a process.</a:t>
            </a:r>
          </a:p>
          <a:p>
            <a:pPr>
              <a:lnSpc>
                <a:spcPct val="90000"/>
              </a:lnSpc>
            </a:pPr>
            <a:r>
              <a:rPr lang="en-US" altLang="en-US" b="1" dirty="0">
                <a:solidFill>
                  <a:srgbClr val="006699"/>
                </a:solidFill>
                <a:latin typeface="+mj-lt"/>
              </a:rPr>
              <a:t>Process</a:t>
            </a:r>
            <a:r>
              <a:rPr lang="en-US" altLang="en-US" dirty="0"/>
              <a:t> – a program in execution; process execution must progress in sequential fashion. No parallel execution of instructions of a  single process</a:t>
            </a:r>
          </a:p>
          <a:p>
            <a:r>
              <a:rPr lang="en-US" altLang="en-US" dirty="0"/>
              <a:t>Multiple parts</a:t>
            </a:r>
          </a:p>
          <a:p>
            <a:pPr lvl="1"/>
            <a:r>
              <a:rPr lang="en-US" altLang="en-US" dirty="0"/>
              <a:t>The program code, also called </a:t>
            </a:r>
            <a:r>
              <a:rPr lang="en-US" altLang="en-US" b="1" dirty="0">
                <a:solidFill>
                  <a:srgbClr val="006699"/>
                </a:solidFill>
                <a:latin typeface="+mj-lt"/>
              </a:rPr>
              <a:t>text</a:t>
            </a:r>
            <a:r>
              <a:rPr lang="en-US" altLang="en-US" b="1" dirty="0">
                <a:solidFill>
                  <a:srgbClr val="3366FF"/>
                </a:solidFill>
              </a:rPr>
              <a:t> </a:t>
            </a:r>
            <a:r>
              <a:rPr lang="en-US" altLang="en-US" b="1" dirty="0">
                <a:solidFill>
                  <a:srgbClr val="006699"/>
                </a:solidFill>
                <a:latin typeface="+mj-lt"/>
              </a:rPr>
              <a:t>section</a:t>
            </a:r>
          </a:p>
          <a:p>
            <a:pPr lvl="1"/>
            <a:r>
              <a:rPr lang="en-US" altLang="en-US" dirty="0"/>
              <a:t>Current activity including</a:t>
            </a:r>
            <a:r>
              <a:rPr lang="en-US" altLang="en-US" b="1" dirty="0">
                <a:solidFill>
                  <a:srgbClr val="3366FF"/>
                </a:solidFill>
              </a:rPr>
              <a:t> </a:t>
            </a:r>
            <a:r>
              <a:rPr lang="en-US" altLang="en-US" b="1" dirty="0">
                <a:solidFill>
                  <a:srgbClr val="006699"/>
                </a:solidFill>
                <a:latin typeface="+mj-lt"/>
              </a:rPr>
              <a:t>program</a:t>
            </a:r>
            <a:r>
              <a:rPr lang="en-US" altLang="en-US" b="1" dirty="0"/>
              <a:t> </a:t>
            </a:r>
            <a:r>
              <a:rPr lang="en-US" altLang="en-US" b="1" dirty="0">
                <a:solidFill>
                  <a:srgbClr val="006699"/>
                </a:solidFill>
                <a:latin typeface="+mj-lt"/>
              </a:rPr>
              <a:t>counter</a:t>
            </a:r>
            <a:r>
              <a:rPr lang="en-US" altLang="en-US" dirty="0"/>
              <a:t>, processor registers</a:t>
            </a:r>
          </a:p>
          <a:p>
            <a:pPr lvl="1"/>
            <a:r>
              <a:rPr lang="en-US" altLang="en-US" b="1" dirty="0">
                <a:solidFill>
                  <a:srgbClr val="006699"/>
                </a:solidFill>
                <a:latin typeface="+mj-lt"/>
              </a:rPr>
              <a:t>Stack</a:t>
            </a:r>
            <a:r>
              <a:rPr lang="en-US" altLang="en-US" b="1" dirty="0"/>
              <a:t> </a:t>
            </a:r>
            <a:r>
              <a:rPr lang="en-US" altLang="en-US" dirty="0"/>
              <a:t>containing temporary data</a:t>
            </a:r>
          </a:p>
          <a:p>
            <a:pPr lvl="2"/>
            <a:r>
              <a:rPr lang="en-US" altLang="en-US" dirty="0"/>
              <a:t>Function parameters, return addresses, local variables</a:t>
            </a:r>
          </a:p>
          <a:p>
            <a:pPr lvl="1"/>
            <a:r>
              <a:rPr lang="en-US" altLang="en-US" b="1" dirty="0">
                <a:solidFill>
                  <a:srgbClr val="006699"/>
                </a:solidFill>
                <a:latin typeface="+mj-lt"/>
              </a:rPr>
              <a:t>Data</a:t>
            </a:r>
            <a:r>
              <a:rPr lang="en-US" altLang="en-US" b="1" dirty="0">
                <a:solidFill>
                  <a:srgbClr val="3366FF"/>
                </a:solidFill>
              </a:rPr>
              <a:t> </a:t>
            </a:r>
            <a:r>
              <a:rPr lang="en-US" altLang="en-US" b="1" dirty="0">
                <a:solidFill>
                  <a:srgbClr val="006699"/>
                </a:solidFill>
                <a:latin typeface="+mj-lt"/>
              </a:rPr>
              <a:t>section</a:t>
            </a:r>
            <a:r>
              <a:rPr lang="en-US" altLang="en-US" b="1" dirty="0"/>
              <a:t> </a:t>
            </a:r>
            <a:r>
              <a:rPr lang="en-US" altLang="en-US" dirty="0"/>
              <a:t>containing global variables</a:t>
            </a:r>
          </a:p>
          <a:p>
            <a:pPr lvl="1"/>
            <a:r>
              <a:rPr lang="en-US" altLang="en-US" b="1" dirty="0">
                <a:solidFill>
                  <a:srgbClr val="006699"/>
                </a:solidFill>
                <a:latin typeface="+mj-lt"/>
              </a:rPr>
              <a:t>Heap</a:t>
            </a:r>
            <a:r>
              <a:rPr lang="en-US" altLang="en-US" b="1" dirty="0"/>
              <a:t> </a:t>
            </a:r>
            <a:r>
              <a:rPr lang="en-US" altLang="en-US" dirty="0"/>
              <a:t>containing memory dynamically allocated during run time</a:t>
            </a:r>
          </a:p>
          <a:p>
            <a:pPr>
              <a:lnSpc>
                <a:spcPct val="90000"/>
              </a:lnSpc>
              <a:buFont typeface="Monotype Sorts" pitchFamily="-84" charset="2"/>
              <a:buNone/>
            </a:pPr>
            <a:endParaRPr lang="en-US" altLang="en-US" dirty="0"/>
          </a:p>
          <a:p>
            <a:pPr>
              <a:lnSpc>
                <a:spcPct val="90000"/>
              </a:lnSpc>
              <a:buFont typeface="Monotype Sorts" pitchFamily="-84" charset="2"/>
              <a:buNone/>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9FB78B1-A72C-494F-9718-8FF44F7505B0}"/>
              </a:ext>
            </a:extLst>
          </p:cNvPr>
          <p:cNvSpPr>
            <a:spLocks noGrp="1" noChangeArrowheads="1"/>
          </p:cNvSpPr>
          <p:nvPr>
            <p:ph type="title"/>
          </p:nvPr>
        </p:nvSpPr>
        <p:spPr>
          <a:xfrm>
            <a:off x="1576388" y="230188"/>
            <a:ext cx="6107112" cy="576262"/>
          </a:xfrm>
        </p:spPr>
        <p:txBody>
          <a:bodyPr/>
          <a:lstStyle/>
          <a:p>
            <a:pPr eaLnBrk="1" hangingPunct="1"/>
            <a:r>
              <a:rPr lang="en-US" altLang="en-US"/>
              <a:t>Process Concept (Cont.)</a:t>
            </a:r>
          </a:p>
        </p:txBody>
      </p:sp>
      <p:sp>
        <p:nvSpPr>
          <p:cNvPr id="13315" name="Rectangle 3">
            <a:extLst>
              <a:ext uri="{FF2B5EF4-FFF2-40B4-BE49-F238E27FC236}">
                <a16:creationId xmlns:a16="http://schemas.microsoft.com/office/drawing/2014/main" id="{1B99AC1A-7079-467A-A88A-5DCC86E364CB}"/>
              </a:ext>
            </a:extLst>
          </p:cNvPr>
          <p:cNvSpPr>
            <a:spLocks noGrp="1" noChangeArrowheads="1"/>
          </p:cNvSpPr>
          <p:nvPr>
            <p:ph type="body" idx="1"/>
          </p:nvPr>
        </p:nvSpPr>
        <p:spPr>
          <a:xfrm>
            <a:off x="793750" y="1203325"/>
            <a:ext cx="6949621" cy="4595132"/>
          </a:xfrm>
        </p:spPr>
        <p:txBody>
          <a:bodyPr/>
          <a:lstStyle/>
          <a:p>
            <a:r>
              <a:rPr lang="en-US" altLang="en-US" dirty="0"/>
              <a:t>Program is </a:t>
            </a:r>
            <a:r>
              <a:rPr lang="en-US" altLang="en-US" b="1" dirty="0"/>
              <a:t>passive</a:t>
            </a:r>
            <a:r>
              <a:rPr lang="en-US" altLang="en-US" dirty="0"/>
              <a:t> entity stored on disk (</a:t>
            </a:r>
            <a:r>
              <a:rPr lang="en-US" altLang="en-US" b="1" dirty="0">
                <a:solidFill>
                  <a:srgbClr val="006699"/>
                </a:solidFill>
                <a:latin typeface="+mj-lt"/>
              </a:rPr>
              <a:t>executable</a:t>
            </a:r>
            <a:r>
              <a:rPr lang="en-US" altLang="en-US" b="1" dirty="0">
                <a:solidFill>
                  <a:srgbClr val="3366FF"/>
                </a:solidFill>
              </a:rPr>
              <a:t> </a:t>
            </a:r>
            <a:r>
              <a:rPr lang="en-US" altLang="en-US" b="1" dirty="0">
                <a:solidFill>
                  <a:srgbClr val="006699"/>
                </a:solidFill>
                <a:latin typeface="+mj-lt"/>
              </a:rPr>
              <a:t>file</a:t>
            </a:r>
            <a:r>
              <a:rPr lang="en-US" altLang="en-US" dirty="0"/>
              <a:t>); process is </a:t>
            </a:r>
            <a:r>
              <a:rPr lang="en-US" altLang="en-US" b="1" dirty="0"/>
              <a:t>active</a:t>
            </a:r>
            <a:r>
              <a:rPr lang="en-US" altLang="en-US" b="1" i="1" dirty="0"/>
              <a:t> </a:t>
            </a:r>
          </a:p>
          <a:p>
            <a:pPr lvl="1"/>
            <a:r>
              <a:rPr lang="en-US" altLang="en-US" dirty="0"/>
              <a:t>Program becomes process when an executable file is loaded into memory</a:t>
            </a:r>
          </a:p>
          <a:p>
            <a:r>
              <a:rPr lang="en-US" altLang="en-US" dirty="0"/>
              <a:t>Execution of program started via GUI mouse clicks, command line entry of its name, etc.</a:t>
            </a:r>
          </a:p>
          <a:p>
            <a:r>
              <a:rPr lang="en-US" altLang="en-US" dirty="0"/>
              <a:t>One program can be several processes</a:t>
            </a:r>
          </a:p>
          <a:p>
            <a:pPr lvl="1"/>
            <a:r>
              <a:rPr lang="en-US" altLang="en-US" dirty="0"/>
              <a:t>Consider multiple users executing the same program</a:t>
            </a:r>
          </a:p>
          <a:p>
            <a:pPr>
              <a:lnSpc>
                <a:spcPct val="90000"/>
              </a:lnSpc>
            </a:pPr>
            <a:endParaRPr lang="en-US" altLang="en-US" dirty="0"/>
          </a:p>
          <a:p>
            <a:pPr>
              <a:lnSpc>
                <a:spcPct val="90000"/>
              </a:lnSpc>
              <a:buFont typeface="Monotype Sorts" pitchFamily="-84" charset="2"/>
              <a:buNone/>
            </a:pP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890CFA9-9E5C-4419-8C0A-3AE15BC75848}"/>
              </a:ext>
            </a:extLst>
          </p:cNvPr>
          <p:cNvSpPr>
            <a:spLocks noGrp="1" noChangeArrowheads="1"/>
          </p:cNvSpPr>
          <p:nvPr>
            <p:ph type="title"/>
          </p:nvPr>
        </p:nvSpPr>
        <p:spPr>
          <a:xfrm>
            <a:off x="1360488" y="228600"/>
            <a:ext cx="6251575" cy="576263"/>
          </a:xfrm>
        </p:spPr>
        <p:txBody>
          <a:bodyPr/>
          <a:lstStyle/>
          <a:p>
            <a:pPr eaLnBrk="1" hangingPunct="1"/>
            <a:r>
              <a:rPr lang="en-US" altLang="en-US"/>
              <a:t>Process State</a:t>
            </a:r>
          </a:p>
        </p:txBody>
      </p:sp>
      <p:sp>
        <p:nvSpPr>
          <p:cNvPr id="18435" name="Rectangle 3">
            <a:extLst>
              <a:ext uri="{FF2B5EF4-FFF2-40B4-BE49-F238E27FC236}">
                <a16:creationId xmlns:a16="http://schemas.microsoft.com/office/drawing/2014/main" id="{024CBB90-3DD4-48C6-830E-D5B680DA86BE}"/>
              </a:ext>
            </a:extLst>
          </p:cNvPr>
          <p:cNvSpPr>
            <a:spLocks noGrp="1" noChangeArrowheads="1"/>
          </p:cNvSpPr>
          <p:nvPr>
            <p:ph type="body" idx="1"/>
          </p:nvPr>
        </p:nvSpPr>
        <p:spPr>
          <a:xfrm>
            <a:off x="806450" y="1246188"/>
            <a:ext cx="7370763" cy="3254375"/>
          </a:xfrm>
        </p:spPr>
        <p:txBody>
          <a:bodyPr/>
          <a:lstStyle/>
          <a:p>
            <a:r>
              <a:rPr lang="en-US" altLang="en-US" dirty="0"/>
              <a:t>As a process executes, it changes </a:t>
            </a:r>
            <a:r>
              <a:rPr lang="en-US" altLang="en-US" b="1" dirty="0">
                <a:solidFill>
                  <a:srgbClr val="006699"/>
                </a:solidFill>
                <a:latin typeface="+mj-lt"/>
              </a:rPr>
              <a:t>state</a:t>
            </a:r>
          </a:p>
          <a:p>
            <a:pPr lvl="1"/>
            <a:r>
              <a:rPr lang="en-US" altLang="en-US" b="1" dirty="0"/>
              <a:t>New</a:t>
            </a:r>
            <a:r>
              <a:rPr lang="en-US" altLang="en-US" dirty="0"/>
              <a:t>:  The process is being created</a:t>
            </a:r>
          </a:p>
          <a:p>
            <a:pPr lvl="1"/>
            <a:r>
              <a:rPr lang="en-US" altLang="en-US" b="1" dirty="0"/>
              <a:t>Running</a:t>
            </a:r>
            <a:r>
              <a:rPr lang="en-US" altLang="en-US" dirty="0"/>
              <a:t>:  Instructions are being executed</a:t>
            </a:r>
          </a:p>
          <a:p>
            <a:pPr lvl="1"/>
            <a:r>
              <a:rPr lang="en-US" altLang="en-US" b="1" dirty="0"/>
              <a:t>Waiting</a:t>
            </a:r>
            <a:r>
              <a:rPr lang="en-US" altLang="en-US" dirty="0"/>
              <a:t>:  The process is waiting for some event to occur</a:t>
            </a:r>
          </a:p>
          <a:p>
            <a:pPr lvl="1"/>
            <a:r>
              <a:rPr lang="en-US" altLang="en-US" b="1" dirty="0"/>
              <a:t>Ready</a:t>
            </a:r>
            <a:r>
              <a:rPr lang="en-US" altLang="en-US" dirty="0"/>
              <a:t>:  The process is waiting to be assigned to a processor</a:t>
            </a:r>
          </a:p>
          <a:p>
            <a:pPr lvl="1"/>
            <a:r>
              <a:rPr lang="en-US" altLang="en-US" b="1" dirty="0"/>
              <a:t>Terminated</a:t>
            </a:r>
            <a:r>
              <a:rPr lang="en-US" altLang="en-US" dirty="0"/>
              <a:t>:  The process has finished execution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C14ED24-AEFF-4F38-8076-4F8FF58C3F94}"/>
              </a:ext>
            </a:extLst>
          </p:cNvPr>
          <p:cNvSpPr>
            <a:spLocks noGrp="1" noChangeArrowheads="1"/>
          </p:cNvSpPr>
          <p:nvPr>
            <p:ph type="title"/>
          </p:nvPr>
        </p:nvSpPr>
        <p:spPr>
          <a:xfrm>
            <a:off x="1166813" y="193903"/>
            <a:ext cx="7519987" cy="576262"/>
          </a:xfrm>
        </p:spPr>
        <p:txBody>
          <a:bodyPr/>
          <a:lstStyle/>
          <a:p>
            <a:pPr eaLnBrk="1" hangingPunct="1"/>
            <a:r>
              <a:rPr lang="en-US" altLang="en-US" dirty="0"/>
              <a:t>Process Control Block (PCB)</a:t>
            </a:r>
          </a:p>
        </p:txBody>
      </p:sp>
      <p:sp>
        <p:nvSpPr>
          <p:cNvPr id="22531" name="Rectangle 3">
            <a:extLst>
              <a:ext uri="{FF2B5EF4-FFF2-40B4-BE49-F238E27FC236}">
                <a16:creationId xmlns:a16="http://schemas.microsoft.com/office/drawing/2014/main" id="{DEEAF946-6112-4200-8913-ED1F42CE1EF2}"/>
              </a:ext>
            </a:extLst>
          </p:cNvPr>
          <p:cNvSpPr>
            <a:spLocks noGrp="1" noChangeArrowheads="1"/>
          </p:cNvSpPr>
          <p:nvPr>
            <p:ph type="body" idx="1"/>
          </p:nvPr>
        </p:nvSpPr>
        <p:spPr>
          <a:xfrm>
            <a:off x="849991" y="1823222"/>
            <a:ext cx="5616122" cy="4417927"/>
          </a:xfrm>
        </p:spPr>
        <p:txBody>
          <a:bodyPr/>
          <a:lstStyle/>
          <a:p>
            <a:r>
              <a:rPr lang="en-US" altLang="en-US" sz="1700" dirty="0"/>
              <a:t>Process state – running, waiting, etc.</a:t>
            </a:r>
          </a:p>
          <a:p>
            <a:r>
              <a:rPr lang="en-US" altLang="en-US" sz="1700" dirty="0"/>
              <a:t>Program counter – location of instruction to next execute</a:t>
            </a:r>
          </a:p>
          <a:p>
            <a:r>
              <a:rPr lang="en-US" altLang="en-US" sz="1700" dirty="0"/>
              <a:t>CPU registers – contents of all process-centric registers</a:t>
            </a:r>
          </a:p>
          <a:p>
            <a:r>
              <a:rPr lang="en-US" altLang="en-US" sz="1700" dirty="0"/>
              <a:t>CPU scheduling information- priorities, scheduling queue pointers</a:t>
            </a:r>
          </a:p>
          <a:p>
            <a:r>
              <a:rPr lang="en-US" altLang="en-US" sz="1700" dirty="0"/>
              <a:t>Memory-management information – memory allocated to the process</a:t>
            </a:r>
          </a:p>
          <a:p>
            <a:r>
              <a:rPr lang="en-US" altLang="en-US" sz="1700" dirty="0"/>
              <a:t>Accounting information – CPU used, clock time elapsed since start, time limits</a:t>
            </a:r>
          </a:p>
          <a:p>
            <a:r>
              <a:rPr lang="en-US" altLang="en-US" sz="1700" dirty="0"/>
              <a:t>I/O status information – I/O devices allocated to process, list of open files</a:t>
            </a:r>
          </a:p>
          <a:p>
            <a:endParaRPr lang="en-US" altLang="en-US" dirty="0"/>
          </a:p>
        </p:txBody>
      </p:sp>
      <p:pic>
        <p:nvPicPr>
          <p:cNvPr id="22532" name="Picture 1">
            <a:extLst>
              <a:ext uri="{FF2B5EF4-FFF2-40B4-BE49-F238E27FC236}">
                <a16:creationId xmlns:a16="http://schemas.microsoft.com/office/drawing/2014/main" id="{4C1B42D7-9239-4535-8C25-EF8AF0D926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3729" y="2121125"/>
            <a:ext cx="18542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57519650-4D5E-45C9-BCF6-B2C0554D33E2}"/>
              </a:ext>
            </a:extLst>
          </p:cNvPr>
          <p:cNvSpPr txBox="1"/>
          <p:nvPr/>
        </p:nvSpPr>
        <p:spPr>
          <a:xfrm>
            <a:off x="769490" y="1110345"/>
            <a:ext cx="6874095" cy="923330"/>
          </a:xfrm>
          <a:prstGeom prst="rect">
            <a:avLst/>
          </a:prstGeom>
          <a:noFill/>
        </p:spPr>
        <p:txBody>
          <a:bodyPr wrap="square" rtlCol="0">
            <a:spAutoFit/>
          </a:bodyPr>
          <a:lstStyle/>
          <a:p>
            <a:r>
              <a:rPr lang="en-US" altLang="en-US" sz="1700" dirty="0"/>
              <a:t>Information associated with each process(also called </a:t>
            </a:r>
            <a:r>
              <a:rPr kumimoji="1" lang="en-US" altLang="en-US" b="1" dirty="0">
                <a:solidFill>
                  <a:srgbClr val="006699"/>
                </a:solidFill>
                <a:latin typeface="+mj-lt"/>
              </a:rPr>
              <a:t>task</a:t>
            </a:r>
            <a:r>
              <a:rPr lang="en-US" altLang="en-US" sz="1700" b="1" dirty="0">
                <a:solidFill>
                  <a:srgbClr val="3366FF"/>
                </a:solidFill>
              </a:rPr>
              <a:t> </a:t>
            </a:r>
            <a:r>
              <a:rPr kumimoji="1" lang="en-US" altLang="en-US" b="1" dirty="0">
                <a:solidFill>
                  <a:srgbClr val="006699"/>
                </a:solidFill>
                <a:latin typeface="+mj-lt"/>
              </a:rPr>
              <a:t>control</a:t>
            </a:r>
            <a:r>
              <a:rPr lang="en-US" altLang="en-US" sz="1700" b="1" dirty="0">
                <a:solidFill>
                  <a:srgbClr val="3366FF"/>
                </a:solidFill>
              </a:rPr>
              <a:t> </a:t>
            </a:r>
            <a:r>
              <a:rPr kumimoji="1" lang="en-US" altLang="en-US" b="1" dirty="0">
                <a:solidFill>
                  <a:srgbClr val="006699"/>
                </a:solidFill>
                <a:latin typeface="+mj-lt"/>
              </a:rPr>
              <a:t>block</a:t>
            </a:r>
            <a:r>
              <a:rPr lang="en-US" altLang="en-US" sz="1700" dirty="0"/>
              <a:t>)</a:t>
            </a:r>
          </a:p>
          <a:p>
            <a:pPr>
              <a:buFont typeface="Monotype Sorts" pitchFamily="-84" charset="2"/>
              <a:buNone/>
            </a:pPr>
            <a:r>
              <a:rPr lang="en-US" altLang="en-US"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8D9066D-6E62-480A-A448-F88C6FB241E9}"/>
              </a:ext>
            </a:extLst>
          </p:cNvPr>
          <p:cNvSpPr>
            <a:spLocks noGrp="1" noChangeArrowheads="1"/>
          </p:cNvSpPr>
          <p:nvPr>
            <p:ph type="title"/>
          </p:nvPr>
        </p:nvSpPr>
        <p:spPr>
          <a:xfrm>
            <a:off x="1041400" y="230188"/>
            <a:ext cx="7383463" cy="576262"/>
          </a:xfrm>
        </p:spPr>
        <p:txBody>
          <a:bodyPr/>
          <a:lstStyle/>
          <a:p>
            <a:pPr eaLnBrk="1" hangingPunct="1"/>
            <a:r>
              <a:rPr lang="en-US" altLang="en-US"/>
              <a:t>Threads</a:t>
            </a:r>
          </a:p>
        </p:txBody>
      </p:sp>
      <p:sp>
        <p:nvSpPr>
          <p:cNvPr id="24579" name="Rectangle 3">
            <a:extLst>
              <a:ext uri="{FF2B5EF4-FFF2-40B4-BE49-F238E27FC236}">
                <a16:creationId xmlns:a16="http://schemas.microsoft.com/office/drawing/2014/main" id="{5FE53719-71CB-4158-A535-768E646E48D7}"/>
              </a:ext>
            </a:extLst>
          </p:cNvPr>
          <p:cNvSpPr>
            <a:spLocks noGrp="1" noChangeArrowheads="1"/>
          </p:cNvSpPr>
          <p:nvPr>
            <p:ph type="body" idx="1"/>
          </p:nvPr>
        </p:nvSpPr>
        <p:spPr>
          <a:xfrm>
            <a:off x="793751" y="1059091"/>
            <a:ext cx="7116536" cy="4013652"/>
          </a:xfrm>
        </p:spPr>
        <p:txBody>
          <a:bodyPr/>
          <a:lstStyle/>
          <a:p>
            <a:r>
              <a:rPr lang="en-US" altLang="en-US" dirty="0"/>
              <a:t>So far, process has a single thread of execution</a:t>
            </a:r>
          </a:p>
          <a:p>
            <a:r>
              <a:rPr lang="en-US" altLang="en-US" dirty="0"/>
              <a:t>Consider having multiple program counters per process</a:t>
            </a:r>
          </a:p>
          <a:p>
            <a:pPr lvl="1"/>
            <a:r>
              <a:rPr lang="en-US" altLang="en-US" dirty="0"/>
              <a:t>Multiple locations can execute at once</a:t>
            </a:r>
          </a:p>
          <a:p>
            <a:pPr lvl="2"/>
            <a:r>
              <a:rPr lang="en-US" altLang="en-US" dirty="0"/>
              <a:t>Multiple threads of control -&gt; </a:t>
            </a:r>
            <a:r>
              <a:rPr lang="en-US" altLang="en-US" b="1" kern="1200" dirty="0">
                <a:solidFill>
                  <a:srgbClr val="006699"/>
                </a:solidFill>
                <a:latin typeface="+mj-lt"/>
                <a:cs typeface="+mn-cs"/>
              </a:rPr>
              <a:t>threads</a:t>
            </a:r>
          </a:p>
          <a:p>
            <a:r>
              <a:rPr lang="en-US" altLang="en-US" dirty="0"/>
              <a:t>Must then have storage for thread details, multiple program counters in PCB</a:t>
            </a:r>
          </a:p>
          <a:p>
            <a:r>
              <a:rPr lang="en-US" altLang="en-US" dirty="0"/>
              <a:t>Explore in detail in Chapter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6D14E00-AC36-46B6-804B-3B1E61B7A1F4}"/>
              </a:ext>
            </a:extLst>
          </p:cNvPr>
          <p:cNvSpPr>
            <a:spLocks noGrp="1" noChangeArrowheads="1"/>
          </p:cNvSpPr>
          <p:nvPr>
            <p:ph type="title"/>
          </p:nvPr>
        </p:nvSpPr>
        <p:spPr>
          <a:xfrm>
            <a:off x="1079500" y="172132"/>
            <a:ext cx="7645400" cy="576262"/>
          </a:xfrm>
        </p:spPr>
        <p:txBody>
          <a:bodyPr/>
          <a:lstStyle/>
          <a:p>
            <a:pPr eaLnBrk="1" hangingPunct="1"/>
            <a:r>
              <a:rPr lang="en-US" altLang="en-US" dirty="0"/>
              <a:t>Process Scheduling</a:t>
            </a:r>
          </a:p>
        </p:txBody>
      </p:sp>
      <p:sp>
        <p:nvSpPr>
          <p:cNvPr id="27651" name="Rectangle 3">
            <a:extLst>
              <a:ext uri="{FF2B5EF4-FFF2-40B4-BE49-F238E27FC236}">
                <a16:creationId xmlns:a16="http://schemas.microsoft.com/office/drawing/2014/main" id="{CD9E4484-1299-4947-B075-F0D9269BBD17}"/>
              </a:ext>
            </a:extLst>
          </p:cNvPr>
          <p:cNvSpPr>
            <a:spLocks noGrp="1" noChangeArrowheads="1"/>
          </p:cNvSpPr>
          <p:nvPr>
            <p:ph type="body" idx="1"/>
          </p:nvPr>
        </p:nvSpPr>
        <p:spPr>
          <a:xfrm>
            <a:off x="820738" y="1119417"/>
            <a:ext cx="6456362" cy="3839445"/>
          </a:xfrm>
        </p:spPr>
        <p:txBody>
          <a:bodyPr/>
          <a:lstStyle/>
          <a:p>
            <a:r>
              <a:rPr lang="en-US" altLang="en-US" b="1" kern="1200" dirty="0">
                <a:solidFill>
                  <a:srgbClr val="006699"/>
                </a:solidFill>
                <a:latin typeface="+mj-lt"/>
                <a:cs typeface="+mn-cs"/>
              </a:rPr>
              <a:t>Process</a:t>
            </a:r>
            <a:r>
              <a:rPr lang="en-US" altLang="en-US" b="1" dirty="0">
                <a:solidFill>
                  <a:srgbClr val="3366FF"/>
                </a:solidFill>
              </a:rPr>
              <a:t> </a:t>
            </a:r>
            <a:r>
              <a:rPr lang="en-US" altLang="en-US" b="1" kern="1200" dirty="0">
                <a:solidFill>
                  <a:srgbClr val="006699"/>
                </a:solidFill>
                <a:latin typeface="+mj-lt"/>
                <a:cs typeface="+mn-cs"/>
              </a:rPr>
              <a:t>scheduler</a:t>
            </a:r>
            <a:r>
              <a:rPr lang="en-US" altLang="en-US" b="1" dirty="0">
                <a:solidFill>
                  <a:srgbClr val="3366FF"/>
                </a:solidFill>
              </a:rPr>
              <a:t> </a:t>
            </a:r>
            <a:r>
              <a:rPr lang="en-US" altLang="en-US" dirty="0"/>
              <a:t>selects among available processes for next execution on CPU core</a:t>
            </a:r>
          </a:p>
          <a:p>
            <a:r>
              <a:rPr lang="en-US" altLang="en-US" dirty="0"/>
              <a:t>Goal -- Maximize CPU use, quickly switch processes onto CPU core</a:t>
            </a:r>
          </a:p>
          <a:p>
            <a:r>
              <a:rPr lang="en-US" altLang="en-US" dirty="0"/>
              <a:t>Maintains </a:t>
            </a:r>
            <a:r>
              <a:rPr lang="en-US" altLang="en-US" b="1" kern="1200" dirty="0">
                <a:solidFill>
                  <a:srgbClr val="006699"/>
                </a:solidFill>
                <a:latin typeface="+mj-lt"/>
                <a:cs typeface="+mn-cs"/>
              </a:rPr>
              <a:t>scheduling</a:t>
            </a:r>
            <a:r>
              <a:rPr lang="en-US" altLang="en-US" b="1" dirty="0">
                <a:solidFill>
                  <a:srgbClr val="3366FF"/>
                </a:solidFill>
              </a:rPr>
              <a:t> </a:t>
            </a:r>
            <a:r>
              <a:rPr lang="en-US" altLang="en-US" b="1" kern="1200" dirty="0">
                <a:solidFill>
                  <a:srgbClr val="006699"/>
                </a:solidFill>
                <a:latin typeface="+mj-lt"/>
                <a:cs typeface="+mn-cs"/>
              </a:rPr>
              <a:t>queues</a:t>
            </a:r>
            <a:r>
              <a:rPr lang="en-US" altLang="en-US" b="1" dirty="0">
                <a:solidFill>
                  <a:srgbClr val="3366FF"/>
                </a:solidFill>
              </a:rPr>
              <a:t> </a:t>
            </a:r>
            <a:r>
              <a:rPr lang="en-US" altLang="en-US" dirty="0"/>
              <a:t>of processes</a:t>
            </a:r>
          </a:p>
          <a:p>
            <a:pPr lvl="1"/>
            <a:r>
              <a:rPr lang="en-US" altLang="en-US" b="1" kern="1200" dirty="0">
                <a:solidFill>
                  <a:srgbClr val="006699"/>
                </a:solidFill>
                <a:latin typeface="+mj-lt"/>
                <a:cs typeface="+mn-cs"/>
              </a:rPr>
              <a:t>Ready</a:t>
            </a:r>
            <a:r>
              <a:rPr lang="en-US" altLang="en-US" b="1" dirty="0">
                <a:solidFill>
                  <a:srgbClr val="3366FF"/>
                </a:solidFill>
              </a:rPr>
              <a:t> </a:t>
            </a:r>
            <a:r>
              <a:rPr lang="en-US" altLang="en-US" b="1" kern="1200" dirty="0">
                <a:solidFill>
                  <a:srgbClr val="006699"/>
                </a:solidFill>
                <a:latin typeface="+mj-lt"/>
                <a:cs typeface="+mn-cs"/>
              </a:rPr>
              <a:t>queue</a:t>
            </a:r>
            <a:r>
              <a:rPr lang="en-US" altLang="en-US" b="1" dirty="0">
                <a:solidFill>
                  <a:srgbClr val="3366FF"/>
                </a:solidFill>
              </a:rPr>
              <a:t> </a:t>
            </a:r>
            <a:r>
              <a:rPr lang="en-US" altLang="en-US" dirty="0"/>
              <a:t>– set of all processes residing in main memory, ready and waiting to execute</a:t>
            </a:r>
          </a:p>
          <a:p>
            <a:pPr lvl="1"/>
            <a:r>
              <a:rPr lang="en-US" altLang="en-US" b="1" kern="1200" dirty="0">
                <a:solidFill>
                  <a:srgbClr val="006699"/>
                </a:solidFill>
                <a:latin typeface="+mj-lt"/>
                <a:cs typeface="+mn-cs"/>
              </a:rPr>
              <a:t>Wait</a:t>
            </a:r>
            <a:r>
              <a:rPr lang="en-US" altLang="en-US" b="1" dirty="0">
                <a:solidFill>
                  <a:srgbClr val="3366FF"/>
                </a:solidFill>
              </a:rPr>
              <a:t> </a:t>
            </a:r>
            <a:r>
              <a:rPr lang="en-US" altLang="en-US" b="1" kern="1200" dirty="0">
                <a:solidFill>
                  <a:srgbClr val="006699"/>
                </a:solidFill>
                <a:latin typeface="+mj-lt"/>
                <a:cs typeface="+mn-cs"/>
              </a:rPr>
              <a:t>queues</a:t>
            </a:r>
            <a:r>
              <a:rPr lang="en-US" altLang="en-US" b="1" dirty="0">
                <a:solidFill>
                  <a:srgbClr val="3366FF"/>
                </a:solidFill>
              </a:rPr>
              <a:t> </a:t>
            </a:r>
            <a:r>
              <a:rPr lang="en-US" altLang="en-US" dirty="0"/>
              <a:t>– set of processes waiting for an event (i.e., I/O)</a:t>
            </a:r>
          </a:p>
          <a:p>
            <a:pPr lvl="1"/>
            <a:r>
              <a:rPr lang="en-US" altLang="en-US" dirty="0"/>
              <a:t>Processes migrate among the various queues</a:t>
            </a:r>
          </a:p>
          <a:p>
            <a:pPr marL="0" indent="0">
              <a:buNone/>
            </a:pPr>
            <a:endParaRPr lang="en-US" altLang="en-US" dirty="0" smtClean="0"/>
          </a:p>
          <a:p>
            <a:pPr marL="0" indent="0">
              <a:buNone/>
            </a:pPr>
            <a:endParaRPr lang="en-US" altLang="en-US" dirty="0" smtClean="0"/>
          </a:p>
          <a:p>
            <a:pPr marL="0" indent="0">
              <a:buNone/>
            </a:pPr>
            <a:r>
              <a:rPr lang="en-US" altLang="en-US" dirty="0"/>
              <a:t>CPU Switch From Process to </a:t>
            </a:r>
            <a:r>
              <a:rPr lang="en-US" altLang="en-US" dirty="0" smtClean="0"/>
              <a:t>Process</a:t>
            </a:r>
          </a:p>
          <a:p>
            <a:pPr marL="0" indent="0">
              <a:buNone/>
            </a:pPr>
            <a:r>
              <a:rPr kumimoji="0" lang="en-US" altLang="en-US" dirty="0">
                <a:latin typeface="Verdana" panose="020B0604030504040204" pitchFamily="34" charset="0"/>
              </a:rPr>
              <a:t>A </a:t>
            </a:r>
            <a:r>
              <a:rPr kumimoji="0" lang="en-US" altLang="en-US" b="1" dirty="0">
                <a:latin typeface="Verdana" panose="020B0604030504040204" pitchFamily="34" charset="0"/>
              </a:rPr>
              <a:t>context switch </a:t>
            </a:r>
            <a:r>
              <a:rPr kumimoji="0" lang="en-US" altLang="en-US" dirty="0">
                <a:latin typeface="Verdana" panose="020B0604030504040204" pitchFamily="34" charset="0"/>
              </a:rPr>
              <a:t>occurs when the CPU  switches from one process to another.</a:t>
            </a:r>
          </a:p>
          <a:p>
            <a:pPr marL="0" indent="0">
              <a:buNone/>
            </a:pP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9EF2C8-62D9-4AD3-A3DB-7E8B03141FB3}"/>
              </a:ext>
            </a:extLst>
          </p:cNvPr>
          <p:cNvSpPr>
            <a:spLocks noGrp="1" noChangeArrowheads="1"/>
          </p:cNvSpPr>
          <p:nvPr>
            <p:ph type="title"/>
          </p:nvPr>
        </p:nvSpPr>
        <p:spPr>
          <a:xfrm>
            <a:off x="363538" y="231775"/>
            <a:ext cx="8229600" cy="576263"/>
          </a:xfrm>
        </p:spPr>
        <p:txBody>
          <a:bodyPr/>
          <a:lstStyle/>
          <a:p>
            <a:pPr eaLnBrk="1" hangingPunct="1"/>
            <a:r>
              <a:rPr lang="en-US" altLang="en-US"/>
              <a:t>Context Switch</a:t>
            </a:r>
          </a:p>
        </p:txBody>
      </p:sp>
      <p:sp>
        <p:nvSpPr>
          <p:cNvPr id="35843" name="Rectangle 3">
            <a:extLst>
              <a:ext uri="{FF2B5EF4-FFF2-40B4-BE49-F238E27FC236}">
                <a16:creationId xmlns:a16="http://schemas.microsoft.com/office/drawing/2014/main" id="{BFE77FD9-7213-4CFD-BE76-B9508F46FB81}"/>
              </a:ext>
            </a:extLst>
          </p:cNvPr>
          <p:cNvSpPr>
            <a:spLocks noGrp="1" noChangeArrowheads="1"/>
          </p:cNvSpPr>
          <p:nvPr>
            <p:ph type="body" idx="1"/>
          </p:nvPr>
        </p:nvSpPr>
        <p:spPr>
          <a:xfrm>
            <a:off x="854076" y="1108075"/>
            <a:ext cx="6648693" cy="4413494"/>
          </a:xfrm>
        </p:spPr>
        <p:txBody>
          <a:bodyPr/>
          <a:lstStyle/>
          <a:p>
            <a:r>
              <a:rPr lang="en-US" altLang="en-US" dirty="0"/>
              <a:t>When CPU switches to another process, the system must </a:t>
            </a:r>
            <a:r>
              <a:rPr lang="en-US" altLang="en-US" b="1" kern="1200" dirty="0">
                <a:solidFill>
                  <a:srgbClr val="006699"/>
                </a:solidFill>
                <a:latin typeface="+mj-lt"/>
                <a:cs typeface="+mn-cs"/>
              </a:rPr>
              <a:t>save</a:t>
            </a:r>
            <a:r>
              <a:rPr lang="en-US" altLang="en-US" b="1" dirty="0">
                <a:solidFill>
                  <a:srgbClr val="3366FF"/>
                </a:solidFill>
              </a:rPr>
              <a:t> </a:t>
            </a:r>
            <a:r>
              <a:rPr lang="en-US" altLang="en-US" b="1" kern="1200" dirty="0">
                <a:solidFill>
                  <a:srgbClr val="006699"/>
                </a:solidFill>
                <a:latin typeface="+mj-lt"/>
                <a:cs typeface="+mn-cs"/>
              </a:rPr>
              <a:t>the</a:t>
            </a:r>
            <a:r>
              <a:rPr lang="en-US" altLang="en-US" b="1" dirty="0">
                <a:solidFill>
                  <a:srgbClr val="3366FF"/>
                </a:solidFill>
              </a:rPr>
              <a:t> </a:t>
            </a:r>
            <a:r>
              <a:rPr lang="en-US" altLang="en-US" b="1" kern="1200" dirty="0">
                <a:solidFill>
                  <a:srgbClr val="006699"/>
                </a:solidFill>
                <a:latin typeface="+mj-lt"/>
                <a:cs typeface="+mn-cs"/>
              </a:rPr>
              <a:t>state</a:t>
            </a:r>
            <a:r>
              <a:rPr lang="en-US" altLang="en-US" b="1" dirty="0">
                <a:solidFill>
                  <a:srgbClr val="3366FF"/>
                </a:solidFill>
              </a:rPr>
              <a:t> </a:t>
            </a:r>
            <a:r>
              <a:rPr lang="en-US" altLang="en-US" dirty="0"/>
              <a:t>of the old process and load the </a:t>
            </a:r>
            <a:r>
              <a:rPr lang="en-US" altLang="en-US" b="1" kern="1200" dirty="0">
                <a:solidFill>
                  <a:srgbClr val="006699"/>
                </a:solidFill>
                <a:latin typeface="+mj-lt"/>
                <a:cs typeface="+mn-cs"/>
              </a:rPr>
              <a:t>saved</a:t>
            </a:r>
            <a:r>
              <a:rPr lang="en-US" altLang="en-US" b="1" dirty="0">
                <a:solidFill>
                  <a:srgbClr val="3366FF"/>
                </a:solidFill>
              </a:rPr>
              <a:t> </a:t>
            </a:r>
            <a:r>
              <a:rPr lang="en-US" altLang="en-US" b="1" kern="1200" dirty="0">
                <a:solidFill>
                  <a:srgbClr val="006699"/>
                </a:solidFill>
                <a:latin typeface="+mj-lt"/>
                <a:cs typeface="+mn-cs"/>
              </a:rPr>
              <a:t>state</a:t>
            </a:r>
            <a:r>
              <a:rPr lang="en-US" altLang="en-US" b="1" dirty="0">
                <a:solidFill>
                  <a:srgbClr val="3366FF"/>
                </a:solidFill>
              </a:rPr>
              <a:t> </a:t>
            </a:r>
            <a:r>
              <a:rPr lang="en-US" altLang="en-US" dirty="0"/>
              <a:t>for the new process via a </a:t>
            </a:r>
            <a:r>
              <a:rPr lang="en-US" altLang="en-US" b="1" kern="1200" dirty="0">
                <a:solidFill>
                  <a:srgbClr val="006699"/>
                </a:solidFill>
                <a:latin typeface="+mj-lt"/>
                <a:cs typeface="+mn-cs"/>
              </a:rPr>
              <a:t>context</a:t>
            </a:r>
            <a:r>
              <a:rPr lang="en-US" altLang="en-US" b="1" dirty="0">
                <a:solidFill>
                  <a:srgbClr val="3366FF"/>
                </a:solidFill>
              </a:rPr>
              <a:t> </a:t>
            </a:r>
            <a:r>
              <a:rPr lang="en-US" altLang="en-US" b="1" kern="1200" dirty="0">
                <a:solidFill>
                  <a:srgbClr val="006699"/>
                </a:solidFill>
                <a:latin typeface="+mj-lt"/>
                <a:cs typeface="+mn-cs"/>
              </a:rPr>
              <a:t>switch</a:t>
            </a:r>
          </a:p>
          <a:p>
            <a:r>
              <a:rPr lang="en-US" altLang="en-US" b="1" kern="1200" dirty="0">
                <a:solidFill>
                  <a:srgbClr val="006699"/>
                </a:solidFill>
                <a:latin typeface="+mj-lt"/>
                <a:cs typeface="+mn-cs"/>
              </a:rPr>
              <a:t>Context</a:t>
            </a:r>
            <a:r>
              <a:rPr lang="en-US" altLang="en-US" b="1" dirty="0">
                <a:solidFill>
                  <a:srgbClr val="3366FF"/>
                </a:solidFill>
              </a:rPr>
              <a:t> </a:t>
            </a:r>
            <a:r>
              <a:rPr lang="en-US" altLang="en-US" dirty="0"/>
              <a:t>of a process represented in the PCB</a:t>
            </a:r>
          </a:p>
          <a:p>
            <a:r>
              <a:rPr lang="en-US" altLang="en-US" dirty="0"/>
              <a:t>Context-switch time is pure overhead; the system does no useful work while switching</a:t>
            </a:r>
          </a:p>
          <a:p>
            <a:pPr lvl="1"/>
            <a:r>
              <a:rPr lang="en-US" altLang="en-US" dirty="0"/>
              <a:t>The more complex the OS and the PCB </a:t>
            </a:r>
            <a:r>
              <a:rPr lang="en-US" altLang="en-US" dirty="0">
                <a:sym typeface="Wingdings" panose="05000000000000000000" pitchFamily="2" charset="2"/>
              </a:rPr>
              <a:t> the </a:t>
            </a:r>
            <a:r>
              <a:rPr lang="en-US" altLang="en-US" dirty="0"/>
              <a:t>longer the context switch</a:t>
            </a:r>
          </a:p>
          <a:p>
            <a:r>
              <a:rPr lang="en-US" altLang="en-US" dirty="0"/>
              <a:t>Time dependent on hardware support</a:t>
            </a:r>
          </a:p>
          <a:p>
            <a:pPr lvl="1"/>
            <a:r>
              <a:rPr lang="en-US" altLang="en-US" dirty="0"/>
              <a:t>Some hardware provides multiple sets of registers per CPU </a:t>
            </a:r>
            <a:r>
              <a:rPr lang="en-US" altLang="en-US" dirty="0">
                <a:sym typeface="Wingdings" panose="05000000000000000000" pitchFamily="2" charset="2"/>
              </a:rPr>
              <a:t></a:t>
            </a:r>
            <a:r>
              <a:rPr lang="en-US" altLang="en-US" dirty="0"/>
              <a:t> multiple contexts loaded at once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1BBC0AC-B98E-4CA8-AAF2-66A00A4CE046}"/>
              </a:ext>
            </a:extLst>
          </p:cNvPr>
          <p:cNvSpPr>
            <a:spLocks noGrp="1" noChangeArrowheads="1"/>
          </p:cNvSpPr>
          <p:nvPr>
            <p:ph type="title"/>
          </p:nvPr>
        </p:nvSpPr>
        <p:spPr>
          <a:xfrm>
            <a:off x="819150" y="111370"/>
            <a:ext cx="8229600" cy="576263"/>
          </a:xfrm>
        </p:spPr>
        <p:txBody>
          <a:bodyPr/>
          <a:lstStyle/>
          <a:p>
            <a:pPr eaLnBrk="1" hangingPunct="1"/>
            <a:r>
              <a:rPr lang="en-US" altLang="en-US" dirty="0"/>
              <a:t>Multitasking in Mobile Systems</a:t>
            </a:r>
          </a:p>
        </p:txBody>
      </p:sp>
      <p:sp>
        <p:nvSpPr>
          <p:cNvPr id="37891" name="Rectangle 3">
            <a:extLst>
              <a:ext uri="{FF2B5EF4-FFF2-40B4-BE49-F238E27FC236}">
                <a16:creationId xmlns:a16="http://schemas.microsoft.com/office/drawing/2014/main" id="{3CFFB47D-06A3-4D85-B582-64A48F2C12BF}"/>
              </a:ext>
            </a:extLst>
          </p:cNvPr>
          <p:cNvSpPr>
            <a:spLocks noGrp="1" noChangeArrowheads="1"/>
          </p:cNvSpPr>
          <p:nvPr>
            <p:ph type="body" idx="1"/>
          </p:nvPr>
        </p:nvSpPr>
        <p:spPr>
          <a:xfrm>
            <a:off x="838200" y="1122363"/>
            <a:ext cx="7359650" cy="4448175"/>
          </a:xfrm>
        </p:spPr>
        <p:txBody>
          <a:bodyPr/>
          <a:lstStyle/>
          <a:p>
            <a:r>
              <a:rPr lang="en-US" altLang="en-US" dirty="0"/>
              <a:t>Some mobile systems (e.g., early version of iOS)  allow only one process to run, others suspended</a:t>
            </a:r>
          </a:p>
          <a:p>
            <a:r>
              <a:rPr lang="en-US" altLang="en-US" dirty="0"/>
              <a:t>Due to screen real estate, user interface limits iOS provides for a </a:t>
            </a:r>
          </a:p>
          <a:p>
            <a:pPr lvl="1"/>
            <a:r>
              <a:rPr lang="en-US" altLang="en-US" dirty="0"/>
              <a:t>Single </a:t>
            </a:r>
            <a:r>
              <a:rPr lang="en-US" altLang="en-US" b="1" kern="1200" dirty="0">
                <a:solidFill>
                  <a:srgbClr val="006699"/>
                </a:solidFill>
                <a:latin typeface="+mj-lt"/>
                <a:cs typeface="+mn-cs"/>
              </a:rPr>
              <a:t>foreground</a:t>
            </a:r>
            <a:r>
              <a:rPr lang="en-US" altLang="en-US" dirty="0"/>
              <a:t> process- controlled via user interface</a:t>
            </a:r>
          </a:p>
          <a:p>
            <a:pPr lvl="1"/>
            <a:r>
              <a:rPr lang="en-US" altLang="en-US" dirty="0"/>
              <a:t>Multiple </a:t>
            </a:r>
            <a:r>
              <a:rPr lang="en-US" altLang="en-US" b="1" kern="1200" dirty="0">
                <a:solidFill>
                  <a:srgbClr val="006699"/>
                </a:solidFill>
                <a:latin typeface="+mj-lt"/>
                <a:cs typeface="+mn-cs"/>
              </a:rPr>
              <a:t>background</a:t>
            </a:r>
            <a:r>
              <a:rPr lang="en-US" altLang="en-US" dirty="0"/>
              <a:t> processes– in memory, running, but not on the display, and with limits</a:t>
            </a:r>
          </a:p>
          <a:p>
            <a:pPr lvl="1"/>
            <a:r>
              <a:rPr lang="en-US" altLang="en-US" dirty="0"/>
              <a:t>Limits include single, short task, receiving notification of events, specific long-running tasks like audio playback</a:t>
            </a:r>
            <a:r>
              <a:rPr lang="ar-JO" altLang="en-US" dirty="0"/>
              <a:t>تشمل الحدود مهمة واحدة وقصيرة وتلقي إشعار بالأحداث ومهام محددة طويلة الأمد مثل تشغيل الصوت</a:t>
            </a:r>
            <a:endParaRPr lang="en-US" altLang="en-US" dirty="0"/>
          </a:p>
          <a:p>
            <a:r>
              <a:rPr lang="en-US" altLang="en-US" dirty="0"/>
              <a:t>Android runs foreground and background, with fewer limits</a:t>
            </a:r>
          </a:p>
          <a:p>
            <a:pPr lvl="1"/>
            <a:r>
              <a:rPr lang="en-US" altLang="en-US" dirty="0"/>
              <a:t>Background process uses a </a:t>
            </a:r>
            <a:r>
              <a:rPr lang="en-US" altLang="en-US" b="1" kern="1200" dirty="0">
                <a:solidFill>
                  <a:srgbClr val="006699"/>
                </a:solidFill>
                <a:latin typeface="+mj-lt"/>
                <a:cs typeface="+mn-cs"/>
              </a:rPr>
              <a:t>service</a:t>
            </a:r>
            <a:r>
              <a:rPr lang="en-US" altLang="en-US" dirty="0"/>
              <a:t> to perform tasks</a:t>
            </a:r>
          </a:p>
          <a:p>
            <a:pPr lvl="1"/>
            <a:r>
              <a:rPr lang="en-US" altLang="en-US" dirty="0"/>
              <a:t>Service can keep running even if background process is suspended</a:t>
            </a:r>
          </a:p>
          <a:p>
            <a:pPr lvl="1"/>
            <a:r>
              <a:rPr lang="en-US" altLang="en-US" dirty="0"/>
              <a:t>Service has no user interface, small memory use</a:t>
            </a:r>
          </a:p>
          <a:p>
            <a:pPr lvl="1"/>
            <a:endParaRPr lang="en-US" altLang="en-US" dirty="0"/>
          </a:p>
          <a:p>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9C18A1-E10D-464E-ADF5-DBECC2503EA1}"/>
              </a:ext>
            </a:extLst>
          </p:cNvPr>
          <p:cNvSpPr>
            <a:spLocks noGrp="1" noChangeArrowheads="1"/>
          </p:cNvSpPr>
          <p:nvPr>
            <p:ph type="title"/>
          </p:nvPr>
        </p:nvSpPr>
        <p:spPr>
          <a:xfrm>
            <a:off x="457200" y="217488"/>
            <a:ext cx="8229600" cy="576262"/>
          </a:xfrm>
        </p:spPr>
        <p:txBody>
          <a:bodyPr/>
          <a:lstStyle/>
          <a:p>
            <a:pPr eaLnBrk="1" hangingPunct="1"/>
            <a:r>
              <a:rPr lang="en-US" altLang="en-US"/>
              <a:t>Operations on Processes</a:t>
            </a:r>
          </a:p>
        </p:txBody>
      </p:sp>
      <p:sp>
        <p:nvSpPr>
          <p:cNvPr id="39939" name="Rectangle 3">
            <a:extLst>
              <a:ext uri="{FF2B5EF4-FFF2-40B4-BE49-F238E27FC236}">
                <a16:creationId xmlns:a16="http://schemas.microsoft.com/office/drawing/2014/main" id="{1EED5598-4581-4F9D-8CEF-0D1A5A5544B9}"/>
              </a:ext>
            </a:extLst>
          </p:cNvPr>
          <p:cNvSpPr>
            <a:spLocks noGrp="1" noChangeArrowheads="1"/>
          </p:cNvSpPr>
          <p:nvPr>
            <p:ph type="body" idx="1"/>
          </p:nvPr>
        </p:nvSpPr>
        <p:spPr>
          <a:xfrm>
            <a:off x="849313" y="1233488"/>
            <a:ext cx="7381875" cy="4448175"/>
          </a:xfrm>
        </p:spPr>
        <p:txBody>
          <a:bodyPr/>
          <a:lstStyle/>
          <a:p>
            <a:r>
              <a:rPr lang="en-US" altLang="en-US" dirty="0"/>
              <a:t>System must provide mechanisms for:</a:t>
            </a:r>
          </a:p>
          <a:p>
            <a:pPr lvl="1"/>
            <a:r>
              <a:rPr lang="en-US" altLang="en-US" dirty="0"/>
              <a:t> Process creation</a:t>
            </a:r>
          </a:p>
          <a:p>
            <a:pPr lvl="1"/>
            <a:r>
              <a:rPr lang="en-US" altLang="en-US" dirty="0"/>
              <a:t> Process termination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072917A-2F04-4923-8279-E4AEA8CC4538}"/>
              </a:ext>
            </a:extLst>
          </p:cNvPr>
          <p:cNvSpPr>
            <a:spLocks noGrp="1" noChangeArrowheads="1"/>
          </p:cNvSpPr>
          <p:nvPr>
            <p:ph type="title"/>
          </p:nvPr>
        </p:nvSpPr>
        <p:spPr>
          <a:xfrm>
            <a:off x="457200" y="147150"/>
            <a:ext cx="8229600" cy="576262"/>
          </a:xfrm>
        </p:spPr>
        <p:txBody>
          <a:bodyPr/>
          <a:lstStyle/>
          <a:p>
            <a:pPr eaLnBrk="1" hangingPunct="1"/>
            <a:r>
              <a:rPr lang="en-US" altLang="en-US" dirty="0"/>
              <a:t>Process Creation</a:t>
            </a:r>
          </a:p>
        </p:txBody>
      </p:sp>
      <p:sp>
        <p:nvSpPr>
          <p:cNvPr id="41987" name="Rectangle 3">
            <a:extLst>
              <a:ext uri="{FF2B5EF4-FFF2-40B4-BE49-F238E27FC236}">
                <a16:creationId xmlns:a16="http://schemas.microsoft.com/office/drawing/2014/main" id="{D7F79436-9B7B-4340-B99C-8D1E088896F0}"/>
              </a:ext>
            </a:extLst>
          </p:cNvPr>
          <p:cNvSpPr>
            <a:spLocks noGrp="1" noChangeArrowheads="1"/>
          </p:cNvSpPr>
          <p:nvPr>
            <p:ph type="body" idx="1"/>
          </p:nvPr>
        </p:nvSpPr>
        <p:spPr>
          <a:xfrm>
            <a:off x="854075" y="1169988"/>
            <a:ext cx="6824540" cy="4984627"/>
          </a:xfrm>
        </p:spPr>
        <p:txBody>
          <a:bodyPr/>
          <a:lstStyle/>
          <a:p>
            <a:r>
              <a:rPr lang="en-US" altLang="en-US" b="1" dirty="0">
                <a:solidFill>
                  <a:srgbClr val="006699"/>
                </a:solidFill>
                <a:latin typeface="+mj-lt"/>
              </a:rPr>
              <a:t>Parent</a:t>
            </a:r>
            <a:r>
              <a:rPr lang="en-US" altLang="en-US" b="1" dirty="0"/>
              <a:t> </a:t>
            </a:r>
            <a:r>
              <a:rPr lang="en-US" altLang="en-US" dirty="0"/>
              <a:t>process create </a:t>
            </a:r>
            <a:r>
              <a:rPr lang="en-US" altLang="en-US" b="1" dirty="0">
                <a:solidFill>
                  <a:srgbClr val="006699"/>
                </a:solidFill>
                <a:latin typeface="+mj-lt"/>
              </a:rPr>
              <a:t>children</a:t>
            </a:r>
            <a:r>
              <a:rPr lang="en-US" altLang="en-US" b="1" dirty="0"/>
              <a:t> </a:t>
            </a:r>
            <a:r>
              <a:rPr lang="en-US" altLang="en-US" dirty="0"/>
              <a:t>processes, which, in turn create other processes, forming a </a:t>
            </a:r>
            <a:r>
              <a:rPr lang="en-US" altLang="en-US" b="1" dirty="0">
                <a:solidFill>
                  <a:srgbClr val="006699"/>
                </a:solidFill>
                <a:latin typeface="+mj-lt"/>
              </a:rPr>
              <a:t>tree</a:t>
            </a:r>
            <a:r>
              <a:rPr lang="en-US" altLang="en-US" dirty="0"/>
              <a:t> of processes</a:t>
            </a:r>
            <a:endParaRPr lang="en-US" altLang="en-US" sz="800" dirty="0"/>
          </a:p>
          <a:p>
            <a:r>
              <a:rPr lang="en-US" altLang="en-US" dirty="0"/>
              <a:t>Generally, process identified and managed via a</a:t>
            </a:r>
            <a:r>
              <a:rPr lang="en-US" altLang="en-US" b="1" dirty="0"/>
              <a:t> </a:t>
            </a:r>
            <a:r>
              <a:rPr lang="en-US" altLang="en-US" b="1" dirty="0">
                <a:solidFill>
                  <a:srgbClr val="006699"/>
                </a:solidFill>
                <a:latin typeface="+mj-lt"/>
              </a:rPr>
              <a:t>process</a:t>
            </a:r>
            <a:r>
              <a:rPr lang="en-US" altLang="en-US" b="1" dirty="0">
                <a:solidFill>
                  <a:srgbClr val="3366FF"/>
                </a:solidFill>
              </a:rPr>
              <a:t> </a:t>
            </a:r>
            <a:r>
              <a:rPr lang="en-US" altLang="en-US" b="1" dirty="0">
                <a:solidFill>
                  <a:srgbClr val="006699"/>
                </a:solidFill>
                <a:latin typeface="+mj-lt"/>
              </a:rPr>
              <a:t>identifier</a:t>
            </a:r>
            <a:r>
              <a:rPr lang="en-US" altLang="en-US" b="1" dirty="0">
                <a:solidFill>
                  <a:srgbClr val="3366FF"/>
                </a:solidFill>
              </a:rPr>
              <a:t> </a:t>
            </a:r>
            <a:r>
              <a:rPr lang="en-US" altLang="en-US" dirty="0"/>
              <a:t>(</a:t>
            </a:r>
            <a:r>
              <a:rPr lang="en-US" altLang="en-US" b="1" dirty="0">
                <a:solidFill>
                  <a:srgbClr val="006699"/>
                </a:solidFill>
                <a:latin typeface="+mj-lt"/>
              </a:rPr>
              <a:t>pid</a:t>
            </a:r>
            <a:r>
              <a:rPr lang="en-US" altLang="en-US" dirty="0"/>
              <a:t>)</a:t>
            </a:r>
            <a:endParaRPr lang="en-US" altLang="en-US" sz="800" dirty="0"/>
          </a:p>
          <a:p>
            <a:r>
              <a:rPr lang="en-US" altLang="en-US" dirty="0"/>
              <a:t>Resource sharing options</a:t>
            </a:r>
          </a:p>
          <a:p>
            <a:pPr lvl="1"/>
            <a:r>
              <a:rPr lang="en-US" altLang="en-US" dirty="0"/>
              <a:t>Parent and children share all resources</a:t>
            </a:r>
          </a:p>
          <a:p>
            <a:pPr lvl="1"/>
            <a:r>
              <a:rPr lang="en-US" altLang="en-US" dirty="0"/>
              <a:t>Children share subset of parent</a:t>
            </a:r>
            <a:r>
              <a:rPr lang="ja-JP" altLang="en-US" dirty="0"/>
              <a:t>’</a:t>
            </a:r>
            <a:r>
              <a:rPr lang="en-US" altLang="ja-JP" dirty="0"/>
              <a:t>s resources</a:t>
            </a:r>
          </a:p>
          <a:p>
            <a:pPr lvl="1"/>
            <a:r>
              <a:rPr lang="en-US" altLang="en-US" dirty="0"/>
              <a:t>Parent and child share no resources</a:t>
            </a:r>
            <a:endParaRPr lang="en-US" altLang="en-US" sz="800" dirty="0"/>
          </a:p>
          <a:p>
            <a:r>
              <a:rPr lang="en-US" altLang="en-US" dirty="0"/>
              <a:t>Execution options</a:t>
            </a:r>
          </a:p>
          <a:p>
            <a:pPr lvl="1"/>
            <a:r>
              <a:rPr lang="en-US" altLang="en-US" dirty="0"/>
              <a:t>Parent and children execute concurrently</a:t>
            </a:r>
          </a:p>
          <a:p>
            <a:pPr lvl="1"/>
            <a:r>
              <a:rPr lang="en-US" altLang="en-US" dirty="0"/>
              <a:t>Parent waits until children terminate</a:t>
            </a:r>
          </a:p>
          <a:p>
            <a:pPr>
              <a:buFont typeface="Monotype Sorts" pitchFamily="-84" charset="2"/>
              <a:buNone/>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AE43D30-47DB-4A10-9067-ED0817C05E25}"/>
              </a:ext>
            </a:extLst>
          </p:cNvPr>
          <p:cNvSpPr>
            <a:spLocks noGrp="1" noChangeArrowheads="1"/>
          </p:cNvSpPr>
          <p:nvPr>
            <p:ph type="title"/>
          </p:nvPr>
        </p:nvSpPr>
        <p:spPr>
          <a:xfrm>
            <a:off x="1069975" y="217488"/>
            <a:ext cx="7616825" cy="576262"/>
          </a:xfrm>
        </p:spPr>
        <p:txBody>
          <a:bodyPr/>
          <a:lstStyle/>
          <a:p>
            <a:pPr eaLnBrk="1" hangingPunct="1"/>
            <a:r>
              <a:rPr lang="en-US" altLang="en-US"/>
              <a:t>Process Creation (Cont.)</a:t>
            </a:r>
          </a:p>
        </p:txBody>
      </p:sp>
      <p:sp>
        <p:nvSpPr>
          <p:cNvPr id="46083" name="Rectangle 3">
            <a:extLst>
              <a:ext uri="{FF2B5EF4-FFF2-40B4-BE49-F238E27FC236}">
                <a16:creationId xmlns:a16="http://schemas.microsoft.com/office/drawing/2014/main" id="{5A61E917-5669-429F-AA78-E90F2FCB894C}"/>
              </a:ext>
            </a:extLst>
          </p:cNvPr>
          <p:cNvSpPr>
            <a:spLocks noGrp="1" noChangeArrowheads="1"/>
          </p:cNvSpPr>
          <p:nvPr>
            <p:ph type="body" idx="1"/>
          </p:nvPr>
        </p:nvSpPr>
        <p:spPr>
          <a:xfrm>
            <a:off x="811213" y="1060450"/>
            <a:ext cx="7800975" cy="5627688"/>
          </a:xfrm>
        </p:spPr>
        <p:txBody>
          <a:bodyPr/>
          <a:lstStyle/>
          <a:p>
            <a:r>
              <a:rPr lang="en-US" altLang="en-US" dirty="0"/>
              <a:t>Address space</a:t>
            </a:r>
          </a:p>
          <a:p>
            <a:pPr lvl="1"/>
            <a:r>
              <a:rPr lang="en-US" altLang="en-US" dirty="0"/>
              <a:t>Child duplicate of parent</a:t>
            </a:r>
          </a:p>
          <a:p>
            <a:pPr lvl="1"/>
            <a:r>
              <a:rPr lang="en-US" altLang="en-US" dirty="0"/>
              <a:t>Child has a program loaded into it</a:t>
            </a:r>
          </a:p>
          <a:p>
            <a:r>
              <a:rPr lang="en-US" altLang="en-US" dirty="0"/>
              <a:t>UNIX examples</a:t>
            </a:r>
          </a:p>
          <a:p>
            <a:pPr lvl="1"/>
            <a:r>
              <a:rPr lang="en-US" altLang="en-US" sz="2000" b="1" dirty="0">
                <a:solidFill>
                  <a:srgbClr val="000000"/>
                </a:solidFill>
                <a:latin typeface="Courier New" panose="02070309020205020404" pitchFamily="49" charset="0"/>
              </a:rPr>
              <a:t>fork()</a:t>
            </a:r>
            <a:r>
              <a:rPr lang="en-US" altLang="en-US" sz="2000" dirty="0">
                <a:solidFill>
                  <a:srgbClr val="000000"/>
                </a:solidFill>
              </a:rPr>
              <a:t> </a:t>
            </a:r>
            <a:r>
              <a:rPr lang="en-US" altLang="en-US" dirty="0"/>
              <a:t>system call creates new process</a:t>
            </a:r>
          </a:p>
          <a:p>
            <a:pPr lvl="1"/>
            <a:r>
              <a:rPr lang="en-US" altLang="en-US" sz="2000" b="1" dirty="0">
                <a:solidFill>
                  <a:srgbClr val="000000"/>
                </a:solidFill>
                <a:latin typeface="Courier New" panose="02070309020205020404" pitchFamily="49" charset="0"/>
              </a:rPr>
              <a:t>exec()</a:t>
            </a:r>
            <a:r>
              <a:rPr lang="en-US" altLang="en-US" sz="2000" dirty="0"/>
              <a:t> </a:t>
            </a:r>
            <a:r>
              <a:rPr lang="en-US" altLang="en-US" dirty="0"/>
              <a:t>system call used after a </a:t>
            </a:r>
            <a:r>
              <a:rPr lang="en-US" altLang="en-US" sz="2000" b="1" dirty="0">
                <a:solidFill>
                  <a:srgbClr val="000000"/>
                </a:solidFill>
                <a:latin typeface="Courier New" panose="02070309020205020404" pitchFamily="49" charset="0"/>
              </a:rPr>
              <a:t>fork()</a:t>
            </a:r>
            <a:r>
              <a:rPr lang="en-US" altLang="en-US" sz="2000" dirty="0"/>
              <a:t> </a:t>
            </a:r>
            <a:r>
              <a:rPr lang="en-US" altLang="en-US" dirty="0"/>
              <a:t>to replace the process</a:t>
            </a:r>
            <a:r>
              <a:rPr lang="ja-JP" altLang="en-US" dirty="0"/>
              <a:t>’</a:t>
            </a:r>
            <a:r>
              <a:rPr lang="en-US" altLang="ja-JP" dirty="0"/>
              <a:t> memory space with a new program</a:t>
            </a:r>
          </a:p>
          <a:p>
            <a:pPr lvl="1"/>
            <a:r>
              <a:rPr lang="en-US" altLang="en-US" dirty="0"/>
              <a:t>Parent process calls </a:t>
            </a:r>
            <a:r>
              <a:rPr lang="en-US" altLang="en-US" sz="2000" b="1" dirty="0">
                <a:latin typeface="Courier New" panose="02070309020205020404" pitchFamily="49" charset="0"/>
              </a:rPr>
              <a:t>wait()</a:t>
            </a:r>
            <a:r>
              <a:rPr lang="en-US" altLang="en-US" dirty="0"/>
              <a:t>waiting for the child to terminate</a:t>
            </a:r>
          </a:p>
        </p:txBody>
      </p:sp>
      <p:pic>
        <p:nvPicPr>
          <p:cNvPr id="46084" name="Picture 1">
            <a:extLst>
              <a:ext uri="{FF2B5EF4-FFF2-40B4-BE49-F238E27FC236}">
                <a16:creationId xmlns:a16="http://schemas.microsoft.com/office/drawing/2014/main" id="{568A0721-FDA4-4095-BD34-B36CF2AB0A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5013" y="4392613"/>
            <a:ext cx="5746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3A2AC5D-C916-47B2-8787-ACB9BD2F9B0E}"/>
              </a:ext>
            </a:extLst>
          </p:cNvPr>
          <p:cNvSpPr>
            <a:spLocks noGrp="1" noChangeArrowheads="1"/>
          </p:cNvSpPr>
          <p:nvPr>
            <p:ph type="title"/>
          </p:nvPr>
        </p:nvSpPr>
        <p:spPr>
          <a:xfrm>
            <a:off x="457200" y="227013"/>
            <a:ext cx="8229600" cy="576262"/>
          </a:xfrm>
        </p:spPr>
        <p:txBody>
          <a:bodyPr/>
          <a:lstStyle/>
          <a:p>
            <a:pPr eaLnBrk="1" hangingPunct="1"/>
            <a:r>
              <a:rPr lang="en-US" altLang="en-US"/>
              <a:t>Process Termination</a:t>
            </a:r>
          </a:p>
        </p:txBody>
      </p:sp>
      <p:sp>
        <p:nvSpPr>
          <p:cNvPr id="52227" name="Rectangle 3">
            <a:extLst>
              <a:ext uri="{FF2B5EF4-FFF2-40B4-BE49-F238E27FC236}">
                <a16:creationId xmlns:a16="http://schemas.microsoft.com/office/drawing/2014/main" id="{9AB8093C-E173-4473-A450-3BC8EBA8DE1B}"/>
              </a:ext>
            </a:extLst>
          </p:cNvPr>
          <p:cNvSpPr>
            <a:spLocks noGrp="1" noChangeArrowheads="1"/>
          </p:cNvSpPr>
          <p:nvPr>
            <p:ph type="body" idx="1"/>
          </p:nvPr>
        </p:nvSpPr>
        <p:spPr>
          <a:xfrm>
            <a:off x="820738" y="1127981"/>
            <a:ext cx="7303354" cy="4463927"/>
          </a:xfrm>
        </p:spPr>
        <p:txBody>
          <a:bodyPr/>
          <a:lstStyle/>
          <a:p>
            <a:r>
              <a:rPr lang="en-US" altLang="en-US" dirty="0"/>
              <a:t>Process executes last statement and then asks the operating system to delete it using the </a:t>
            </a:r>
            <a:r>
              <a:rPr lang="en-US" altLang="en-US" sz="2000" b="1" dirty="0">
                <a:solidFill>
                  <a:srgbClr val="000000"/>
                </a:solidFill>
                <a:latin typeface="Courier New" panose="02070309020205020404" pitchFamily="49" charset="0"/>
              </a:rPr>
              <a:t>exit()</a:t>
            </a:r>
            <a:r>
              <a:rPr lang="en-US" altLang="en-US" sz="2000" dirty="0"/>
              <a:t> </a:t>
            </a:r>
            <a:r>
              <a:rPr lang="en-US" altLang="en-US" dirty="0"/>
              <a:t>system call.</a:t>
            </a:r>
          </a:p>
          <a:p>
            <a:pPr lvl="1"/>
            <a:r>
              <a:rPr lang="en-US" altLang="en-US" dirty="0"/>
              <a:t>Returns  status data from child to parent (via </a:t>
            </a:r>
            <a:r>
              <a:rPr lang="en-US" altLang="en-US" sz="2000" b="1" dirty="0">
                <a:solidFill>
                  <a:srgbClr val="000000"/>
                </a:solidFill>
                <a:latin typeface="Courier New" panose="02070309020205020404" pitchFamily="49" charset="0"/>
              </a:rPr>
              <a:t>wait()</a:t>
            </a:r>
            <a:r>
              <a:rPr lang="en-US" altLang="en-US" dirty="0"/>
              <a:t>)</a:t>
            </a:r>
          </a:p>
          <a:p>
            <a:pPr lvl="1"/>
            <a:r>
              <a:rPr lang="en-US" altLang="en-US" dirty="0"/>
              <a:t>Process</a:t>
            </a:r>
            <a:r>
              <a:rPr lang="ja-JP" altLang="en-US" dirty="0"/>
              <a:t>’</a:t>
            </a:r>
            <a:r>
              <a:rPr lang="en-US" altLang="ja-JP" dirty="0"/>
              <a:t> resources are deallocated by operating system</a:t>
            </a:r>
            <a:endParaRPr lang="en-US" altLang="en-US" dirty="0"/>
          </a:p>
          <a:p>
            <a:r>
              <a:rPr lang="en-US" altLang="en-US" dirty="0"/>
              <a:t>Parent may terminate the execution of children processes  using the </a:t>
            </a:r>
            <a:r>
              <a:rPr lang="en-US" altLang="en-US" sz="2000" b="1" dirty="0">
                <a:solidFill>
                  <a:srgbClr val="000000"/>
                </a:solidFill>
                <a:latin typeface="Courier New" panose="02070309020205020404" pitchFamily="49" charset="0"/>
              </a:rPr>
              <a:t>abort()</a:t>
            </a:r>
            <a:r>
              <a:rPr lang="en-US" altLang="en-US" sz="2000" dirty="0"/>
              <a:t> </a:t>
            </a:r>
            <a:r>
              <a:rPr lang="en-US" altLang="en-US" dirty="0"/>
              <a:t>system call.  Some reasons for doing so:</a:t>
            </a:r>
          </a:p>
          <a:p>
            <a:pPr lvl="1"/>
            <a:r>
              <a:rPr lang="en-US" altLang="en-US" dirty="0"/>
              <a:t>Child has exceeded allocated resources</a:t>
            </a:r>
          </a:p>
          <a:p>
            <a:pPr lvl="1"/>
            <a:r>
              <a:rPr lang="en-US" altLang="en-US" dirty="0"/>
              <a:t>Task assigned to child is no longer required</a:t>
            </a:r>
          </a:p>
          <a:p>
            <a:pPr lvl="1"/>
            <a:r>
              <a:rPr lang="en-US" altLang="en-US" dirty="0"/>
              <a:t>The parent is exiting, and the operating systems does not allow  a child to continue if its parent terminates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0622719-68BE-4BB0-B168-1A3AE8D09602}"/>
              </a:ext>
            </a:extLst>
          </p:cNvPr>
          <p:cNvSpPr>
            <a:spLocks noGrp="1" noChangeArrowheads="1"/>
          </p:cNvSpPr>
          <p:nvPr>
            <p:ph type="title"/>
          </p:nvPr>
        </p:nvSpPr>
        <p:spPr>
          <a:xfrm>
            <a:off x="457200" y="134817"/>
            <a:ext cx="8229600" cy="366346"/>
          </a:xfrm>
        </p:spPr>
        <p:txBody>
          <a:bodyPr/>
          <a:lstStyle/>
          <a:p>
            <a:pPr eaLnBrk="1" hangingPunct="1"/>
            <a:r>
              <a:rPr lang="en-US" altLang="en-US" dirty="0"/>
              <a:t>Process Termination</a:t>
            </a:r>
          </a:p>
        </p:txBody>
      </p:sp>
      <p:sp>
        <p:nvSpPr>
          <p:cNvPr id="54275" name="Rectangle 3">
            <a:extLst>
              <a:ext uri="{FF2B5EF4-FFF2-40B4-BE49-F238E27FC236}">
                <a16:creationId xmlns:a16="http://schemas.microsoft.com/office/drawing/2014/main" id="{C7E8DAD2-CD54-4141-B861-1A2932EF060A}"/>
              </a:ext>
            </a:extLst>
          </p:cNvPr>
          <p:cNvSpPr>
            <a:spLocks noGrp="1" noChangeArrowheads="1"/>
          </p:cNvSpPr>
          <p:nvPr>
            <p:ph type="body" idx="1"/>
          </p:nvPr>
        </p:nvSpPr>
        <p:spPr>
          <a:xfrm>
            <a:off x="167055" y="641838"/>
            <a:ext cx="8976945" cy="5199185"/>
          </a:xfrm>
        </p:spPr>
        <p:txBody>
          <a:bodyPr/>
          <a:lstStyle/>
          <a:p>
            <a:pPr marL="457200" lvl="1" indent="0">
              <a:buNone/>
            </a:pPr>
            <a:endParaRPr lang="en-US" altLang="en-US" sz="800"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Some operating systems do not allow child to exists if its parent has terminated.  If a process terminates, then all its children must also be terminated.</a:t>
            </a:r>
          </a:p>
          <a:p>
            <a:pPr lvl="1"/>
            <a:r>
              <a:rPr lang="en-US" altLang="en-US" b="1" dirty="0">
                <a:latin typeface="Times New Roman" panose="02020603050405020304" pitchFamily="18" charset="0"/>
                <a:cs typeface="Times New Roman" panose="02020603050405020304" pitchFamily="18" charset="0"/>
              </a:rPr>
              <a:t>cascading termination.  </a:t>
            </a:r>
            <a:r>
              <a:rPr lang="en-US" altLang="en-US" dirty="0">
                <a:latin typeface="Times New Roman" panose="02020603050405020304" pitchFamily="18" charset="0"/>
                <a:cs typeface="Times New Roman" panose="02020603050405020304" pitchFamily="18" charset="0"/>
              </a:rPr>
              <a:t>All children, grandchildren, etc.,  are  terminated.</a:t>
            </a:r>
            <a:endParaRPr lang="en-US" altLang="en-US" b="1" dirty="0">
              <a:latin typeface="Times New Roman" panose="02020603050405020304" pitchFamily="18" charset="0"/>
              <a:cs typeface="Times New Roman" panose="02020603050405020304" pitchFamily="18" charset="0"/>
            </a:endParaRPr>
          </a:p>
          <a:p>
            <a:pPr lvl="1"/>
            <a:r>
              <a:rPr lang="en-US" altLang="en-US" dirty="0">
                <a:latin typeface="Times New Roman" panose="02020603050405020304" pitchFamily="18" charset="0"/>
                <a:cs typeface="Times New Roman" panose="02020603050405020304" pitchFamily="18" charset="0"/>
              </a:rPr>
              <a:t>The termination is initiated by the operating system.</a:t>
            </a:r>
            <a:endParaRPr lang="en-US" altLang="en-US" b="1"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 parent process may wait for termination of a child process by using the </a:t>
            </a:r>
            <a:r>
              <a:rPr lang="en-US" altLang="en-US" sz="2000" b="1" dirty="0">
                <a:solidFill>
                  <a:srgbClr val="000000"/>
                </a:solidFill>
                <a:latin typeface="Times New Roman" panose="02020603050405020304" pitchFamily="18" charset="0"/>
                <a:cs typeface="Times New Roman" panose="02020603050405020304" pitchFamily="18" charset="0"/>
              </a:rPr>
              <a:t>wait()</a:t>
            </a:r>
            <a:r>
              <a:rPr lang="en-US" altLang="en-US" dirty="0">
                <a:latin typeface="Times New Roman" panose="02020603050405020304" pitchFamily="18" charset="0"/>
                <a:cs typeface="Times New Roman" panose="02020603050405020304" pitchFamily="18" charset="0"/>
              </a:rPr>
              <a:t>system call</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 call returns status information and the pid of the terminated process</a:t>
            </a:r>
            <a:endParaRPr lang="en-US" altLang="en-US" b="1" dirty="0">
              <a:solidFill>
                <a:srgbClr val="000000"/>
              </a:solidFill>
              <a:latin typeface="Times New Roman" panose="02020603050405020304" pitchFamily="18" charset="0"/>
              <a:cs typeface="Times New Roman" panose="02020603050405020304" pitchFamily="18" charset="0"/>
            </a:endParaRPr>
          </a:p>
          <a:p>
            <a:pPr>
              <a:buFont typeface="Monotype Sorts" pitchFamily="-84" charset="2"/>
              <a:buNone/>
            </a:pPr>
            <a:r>
              <a:rPr lang="en-US" altLang="en-US" b="1" dirty="0">
                <a:solidFill>
                  <a:srgbClr val="000000"/>
                </a:solidFill>
                <a:latin typeface="Times New Roman" panose="02020603050405020304" pitchFamily="18" charset="0"/>
                <a:cs typeface="Times New Roman" panose="02020603050405020304" pitchFamily="18" charset="0"/>
              </a:rPr>
              <a:t>      pid = wait(&amp;status); </a:t>
            </a:r>
          </a:p>
          <a:p>
            <a:r>
              <a:rPr lang="en-US" altLang="en-US" dirty="0">
                <a:latin typeface="Times New Roman" panose="02020603050405020304" pitchFamily="18" charset="0"/>
                <a:cs typeface="Times New Roman" panose="02020603050405020304" pitchFamily="18" charset="0"/>
              </a:rPr>
              <a:t>If no parent waiting (did not invoke </a:t>
            </a:r>
            <a:r>
              <a:rPr lang="en-US" altLang="en-US" sz="2000" b="1" dirty="0">
                <a:solidFill>
                  <a:srgbClr val="000000"/>
                </a:solidFill>
                <a:latin typeface="Times New Roman" panose="02020603050405020304" pitchFamily="18" charset="0"/>
                <a:cs typeface="Times New Roman" panose="02020603050405020304" pitchFamily="18" charset="0"/>
              </a:rPr>
              <a:t>wait()</a:t>
            </a:r>
            <a:r>
              <a:rPr lang="en-US" altLang="en-US" dirty="0">
                <a:latin typeface="Times New Roman" panose="02020603050405020304" pitchFamily="18" charset="0"/>
                <a:cs typeface="Times New Roman" panose="02020603050405020304" pitchFamily="18" charset="0"/>
              </a:rPr>
              <a:t>) process is a </a:t>
            </a:r>
            <a:r>
              <a:rPr lang="en-US" altLang="en-US" b="1" dirty="0">
                <a:solidFill>
                  <a:srgbClr val="006699"/>
                </a:solidFill>
                <a:latin typeface="Times New Roman" panose="02020603050405020304" pitchFamily="18" charset="0"/>
                <a:cs typeface="Times New Roman" panose="02020603050405020304" pitchFamily="18" charset="0"/>
              </a:rPr>
              <a:t>zombie </a:t>
            </a:r>
          </a:p>
          <a:p>
            <a:pPr lvl="1"/>
            <a:r>
              <a:rPr lang="en-US" sz="1400" dirty="0"/>
              <a:t>A </a:t>
            </a:r>
            <a:r>
              <a:rPr lang="en-US" sz="1400" b="1" i="1" dirty="0"/>
              <a:t>zombie process</a:t>
            </a:r>
            <a:r>
              <a:rPr lang="en-US" sz="1400" dirty="0"/>
              <a:t> is a process that has completed execution (via the exit system call) but still has an entry in the process table. This occurs for the child processes, where the entry is still needed to allow the parent process to read its child's exit status. Once the exit status is read via the wait system call, the zombie's entry is removed from the process table.</a:t>
            </a:r>
          </a:p>
          <a:p>
            <a:pPr lvl="1"/>
            <a:r>
              <a:rPr lang="en-US" sz="1600" dirty="0"/>
              <a:t> A child process always first becomes a zombie before being removed from the resource table.</a:t>
            </a:r>
            <a:endParaRPr lang="en-US" altLang="en-US" sz="1600" b="1" dirty="0">
              <a:solidFill>
                <a:srgbClr val="006699"/>
              </a:solidFill>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If parent terminated without invoking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sz="2000" b="1" dirty="0">
                <a:solidFill>
                  <a:srgbClr val="000000"/>
                </a:solidFill>
                <a:latin typeface="Times New Roman" panose="02020603050405020304" pitchFamily="18" charset="0"/>
                <a:cs typeface="Times New Roman" panose="02020603050405020304" pitchFamily="18" charset="0"/>
              </a:rPr>
              <a:t>wait()</a:t>
            </a:r>
            <a:r>
              <a:rPr lang="en-US" altLang="en-US" dirty="0">
                <a:latin typeface="Times New Roman" panose="02020603050405020304" pitchFamily="18" charset="0"/>
                <a:cs typeface="Times New Roman" panose="02020603050405020304" pitchFamily="18" charset="0"/>
              </a:rPr>
              <a:t>, process is an </a:t>
            </a:r>
            <a:r>
              <a:rPr lang="en-US" altLang="en-US" b="1" dirty="0">
                <a:solidFill>
                  <a:srgbClr val="006699"/>
                </a:solidFill>
                <a:latin typeface="Times New Roman" panose="02020603050405020304" pitchFamily="18" charset="0"/>
                <a:cs typeface="Times New Roman" panose="02020603050405020304" pitchFamily="18" charset="0"/>
              </a:rPr>
              <a:t>orphan</a:t>
            </a:r>
            <a:r>
              <a:rPr lang="ar-JO" altLang="en-US" b="1" dirty="0">
                <a:solidFill>
                  <a:srgbClr val="006699"/>
                </a:solidFill>
                <a:latin typeface="Times New Roman" panose="02020603050405020304" pitchFamily="18" charset="0"/>
                <a:cs typeface="Times New Roman" panose="02020603050405020304" pitchFamily="18" charset="0"/>
              </a:rPr>
              <a:t>يتيم</a:t>
            </a:r>
          </a:p>
          <a:p>
            <a:pPr lvl="1"/>
            <a:r>
              <a:rPr lang="en-US" dirty="0"/>
              <a:t>A child process that remains running even after its parent process is terminated or completed without waiting for the child process execution is called an orphan. </a:t>
            </a:r>
            <a:endParaRPr lang="en-US" altLang="en-US" b="1" dirty="0">
              <a:solidFill>
                <a:srgbClr val="00669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CCF9DC54-118C-447A-A3AB-7C2E989968AC}"/>
              </a:ext>
            </a:extLst>
          </p:cNvPr>
          <p:cNvSpPr>
            <a:spLocks noGrp="1" noChangeArrowheads="1"/>
          </p:cNvSpPr>
          <p:nvPr>
            <p:ph type="title"/>
          </p:nvPr>
        </p:nvSpPr>
        <p:spPr>
          <a:xfrm>
            <a:off x="1455123" y="119918"/>
            <a:ext cx="7743825" cy="576263"/>
          </a:xfrm>
        </p:spPr>
        <p:txBody>
          <a:bodyPr/>
          <a:lstStyle/>
          <a:p>
            <a:r>
              <a:rPr lang="en-US" altLang="en-US" sz="3000" dirty="0"/>
              <a:t>Android Process Importance Hierarchy</a:t>
            </a:r>
          </a:p>
        </p:txBody>
      </p:sp>
      <p:sp>
        <p:nvSpPr>
          <p:cNvPr id="56323" name="Content Placeholder 2">
            <a:extLst>
              <a:ext uri="{FF2B5EF4-FFF2-40B4-BE49-F238E27FC236}">
                <a16:creationId xmlns:a16="http://schemas.microsoft.com/office/drawing/2014/main" id="{8675C949-6A9A-4638-902C-843874920EE2}"/>
              </a:ext>
            </a:extLst>
          </p:cNvPr>
          <p:cNvSpPr>
            <a:spLocks noGrp="1" noChangeArrowheads="1"/>
          </p:cNvSpPr>
          <p:nvPr>
            <p:ph idx="1"/>
          </p:nvPr>
        </p:nvSpPr>
        <p:spPr>
          <a:xfrm>
            <a:off x="819150" y="1100968"/>
            <a:ext cx="7743825" cy="4530725"/>
          </a:xfrm>
        </p:spPr>
        <p:txBody>
          <a:bodyPr/>
          <a:lstStyle/>
          <a:p>
            <a:r>
              <a:rPr lang="en-US" altLang="en-US" dirty="0"/>
              <a:t>Mobile operating systems often have to terminate processes to reclaim system resources such as memory. From </a:t>
            </a:r>
            <a:r>
              <a:rPr lang="en-US" altLang="en-US" b="1" dirty="0"/>
              <a:t>most</a:t>
            </a:r>
            <a:r>
              <a:rPr lang="en-US" altLang="en-US" dirty="0"/>
              <a:t> to </a:t>
            </a:r>
            <a:r>
              <a:rPr lang="en-US" altLang="en-US" b="1" dirty="0"/>
              <a:t>least</a:t>
            </a:r>
            <a:r>
              <a:rPr lang="en-US" altLang="en-US" dirty="0"/>
              <a:t> important:</a:t>
            </a:r>
          </a:p>
          <a:p>
            <a:pPr lvl="1"/>
            <a:r>
              <a:rPr lang="en-US" altLang="en-US" dirty="0"/>
              <a:t>Foreground process</a:t>
            </a:r>
          </a:p>
          <a:p>
            <a:pPr lvl="1"/>
            <a:r>
              <a:rPr lang="en-US" altLang="en-US" dirty="0"/>
              <a:t>Visible process</a:t>
            </a:r>
          </a:p>
          <a:p>
            <a:pPr lvl="1"/>
            <a:r>
              <a:rPr lang="en-US" altLang="en-US" dirty="0"/>
              <a:t>Service process</a:t>
            </a:r>
          </a:p>
          <a:p>
            <a:pPr lvl="1"/>
            <a:r>
              <a:rPr lang="en-US" altLang="en-US" dirty="0"/>
              <a:t>Background process</a:t>
            </a:r>
          </a:p>
          <a:p>
            <a:pPr lvl="1"/>
            <a:r>
              <a:rPr lang="en-US" altLang="en-US" dirty="0"/>
              <a:t>Empty process</a:t>
            </a:r>
          </a:p>
          <a:p>
            <a:r>
              <a:rPr lang="en-US" altLang="en-US" dirty="0"/>
              <a:t>Android will begin terminating processes that are least important.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D6E94F8E-122F-4FED-9B3D-FD01E2845895}"/>
              </a:ext>
            </a:extLst>
          </p:cNvPr>
          <p:cNvSpPr>
            <a:spLocks noGrp="1" noChangeArrowheads="1"/>
          </p:cNvSpPr>
          <p:nvPr>
            <p:ph type="title"/>
          </p:nvPr>
        </p:nvSpPr>
        <p:spPr>
          <a:xfrm>
            <a:off x="1202347" y="143364"/>
            <a:ext cx="7997825" cy="576263"/>
          </a:xfrm>
        </p:spPr>
        <p:txBody>
          <a:bodyPr/>
          <a:lstStyle/>
          <a:p>
            <a:r>
              <a:rPr lang="en-US" altLang="en-US" sz="2800" dirty="0" err="1"/>
              <a:t>Multiprocess</a:t>
            </a:r>
            <a:r>
              <a:rPr lang="en-US" altLang="en-US" sz="2800" dirty="0"/>
              <a:t> Architecture – Chrome Browser</a:t>
            </a:r>
          </a:p>
        </p:txBody>
      </p:sp>
      <p:sp>
        <p:nvSpPr>
          <p:cNvPr id="57347" name="Content Placeholder 2">
            <a:extLst>
              <a:ext uri="{FF2B5EF4-FFF2-40B4-BE49-F238E27FC236}">
                <a16:creationId xmlns:a16="http://schemas.microsoft.com/office/drawing/2014/main" id="{360D7C25-6ED1-40E0-9C1E-876BC3EC89DC}"/>
              </a:ext>
            </a:extLst>
          </p:cNvPr>
          <p:cNvSpPr>
            <a:spLocks noGrp="1" noChangeArrowheads="1"/>
          </p:cNvSpPr>
          <p:nvPr>
            <p:ph idx="1"/>
          </p:nvPr>
        </p:nvSpPr>
        <p:spPr>
          <a:xfrm>
            <a:off x="815975" y="1073426"/>
            <a:ext cx="7805738" cy="4478752"/>
          </a:xfrm>
        </p:spPr>
        <p:txBody>
          <a:bodyPr/>
          <a:lstStyle/>
          <a:p>
            <a:r>
              <a:rPr lang="en-US" altLang="en-US" dirty="0"/>
              <a:t>Many web browsers ran as single process (some still do)</a:t>
            </a:r>
          </a:p>
          <a:p>
            <a:pPr lvl="1"/>
            <a:r>
              <a:rPr lang="en-US" altLang="en-US" dirty="0"/>
              <a:t>If one web site causes trouble, entire browser can hang or crash</a:t>
            </a:r>
          </a:p>
          <a:p>
            <a:r>
              <a:rPr lang="en-US" altLang="en-US" dirty="0"/>
              <a:t>Google Chrome Browser is </a:t>
            </a:r>
            <a:r>
              <a:rPr lang="en-US" altLang="en-US" dirty="0" err="1"/>
              <a:t>multiprocess</a:t>
            </a:r>
            <a:r>
              <a:rPr lang="en-US" altLang="en-US" dirty="0"/>
              <a:t> with 3 different types of processes: </a:t>
            </a:r>
          </a:p>
          <a:p>
            <a:pPr lvl="1"/>
            <a:r>
              <a:rPr lang="en-US" altLang="en-US" b="1" dirty="0">
                <a:solidFill>
                  <a:srgbClr val="006699"/>
                </a:solidFill>
                <a:latin typeface="+mj-lt"/>
              </a:rPr>
              <a:t>Browser</a:t>
            </a:r>
            <a:r>
              <a:rPr lang="en-US" altLang="en-US" dirty="0"/>
              <a:t> process manages user interface, disk and network I/O</a:t>
            </a:r>
          </a:p>
          <a:p>
            <a:pPr lvl="1"/>
            <a:r>
              <a:rPr lang="en-US" altLang="en-US" b="1" dirty="0">
                <a:solidFill>
                  <a:srgbClr val="006699"/>
                </a:solidFill>
                <a:latin typeface="+mj-lt"/>
              </a:rPr>
              <a:t>Renderer </a:t>
            </a:r>
            <a:r>
              <a:rPr lang="ar-JO" altLang="en-US" b="1" dirty="0">
                <a:solidFill>
                  <a:srgbClr val="006699"/>
                </a:solidFill>
                <a:latin typeface="+mj-lt"/>
              </a:rPr>
              <a:t>عارض</a:t>
            </a:r>
            <a:r>
              <a:rPr lang="en-US" altLang="en-US" dirty="0"/>
              <a:t> process renders web pages, deals with HTML, </a:t>
            </a:r>
            <a:r>
              <a:rPr lang="en-US" altLang="en-US" dirty="0" err="1"/>
              <a:t>Javascript</a:t>
            </a:r>
            <a:r>
              <a:rPr lang="en-US" altLang="en-US" dirty="0"/>
              <a:t>.</a:t>
            </a:r>
          </a:p>
          <a:p>
            <a:pPr lvl="2"/>
            <a:r>
              <a:rPr lang="en-US" altLang="en-US" dirty="0"/>
              <a:t>A new renderer created for each website opened</a:t>
            </a:r>
          </a:p>
          <a:p>
            <a:pPr lvl="2"/>
            <a:r>
              <a:rPr lang="en-US" altLang="en-US" dirty="0"/>
              <a:t>Runs in </a:t>
            </a:r>
            <a:r>
              <a:rPr lang="en-US" altLang="en-US" b="1" dirty="0">
                <a:solidFill>
                  <a:srgbClr val="006699"/>
                </a:solidFill>
                <a:latin typeface="+mj-lt"/>
              </a:rPr>
              <a:t>sandbox</a:t>
            </a:r>
            <a:r>
              <a:rPr lang="en-US" altLang="en-US" dirty="0"/>
              <a:t> restricting disk and network I/O, minimizing effect of security exploits</a:t>
            </a:r>
            <a:r>
              <a:rPr lang="ar-JO" altLang="en-US" dirty="0"/>
              <a:t>يعمل في وضع الحماية لتقييد إدخال/إخراج القرص والشبكة، مما يقلل من تأثير عمليات الاستغلال الأمنية</a:t>
            </a:r>
            <a:endParaRPr lang="en-US" altLang="en-US" dirty="0"/>
          </a:p>
          <a:p>
            <a:pPr lvl="1"/>
            <a:r>
              <a:rPr lang="en-US" altLang="en-US" b="1" dirty="0">
                <a:solidFill>
                  <a:srgbClr val="006699"/>
                </a:solidFill>
                <a:latin typeface="+mj-lt"/>
              </a:rPr>
              <a:t>Plug-in</a:t>
            </a:r>
            <a:r>
              <a:rPr lang="en-US" altLang="en-US" b="1" dirty="0">
                <a:solidFill>
                  <a:srgbClr val="3366FF"/>
                </a:solidFill>
              </a:rPr>
              <a:t> </a:t>
            </a:r>
            <a:r>
              <a:rPr lang="en-US" altLang="en-US" dirty="0"/>
              <a:t>process for each type of plug-in</a:t>
            </a:r>
            <a:r>
              <a:rPr lang="ar-JO" altLang="en-US" dirty="0"/>
              <a:t>عملية المكون الإضافي لكل نوع من المكونات الإضافية</a:t>
            </a:r>
            <a:endParaRPr lang="en-US" altLang="en-US" dirty="0"/>
          </a:p>
          <a:p>
            <a:pPr lvl="1"/>
            <a:endParaRPr lang="en-US" altLang="en-US" dirty="0"/>
          </a:p>
          <a:p>
            <a:pPr lvl="1"/>
            <a:endParaRPr lang="en-US" altLang="en-US" dirty="0"/>
          </a:p>
          <a:p>
            <a:pPr lvl="1"/>
            <a:endParaRPr lang="en-US" altLang="en-US" dirty="0"/>
          </a:p>
        </p:txBody>
      </p:sp>
      <p:pic>
        <p:nvPicPr>
          <p:cNvPr id="57348" name="Picture 1">
            <a:extLst>
              <a:ext uri="{FF2B5EF4-FFF2-40B4-BE49-F238E27FC236}">
                <a16:creationId xmlns:a16="http://schemas.microsoft.com/office/drawing/2014/main" id="{FC10B725-AB13-417A-BEE0-FCE2190A3E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86333" y="5413870"/>
            <a:ext cx="6278563"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BDB4C1-41ED-4129-8187-C9F67ADD1D51}"/>
              </a:ext>
            </a:extLst>
          </p:cNvPr>
          <p:cNvSpPr>
            <a:spLocks noGrp="1"/>
          </p:cNvSpPr>
          <p:nvPr>
            <p:ph type="ctrTitle"/>
          </p:nvPr>
        </p:nvSpPr>
        <p:spPr/>
        <p:txBody>
          <a:bodyPr/>
          <a:lstStyle/>
          <a:p>
            <a:r>
              <a:rPr lang="en-US" dirty="0"/>
              <a:t>Communication </a:t>
            </a:r>
          </a:p>
        </p:txBody>
      </p:sp>
    </p:spTree>
    <p:extLst>
      <p:ext uri="{BB962C8B-B14F-4D97-AF65-F5344CB8AC3E}">
        <p14:creationId xmlns:p14="http://schemas.microsoft.com/office/powerpoint/2010/main" val="3987514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09D0E5E8-A027-43B0-871E-ED73DF85B2CC}"/>
              </a:ext>
            </a:extLst>
          </p:cNvPr>
          <p:cNvSpPr>
            <a:spLocks noGrp="1" noChangeArrowheads="1"/>
          </p:cNvSpPr>
          <p:nvPr>
            <p:ph type="title"/>
          </p:nvPr>
        </p:nvSpPr>
        <p:spPr>
          <a:xfrm>
            <a:off x="1001713" y="130054"/>
            <a:ext cx="7485062" cy="576262"/>
          </a:xfrm>
        </p:spPr>
        <p:txBody>
          <a:bodyPr/>
          <a:lstStyle/>
          <a:p>
            <a:r>
              <a:rPr lang="en-US" altLang="en-US" dirty="0"/>
              <a:t>Interprocess Communication</a:t>
            </a:r>
          </a:p>
        </p:txBody>
      </p:sp>
      <p:sp>
        <p:nvSpPr>
          <p:cNvPr id="59395" name="Content Placeholder 2">
            <a:extLst>
              <a:ext uri="{FF2B5EF4-FFF2-40B4-BE49-F238E27FC236}">
                <a16:creationId xmlns:a16="http://schemas.microsoft.com/office/drawing/2014/main" id="{2EF26BE1-FCB0-440F-8834-E9B667D36DB4}"/>
              </a:ext>
            </a:extLst>
          </p:cNvPr>
          <p:cNvSpPr>
            <a:spLocks noGrp="1" noChangeArrowheads="1"/>
          </p:cNvSpPr>
          <p:nvPr>
            <p:ph idx="1"/>
          </p:nvPr>
        </p:nvSpPr>
        <p:spPr>
          <a:xfrm>
            <a:off x="811213" y="1154113"/>
            <a:ext cx="7675562" cy="4530725"/>
          </a:xfrm>
        </p:spPr>
        <p:txBody>
          <a:bodyPr/>
          <a:lstStyle/>
          <a:p>
            <a:r>
              <a:rPr lang="en-US" altLang="en-US" dirty="0"/>
              <a:t>Processes within a system may be </a:t>
            </a:r>
            <a:r>
              <a:rPr lang="en-US" altLang="en-US" b="1" i="1" dirty="0"/>
              <a:t>independent</a:t>
            </a:r>
            <a:r>
              <a:rPr lang="en-US" altLang="en-US" b="1" dirty="0"/>
              <a:t> </a:t>
            </a:r>
            <a:r>
              <a:rPr lang="en-US" altLang="en-US" dirty="0"/>
              <a:t>or </a:t>
            </a:r>
            <a:r>
              <a:rPr lang="en-US" altLang="en-US" b="1" i="1" dirty="0"/>
              <a:t>cooperating</a:t>
            </a:r>
            <a:endParaRPr lang="ar-JO" altLang="en-US" b="1" i="1" dirty="0"/>
          </a:p>
          <a:p>
            <a:r>
              <a:rPr lang="en-US" altLang="en-US" b="1" i="1" dirty="0"/>
              <a:t>Independent</a:t>
            </a:r>
            <a:r>
              <a:rPr lang="en-US" altLang="en-US" dirty="0"/>
              <a:t> process cannot affect or be affected by the execution of another process</a:t>
            </a:r>
          </a:p>
          <a:p>
            <a:r>
              <a:rPr lang="en-US" altLang="en-US" b="1" dirty="0"/>
              <a:t>Cooperating</a:t>
            </a:r>
            <a:r>
              <a:rPr lang="en-US" altLang="en-US" dirty="0"/>
              <a:t> process can affect or be affected by other processes, including sharing data</a:t>
            </a:r>
          </a:p>
          <a:p>
            <a:r>
              <a:rPr lang="en-US" altLang="en-US" dirty="0"/>
              <a:t>Reasons for cooperating processes:</a:t>
            </a:r>
          </a:p>
          <a:p>
            <a:pPr lvl="1"/>
            <a:r>
              <a:rPr lang="en-US" altLang="en-US" dirty="0"/>
              <a:t>Information sharing</a:t>
            </a:r>
          </a:p>
          <a:p>
            <a:pPr lvl="1"/>
            <a:r>
              <a:rPr lang="en-US" altLang="en-US" dirty="0"/>
              <a:t>Computation speedup</a:t>
            </a:r>
          </a:p>
          <a:p>
            <a:pPr lvl="1"/>
            <a:r>
              <a:rPr lang="en-US" altLang="en-US" dirty="0"/>
              <a:t>Modularity</a:t>
            </a:r>
          </a:p>
          <a:p>
            <a:pPr lvl="1"/>
            <a:r>
              <a:rPr lang="en-US" altLang="en-US" dirty="0"/>
              <a:t>Convenience </a:t>
            </a:r>
            <a:r>
              <a:rPr lang="en-US" altLang="en-US" dirty="0">
                <a:ea typeface="ＭＳ Ｐゴシック" panose="020B0600070205080204" pitchFamily="34" charset="-128"/>
              </a:rPr>
              <a:t>to run multitask in parallel </a:t>
            </a:r>
            <a:r>
              <a:rPr lang="en-US" altLang="en-US" dirty="0"/>
              <a:t>	</a:t>
            </a:r>
          </a:p>
          <a:p>
            <a:r>
              <a:rPr lang="en-US" altLang="en-US" dirty="0"/>
              <a:t>Cooperating processes need </a:t>
            </a:r>
            <a:r>
              <a:rPr lang="en-US" altLang="en-US" b="1" dirty="0">
                <a:solidFill>
                  <a:srgbClr val="006699"/>
                </a:solidFill>
                <a:latin typeface="+mj-lt"/>
              </a:rPr>
              <a:t>interprocess</a:t>
            </a:r>
            <a:r>
              <a:rPr lang="en-US" altLang="en-US" b="1" dirty="0">
                <a:solidFill>
                  <a:srgbClr val="3366FF"/>
                </a:solidFill>
              </a:rPr>
              <a:t> </a:t>
            </a:r>
            <a:r>
              <a:rPr lang="en-US" altLang="en-US" b="1" dirty="0">
                <a:solidFill>
                  <a:srgbClr val="006699"/>
                </a:solidFill>
                <a:latin typeface="+mj-lt"/>
              </a:rPr>
              <a:t>communication</a:t>
            </a:r>
            <a:r>
              <a:rPr lang="en-US" altLang="en-US" b="1" dirty="0">
                <a:solidFill>
                  <a:srgbClr val="3366FF"/>
                </a:solidFill>
              </a:rPr>
              <a:t> </a:t>
            </a:r>
            <a:r>
              <a:rPr lang="en-US" altLang="en-US" dirty="0"/>
              <a:t>(</a:t>
            </a:r>
            <a:r>
              <a:rPr lang="en-US" altLang="en-US" b="1" dirty="0">
                <a:solidFill>
                  <a:srgbClr val="006699"/>
                </a:solidFill>
                <a:latin typeface="+mj-lt"/>
              </a:rPr>
              <a:t>IPC</a:t>
            </a:r>
            <a:r>
              <a:rPr lang="en-US" altLang="en-US" dirty="0"/>
              <a:t>)</a:t>
            </a:r>
          </a:p>
          <a:p>
            <a:r>
              <a:rPr lang="en-US" altLang="en-US" dirty="0"/>
              <a:t>Two models of IPC</a:t>
            </a:r>
          </a:p>
          <a:p>
            <a:pPr lvl="1"/>
            <a:r>
              <a:rPr lang="en-US" altLang="en-US" b="1" dirty="0">
                <a:solidFill>
                  <a:srgbClr val="006699"/>
                </a:solidFill>
                <a:latin typeface="+mj-lt"/>
              </a:rPr>
              <a:t>Shared</a:t>
            </a:r>
            <a:r>
              <a:rPr lang="en-US" altLang="en-US" b="1" dirty="0">
                <a:solidFill>
                  <a:srgbClr val="3366FF"/>
                </a:solidFill>
              </a:rPr>
              <a:t> </a:t>
            </a:r>
            <a:r>
              <a:rPr lang="en-US" altLang="en-US" b="1" dirty="0">
                <a:solidFill>
                  <a:srgbClr val="006699"/>
                </a:solidFill>
                <a:latin typeface="+mj-lt"/>
              </a:rPr>
              <a:t>memory</a:t>
            </a:r>
          </a:p>
          <a:p>
            <a:pPr lvl="1"/>
            <a:r>
              <a:rPr lang="en-US" altLang="en-US" b="1" dirty="0">
                <a:solidFill>
                  <a:srgbClr val="006699"/>
                </a:solidFill>
                <a:latin typeface="+mj-lt"/>
              </a:rPr>
              <a:t>Message passing</a:t>
            </a:r>
          </a:p>
          <a:p>
            <a:pPr lvl="1"/>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3AED1FE0-98EB-4775-B47D-0DBD6740B504}"/>
              </a:ext>
            </a:extLst>
          </p:cNvPr>
          <p:cNvSpPr>
            <a:spLocks noGrp="1" noChangeArrowheads="1"/>
          </p:cNvSpPr>
          <p:nvPr>
            <p:ph type="title"/>
          </p:nvPr>
        </p:nvSpPr>
        <p:spPr/>
        <p:txBody>
          <a:bodyPr/>
          <a:lstStyle/>
          <a:p>
            <a:r>
              <a:rPr lang="en-US" altLang="en-US" sz="2800">
                <a:ea typeface="ＭＳ Ｐゴシック" panose="020B0600070205080204" pitchFamily="34" charset="-128"/>
              </a:rPr>
              <a:t> 3.4.1 Shared-Memory systems</a:t>
            </a:r>
          </a:p>
        </p:txBody>
      </p:sp>
      <p:sp>
        <p:nvSpPr>
          <p:cNvPr id="154627" name="Rectangle 3">
            <a:extLst>
              <a:ext uri="{FF2B5EF4-FFF2-40B4-BE49-F238E27FC236}">
                <a16:creationId xmlns:a16="http://schemas.microsoft.com/office/drawing/2014/main" id="{9BFECCA4-C182-41C7-82CA-1690F3F2C538}"/>
              </a:ext>
            </a:extLst>
          </p:cNvPr>
          <p:cNvSpPr>
            <a:spLocks noGrp="1" noChangeArrowheads="1"/>
          </p:cNvSpPr>
          <p:nvPr>
            <p:ph type="body" idx="1"/>
          </p:nvPr>
        </p:nvSpPr>
        <p:spPr/>
        <p:txBody>
          <a:bodyPr/>
          <a:lstStyle/>
          <a:p>
            <a:pPr>
              <a:buFont typeface="Wingdings" panose="05000000000000000000" pitchFamily="2" charset="2"/>
              <a:buChar char="Ø"/>
            </a:pPr>
            <a:r>
              <a:rPr lang="en-US" altLang="en-US" sz="2000" dirty="0">
                <a:ea typeface="ＭＳ Ｐゴシック" panose="020B0600070205080204" pitchFamily="34" charset="-128"/>
              </a:rPr>
              <a:t>Interposes communication using shared memory requires communicating processes to establish a region of shared memory.</a:t>
            </a:r>
          </a:p>
          <a:p>
            <a:pPr>
              <a:buFont typeface="Wingdings" panose="05000000000000000000" pitchFamily="2" charset="2"/>
              <a:buChar char="Ø"/>
            </a:pPr>
            <a:r>
              <a:rPr lang="en-US" altLang="en-US" sz="2000" dirty="0">
                <a:ea typeface="ＭＳ Ｐゴシック" panose="020B0600070205080204" pitchFamily="34" charset="-128"/>
              </a:rPr>
              <a:t>A shared-memory region resides in the address space of the process creating the shared memory segment. Other processes that wish to communicate using this shared-memory segment must attach it to their address space.</a:t>
            </a:r>
          </a:p>
          <a:p>
            <a:pPr>
              <a:buFont typeface="Wingdings" panose="05000000000000000000" pitchFamily="2" charset="2"/>
              <a:buChar char="Ø"/>
            </a:pPr>
            <a:r>
              <a:rPr lang="en-US" altLang="en-US" sz="2000" dirty="0">
                <a:ea typeface="ＭＳ Ｐゴシック" panose="020B0600070205080204" pitchFamily="34" charset="-128"/>
              </a:rPr>
              <a:t>OS prevents one process from accessing another process’s memory. Shared memory requires that two or more processes agree to remove this restriction. They can then exchange information by reading and writing data in the shared region.</a:t>
            </a:r>
          </a:p>
          <a:p>
            <a:pPr>
              <a:buFont typeface="Wingdings" panose="05000000000000000000" pitchFamily="2" charset="2"/>
              <a:buChar char="Ø"/>
            </a:pPr>
            <a:r>
              <a:rPr lang="en-US" altLang="en-US" sz="2000" dirty="0">
                <a:ea typeface="ＭＳ Ｐゴシック" panose="020B0600070205080204" pitchFamily="34" charset="-128"/>
              </a:rPr>
              <a:t>To illustrate the concept of cooperating processes lets consider </a:t>
            </a:r>
            <a:r>
              <a:rPr lang="en-US" altLang="en-US" sz="2000" b="1" dirty="0">
                <a:ea typeface="ＭＳ Ｐゴシック" panose="020B0600070205080204" pitchFamily="34" charset="-128"/>
              </a:rPr>
              <a:t>Producer-Consumer Problem.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9141823-0818-4D21-8248-27E5004ACAF5}"/>
              </a:ext>
            </a:extLst>
          </p:cNvPr>
          <p:cNvSpPr>
            <a:spLocks noGrp="1" noChangeArrowheads="1"/>
          </p:cNvSpPr>
          <p:nvPr>
            <p:ph type="title"/>
          </p:nvPr>
        </p:nvSpPr>
        <p:spPr>
          <a:xfrm>
            <a:off x="749300" y="228600"/>
            <a:ext cx="7937500" cy="576263"/>
          </a:xfrm>
        </p:spPr>
        <p:txBody>
          <a:bodyPr/>
          <a:lstStyle/>
          <a:p>
            <a:pPr eaLnBrk="1" hangingPunct="1"/>
            <a:r>
              <a:rPr lang="en-US" altLang="en-US"/>
              <a:t>Producer-Consumer Problem</a:t>
            </a:r>
          </a:p>
        </p:txBody>
      </p:sp>
      <p:sp>
        <p:nvSpPr>
          <p:cNvPr id="65539" name="Rectangle 3">
            <a:extLst>
              <a:ext uri="{FF2B5EF4-FFF2-40B4-BE49-F238E27FC236}">
                <a16:creationId xmlns:a16="http://schemas.microsoft.com/office/drawing/2014/main" id="{99B8C2EA-F3A4-449A-81E9-2FC5EC36E1D3}"/>
              </a:ext>
            </a:extLst>
          </p:cNvPr>
          <p:cNvSpPr>
            <a:spLocks noGrp="1" noChangeArrowheads="1"/>
          </p:cNvSpPr>
          <p:nvPr>
            <p:ph type="body" idx="1"/>
          </p:nvPr>
        </p:nvSpPr>
        <p:spPr>
          <a:xfrm>
            <a:off x="814388" y="1214438"/>
            <a:ext cx="6825665" cy="4344151"/>
          </a:xfrm>
        </p:spPr>
        <p:txBody>
          <a:bodyPr/>
          <a:lstStyle/>
          <a:p>
            <a:r>
              <a:rPr lang="en-US" altLang="en-US" dirty="0"/>
              <a:t>Paradi</a:t>
            </a:r>
            <a:r>
              <a:rPr lang="en-US" altLang="en-US" i="1" u="sng" dirty="0"/>
              <a:t>g</a:t>
            </a:r>
            <a:r>
              <a:rPr lang="en-US" altLang="en-US" dirty="0"/>
              <a:t>m for cooperating processes:</a:t>
            </a:r>
          </a:p>
          <a:p>
            <a:pPr lvl="1"/>
            <a:r>
              <a:rPr lang="en-US" altLang="en-US" i="1" dirty="0"/>
              <a:t>producer</a:t>
            </a:r>
            <a:r>
              <a:rPr lang="en-US" altLang="en-US" dirty="0"/>
              <a:t> process produces information that is consumed by a </a:t>
            </a:r>
            <a:r>
              <a:rPr lang="en-US" altLang="en-US" i="1" dirty="0"/>
              <a:t>consumer</a:t>
            </a:r>
            <a:r>
              <a:rPr lang="en-US" altLang="en-US" dirty="0"/>
              <a:t> process</a:t>
            </a:r>
          </a:p>
          <a:p>
            <a:r>
              <a:rPr lang="en-US" altLang="en-US" dirty="0"/>
              <a:t>Two variations:</a:t>
            </a:r>
          </a:p>
          <a:p>
            <a:pPr lvl="1"/>
            <a:r>
              <a:rPr lang="en-US" altLang="en-US" b="1" dirty="0">
                <a:solidFill>
                  <a:srgbClr val="006699"/>
                </a:solidFill>
                <a:latin typeface="+mj-lt"/>
              </a:rPr>
              <a:t>unbounded-buffer</a:t>
            </a:r>
            <a:r>
              <a:rPr lang="en-US" altLang="en-US" b="1" dirty="0">
                <a:solidFill>
                  <a:srgbClr val="3366FF"/>
                </a:solidFill>
              </a:rPr>
              <a:t> </a:t>
            </a:r>
            <a:r>
              <a:rPr lang="en-US" altLang="en-US" dirty="0"/>
              <a:t>places no practical limit on the size of the buffer:</a:t>
            </a:r>
          </a:p>
          <a:p>
            <a:pPr lvl="2"/>
            <a:r>
              <a:rPr lang="en-US" altLang="en-US" dirty="0"/>
              <a:t>Producer never waits</a:t>
            </a:r>
          </a:p>
          <a:p>
            <a:pPr lvl="2"/>
            <a:r>
              <a:rPr lang="en-US" altLang="en-US" dirty="0"/>
              <a:t>Consumer waits if there is no buffer to consume</a:t>
            </a:r>
          </a:p>
          <a:p>
            <a:pPr lvl="1"/>
            <a:r>
              <a:rPr lang="en-US" altLang="en-US" b="1" dirty="0">
                <a:solidFill>
                  <a:srgbClr val="006699"/>
                </a:solidFill>
                <a:latin typeface="+mj-lt"/>
              </a:rPr>
              <a:t>bounded-buffer</a:t>
            </a:r>
            <a:r>
              <a:rPr lang="en-US" altLang="en-US" b="1" dirty="0">
                <a:solidFill>
                  <a:srgbClr val="3366FF"/>
                </a:solidFill>
              </a:rPr>
              <a:t> </a:t>
            </a:r>
            <a:r>
              <a:rPr lang="en-US" altLang="en-US" dirty="0"/>
              <a:t>assumes that there is a fixed buffer size</a:t>
            </a:r>
          </a:p>
          <a:p>
            <a:pPr lvl="2"/>
            <a:r>
              <a:rPr lang="en-US" altLang="en-US" dirty="0"/>
              <a:t>Producer must wait if all buffers are full</a:t>
            </a:r>
          </a:p>
          <a:p>
            <a:pPr lvl="2"/>
            <a:r>
              <a:rPr lang="en-US" altLang="en-US" dirty="0"/>
              <a:t>Consumer waits if there is no buffer to consume</a:t>
            </a:r>
          </a:p>
        </p:txBody>
      </p:sp>
    </p:spTree>
    <p:extLst>
      <p:ext uri="{BB962C8B-B14F-4D97-AF65-F5344CB8AC3E}">
        <p14:creationId xmlns:p14="http://schemas.microsoft.com/office/powerpoint/2010/main" val="1261982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75428CE-94A1-42F8-AA1B-55485F581E53}"/>
              </a:ext>
            </a:extLst>
          </p:cNvPr>
          <p:cNvSpPr>
            <a:spLocks noGrp="1" noChangeArrowheads="1"/>
          </p:cNvSpPr>
          <p:nvPr>
            <p:ph type="title"/>
          </p:nvPr>
        </p:nvSpPr>
        <p:spPr>
          <a:xfrm>
            <a:off x="920585" y="95580"/>
            <a:ext cx="8426450" cy="576263"/>
          </a:xfrm>
        </p:spPr>
        <p:txBody>
          <a:bodyPr/>
          <a:lstStyle/>
          <a:p>
            <a:pPr eaLnBrk="1" hangingPunct="1"/>
            <a:r>
              <a:rPr lang="en-US" altLang="en-US" sz="2600" dirty="0"/>
              <a:t>IPC – Shared Memory</a:t>
            </a:r>
          </a:p>
        </p:txBody>
      </p:sp>
      <p:sp>
        <p:nvSpPr>
          <p:cNvPr id="67587" name="Rectangle 3">
            <a:extLst>
              <a:ext uri="{FF2B5EF4-FFF2-40B4-BE49-F238E27FC236}">
                <a16:creationId xmlns:a16="http://schemas.microsoft.com/office/drawing/2014/main" id="{90C2EA05-1541-4195-8AE7-131E61118D2E}"/>
              </a:ext>
            </a:extLst>
          </p:cNvPr>
          <p:cNvSpPr>
            <a:spLocks noGrp="1" noChangeArrowheads="1"/>
          </p:cNvSpPr>
          <p:nvPr>
            <p:ph type="body" idx="1"/>
          </p:nvPr>
        </p:nvSpPr>
        <p:spPr>
          <a:xfrm>
            <a:off x="833438" y="1233488"/>
            <a:ext cx="7239751" cy="4385259"/>
          </a:xfrm>
        </p:spPr>
        <p:txBody>
          <a:bodyPr/>
          <a:lstStyle/>
          <a:p>
            <a:pPr>
              <a:lnSpc>
                <a:spcPct val="90000"/>
              </a:lnSpc>
            </a:pPr>
            <a:r>
              <a:rPr lang="en-US" altLang="en-US" dirty="0"/>
              <a:t>An area of memory shared among the processes that wish to communicate</a:t>
            </a:r>
          </a:p>
          <a:p>
            <a:pPr>
              <a:lnSpc>
                <a:spcPct val="90000"/>
              </a:lnSpc>
            </a:pPr>
            <a:r>
              <a:rPr lang="en-US" altLang="en-US" dirty="0"/>
              <a:t>The communication is under the control of the users processes not the operating system.</a:t>
            </a:r>
          </a:p>
          <a:p>
            <a:pPr>
              <a:lnSpc>
                <a:spcPct val="90000"/>
              </a:lnSpc>
            </a:pPr>
            <a:r>
              <a:rPr lang="en-US" altLang="en-US" dirty="0"/>
              <a:t>Major issues is to provide mechanism that will allow the user processes to synchronize their actions when they access shared memory. </a:t>
            </a:r>
          </a:p>
          <a:p>
            <a:pPr>
              <a:lnSpc>
                <a:spcPct val="90000"/>
              </a:lnSpc>
            </a:pPr>
            <a:r>
              <a:rPr lang="en-US" altLang="en-US" dirty="0"/>
              <a:t>Synchronization is discussed in great details in Chapters 6 &amp; 7.</a:t>
            </a:r>
          </a:p>
          <a:p>
            <a:pPr>
              <a:lnSpc>
                <a:spcPct val="90000"/>
              </a:lnSpc>
            </a:pPr>
            <a:endParaRPr lang="en-US" altLang="en-US" dirty="0"/>
          </a:p>
          <a:p>
            <a:pPr lvl="1">
              <a:lnSpc>
                <a:spcPct val="90000"/>
              </a:lnSpc>
              <a:buFont typeface="Monotype Sorts" pitchFamily="-84" charset="2"/>
              <a:buNone/>
            </a:pP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9EE88E8-FB94-4EA2-914B-EA0288206255}"/>
              </a:ext>
            </a:extLst>
          </p:cNvPr>
          <p:cNvSpPr>
            <a:spLocks noGrp="1" noChangeArrowheads="1"/>
          </p:cNvSpPr>
          <p:nvPr>
            <p:ph type="title"/>
          </p:nvPr>
        </p:nvSpPr>
        <p:spPr>
          <a:xfrm>
            <a:off x="1046163" y="265946"/>
            <a:ext cx="8074025" cy="457200"/>
          </a:xfrm>
        </p:spPr>
        <p:txBody>
          <a:bodyPr/>
          <a:lstStyle/>
          <a:p>
            <a:pPr eaLnBrk="1" hangingPunct="1"/>
            <a:r>
              <a:rPr lang="en-US" altLang="en-US" sz="2800" dirty="0"/>
              <a:t>Bounded-Buffer – Shared-Memory Solution</a:t>
            </a:r>
          </a:p>
        </p:txBody>
      </p:sp>
      <p:sp>
        <p:nvSpPr>
          <p:cNvPr id="69635" name="Rectangle 3">
            <a:extLst>
              <a:ext uri="{FF2B5EF4-FFF2-40B4-BE49-F238E27FC236}">
                <a16:creationId xmlns:a16="http://schemas.microsoft.com/office/drawing/2014/main" id="{06B4B2DB-0CD0-402C-8F68-104A05E1E5E5}"/>
              </a:ext>
            </a:extLst>
          </p:cNvPr>
          <p:cNvSpPr>
            <a:spLocks noGrp="1" noChangeArrowheads="1"/>
          </p:cNvSpPr>
          <p:nvPr>
            <p:ph type="body" idx="1"/>
          </p:nvPr>
        </p:nvSpPr>
        <p:spPr>
          <a:xfrm>
            <a:off x="839788" y="1203325"/>
            <a:ext cx="7486650" cy="4700588"/>
          </a:xfrm>
        </p:spPr>
        <p:txBody>
          <a:bodyPr/>
          <a:lstStyle/>
          <a:p>
            <a:r>
              <a:rPr lang="en-US" altLang="en-US"/>
              <a:t>Shared data</a:t>
            </a:r>
          </a:p>
          <a:p>
            <a:pPr marL="1598613" lvl="3">
              <a:buFontTx/>
              <a:buNone/>
            </a:pPr>
            <a:r>
              <a:rPr lang="en-US" altLang="en-US" b="1">
                <a:latin typeface="Courier New" panose="02070309020205020404" pitchFamily="49" charset="0"/>
              </a:rPr>
              <a:t>#define BUFFER_SIZE 10</a:t>
            </a:r>
          </a:p>
          <a:p>
            <a:pPr marL="1598613" lvl="3">
              <a:buFontTx/>
              <a:buNone/>
            </a:pPr>
            <a:r>
              <a:rPr lang="en-US" altLang="en-US" b="1">
                <a:latin typeface="Courier New" panose="02070309020205020404" pitchFamily="49" charset="0"/>
              </a:rPr>
              <a:t>typedef struct {</a:t>
            </a:r>
          </a:p>
          <a:p>
            <a:pPr marL="1598613" lvl="3">
              <a:buFontTx/>
              <a:buNone/>
            </a:pPr>
            <a:r>
              <a:rPr lang="en-US" altLang="en-US" b="1">
                <a:latin typeface="Courier New" panose="02070309020205020404" pitchFamily="49" charset="0"/>
              </a:rPr>
              <a:t>	. . .</a:t>
            </a:r>
          </a:p>
          <a:p>
            <a:pPr marL="1598613" lvl="3">
              <a:buFontTx/>
              <a:buNone/>
            </a:pPr>
            <a:r>
              <a:rPr lang="en-US" altLang="en-US" b="1">
                <a:latin typeface="Courier New" panose="02070309020205020404" pitchFamily="49" charset="0"/>
              </a:rPr>
              <a:t>} item;</a:t>
            </a:r>
          </a:p>
          <a:p>
            <a:pPr marL="1598613" lvl="3">
              <a:buFontTx/>
              <a:buNone/>
            </a:pPr>
            <a:endParaRPr lang="en-US" altLang="en-US" b="1">
              <a:latin typeface="Courier New" panose="02070309020205020404" pitchFamily="49" charset="0"/>
            </a:endParaRPr>
          </a:p>
          <a:p>
            <a:pPr marL="1598613" lvl="3">
              <a:buFontTx/>
              <a:buNone/>
            </a:pPr>
            <a:r>
              <a:rPr lang="en-US" altLang="en-US" b="1">
                <a:latin typeface="Courier New" panose="02070309020205020404" pitchFamily="49" charset="0"/>
              </a:rPr>
              <a:t>item buffer[BUFFER_SIZE];</a:t>
            </a:r>
          </a:p>
          <a:p>
            <a:pPr marL="1598613" lvl="3">
              <a:buFontTx/>
              <a:buNone/>
            </a:pPr>
            <a:r>
              <a:rPr lang="en-US" altLang="en-US" b="1">
                <a:latin typeface="Courier New" panose="02070309020205020404" pitchFamily="49" charset="0"/>
              </a:rPr>
              <a:t>int in = 0;</a:t>
            </a:r>
          </a:p>
          <a:p>
            <a:pPr marL="1598613" lvl="3">
              <a:buFontTx/>
              <a:buNone/>
            </a:pPr>
            <a:r>
              <a:rPr lang="en-US" altLang="en-US" b="1">
                <a:latin typeface="Courier New" panose="02070309020205020404" pitchFamily="49" charset="0"/>
              </a:rPr>
              <a:t>int out = 0;</a:t>
            </a:r>
          </a:p>
          <a:p>
            <a:pPr marL="1598613" lvl="3">
              <a:buFontTx/>
              <a:buNone/>
            </a:pPr>
            <a:endParaRPr lang="en-US" altLang="en-US"/>
          </a:p>
          <a:p>
            <a:r>
              <a:rPr lang="en-US" altLang="en-US"/>
              <a:t>Solution is correct, but can only use </a:t>
            </a:r>
            <a:r>
              <a:rPr lang="en-US" altLang="en-US" b="1">
                <a:latin typeface="Courier New" panose="02070309020205020404" pitchFamily="49" charset="0"/>
              </a:rPr>
              <a:t>BUFFER_SIZE-1</a:t>
            </a:r>
            <a:r>
              <a:rPr lang="en-US" altLang="en-US"/>
              <a:t> elements</a:t>
            </a:r>
          </a:p>
          <a:p>
            <a:pPr marL="1598613" lvl="3">
              <a:buFontTx/>
              <a:buNone/>
            </a:pPr>
            <a:endParaRPr lang="en-US" altLang="en-US" sz="200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426FA82-2801-4913-A63A-AF57E7132643}"/>
              </a:ext>
            </a:extLst>
          </p:cNvPr>
          <p:cNvSpPr>
            <a:spLocks noGrp="1" noChangeArrowheads="1"/>
          </p:cNvSpPr>
          <p:nvPr>
            <p:ph type="title"/>
          </p:nvPr>
        </p:nvSpPr>
        <p:spPr>
          <a:xfrm>
            <a:off x="1117600" y="222250"/>
            <a:ext cx="7569200" cy="576263"/>
          </a:xfrm>
        </p:spPr>
        <p:txBody>
          <a:bodyPr/>
          <a:lstStyle/>
          <a:p>
            <a:pPr eaLnBrk="1" hangingPunct="1"/>
            <a:r>
              <a:rPr lang="en-US" altLang="en-US" dirty="0"/>
              <a:t>Producer Process – Shared Memory</a:t>
            </a:r>
          </a:p>
        </p:txBody>
      </p:sp>
      <p:sp>
        <p:nvSpPr>
          <p:cNvPr id="71683" name="Rectangle 3">
            <a:extLst>
              <a:ext uri="{FF2B5EF4-FFF2-40B4-BE49-F238E27FC236}">
                <a16:creationId xmlns:a16="http://schemas.microsoft.com/office/drawing/2014/main" id="{918AC823-35A6-4F95-9F20-D71790E773CD}"/>
              </a:ext>
            </a:extLst>
          </p:cNvPr>
          <p:cNvSpPr>
            <a:spLocks noGrp="1" noChangeArrowheads="1"/>
          </p:cNvSpPr>
          <p:nvPr>
            <p:ph type="body" idx="1"/>
          </p:nvPr>
        </p:nvSpPr>
        <p:spPr>
          <a:xfrm>
            <a:off x="1603375" y="1014413"/>
            <a:ext cx="6940550" cy="4483100"/>
          </a:xfrm>
        </p:spPr>
        <p:txBody>
          <a:bodyPr/>
          <a:lstStyle/>
          <a:p>
            <a:pPr>
              <a:buFont typeface="Monotype Sorts" pitchFamily="-84" charset="2"/>
              <a:buNone/>
            </a:pPr>
            <a:endParaRPr lang="en-US" altLang="en-US" sz="1600">
              <a:latin typeface="Monaco"/>
            </a:endParaRPr>
          </a:p>
          <a:p>
            <a:pPr>
              <a:buFont typeface="Monotype Sorts" pitchFamily="-84" charset="2"/>
              <a:buNone/>
            </a:pPr>
            <a:r>
              <a:rPr lang="en-US" altLang="en-US" sz="1600" b="1">
                <a:latin typeface="Courier New" panose="02070309020205020404" pitchFamily="49" charset="0"/>
              </a:rPr>
              <a:t>item next_produced; </a:t>
            </a:r>
            <a:br>
              <a:rPr lang="en-US" altLang="en-US" sz="1600" b="1">
                <a:latin typeface="Courier New" panose="02070309020205020404" pitchFamily="49" charset="0"/>
              </a:rPr>
            </a:br>
            <a:endParaRPr lang="en-US" altLang="en-US" sz="1600" b="1">
              <a:latin typeface="Courier New" panose="02070309020205020404" pitchFamily="49" charset="0"/>
            </a:endParaRPr>
          </a:p>
          <a:p>
            <a:pPr>
              <a:buFont typeface="Monotype Sorts" pitchFamily="-84" charset="2"/>
              <a:buNone/>
            </a:pPr>
            <a:r>
              <a:rPr lang="en-US" altLang="en-US" sz="1600" b="1">
                <a:latin typeface="Courier New" panose="02070309020205020404" pitchFamily="49" charset="0"/>
              </a:rPr>
              <a:t>while (true) { </a:t>
            </a:r>
          </a:p>
          <a:p>
            <a:pPr>
              <a:buFont typeface="Monotype Sorts" pitchFamily="-84" charset="2"/>
              <a:buNone/>
            </a:pPr>
            <a:r>
              <a:rPr lang="en-US" altLang="en-US" sz="1600" b="1">
                <a:latin typeface="Courier New" panose="02070309020205020404" pitchFamily="49" charset="0"/>
              </a:rPr>
              <a:t>	/* produce an item in next produced */ </a:t>
            </a:r>
          </a:p>
          <a:p>
            <a:pPr>
              <a:buFont typeface="Monotype Sorts" pitchFamily="-84" charset="2"/>
              <a:buNone/>
            </a:pPr>
            <a:r>
              <a:rPr lang="en-US" altLang="en-US" sz="1600" b="1">
                <a:latin typeface="Courier New" panose="02070309020205020404" pitchFamily="49" charset="0"/>
              </a:rPr>
              <a:t>	while (((in + 1) % BUFFER_SIZE) == out) </a:t>
            </a:r>
          </a:p>
          <a:p>
            <a:pPr>
              <a:buFont typeface="Monotype Sorts" pitchFamily="-84" charset="2"/>
              <a:buNone/>
            </a:pPr>
            <a:r>
              <a:rPr lang="en-US" altLang="en-US" sz="1600" b="1">
                <a:latin typeface="Courier New" panose="02070309020205020404" pitchFamily="49" charset="0"/>
              </a:rPr>
              <a:t>		; /* do nothing */ </a:t>
            </a:r>
          </a:p>
          <a:p>
            <a:pPr>
              <a:buFont typeface="Monotype Sorts" pitchFamily="-84" charset="2"/>
              <a:buNone/>
            </a:pPr>
            <a:r>
              <a:rPr lang="en-US" altLang="en-US" sz="1600" b="1">
                <a:latin typeface="Courier New" panose="02070309020205020404" pitchFamily="49" charset="0"/>
              </a:rPr>
              <a:t>	buffer[in] = next_produced; </a:t>
            </a:r>
          </a:p>
          <a:p>
            <a:pPr>
              <a:buFont typeface="Monotype Sorts" pitchFamily="-84" charset="2"/>
              <a:buNone/>
            </a:pPr>
            <a:r>
              <a:rPr lang="en-US" altLang="en-US" sz="1600" b="1">
                <a:latin typeface="Courier New" panose="02070309020205020404" pitchFamily="49" charset="0"/>
              </a:rPr>
              <a:t>	in = (in + 1) % BUFFER_SIZE; </a:t>
            </a:r>
          </a:p>
          <a:p>
            <a:pPr>
              <a:buFont typeface="Monotype Sorts" pitchFamily="-84" charset="2"/>
              <a:buNone/>
            </a:pPr>
            <a:r>
              <a:rPr lang="en-US" altLang="en-US" sz="1600" b="1">
                <a:latin typeface="Courier New" panose="02070309020205020404" pitchFamily="49" charset="0"/>
              </a:rPr>
              <a:t>}</a:t>
            </a:r>
            <a:r>
              <a:rPr lang="en-US" altLang="en-US" sz="1600">
                <a:latin typeface="Courier New" panose="02070309020205020404" pitchFamily="49" charset="0"/>
              </a:rPr>
              <a:t> </a:t>
            </a:r>
          </a:p>
          <a:p>
            <a:pPr>
              <a:buFont typeface="Monotype Sorts" pitchFamily="-84" charset="2"/>
              <a:buNone/>
            </a:pPr>
            <a:endParaRPr lang="en-US" altLang="en-US" sz="2000">
              <a:latin typeface="Monaco"/>
            </a:endParaRPr>
          </a:p>
          <a:p>
            <a:pPr>
              <a:buFont typeface="Monotype Sorts" pitchFamily="-84" charset="2"/>
              <a:buNone/>
            </a:pPr>
            <a:endParaRPr lang="en-US" altLang="en-US" sz="2000"/>
          </a:p>
          <a:p>
            <a:pPr>
              <a:buFont typeface="Monotype Sorts" pitchFamily="-84" charset="2"/>
              <a:buNone/>
            </a:pPr>
            <a:r>
              <a:rPr lang="en-US" altLang="en-US" sz="1400"/>
              <a:t>	</a:t>
            </a:r>
          </a:p>
          <a:p>
            <a:pPr marL="7167563" lvl="4">
              <a:buFontTx/>
              <a:buNone/>
            </a:pPr>
            <a:endParaRPr lang="en-US" alt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5A24975-CF06-4A73-8D26-DA0E6F7E659C}"/>
              </a:ext>
            </a:extLst>
          </p:cNvPr>
          <p:cNvSpPr>
            <a:spLocks noGrp="1" noChangeArrowheads="1"/>
          </p:cNvSpPr>
          <p:nvPr>
            <p:ph type="title"/>
          </p:nvPr>
        </p:nvSpPr>
        <p:spPr>
          <a:xfrm>
            <a:off x="1332835" y="204535"/>
            <a:ext cx="7594600" cy="545850"/>
          </a:xfrm>
        </p:spPr>
        <p:txBody>
          <a:bodyPr/>
          <a:lstStyle/>
          <a:p>
            <a:pPr eaLnBrk="1" hangingPunct="1"/>
            <a:r>
              <a:rPr lang="en-US" altLang="en-US" dirty="0"/>
              <a:t>Consumer Process – Shared Memory</a:t>
            </a:r>
          </a:p>
        </p:txBody>
      </p:sp>
      <p:sp>
        <p:nvSpPr>
          <p:cNvPr id="73731" name="Rectangle 3">
            <a:extLst>
              <a:ext uri="{FF2B5EF4-FFF2-40B4-BE49-F238E27FC236}">
                <a16:creationId xmlns:a16="http://schemas.microsoft.com/office/drawing/2014/main" id="{A4383804-C100-4255-A1BD-B8DC67A9F255}"/>
              </a:ext>
            </a:extLst>
          </p:cNvPr>
          <p:cNvSpPr>
            <a:spLocks noGrp="1" noChangeArrowheads="1"/>
          </p:cNvSpPr>
          <p:nvPr>
            <p:ph type="body" idx="1"/>
          </p:nvPr>
        </p:nvSpPr>
        <p:spPr>
          <a:xfrm>
            <a:off x="1649413" y="1219200"/>
            <a:ext cx="6894512" cy="4411663"/>
          </a:xfrm>
        </p:spPr>
        <p:txBody>
          <a:bodyPr/>
          <a:lstStyle/>
          <a:p>
            <a:pPr marL="0" indent="0">
              <a:buFont typeface="Monotype Sorts" pitchFamily="-84" charset="2"/>
              <a:buNone/>
            </a:pPr>
            <a:r>
              <a:rPr lang="en-US" altLang="en-US" sz="1600" b="1">
                <a:latin typeface="Courier New" panose="02070309020205020404" pitchFamily="49" charset="0"/>
              </a:rPr>
              <a:t>item next_consumed; </a:t>
            </a:r>
            <a:br>
              <a:rPr lang="en-US" altLang="en-US" sz="1600" b="1">
                <a:latin typeface="Courier New" panose="02070309020205020404" pitchFamily="49" charset="0"/>
              </a:rPr>
            </a:br>
            <a:endParaRPr lang="en-US" altLang="en-US" sz="1600" b="1">
              <a:latin typeface="Courier New" panose="02070309020205020404" pitchFamily="49" charset="0"/>
            </a:endParaRPr>
          </a:p>
          <a:p>
            <a:pPr marL="0" indent="0">
              <a:buFont typeface="Monotype Sorts" pitchFamily="-84" charset="2"/>
              <a:buNone/>
            </a:pPr>
            <a:r>
              <a:rPr lang="en-US" altLang="en-US" sz="1600" b="1">
                <a:latin typeface="Courier New" panose="02070309020205020404" pitchFamily="49" charset="0"/>
              </a:rPr>
              <a:t>while (true) {</a:t>
            </a:r>
            <a:br>
              <a:rPr lang="en-US" altLang="en-US" sz="1600" b="1">
                <a:latin typeface="Courier New" panose="02070309020205020404" pitchFamily="49" charset="0"/>
              </a:rPr>
            </a:br>
            <a:r>
              <a:rPr lang="en-US" altLang="en-US" sz="1600" b="1">
                <a:latin typeface="Courier New" panose="02070309020205020404" pitchFamily="49" charset="0"/>
              </a:rPr>
              <a:t>	while (in == out) </a:t>
            </a:r>
          </a:p>
          <a:p>
            <a:pPr marL="0" indent="0">
              <a:buFont typeface="Monotype Sorts" pitchFamily="-84" charset="2"/>
              <a:buNone/>
            </a:pPr>
            <a:r>
              <a:rPr lang="en-US" altLang="en-US" sz="1600" b="1">
                <a:latin typeface="Courier New" panose="02070309020205020404" pitchFamily="49" charset="0"/>
              </a:rPr>
              <a:t>		; /* do nothing */</a:t>
            </a:r>
            <a:br>
              <a:rPr lang="en-US" altLang="en-US" sz="1600" b="1">
                <a:latin typeface="Courier New" panose="02070309020205020404" pitchFamily="49" charset="0"/>
              </a:rPr>
            </a:br>
            <a:r>
              <a:rPr lang="en-US" altLang="en-US" sz="1600" b="1">
                <a:latin typeface="Courier New" panose="02070309020205020404" pitchFamily="49" charset="0"/>
              </a:rPr>
              <a:t>	next_consumed = buffer[out]; </a:t>
            </a:r>
          </a:p>
          <a:p>
            <a:pPr marL="0" indent="0">
              <a:buFont typeface="Monotype Sorts" pitchFamily="-84" charset="2"/>
              <a:buNone/>
            </a:pPr>
            <a:r>
              <a:rPr lang="en-US" altLang="en-US" sz="1600" b="1">
                <a:latin typeface="Courier New" panose="02070309020205020404" pitchFamily="49" charset="0"/>
              </a:rPr>
              <a:t>	out = (out + 1) % BUFFER_SIZE;</a:t>
            </a:r>
            <a:br>
              <a:rPr lang="en-US" altLang="en-US" sz="1600" b="1">
                <a:latin typeface="Courier New" panose="02070309020205020404" pitchFamily="49" charset="0"/>
              </a:rPr>
            </a:br>
            <a:endParaRPr lang="en-US" altLang="en-US" sz="1600" b="1">
              <a:latin typeface="Courier New" panose="02070309020205020404" pitchFamily="49" charset="0"/>
            </a:endParaRPr>
          </a:p>
          <a:p>
            <a:pPr marL="0" indent="0">
              <a:buFont typeface="Monotype Sorts" pitchFamily="-84" charset="2"/>
              <a:buNone/>
            </a:pPr>
            <a:r>
              <a:rPr lang="en-US" altLang="en-US" sz="1600" b="1">
                <a:latin typeface="Courier New" panose="02070309020205020404" pitchFamily="49" charset="0"/>
              </a:rPr>
              <a:t>	/* consume the item in next consumed */ </a:t>
            </a:r>
          </a:p>
          <a:p>
            <a:pPr marL="0" indent="0">
              <a:buFont typeface="Monotype Sorts" pitchFamily="-84" charset="2"/>
              <a:buNone/>
            </a:pPr>
            <a:r>
              <a:rPr lang="en-US" altLang="en-US" sz="1600" b="1">
                <a:latin typeface="Courier New" panose="02070309020205020404" pitchFamily="49" charset="0"/>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938127" y="215318"/>
            <a:ext cx="7870888" cy="576263"/>
          </a:xfrm>
        </p:spPr>
        <p:txBody>
          <a:bodyPr/>
          <a:lstStyle/>
          <a:p>
            <a:pPr eaLnBrk="1" hangingPunct="1"/>
            <a:r>
              <a:rPr lang="en-US" altLang="en-US" dirty="0"/>
              <a:t>What about Filling all the Buffers?</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029677" cy="4762529"/>
          </a:xfrm>
        </p:spPr>
        <p:txBody>
          <a:bodyPr/>
          <a:lstStyle/>
          <a:p>
            <a:r>
              <a:rPr lang="en-US" altLang="en-US" dirty="0"/>
              <a:t>Suppose that we wanted to provide a solution to the consumer-producer problem that fills </a:t>
            </a:r>
            <a:r>
              <a:rPr lang="en-US" altLang="en-US" b="1" dirty="0">
                <a:solidFill>
                  <a:srgbClr val="000000"/>
                </a:solidFill>
              </a:rPr>
              <a:t>all</a:t>
            </a:r>
            <a:r>
              <a:rPr lang="en-US" altLang="en-US" dirty="0">
                <a:solidFill>
                  <a:srgbClr val="000000"/>
                </a:solidFill>
              </a:rPr>
              <a:t> </a:t>
            </a:r>
            <a:r>
              <a:rPr lang="en-US" altLang="en-US" dirty="0"/>
              <a:t>the buffers. </a:t>
            </a:r>
          </a:p>
          <a:p>
            <a:r>
              <a:rPr lang="en-US" altLang="en-US" dirty="0"/>
              <a:t>We can do so by having an integer </a:t>
            </a:r>
            <a:r>
              <a:rPr lang="en-US" altLang="en-US" sz="2000" b="1" dirty="0">
                <a:latin typeface="Courier" pitchFamily="-84" charset="0"/>
              </a:rPr>
              <a:t>counter</a:t>
            </a:r>
            <a:r>
              <a:rPr lang="en-US" altLang="en-US" b="1" dirty="0">
                <a:solidFill>
                  <a:srgbClr val="0000FF"/>
                </a:solidFill>
              </a:rPr>
              <a:t> </a:t>
            </a:r>
            <a:r>
              <a:rPr lang="en-US" altLang="en-US" dirty="0"/>
              <a:t>that keeps track of the number of full buffers.  </a:t>
            </a:r>
          </a:p>
          <a:p>
            <a:r>
              <a:rPr lang="en-US" altLang="en-US" dirty="0"/>
              <a:t>Initially, </a:t>
            </a:r>
            <a:r>
              <a:rPr lang="en-US" altLang="en-US" sz="2000" b="1" dirty="0">
                <a:latin typeface="Courier" pitchFamily="-84" charset="0"/>
              </a:rPr>
              <a:t>counter</a:t>
            </a:r>
            <a:r>
              <a:rPr lang="en-US" altLang="en-US" dirty="0">
                <a:latin typeface="Courier" pitchFamily="-84" charset="0"/>
              </a:rPr>
              <a:t> </a:t>
            </a:r>
            <a:r>
              <a:rPr lang="en-US" altLang="en-US" dirty="0"/>
              <a:t>is set to 0. </a:t>
            </a:r>
          </a:p>
          <a:p>
            <a:r>
              <a:rPr lang="en-US" altLang="en-US" dirty="0"/>
              <a:t>The integer </a:t>
            </a:r>
            <a:r>
              <a:rPr lang="en-US" altLang="en-US" sz="2000" b="1" dirty="0">
                <a:latin typeface="Courier" pitchFamily="-84" charset="0"/>
              </a:rPr>
              <a:t>counter</a:t>
            </a:r>
            <a:r>
              <a:rPr lang="en-US" altLang="en-US" dirty="0"/>
              <a:t> is incremented by the producer after it produces a new buffer.</a:t>
            </a:r>
          </a:p>
          <a:p>
            <a:r>
              <a:rPr lang="en-US" altLang="en-US" dirty="0"/>
              <a:t>The integer </a:t>
            </a:r>
            <a:r>
              <a:rPr lang="en-US" altLang="en-US" sz="2000" b="1" dirty="0">
                <a:latin typeface="Courier" pitchFamily="-84" charset="0"/>
              </a:rPr>
              <a:t>counter</a:t>
            </a:r>
            <a:r>
              <a:rPr lang="en-US" altLang="en-US" dirty="0"/>
              <a:t> is and is decremented by the consumer after it consumes a buffer.</a:t>
            </a:r>
          </a:p>
        </p:txBody>
      </p:sp>
    </p:spTree>
    <p:extLst>
      <p:ext uri="{BB962C8B-B14F-4D97-AF65-F5344CB8AC3E}">
        <p14:creationId xmlns:p14="http://schemas.microsoft.com/office/powerpoint/2010/main" val="4189252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6FBA2318-657D-42C6-AB7B-E9BBF4DA22CE}"/>
              </a:ext>
            </a:extLst>
          </p:cNvPr>
          <p:cNvSpPr>
            <a:spLocks noGrp="1" noChangeArrowheads="1"/>
          </p:cNvSpPr>
          <p:nvPr>
            <p:ph type="title"/>
          </p:nvPr>
        </p:nvSpPr>
        <p:spPr>
          <a:xfrm>
            <a:off x="457200" y="215318"/>
            <a:ext cx="8229600" cy="576263"/>
          </a:xfrm>
        </p:spPr>
        <p:txBody>
          <a:bodyPr/>
          <a:lstStyle/>
          <a:p>
            <a:pPr eaLnBrk="1" hangingPunct="1"/>
            <a:r>
              <a:rPr lang="en-US" altLang="en-US" dirty="0"/>
              <a:t>Producer </a:t>
            </a:r>
          </a:p>
        </p:txBody>
      </p:sp>
      <p:sp>
        <p:nvSpPr>
          <p:cNvPr id="13314" name="Rectangle 3">
            <a:extLst>
              <a:ext uri="{FF2B5EF4-FFF2-40B4-BE49-F238E27FC236}">
                <a16:creationId xmlns:a16="http://schemas.microsoft.com/office/drawing/2014/main" id="{32980AD2-3FC6-4309-A775-93AFA5595597}"/>
              </a:ext>
            </a:extLst>
          </p:cNvPr>
          <p:cNvSpPr>
            <a:spLocks noGrp="1" noChangeArrowheads="1"/>
          </p:cNvSpPr>
          <p:nvPr>
            <p:ph type="body" idx="1"/>
          </p:nvPr>
        </p:nvSpPr>
        <p:spPr>
          <a:xfrm>
            <a:off x="914400" y="1258888"/>
            <a:ext cx="6999288" cy="4557712"/>
          </a:xfrm>
        </p:spPr>
        <p:txBody>
          <a:bodyPr/>
          <a:lstStyle/>
          <a:p>
            <a:pPr marL="0" indent="0">
              <a:buFont typeface="Monotype Sorts" pitchFamily="-84" charset="2"/>
              <a:buNone/>
            </a:pPr>
            <a:r>
              <a:rPr lang="en-US" altLang="en-US" sz="1700" dirty="0">
                <a:latin typeface="Courier New" panose="02070309020205020404" pitchFamily="49" charset="0"/>
              </a:rPr>
              <a:t>while (true) {</a:t>
            </a:r>
            <a:br>
              <a:rPr lang="en-US" altLang="en-US" sz="1700" dirty="0">
                <a:latin typeface="Courier New" panose="02070309020205020404" pitchFamily="49" charset="0"/>
              </a:rPr>
            </a:br>
            <a:r>
              <a:rPr lang="en-US" altLang="en-US" sz="1700" dirty="0">
                <a:latin typeface="Courier New" panose="02070309020205020404" pitchFamily="49" charset="0"/>
              </a:rPr>
              <a:t>	/* produce an item in next produced */ </a:t>
            </a:r>
          </a:p>
          <a:p>
            <a:pPr marL="0" indent="0">
              <a:buFont typeface="Monotype Sorts" pitchFamily="-84" charset="2"/>
              <a:buNone/>
            </a:pP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while (counter == BUFFER_SIZE)  </a:t>
            </a:r>
          </a:p>
          <a:p>
            <a:pPr marL="0" indent="0">
              <a:buFont typeface="Monotype Sorts" pitchFamily="-84" charset="2"/>
              <a:buNone/>
            </a:pPr>
            <a:r>
              <a:rPr lang="en-US" altLang="en-US" sz="1700" dirty="0">
                <a:latin typeface="Courier New" panose="02070309020205020404" pitchFamily="49" charset="0"/>
              </a:rPr>
              <a:t>		; /* do nothing */ </a:t>
            </a:r>
          </a:p>
          <a:p>
            <a:pPr marL="0" indent="0">
              <a:buFont typeface="Monotype Sorts" pitchFamily="-84" charset="2"/>
              <a:buNone/>
            </a:pPr>
            <a:r>
              <a:rPr lang="en-US" altLang="en-US" sz="1700" dirty="0">
                <a:latin typeface="Courier New" panose="02070309020205020404" pitchFamily="49" charset="0"/>
              </a:rPr>
              <a:t>	buffer[in] = </a:t>
            </a:r>
            <a:r>
              <a:rPr lang="en-US" altLang="en-US" sz="1700" dirty="0" err="1">
                <a:latin typeface="Courier New" panose="02070309020205020404" pitchFamily="49" charset="0"/>
              </a:rPr>
              <a:t>next_produced</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in = (in + 1) % BUFFER_SIZE; </a:t>
            </a:r>
          </a:p>
          <a:p>
            <a:pPr marL="0" indent="0">
              <a:buFont typeface="Monotype Sorts" pitchFamily="-84" charset="2"/>
              <a:buNone/>
            </a:pPr>
            <a:r>
              <a:rPr lang="en-US" altLang="en-US" sz="1700" dirty="0">
                <a:latin typeface="Courier New" panose="02070309020205020404" pitchFamily="49" charset="0"/>
              </a:rPr>
              <a:t>	counter++; </a:t>
            </a:r>
          </a:p>
          <a:p>
            <a:pPr marL="0" indent="0">
              <a:buFont typeface="Monotype Sorts" pitchFamily="-84" charset="2"/>
              <a:buNone/>
            </a:pPr>
            <a:r>
              <a:rPr lang="en-US" altLang="en-US" sz="1700" dirty="0">
                <a:latin typeface="Courier New" panose="02070309020205020404" pitchFamily="49" charset="0"/>
              </a:rPr>
              <a:t>} </a:t>
            </a:r>
          </a:p>
        </p:txBody>
      </p:sp>
    </p:spTree>
    <p:extLst>
      <p:ext uri="{BB962C8B-B14F-4D97-AF65-F5344CB8AC3E}">
        <p14:creationId xmlns:p14="http://schemas.microsoft.com/office/powerpoint/2010/main" val="4199346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BF7414AA-B215-4A20-88A1-C865671BEA99}"/>
              </a:ext>
            </a:extLst>
          </p:cNvPr>
          <p:cNvSpPr>
            <a:spLocks noGrp="1" noChangeArrowheads="1"/>
          </p:cNvSpPr>
          <p:nvPr>
            <p:ph type="title"/>
          </p:nvPr>
        </p:nvSpPr>
        <p:spPr>
          <a:xfrm>
            <a:off x="487363" y="208192"/>
            <a:ext cx="8229600" cy="576263"/>
          </a:xfrm>
        </p:spPr>
        <p:txBody>
          <a:bodyPr/>
          <a:lstStyle/>
          <a:p>
            <a:pPr eaLnBrk="1" hangingPunct="1"/>
            <a:r>
              <a:rPr lang="en-US" altLang="en-US" dirty="0"/>
              <a:t>Consumer</a:t>
            </a:r>
          </a:p>
        </p:txBody>
      </p:sp>
      <p:sp>
        <p:nvSpPr>
          <p:cNvPr id="15362" name="Rectangle 3">
            <a:extLst>
              <a:ext uri="{FF2B5EF4-FFF2-40B4-BE49-F238E27FC236}">
                <a16:creationId xmlns:a16="http://schemas.microsoft.com/office/drawing/2014/main" id="{F7E5C80C-620B-4BAE-A990-B50235C7DFB9}"/>
              </a:ext>
            </a:extLst>
          </p:cNvPr>
          <p:cNvSpPr>
            <a:spLocks noGrp="1" noChangeArrowheads="1"/>
          </p:cNvSpPr>
          <p:nvPr>
            <p:ph type="body" idx="1"/>
          </p:nvPr>
        </p:nvSpPr>
        <p:spPr>
          <a:xfrm>
            <a:off x="923731" y="1262063"/>
            <a:ext cx="6931219" cy="4860925"/>
          </a:xfrm>
        </p:spPr>
        <p:txBody>
          <a:bodyPr/>
          <a:lstStyle/>
          <a:p>
            <a:pPr marL="0" indent="0">
              <a:buFont typeface="Monotype Sorts" pitchFamily="-84" charset="2"/>
              <a:buNone/>
            </a:pPr>
            <a:r>
              <a:rPr lang="en-US" altLang="en-US" sz="1600" dirty="0">
                <a:latin typeface="Courier New" panose="02070309020205020404" pitchFamily="49" charset="0"/>
              </a:rPr>
              <a:t>while (true) {</a:t>
            </a:r>
          </a:p>
          <a:p>
            <a:pPr marL="0" indent="0">
              <a:buFont typeface="Monotype Sorts" pitchFamily="-84" charset="2"/>
              <a:buNone/>
            </a:pPr>
            <a:r>
              <a:rPr lang="en-US" altLang="en-US" sz="1600" dirty="0">
                <a:latin typeface="Courier New" panose="02070309020205020404" pitchFamily="49" charset="0"/>
              </a:rPr>
              <a:t>	while (counter == 0) </a:t>
            </a:r>
          </a:p>
          <a:p>
            <a:pPr marL="0" indent="0">
              <a:buFont typeface="Monotype Sorts" pitchFamily="-84" charset="2"/>
              <a:buNone/>
            </a:pPr>
            <a:r>
              <a:rPr lang="en-US" altLang="en-US" sz="1600" dirty="0">
                <a:latin typeface="Courier New" panose="02070309020205020404" pitchFamily="49" charset="0"/>
              </a:rPr>
              <a:t>		; /* do nothing */ </a:t>
            </a:r>
          </a:p>
          <a:p>
            <a:pPr marL="0" indent="0">
              <a:buFont typeface="Monotype Sorts" pitchFamily="-84" charset="2"/>
              <a:buNone/>
            </a:pPr>
            <a:r>
              <a:rPr lang="en-US" altLang="en-US" sz="1600" dirty="0">
                <a:latin typeface="Courier New" panose="02070309020205020404" pitchFamily="49" charset="0"/>
              </a:rPr>
              <a:t>	</a:t>
            </a:r>
            <a:r>
              <a:rPr lang="en-US" altLang="en-US" sz="1600" dirty="0" err="1">
                <a:latin typeface="Courier New" panose="02070309020205020404" pitchFamily="49" charset="0"/>
              </a:rPr>
              <a:t>next_consumed</a:t>
            </a:r>
            <a:r>
              <a:rPr lang="en-US" altLang="en-US" sz="1600" dirty="0">
                <a:latin typeface="Courier New" panose="02070309020205020404" pitchFamily="49" charset="0"/>
              </a:rPr>
              <a:t> = buffer[out]; </a:t>
            </a:r>
          </a:p>
          <a:p>
            <a:pPr marL="0" indent="0">
              <a:buFont typeface="Monotype Sorts" pitchFamily="-84" charset="2"/>
              <a:buNone/>
            </a:pPr>
            <a:r>
              <a:rPr lang="en-US" altLang="en-US" sz="1600" dirty="0">
                <a:latin typeface="Courier New" panose="02070309020205020404" pitchFamily="49" charset="0"/>
              </a:rPr>
              <a:t>	out = (out + 1) % BUFFER_SIZE; 	</a:t>
            </a:r>
          </a:p>
          <a:p>
            <a:pPr marL="0" indent="0">
              <a:buFont typeface="Monotype Sorts" pitchFamily="-84" charset="2"/>
              <a:buNone/>
            </a:pPr>
            <a:r>
              <a:rPr lang="en-US" altLang="en-US" sz="1600" dirty="0">
                <a:latin typeface="Courier New" panose="02070309020205020404" pitchFamily="49" charset="0"/>
              </a:rPr>
              <a:t>        counter--; </a:t>
            </a:r>
          </a:p>
          <a:p>
            <a:pPr marL="0" indent="0">
              <a:buFont typeface="Monotype Sorts" pitchFamily="-84" charset="2"/>
              <a:buNone/>
            </a:pPr>
            <a:r>
              <a:rPr lang="en-US" altLang="en-US" sz="1600" dirty="0">
                <a:latin typeface="Courier New" panose="02070309020205020404" pitchFamily="49" charset="0"/>
              </a:rPr>
              <a:t>	/* consume the item in next consumed */ </a:t>
            </a:r>
          </a:p>
          <a:p>
            <a:pPr marL="0" indent="0">
              <a:buFont typeface="Monotype Sorts" pitchFamily="-84" charset="2"/>
              <a:buNone/>
            </a:pPr>
            <a:r>
              <a:rPr lang="en-US" altLang="en-US" sz="1600" dirty="0">
                <a:latin typeface="Courier New" panose="02070309020205020404" pitchFamily="49" charset="0"/>
              </a:rPr>
              <a:t>} </a:t>
            </a:r>
          </a:p>
        </p:txBody>
      </p:sp>
    </p:spTree>
    <p:extLst>
      <p:ext uri="{BB962C8B-B14F-4D97-AF65-F5344CB8AC3E}">
        <p14:creationId xmlns:p14="http://schemas.microsoft.com/office/powerpoint/2010/main" val="2111936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8C101D6F-C0EC-4766-8D52-60E1DFA5593C}"/>
              </a:ext>
            </a:extLst>
          </p:cNvPr>
          <p:cNvSpPr>
            <a:spLocks noGrp="1" noChangeArrowheads="1"/>
          </p:cNvSpPr>
          <p:nvPr>
            <p:ph type="title"/>
          </p:nvPr>
        </p:nvSpPr>
        <p:spPr>
          <a:xfrm>
            <a:off x="457200" y="225267"/>
            <a:ext cx="8229600" cy="576262"/>
          </a:xfrm>
        </p:spPr>
        <p:txBody>
          <a:bodyPr/>
          <a:lstStyle/>
          <a:p>
            <a:pPr eaLnBrk="1" hangingPunct="1"/>
            <a:r>
              <a:rPr lang="en-US" altLang="en-US" dirty="0"/>
              <a:t>Race Condition</a:t>
            </a:r>
          </a:p>
        </p:txBody>
      </p:sp>
      <p:sp>
        <p:nvSpPr>
          <p:cNvPr id="17410" name="Rectangle 1027">
            <a:extLst>
              <a:ext uri="{FF2B5EF4-FFF2-40B4-BE49-F238E27FC236}">
                <a16:creationId xmlns:a16="http://schemas.microsoft.com/office/drawing/2014/main" id="{338D3C38-85C1-4063-A149-971FC47DCC1F}"/>
              </a:ext>
            </a:extLst>
          </p:cNvPr>
          <p:cNvSpPr>
            <a:spLocks noGrp="1" noChangeArrowheads="1"/>
          </p:cNvSpPr>
          <p:nvPr>
            <p:ph idx="1"/>
          </p:nvPr>
        </p:nvSpPr>
        <p:spPr>
          <a:xfrm>
            <a:off x="805640" y="1177925"/>
            <a:ext cx="7685216" cy="5173663"/>
          </a:xfrm>
        </p:spPr>
        <p:txBody>
          <a:bodyPr/>
          <a:lstStyle/>
          <a:p>
            <a:pPr>
              <a:lnSpc>
                <a:spcPct val="90000"/>
              </a:lnSpc>
            </a:pPr>
            <a:r>
              <a:rPr lang="en-US" altLang="en-US" b="1" dirty="0">
                <a:solidFill>
                  <a:srgbClr val="000000"/>
                </a:solidFill>
                <a:latin typeface="Courier New" panose="02070309020205020404" pitchFamily="49" charset="0"/>
              </a:rPr>
              <a:t>counter++ </a:t>
            </a:r>
            <a:r>
              <a:rPr lang="en-US" altLang="en-US" sz="1600" dirty="0"/>
              <a:t>could be implemented as</a:t>
            </a:r>
            <a:br>
              <a:rPr lang="en-US" altLang="en-US" sz="1600" dirty="0"/>
            </a:br>
            <a:r>
              <a:rPr lang="en-US" altLang="en-US" sz="1600" dirty="0"/>
              <a:t/>
            </a:r>
            <a:br>
              <a:rPr lang="en-US" altLang="en-US" sz="1600" dirty="0"/>
            </a:br>
            <a:r>
              <a:rPr lang="en-US" altLang="en-US" sz="1600" b="1" dirty="0">
                <a:latin typeface="Courier New" panose="02070309020205020404" pitchFamily="49" charset="0"/>
              </a:rPr>
              <a:t>     </a:t>
            </a:r>
            <a:r>
              <a:rPr lang="en-US" altLang="en-US" sz="1600" b="1" dirty="0">
                <a:solidFill>
                  <a:srgbClr val="0000FF"/>
                </a:solidFill>
                <a:latin typeface="Courier New" panose="02070309020205020404" pitchFamily="49" charset="0"/>
              </a:rPr>
              <a:t>register1 = counter</a:t>
            </a:r>
            <a:br>
              <a:rPr lang="en-US" altLang="en-US" sz="1600" b="1" dirty="0">
                <a:solidFill>
                  <a:srgbClr val="0000FF"/>
                </a:solidFill>
                <a:latin typeface="Courier New" panose="02070309020205020404" pitchFamily="49" charset="0"/>
              </a:rPr>
            </a:br>
            <a:r>
              <a:rPr lang="en-US" altLang="en-US" sz="1600" b="1" dirty="0">
                <a:solidFill>
                  <a:srgbClr val="0000FF"/>
                </a:solidFill>
                <a:latin typeface="Courier New" panose="02070309020205020404" pitchFamily="49" charset="0"/>
              </a:rPr>
              <a:t>     register1 = register1 + 1</a:t>
            </a:r>
            <a:br>
              <a:rPr lang="en-US" altLang="en-US" sz="1600" b="1" dirty="0">
                <a:solidFill>
                  <a:srgbClr val="0000FF"/>
                </a:solidFill>
                <a:latin typeface="Courier New" panose="02070309020205020404" pitchFamily="49" charset="0"/>
              </a:rPr>
            </a:br>
            <a:r>
              <a:rPr lang="en-US" altLang="en-US" sz="1600" b="1" dirty="0">
                <a:solidFill>
                  <a:srgbClr val="0000FF"/>
                </a:solidFill>
                <a:latin typeface="Courier New" panose="02070309020205020404" pitchFamily="49" charset="0"/>
              </a:rPr>
              <a:t>     counter = register1</a:t>
            </a:r>
            <a:endParaRPr lang="en-US" altLang="en-US" sz="800" dirty="0">
              <a:solidFill>
                <a:srgbClr val="0000FF"/>
              </a:solidFill>
            </a:endParaRPr>
          </a:p>
          <a:p>
            <a:pPr>
              <a:lnSpc>
                <a:spcPct val="90000"/>
              </a:lnSpc>
            </a:pPr>
            <a:r>
              <a:rPr lang="en-US" altLang="en-US" b="1" dirty="0">
                <a:solidFill>
                  <a:srgbClr val="000000"/>
                </a:solidFill>
                <a:latin typeface="Courier New" panose="02070309020205020404" pitchFamily="49" charset="0"/>
              </a:rPr>
              <a:t>counter--</a:t>
            </a:r>
            <a:r>
              <a:rPr lang="en-US" altLang="en-US" sz="1600" b="1" dirty="0">
                <a:solidFill>
                  <a:schemeClr val="tx2"/>
                </a:solidFill>
                <a:latin typeface="Courier New" panose="02070309020205020404" pitchFamily="49" charset="0"/>
              </a:rPr>
              <a:t> </a:t>
            </a:r>
            <a:r>
              <a:rPr lang="en-US" altLang="en-US" sz="1600" dirty="0"/>
              <a:t>could be implemented as</a:t>
            </a:r>
            <a:br>
              <a:rPr lang="en-US" altLang="en-US" sz="1600" dirty="0"/>
            </a:br>
            <a:r>
              <a:rPr lang="en-US" altLang="en-US" sz="1600" dirty="0"/>
              <a:t/>
            </a:r>
            <a:br>
              <a:rPr lang="en-US" altLang="en-US" sz="1600" dirty="0"/>
            </a:br>
            <a:r>
              <a:rPr lang="en-US" altLang="en-US" sz="1600" b="1" dirty="0">
                <a:latin typeface="Courier New" panose="02070309020205020404" pitchFamily="49" charset="0"/>
              </a:rPr>
              <a:t>     </a:t>
            </a:r>
            <a:r>
              <a:rPr lang="en-US" altLang="en-US" sz="1600" b="1" dirty="0">
                <a:solidFill>
                  <a:schemeClr val="tx2"/>
                </a:solidFill>
                <a:latin typeface="Courier New" panose="02070309020205020404" pitchFamily="49" charset="0"/>
              </a:rPr>
              <a:t>register2 = counter</a:t>
            </a:r>
            <a:br>
              <a:rPr lang="en-US" altLang="en-US" sz="1600" b="1" dirty="0">
                <a:solidFill>
                  <a:schemeClr val="tx2"/>
                </a:solidFill>
                <a:latin typeface="Courier New" panose="02070309020205020404" pitchFamily="49" charset="0"/>
              </a:rPr>
            </a:br>
            <a:r>
              <a:rPr lang="en-US" altLang="en-US" sz="1600" b="1" dirty="0">
                <a:solidFill>
                  <a:schemeClr val="tx2"/>
                </a:solidFill>
                <a:latin typeface="Courier New" panose="02070309020205020404" pitchFamily="49" charset="0"/>
              </a:rPr>
              <a:t>     register2 = register2 - 1</a:t>
            </a:r>
            <a:br>
              <a:rPr lang="en-US" altLang="en-US" sz="1600" b="1" dirty="0">
                <a:solidFill>
                  <a:schemeClr val="tx2"/>
                </a:solidFill>
                <a:latin typeface="Courier New" panose="02070309020205020404" pitchFamily="49" charset="0"/>
              </a:rPr>
            </a:br>
            <a:r>
              <a:rPr lang="en-US" altLang="en-US" sz="1600" b="1" dirty="0">
                <a:solidFill>
                  <a:schemeClr val="tx2"/>
                </a:solidFill>
                <a:latin typeface="Courier New" panose="02070309020205020404" pitchFamily="49" charset="0"/>
              </a:rPr>
              <a:t>     counter = register2</a:t>
            </a:r>
          </a:p>
          <a:p>
            <a:pPr>
              <a:lnSpc>
                <a:spcPct val="90000"/>
              </a:lnSpc>
              <a:buFont typeface="Monotype Sorts" pitchFamily="-84" charset="2"/>
              <a:buNone/>
            </a:pPr>
            <a:endParaRPr lang="en-US" altLang="en-US" sz="800" dirty="0">
              <a:solidFill>
                <a:schemeClr val="tx2"/>
              </a:solidFill>
            </a:endParaRPr>
          </a:p>
          <a:p>
            <a:pPr>
              <a:lnSpc>
                <a:spcPct val="90000"/>
              </a:lnSpc>
            </a:pPr>
            <a:r>
              <a:rPr lang="en-US" altLang="en-US" sz="1600" dirty="0"/>
              <a:t>Consider this execution interleaving with </a:t>
            </a:r>
            <a:r>
              <a:rPr lang="ja-JP" altLang="en-US" sz="1600" dirty="0"/>
              <a:t>“</a:t>
            </a:r>
            <a:r>
              <a:rPr lang="en-US" altLang="ja-JP" sz="1600" dirty="0"/>
              <a:t>count = 5</a:t>
            </a:r>
            <a:r>
              <a:rPr lang="ja-JP" altLang="en-US" sz="1600" dirty="0"/>
              <a:t>”</a:t>
            </a:r>
            <a:r>
              <a:rPr lang="en-US" altLang="ja-JP" sz="1600" dirty="0"/>
              <a:t> initially:</a:t>
            </a:r>
          </a:p>
          <a:p>
            <a:pPr lvl="1">
              <a:lnSpc>
                <a:spcPct val="90000"/>
              </a:lnSpc>
              <a:buFont typeface="Monotype Sorts" pitchFamily="-84" charset="2"/>
              <a:buNone/>
            </a:pPr>
            <a:r>
              <a:rPr lang="en-US" altLang="en-US" sz="1600" dirty="0"/>
              <a:t>	S0: producer execute </a:t>
            </a:r>
            <a:r>
              <a:rPr lang="en-US" altLang="en-US" sz="1600" b="1" dirty="0">
                <a:solidFill>
                  <a:srgbClr val="0000FF"/>
                </a:solidFill>
                <a:latin typeface="Courier New" panose="02070309020205020404" pitchFamily="49" charset="0"/>
              </a:rPr>
              <a:t>register1 = counter</a:t>
            </a:r>
            <a:r>
              <a:rPr lang="en-US" altLang="en-US" sz="1600" b="1" dirty="0">
                <a:latin typeface="Courier New" panose="02070309020205020404" pitchFamily="49" charset="0"/>
              </a:rPr>
              <a:t>         </a:t>
            </a:r>
            <a:r>
              <a:rPr lang="en-US" altLang="en-US" sz="1600" dirty="0"/>
              <a:t>{register1 = 5}</a:t>
            </a:r>
            <a:br>
              <a:rPr lang="en-US" altLang="en-US" sz="1600" dirty="0"/>
            </a:br>
            <a:r>
              <a:rPr lang="en-US" altLang="en-US" sz="1600" dirty="0"/>
              <a:t>S1: producer execute </a:t>
            </a:r>
            <a:r>
              <a:rPr lang="en-US" altLang="en-US" sz="1600" b="1" dirty="0">
                <a:solidFill>
                  <a:srgbClr val="0000FF"/>
                </a:solidFill>
                <a:latin typeface="Courier New" panose="02070309020205020404" pitchFamily="49" charset="0"/>
              </a:rPr>
              <a:t>register1 = register1 + 1   </a:t>
            </a:r>
            <a:r>
              <a:rPr lang="en-US" altLang="en-US" sz="1600" dirty="0"/>
              <a:t>{register1 = 6} </a:t>
            </a:r>
            <a:br>
              <a:rPr lang="en-US" altLang="en-US" sz="1600" dirty="0"/>
            </a:br>
            <a:r>
              <a:rPr lang="en-US" altLang="en-US" sz="1600" dirty="0"/>
              <a:t>S2: consumer execute </a:t>
            </a:r>
            <a:r>
              <a:rPr lang="en-US" altLang="en-US" sz="1600" b="1" dirty="0">
                <a:solidFill>
                  <a:schemeClr val="tx2"/>
                </a:solidFill>
                <a:latin typeface="Courier New" panose="02070309020205020404" pitchFamily="49" charset="0"/>
              </a:rPr>
              <a:t>register2 = counter</a:t>
            </a:r>
            <a:r>
              <a:rPr lang="en-US" altLang="en-US" sz="1600" b="1" dirty="0">
                <a:latin typeface="Courier New" panose="02070309020205020404" pitchFamily="49" charset="0"/>
              </a:rPr>
              <a:t>        </a:t>
            </a:r>
            <a:r>
              <a:rPr lang="en-US" altLang="en-US" sz="1600" dirty="0"/>
              <a:t>{register2 = 5} </a:t>
            </a:r>
            <a:br>
              <a:rPr lang="en-US" altLang="en-US" sz="1600" dirty="0"/>
            </a:br>
            <a:r>
              <a:rPr lang="en-US" altLang="en-US" sz="1600" dirty="0"/>
              <a:t>S3: consumer execute </a:t>
            </a:r>
            <a:r>
              <a:rPr lang="en-US" altLang="en-US" sz="1600" b="1" dirty="0">
                <a:solidFill>
                  <a:schemeClr val="tx2"/>
                </a:solidFill>
                <a:latin typeface="Courier New" panose="02070309020205020404" pitchFamily="49" charset="0"/>
              </a:rPr>
              <a:t>register2 = register2 – 1  </a:t>
            </a:r>
            <a:r>
              <a:rPr lang="en-US" altLang="en-US" sz="1600" dirty="0"/>
              <a:t>{register2 = 4} </a:t>
            </a:r>
            <a:br>
              <a:rPr lang="en-US" altLang="en-US" sz="1600" dirty="0"/>
            </a:br>
            <a:r>
              <a:rPr lang="en-US" altLang="en-US" sz="1600" dirty="0"/>
              <a:t>S4: producer execute </a:t>
            </a:r>
            <a:r>
              <a:rPr lang="en-US" altLang="en-US" sz="1600" b="1" dirty="0">
                <a:solidFill>
                  <a:srgbClr val="0000FF"/>
                </a:solidFill>
                <a:latin typeface="Courier New" panose="02070309020205020404" pitchFamily="49" charset="0"/>
              </a:rPr>
              <a:t>counter = register1         </a:t>
            </a:r>
            <a:r>
              <a:rPr lang="en-US" altLang="en-US" sz="1600" dirty="0"/>
              <a:t>{counter = 6 } </a:t>
            </a:r>
            <a:br>
              <a:rPr lang="en-US" altLang="en-US" sz="1600" dirty="0"/>
            </a:br>
            <a:r>
              <a:rPr lang="en-US" altLang="en-US" sz="1600" dirty="0"/>
              <a:t>S5: consumer execute </a:t>
            </a:r>
            <a:r>
              <a:rPr lang="en-US" altLang="en-US" sz="1600" b="1" dirty="0">
                <a:solidFill>
                  <a:schemeClr val="tx2"/>
                </a:solidFill>
                <a:latin typeface="Courier New" panose="02070309020205020404" pitchFamily="49" charset="0"/>
              </a:rPr>
              <a:t>counter = register2        </a:t>
            </a:r>
            <a:r>
              <a:rPr lang="en-US" altLang="en-US" sz="1600" dirty="0"/>
              <a:t>{counter = 4}</a:t>
            </a:r>
          </a:p>
          <a:p>
            <a:pPr lvl="1">
              <a:lnSpc>
                <a:spcPct val="90000"/>
              </a:lnSpc>
              <a:buFont typeface="Monotype Sorts" pitchFamily="-84" charset="2"/>
              <a:buNone/>
            </a:pPr>
            <a:endParaRPr lang="en-US" altLang="en-US" dirty="0"/>
          </a:p>
        </p:txBody>
      </p:sp>
    </p:spTree>
    <p:extLst>
      <p:ext uri="{BB962C8B-B14F-4D97-AF65-F5344CB8AC3E}">
        <p14:creationId xmlns:p14="http://schemas.microsoft.com/office/powerpoint/2010/main" val="2964105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8C101D6F-C0EC-4766-8D52-60E1DFA5593C}"/>
              </a:ext>
            </a:extLst>
          </p:cNvPr>
          <p:cNvSpPr>
            <a:spLocks noGrp="1" noChangeArrowheads="1"/>
          </p:cNvSpPr>
          <p:nvPr>
            <p:ph type="title"/>
          </p:nvPr>
        </p:nvSpPr>
        <p:spPr>
          <a:xfrm>
            <a:off x="457200" y="225267"/>
            <a:ext cx="8229600" cy="576262"/>
          </a:xfrm>
        </p:spPr>
        <p:txBody>
          <a:bodyPr/>
          <a:lstStyle/>
          <a:p>
            <a:pPr eaLnBrk="1" hangingPunct="1"/>
            <a:r>
              <a:rPr lang="en-US" altLang="en-US" dirty="0"/>
              <a:t>Race Condition (Cont.)</a:t>
            </a:r>
          </a:p>
        </p:txBody>
      </p:sp>
      <p:sp>
        <p:nvSpPr>
          <p:cNvPr id="17410" name="Rectangle 1027">
            <a:extLst>
              <a:ext uri="{FF2B5EF4-FFF2-40B4-BE49-F238E27FC236}">
                <a16:creationId xmlns:a16="http://schemas.microsoft.com/office/drawing/2014/main" id="{338D3C38-85C1-4063-A149-971FC47DCC1F}"/>
              </a:ext>
            </a:extLst>
          </p:cNvPr>
          <p:cNvSpPr>
            <a:spLocks noGrp="1" noChangeArrowheads="1"/>
          </p:cNvSpPr>
          <p:nvPr>
            <p:ph idx="1"/>
          </p:nvPr>
        </p:nvSpPr>
        <p:spPr>
          <a:xfrm>
            <a:off x="805640" y="1177925"/>
            <a:ext cx="6550503" cy="4745203"/>
          </a:xfrm>
        </p:spPr>
        <p:txBody>
          <a:bodyPr/>
          <a:lstStyle/>
          <a:p>
            <a:pPr>
              <a:lnSpc>
                <a:spcPct val="90000"/>
              </a:lnSpc>
            </a:pPr>
            <a:r>
              <a:rPr lang="en-US" altLang="en-US" b="1" dirty="0">
                <a:solidFill>
                  <a:srgbClr val="000000"/>
                </a:solidFill>
                <a:latin typeface="Courier New" panose="02070309020205020404" pitchFamily="49" charset="0"/>
              </a:rPr>
              <a:t>Question – why was there no race condition in the first solution (where at most N – 1) buffers can be filled?</a:t>
            </a:r>
          </a:p>
          <a:p>
            <a:pPr>
              <a:lnSpc>
                <a:spcPct val="90000"/>
              </a:lnSpc>
            </a:pPr>
            <a:r>
              <a:rPr lang="en-US" altLang="en-US" b="1" dirty="0">
                <a:solidFill>
                  <a:srgbClr val="000000"/>
                </a:solidFill>
                <a:latin typeface="Courier New" panose="02070309020205020404" pitchFamily="49" charset="0"/>
              </a:rPr>
              <a:t>Sol: There is no possibility of shared data change at the same time by both the processes.</a:t>
            </a:r>
          </a:p>
          <a:p>
            <a:pPr>
              <a:lnSpc>
                <a:spcPct val="90000"/>
              </a:lnSpc>
            </a:pPr>
            <a:r>
              <a:rPr lang="en-US" altLang="en-US" b="1" dirty="0">
                <a:solidFill>
                  <a:srgbClr val="000000"/>
                </a:solidFill>
                <a:latin typeface="Courier New" panose="02070309020205020404" pitchFamily="49" charset="0"/>
              </a:rPr>
              <a:t>More in Chapter 6.</a:t>
            </a:r>
          </a:p>
        </p:txBody>
      </p:sp>
    </p:spTree>
    <p:extLst>
      <p:ext uri="{BB962C8B-B14F-4D97-AF65-F5344CB8AC3E}">
        <p14:creationId xmlns:p14="http://schemas.microsoft.com/office/powerpoint/2010/main" val="2239292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8E7690-F6D6-AE15-FDBF-884CFCCE934A}"/>
              </a:ext>
            </a:extLst>
          </p:cNvPr>
          <p:cNvSpPr>
            <a:spLocks noGrp="1"/>
          </p:cNvSpPr>
          <p:nvPr>
            <p:ph type="ctrTitle"/>
          </p:nvPr>
        </p:nvSpPr>
        <p:spPr/>
        <p:txBody>
          <a:bodyPr/>
          <a:lstStyle/>
          <a:p>
            <a:r>
              <a:rPr lang="en-US" altLang="en-US" dirty="0"/>
              <a:t>2) IPC – Message Passing</a:t>
            </a:r>
            <a:endParaRPr lang="en-US" dirty="0"/>
          </a:p>
        </p:txBody>
      </p:sp>
    </p:spTree>
    <p:extLst>
      <p:ext uri="{BB962C8B-B14F-4D97-AF65-F5344CB8AC3E}">
        <p14:creationId xmlns:p14="http://schemas.microsoft.com/office/powerpoint/2010/main" val="288406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F3F2B4A-DE70-43EF-BB61-6A78698FE935}"/>
              </a:ext>
            </a:extLst>
          </p:cNvPr>
          <p:cNvSpPr>
            <a:spLocks noGrp="1" noChangeArrowheads="1"/>
          </p:cNvSpPr>
          <p:nvPr>
            <p:ph type="title"/>
          </p:nvPr>
        </p:nvSpPr>
        <p:spPr>
          <a:xfrm>
            <a:off x="1258222" y="133932"/>
            <a:ext cx="7996237" cy="576262"/>
          </a:xfrm>
        </p:spPr>
        <p:txBody>
          <a:bodyPr/>
          <a:lstStyle/>
          <a:p>
            <a:pPr algn="l" eaLnBrk="1" hangingPunct="1"/>
            <a:r>
              <a:rPr lang="en-US" altLang="en-US" dirty="0"/>
              <a:t> 2) IPC – Message Passing</a:t>
            </a:r>
          </a:p>
        </p:txBody>
      </p:sp>
      <p:sp>
        <p:nvSpPr>
          <p:cNvPr id="75779" name="Rectangle 3">
            <a:extLst>
              <a:ext uri="{FF2B5EF4-FFF2-40B4-BE49-F238E27FC236}">
                <a16:creationId xmlns:a16="http://schemas.microsoft.com/office/drawing/2014/main" id="{70AECD7B-E784-4C8C-8677-1B9EFF1929B0}"/>
              </a:ext>
            </a:extLst>
          </p:cNvPr>
          <p:cNvSpPr>
            <a:spLocks noGrp="1" noChangeArrowheads="1"/>
          </p:cNvSpPr>
          <p:nvPr>
            <p:ph type="body" idx="1"/>
          </p:nvPr>
        </p:nvSpPr>
        <p:spPr>
          <a:xfrm>
            <a:off x="885825" y="1201738"/>
            <a:ext cx="6236870" cy="4380915"/>
          </a:xfrm>
        </p:spPr>
        <p:txBody>
          <a:bodyPr/>
          <a:lstStyle/>
          <a:p>
            <a:pPr>
              <a:lnSpc>
                <a:spcPct val="90000"/>
              </a:lnSpc>
            </a:pPr>
            <a:r>
              <a:rPr lang="en-US" altLang="en-US" dirty="0"/>
              <a:t>Processes communicate with each other without </a:t>
            </a:r>
            <a:r>
              <a:rPr lang="en-US" altLang="en-US" dirty="0">
                <a:solidFill>
                  <a:srgbClr val="FF0000"/>
                </a:solidFill>
                <a:highlight>
                  <a:srgbClr val="FFFF00"/>
                </a:highlight>
              </a:rPr>
              <a:t>resorting</a:t>
            </a:r>
            <a:r>
              <a:rPr lang="en-US" altLang="en-US" dirty="0"/>
              <a:t> to shared variables</a:t>
            </a:r>
          </a:p>
          <a:p>
            <a:pPr>
              <a:lnSpc>
                <a:spcPct val="90000"/>
              </a:lnSpc>
            </a:pPr>
            <a:endParaRPr lang="en-US" altLang="en-US" sz="800" dirty="0"/>
          </a:p>
          <a:p>
            <a:pPr>
              <a:lnSpc>
                <a:spcPct val="90000"/>
              </a:lnSpc>
            </a:pPr>
            <a:r>
              <a:rPr lang="en-US" altLang="en-US" dirty="0"/>
              <a:t>IPC facility provides two </a:t>
            </a:r>
            <a:r>
              <a:rPr lang="en-US" altLang="en-US" dirty="0">
                <a:solidFill>
                  <a:srgbClr val="FF0000"/>
                </a:solidFill>
                <a:highlight>
                  <a:srgbClr val="FFFF00"/>
                </a:highlight>
              </a:rPr>
              <a:t>operations</a:t>
            </a:r>
            <a:r>
              <a:rPr lang="en-US" altLang="en-US" dirty="0"/>
              <a:t>:</a:t>
            </a:r>
          </a:p>
          <a:p>
            <a:pPr lvl="1">
              <a:lnSpc>
                <a:spcPct val="90000"/>
              </a:lnSpc>
            </a:pPr>
            <a:r>
              <a:rPr lang="en-US" altLang="en-US" b="1" dirty="0">
                <a:latin typeface="Courier New" panose="02070309020205020404" pitchFamily="49" charset="0"/>
              </a:rPr>
              <a:t>send</a:t>
            </a:r>
            <a:r>
              <a:rPr lang="en-US" altLang="en-US" dirty="0"/>
              <a:t>(</a:t>
            </a:r>
            <a:r>
              <a:rPr lang="en-US" altLang="en-US" i="1" dirty="0"/>
              <a:t>message</a:t>
            </a:r>
            <a:r>
              <a:rPr lang="en-US" altLang="en-US" dirty="0"/>
              <a:t>)</a:t>
            </a:r>
          </a:p>
          <a:p>
            <a:pPr lvl="1">
              <a:lnSpc>
                <a:spcPct val="90000"/>
              </a:lnSpc>
            </a:pPr>
            <a:r>
              <a:rPr lang="en-US" altLang="en-US" b="1" dirty="0">
                <a:latin typeface="Courier New" panose="02070309020205020404" pitchFamily="49" charset="0"/>
              </a:rPr>
              <a:t>receive</a:t>
            </a:r>
            <a:r>
              <a:rPr lang="en-US" altLang="en-US" dirty="0"/>
              <a:t>(</a:t>
            </a:r>
            <a:r>
              <a:rPr lang="en-US" altLang="en-US" i="1" dirty="0"/>
              <a:t>message</a:t>
            </a:r>
            <a:r>
              <a:rPr lang="en-US" altLang="en-US" dirty="0"/>
              <a:t>)</a:t>
            </a:r>
          </a:p>
          <a:p>
            <a:pPr lvl="1">
              <a:lnSpc>
                <a:spcPct val="90000"/>
              </a:lnSpc>
              <a:buFont typeface="Monotype Sorts" pitchFamily="-84" charset="2"/>
              <a:buNone/>
            </a:pPr>
            <a:endParaRPr lang="en-US" altLang="en-US" sz="800" dirty="0"/>
          </a:p>
          <a:p>
            <a:pPr>
              <a:lnSpc>
                <a:spcPct val="90000"/>
              </a:lnSpc>
            </a:pPr>
            <a:r>
              <a:rPr lang="en-US" altLang="en-US" dirty="0"/>
              <a:t>The</a:t>
            </a:r>
            <a:r>
              <a:rPr lang="en-US" altLang="en-US" i="1" dirty="0"/>
              <a:t> message</a:t>
            </a:r>
            <a:r>
              <a:rPr lang="en-US" altLang="en-US" dirty="0"/>
              <a:t> size is either fixed or variable</a:t>
            </a:r>
          </a:p>
          <a:p>
            <a:pPr lvl="1">
              <a:lnSpc>
                <a:spcPct val="90000"/>
              </a:lnSpc>
              <a:buFont typeface="Monotype Sorts" pitchFamily="-84" charset="2"/>
              <a:buNone/>
            </a:pP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833C5ED-B4D0-4EF0-A04C-582581174B0B}"/>
              </a:ext>
            </a:extLst>
          </p:cNvPr>
          <p:cNvSpPr>
            <a:spLocks noGrp="1" noChangeArrowheads="1"/>
          </p:cNvSpPr>
          <p:nvPr>
            <p:ph type="title"/>
          </p:nvPr>
        </p:nvSpPr>
        <p:spPr>
          <a:xfrm>
            <a:off x="1006475" y="220663"/>
            <a:ext cx="7997825" cy="576262"/>
          </a:xfrm>
        </p:spPr>
        <p:txBody>
          <a:bodyPr/>
          <a:lstStyle/>
          <a:p>
            <a:pPr eaLnBrk="1" hangingPunct="1"/>
            <a:r>
              <a:rPr lang="en-US" altLang="en-US" dirty="0"/>
              <a:t>Message Passing (Cont.)</a:t>
            </a:r>
          </a:p>
        </p:txBody>
      </p:sp>
      <p:sp>
        <p:nvSpPr>
          <p:cNvPr id="77827" name="Rectangle 3">
            <a:extLst>
              <a:ext uri="{FF2B5EF4-FFF2-40B4-BE49-F238E27FC236}">
                <a16:creationId xmlns:a16="http://schemas.microsoft.com/office/drawing/2014/main" id="{BA6A6236-9FD7-4CF5-AFB2-3C81D1F5DE97}"/>
              </a:ext>
            </a:extLst>
          </p:cNvPr>
          <p:cNvSpPr>
            <a:spLocks noGrp="1" noChangeArrowheads="1"/>
          </p:cNvSpPr>
          <p:nvPr>
            <p:ph type="body" idx="1"/>
          </p:nvPr>
        </p:nvSpPr>
        <p:spPr>
          <a:xfrm>
            <a:off x="901700" y="1016001"/>
            <a:ext cx="7003047" cy="4674936"/>
          </a:xfrm>
        </p:spPr>
        <p:txBody>
          <a:bodyPr/>
          <a:lstStyle/>
          <a:p>
            <a:pPr lvl="1">
              <a:lnSpc>
                <a:spcPct val="90000"/>
              </a:lnSpc>
            </a:pPr>
            <a:endParaRPr lang="en-US" altLang="en-US" sz="800" dirty="0"/>
          </a:p>
          <a:p>
            <a:pPr>
              <a:lnSpc>
                <a:spcPct val="90000"/>
              </a:lnSpc>
            </a:pPr>
            <a:r>
              <a:rPr lang="en-US" altLang="en-US" dirty="0"/>
              <a:t>If processes </a:t>
            </a:r>
            <a:r>
              <a:rPr lang="en-US" altLang="en-US" i="1" dirty="0"/>
              <a:t>P</a:t>
            </a:r>
            <a:r>
              <a:rPr lang="en-US" altLang="en-US" dirty="0"/>
              <a:t> and </a:t>
            </a:r>
            <a:r>
              <a:rPr lang="en-US" altLang="en-US" i="1" dirty="0"/>
              <a:t>Q</a:t>
            </a:r>
            <a:r>
              <a:rPr lang="en-US" altLang="en-US" dirty="0"/>
              <a:t> wish to communicate, they need to:</a:t>
            </a:r>
          </a:p>
          <a:p>
            <a:pPr lvl="1">
              <a:lnSpc>
                <a:spcPct val="90000"/>
              </a:lnSpc>
            </a:pPr>
            <a:r>
              <a:rPr lang="en-US" altLang="en-US" dirty="0"/>
              <a:t>Establish a </a:t>
            </a:r>
            <a:r>
              <a:rPr lang="en-US" altLang="en-US" b="1" i="1" dirty="0"/>
              <a:t>communication</a:t>
            </a:r>
            <a:r>
              <a:rPr lang="en-US" altLang="en-US" b="1" dirty="0"/>
              <a:t> </a:t>
            </a:r>
            <a:r>
              <a:rPr lang="en-US" altLang="en-US" b="1" i="1" dirty="0"/>
              <a:t>link</a:t>
            </a:r>
            <a:r>
              <a:rPr lang="en-US" altLang="en-US" b="1" dirty="0"/>
              <a:t> </a:t>
            </a:r>
            <a:r>
              <a:rPr lang="en-US" altLang="en-US" dirty="0"/>
              <a:t>between them</a:t>
            </a:r>
          </a:p>
          <a:p>
            <a:pPr lvl="1">
              <a:lnSpc>
                <a:spcPct val="90000"/>
              </a:lnSpc>
            </a:pPr>
            <a:r>
              <a:rPr lang="en-US" altLang="en-US" dirty="0"/>
              <a:t>Exchange messages via send/receive</a:t>
            </a:r>
          </a:p>
          <a:p>
            <a:pPr>
              <a:lnSpc>
                <a:spcPct val="90000"/>
              </a:lnSpc>
            </a:pPr>
            <a:r>
              <a:rPr lang="en-US" altLang="en-US" dirty="0"/>
              <a:t>Implementation issues:</a:t>
            </a:r>
          </a:p>
          <a:p>
            <a:pPr lvl="1"/>
            <a:r>
              <a:rPr lang="en-US" altLang="en-US" dirty="0"/>
              <a:t>How are links established?</a:t>
            </a:r>
          </a:p>
          <a:p>
            <a:pPr lvl="1"/>
            <a:r>
              <a:rPr lang="en-US" altLang="en-US" dirty="0"/>
              <a:t>Can a link be associated with more than two processes?</a:t>
            </a:r>
          </a:p>
          <a:p>
            <a:pPr lvl="1"/>
            <a:r>
              <a:rPr lang="en-US" altLang="en-US" dirty="0"/>
              <a:t>How many links can there be between every pair of communicating processes?</a:t>
            </a:r>
          </a:p>
          <a:p>
            <a:pPr lvl="1"/>
            <a:r>
              <a:rPr lang="en-US" altLang="en-US" dirty="0"/>
              <a:t>What is the capacity of a link?</a:t>
            </a:r>
          </a:p>
          <a:p>
            <a:pPr lvl="1"/>
            <a:r>
              <a:rPr lang="en-US" altLang="en-US" dirty="0"/>
              <a:t>Is the size of a message that the link can accommodate fixed or variable?</a:t>
            </a:r>
          </a:p>
          <a:p>
            <a:pPr lvl="1"/>
            <a:r>
              <a:rPr lang="en-US" altLang="en-US" dirty="0"/>
              <a:t>Is a link unidirectional or bi-directional?</a:t>
            </a:r>
          </a:p>
          <a:p>
            <a:pPr>
              <a:lnSpc>
                <a:spcPct val="90000"/>
              </a:lnSpc>
              <a:buFont typeface="Monotype Sorts" pitchFamily="-84" charset="2"/>
              <a:buNone/>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F5AEDB07-3580-40D2-96DF-9D13A6ED3833}"/>
              </a:ext>
            </a:extLst>
          </p:cNvPr>
          <p:cNvSpPr>
            <a:spLocks noGrp="1" noChangeArrowheads="1"/>
          </p:cNvSpPr>
          <p:nvPr>
            <p:ph type="title"/>
          </p:nvPr>
        </p:nvSpPr>
        <p:spPr/>
        <p:txBody>
          <a:bodyPr/>
          <a:lstStyle/>
          <a:p>
            <a:r>
              <a:rPr lang="en-US" altLang="en-US" sz="2800" dirty="0">
                <a:solidFill>
                  <a:srgbClr val="FF0000"/>
                </a:solidFill>
                <a:ea typeface="ＭＳ Ｐゴシック" panose="020B0600070205080204" pitchFamily="34" charset="-128"/>
              </a:rPr>
              <a:t>Message Passing</a:t>
            </a:r>
            <a:r>
              <a:rPr lang="ar-JO" altLang="en-US" sz="2800" dirty="0">
                <a:solidFill>
                  <a:srgbClr val="FF0000"/>
                </a:solidFill>
                <a:ea typeface="ＭＳ Ｐゴシック" panose="020B0600070205080204" pitchFamily="34" charset="-128"/>
                <a:cs typeface="Arial" panose="020B0604020202020204" pitchFamily="34" charset="0"/>
              </a:rPr>
              <a:t>  </a:t>
            </a:r>
            <a:r>
              <a:rPr lang="en-US" altLang="en-US" sz="2800" dirty="0">
                <a:ea typeface="ＭＳ Ｐゴシック" panose="020B0600070205080204" pitchFamily="34" charset="-128"/>
                <a:cs typeface="Arial" panose="020B0604020202020204" pitchFamily="34" charset="0"/>
              </a:rPr>
              <a:t>(CONT.)</a:t>
            </a:r>
          </a:p>
        </p:txBody>
      </p:sp>
      <p:sp>
        <p:nvSpPr>
          <p:cNvPr id="155651" name="Rectangle 3">
            <a:extLst>
              <a:ext uri="{FF2B5EF4-FFF2-40B4-BE49-F238E27FC236}">
                <a16:creationId xmlns:a16="http://schemas.microsoft.com/office/drawing/2014/main" id="{97D94817-9DE1-4C22-B1D0-5F847AF0701B}"/>
              </a:ext>
            </a:extLst>
          </p:cNvPr>
          <p:cNvSpPr>
            <a:spLocks noGrp="1" noChangeArrowheads="1"/>
          </p:cNvSpPr>
          <p:nvPr>
            <p:ph type="body" idx="1"/>
          </p:nvPr>
        </p:nvSpPr>
        <p:spPr>
          <a:xfrm>
            <a:off x="355600" y="1233488"/>
            <a:ext cx="8680450" cy="4530725"/>
          </a:xfrm>
        </p:spPr>
        <p:txBody>
          <a:bodyPr/>
          <a:lstStyle/>
          <a:p>
            <a:pPr marL="457200" indent="-457200">
              <a:buSzTx/>
              <a:buFontTx/>
              <a:buChar char="•"/>
            </a:pPr>
            <a:r>
              <a:rPr lang="en-US" altLang="en-US" dirty="0">
                <a:ea typeface="ＭＳ Ｐゴシック" panose="020B0600070205080204" pitchFamily="34" charset="-128"/>
              </a:rPr>
              <a:t>Implementation of communication link</a:t>
            </a:r>
          </a:p>
          <a:p>
            <a:pPr marL="838200" lvl="1" indent="-381000">
              <a:buSzTx/>
              <a:buFontTx/>
              <a:buChar char="•"/>
            </a:pPr>
            <a:r>
              <a:rPr lang="en-US" altLang="en-US" dirty="0">
                <a:ea typeface="ＭＳ Ｐゴシック" panose="020B0600070205080204" pitchFamily="34" charset="-128"/>
              </a:rPr>
              <a:t>physical (e.g., shared memory, hardware bus, </a:t>
            </a:r>
            <a:r>
              <a:rPr lang="en-US" altLang="en-US" dirty="0"/>
              <a:t>Network</a:t>
            </a:r>
            <a:r>
              <a:rPr lang="en-US" altLang="en-US" dirty="0">
                <a:ea typeface="ＭＳ Ｐゴシック" panose="020B0600070205080204" pitchFamily="34" charset="-128"/>
              </a:rPr>
              <a:t>)</a:t>
            </a:r>
          </a:p>
          <a:p>
            <a:pPr marL="838200" lvl="1" indent="-381000">
              <a:buSzTx/>
              <a:buFontTx/>
              <a:buChar char="•"/>
            </a:pPr>
            <a:r>
              <a:rPr lang="en-US" altLang="en-US" dirty="0">
                <a:solidFill>
                  <a:srgbClr val="FF0000"/>
                </a:solidFill>
                <a:highlight>
                  <a:srgbClr val="FFFF00"/>
                </a:highlight>
                <a:ea typeface="ＭＳ Ｐゴシック" panose="020B0600070205080204" pitchFamily="34" charset="-128"/>
              </a:rPr>
              <a:t>logical (e.g., logical properties)</a:t>
            </a:r>
          </a:p>
          <a:p>
            <a:pPr marL="457200" indent="-457200">
              <a:buSzTx/>
              <a:buFontTx/>
              <a:buChar char="•"/>
            </a:pPr>
            <a:r>
              <a:rPr lang="en-US" altLang="en-US" dirty="0">
                <a:ea typeface="ＭＳ Ｐゴシック" panose="020B0600070205080204" pitchFamily="34" charset="-128"/>
              </a:rPr>
              <a:t>We concerned here with logical implementation.</a:t>
            </a:r>
          </a:p>
          <a:p>
            <a:pPr marL="457200" indent="-457200">
              <a:buSzTx/>
              <a:buFontTx/>
              <a:buChar char="•"/>
            </a:pPr>
            <a:r>
              <a:rPr lang="en-US" altLang="en-US" dirty="0">
                <a:ea typeface="ＭＳ Ｐゴシック" panose="020B0600070205080204" pitchFamily="34" charset="-128"/>
              </a:rPr>
              <a:t>Here are several methods for logically implementing a link and the send()/receive() operations</a:t>
            </a:r>
          </a:p>
          <a:p>
            <a:pPr marL="838200" lvl="1" indent="-381000">
              <a:buSzTx/>
              <a:buFontTx/>
              <a:buChar char="•"/>
            </a:pPr>
            <a:r>
              <a:rPr lang="en-US" altLang="zh-TW" b="1" dirty="0">
                <a:ea typeface="ＭＳ Ｐゴシック" panose="020B0600070205080204" pitchFamily="34" charset="-128"/>
              </a:rPr>
              <a:t>Direct or indirect Communication</a:t>
            </a:r>
          </a:p>
          <a:p>
            <a:pPr marL="838200" lvl="1" indent="-381000">
              <a:buSzTx/>
              <a:buFontTx/>
              <a:buChar char="•"/>
            </a:pPr>
            <a:r>
              <a:rPr lang="en-US" altLang="en-US" b="1" dirty="0">
                <a:ea typeface="ＭＳ Ｐゴシック" panose="020B0600070205080204" pitchFamily="34" charset="-128"/>
              </a:rPr>
              <a:t>Synchronous or asynchronous.</a:t>
            </a:r>
          </a:p>
          <a:p>
            <a:pPr marL="838200" lvl="1" indent="-381000">
              <a:buSzTx/>
              <a:buFontTx/>
              <a:buChar char="•"/>
            </a:pPr>
            <a:r>
              <a:rPr lang="en-US" altLang="en-US" b="1" dirty="0">
                <a:ea typeface="ＭＳ Ｐゴシック" panose="020B0600070205080204" pitchFamily="34" charset="-128"/>
              </a:rPr>
              <a:t>Atomic or explicit Buffering</a:t>
            </a:r>
            <a:endParaRPr lang="en-US" altLang="en-US" dirty="0">
              <a:ea typeface="ＭＳ Ｐゴシック" panose="020B0600070205080204" pitchFamily="34" charset="-128"/>
            </a:endParaRPr>
          </a:p>
          <a:p>
            <a:pPr marL="457200" indent="-457200"/>
            <a:endParaRPr lang="en-US" altLang="en-US" dirty="0">
              <a:ea typeface="ＭＳ Ｐゴシック" panose="020B0600070205080204" pitchFamily="34" charset="-128"/>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42199CC-6297-4236-868D-6C51816630C7}"/>
              </a:ext>
            </a:extLst>
          </p:cNvPr>
          <p:cNvSpPr>
            <a:spLocks noGrp="1" noChangeArrowheads="1"/>
          </p:cNvSpPr>
          <p:nvPr>
            <p:ph type="title"/>
          </p:nvPr>
        </p:nvSpPr>
        <p:spPr>
          <a:xfrm>
            <a:off x="457200" y="149139"/>
            <a:ext cx="8229600" cy="576262"/>
          </a:xfrm>
        </p:spPr>
        <p:txBody>
          <a:bodyPr/>
          <a:lstStyle/>
          <a:p>
            <a:pPr eaLnBrk="1" hangingPunct="1"/>
            <a:r>
              <a:rPr lang="en-US" altLang="en-US" dirty="0"/>
              <a:t>1.Direct  Communication</a:t>
            </a:r>
          </a:p>
        </p:txBody>
      </p:sp>
      <p:sp>
        <p:nvSpPr>
          <p:cNvPr id="81923" name="Rectangle 3">
            <a:extLst>
              <a:ext uri="{FF2B5EF4-FFF2-40B4-BE49-F238E27FC236}">
                <a16:creationId xmlns:a16="http://schemas.microsoft.com/office/drawing/2014/main" id="{3A7D9FE3-3D61-44CD-BD78-77CFC4A0B458}"/>
              </a:ext>
            </a:extLst>
          </p:cNvPr>
          <p:cNvSpPr>
            <a:spLocks noGrp="1" noChangeArrowheads="1"/>
          </p:cNvSpPr>
          <p:nvPr>
            <p:ph type="body" idx="1"/>
          </p:nvPr>
        </p:nvSpPr>
        <p:spPr>
          <a:xfrm>
            <a:off x="904875" y="1138238"/>
            <a:ext cx="7635875" cy="4530725"/>
          </a:xfrm>
        </p:spPr>
        <p:txBody>
          <a:bodyPr/>
          <a:lstStyle/>
          <a:p>
            <a:r>
              <a:rPr lang="en-US" altLang="en-US" dirty="0"/>
              <a:t>Processes </a:t>
            </a:r>
            <a:r>
              <a:rPr lang="en-US" altLang="en-US" dirty="0">
                <a:solidFill>
                  <a:srgbClr val="FF0000"/>
                </a:solidFill>
              </a:rPr>
              <a:t>must name each other explicitly</a:t>
            </a:r>
            <a:r>
              <a:rPr lang="en-US" altLang="en-US" dirty="0"/>
              <a:t>:</a:t>
            </a:r>
          </a:p>
          <a:p>
            <a:pPr lvl="1"/>
            <a:r>
              <a:rPr lang="en-US" altLang="en-US" b="1" dirty="0">
                <a:latin typeface="Courier New" panose="02070309020205020404" pitchFamily="49" charset="0"/>
              </a:rPr>
              <a:t>send</a:t>
            </a:r>
            <a:r>
              <a:rPr lang="en-US" altLang="en-US" dirty="0"/>
              <a:t> (</a:t>
            </a:r>
            <a:r>
              <a:rPr lang="en-US" altLang="en-US" i="1" dirty="0"/>
              <a:t>P, message</a:t>
            </a:r>
            <a:r>
              <a:rPr lang="en-US" altLang="en-US" dirty="0"/>
              <a:t>) – send a message to process P</a:t>
            </a:r>
          </a:p>
          <a:p>
            <a:pPr lvl="1"/>
            <a:r>
              <a:rPr lang="en-US" altLang="en-US" b="1" dirty="0">
                <a:latin typeface="Courier New" panose="02070309020205020404" pitchFamily="49" charset="0"/>
              </a:rPr>
              <a:t>receive</a:t>
            </a:r>
            <a:r>
              <a:rPr lang="en-US" altLang="en-US" dirty="0"/>
              <a:t>(</a:t>
            </a:r>
            <a:r>
              <a:rPr lang="en-US" altLang="en-US" i="1" dirty="0"/>
              <a:t>Q, message</a:t>
            </a:r>
            <a:r>
              <a:rPr lang="en-US" altLang="en-US" dirty="0"/>
              <a:t>) – receive a message from process Q</a:t>
            </a:r>
          </a:p>
          <a:p>
            <a:r>
              <a:rPr lang="en-US" altLang="en-US" dirty="0"/>
              <a:t>Properties of communication link</a:t>
            </a:r>
          </a:p>
          <a:p>
            <a:pPr lvl="1"/>
            <a:r>
              <a:rPr lang="en-US" altLang="en-US" dirty="0"/>
              <a:t>Links are established automatically</a:t>
            </a:r>
          </a:p>
          <a:p>
            <a:pPr lvl="1"/>
            <a:r>
              <a:rPr lang="en-US" altLang="en-US" dirty="0"/>
              <a:t>A link is associated with </a:t>
            </a:r>
            <a:r>
              <a:rPr lang="en-US" altLang="en-US" dirty="0">
                <a:solidFill>
                  <a:srgbClr val="FF0000"/>
                </a:solidFill>
              </a:rPr>
              <a:t>exactly one </a:t>
            </a:r>
            <a:r>
              <a:rPr lang="en-US" altLang="en-US" dirty="0"/>
              <a:t>pair of communicating processes</a:t>
            </a:r>
          </a:p>
          <a:p>
            <a:pPr lvl="1"/>
            <a:r>
              <a:rPr lang="en-US" altLang="en-US" dirty="0"/>
              <a:t>Between each pair there exists exactly </a:t>
            </a:r>
            <a:r>
              <a:rPr lang="en-US" altLang="en-US" dirty="0">
                <a:solidFill>
                  <a:srgbClr val="FF0000"/>
                </a:solidFill>
              </a:rPr>
              <a:t>one link</a:t>
            </a:r>
          </a:p>
          <a:p>
            <a:pPr lvl="1"/>
            <a:r>
              <a:rPr lang="en-US" altLang="en-US" dirty="0"/>
              <a:t>The link may be unidirectional, but is usually </a:t>
            </a:r>
            <a:r>
              <a:rPr lang="en-US" altLang="en-US" dirty="0">
                <a:solidFill>
                  <a:srgbClr val="FF0000"/>
                </a:solidFill>
              </a:rPr>
              <a:t>bi-directional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143D8FC-6F48-4E94-BF58-37342F331C98}"/>
              </a:ext>
            </a:extLst>
          </p:cNvPr>
          <p:cNvSpPr>
            <a:spLocks noGrp="1" noChangeArrowheads="1"/>
          </p:cNvSpPr>
          <p:nvPr>
            <p:ph type="title"/>
          </p:nvPr>
        </p:nvSpPr>
        <p:spPr>
          <a:xfrm>
            <a:off x="457200" y="130757"/>
            <a:ext cx="8229600" cy="576262"/>
          </a:xfrm>
        </p:spPr>
        <p:txBody>
          <a:bodyPr/>
          <a:lstStyle/>
          <a:p>
            <a:pPr eaLnBrk="1" hangingPunct="1"/>
            <a:r>
              <a:rPr lang="en-US" altLang="en-US" dirty="0"/>
              <a:t>Indirect Communication</a:t>
            </a:r>
          </a:p>
        </p:txBody>
      </p:sp>
      <p:sp>
        <p:nvSpPr>
          <p:cNvPr id="83971" name="Rectangle 3">
            <a:extLst>
              <a:ext uri="{FF2B5EF4-FFF2-40B4-BE49-F238E27FC236}">
                <a16:creationId xmlns:a16="http://schemas.microsoft.com/office/drawing/2014/main" id="{DD569671-6F8E-4503-8E83-6B359504BFA7}"/>
              </a:ext>
            </a:extLst>
          </p:cNvPr>
          <p:cNvSpPr>
            <a:spLocks noGrp="1" noChangeArrowheads="1"/>
          </p:cNvSpPr>
          <p:nvPr>
            <p:ph type="body" idx="1"/>
          </p:nvPr>
        </p:nvSpPr>
        <p:spPr>
          <a:xfrm>
            <a:off x="892175" y="1147763"/>
            <a:ext cx="7397583" cy="4073942"/>
          </a:xfrm>
        </p:spPr>
        <p:txBody>
          <a:bodyPr/>
          <a:lstStyle/>
          <a:p>
            <a:r>
              <a:rPr lang="en-US" altLang="en-US" dirty="0"/>
              <a:t>Messages are directed and received from </a:t>
            </a:r>
            <a:r>
              <a:rPr lang="en-US" altLang="en-US" dirty="0">
                <a:solidFill>
                  <a:srgbClr val="FF0000"/>
                </a:solidFill>
              </a:rPr>
              <a:t>mailboxes</a:t>
            </a:r>
            <a:r>
              <a:rPr lang="en-US" altLang="en-US" dirty="0"/>
              <a:t> (also referred to as </a:t>
            </a:r>
            <a:r>
              <a:rPr lang="en-US" altLang="en-US" dirty="0">
                <a:solidFill>
                  <a:srgbClr val="FF0000"/>
                </a:solidFill>
              </a:rPr>
              <a:t>ports</a:t>
            </a:r>
            <a:r>
              <a:rPr lang="en-US" altLang="en-US" dirty="0"/>
              <a:t>)</a:t>
            </a:r>
          </a:p>
          <a:p>
            <a:pPr lvl="1"/>
            <a:r>
              <a:rPr lang="en-US" altLang="en-US" dirty="0"/>
              <a:t>Each mailbox has a unique id</a:t>
            </a:r>
          </a:p>
          <a:p>
            <a:pPr lvl="1"/>
            <a:r>
              <a:rPr lang="en-US" altLang="en-US" dirty="0"/>
              <a:t>Processes can communicate only if they share a mailbox</a:t>
            </a:r>
          </a:p>
          <a:p>
            <a:r>
              <a:rPr lang="en-US" altLang="en-US" dirty="0"/>
              <a:t>Properties of communication link</a:t>
            </a:r>
          </a:p>
          <a:p>
            <a:pPr lvl="1"/>
            <a:r>
              <a:rPr lang="en-US" altLang="en-US" dirty="0"/>
              <a:t>Link established </a:t>
            </a:r>
            <a:r>
              <a:rPr lang="en-US" altLang="en-US" dirty="0">
                <a:solidFill>
                  <a:srgbClr val="FF0000"/>
                </a:solidFill>
              </a:rPr>
              <a:t>only if processes share a common mailbox</a:t>
            </a:r>
          </a:p>
          <a:p>
            <a:pPr lvl="1"/>
            <a:r>
              <a:rPr lang="en-US" altLang="en-US" dirty="0"/>
              <a:t>A link may be associated with </a:t>
            </a:r>
            <a:r>
              <a:rPr lang="en-US" altLang="en-US" dirty="0">
                <a:solidFill>
                  <a:srgbClr val="FF0000"/>
                </a:solidFill>
              </a:rPr>
              <a:t>many processes</a:t>
            </a:r>
          </a:p>
          <a:p>
            <a:pPr lvl="1"/>
            <a:r>
              <a:rPr lang="en-US" altLang="en-US" dirty="0"/>
              <a:t>Each pair of processes may share </a:t>
            </a:r>
            <a:r>
              <a:rPr lang="en-US" altLang="en-US" dirty="0">
                <a:solidFill>
                  <a:srgbClr val="FF0000"/>
                </a:solidFill>
              </a:rPr>
              <a:t>several communication link</a:t>
            </a:r>
            <a:r>
              <a:rPr lang="en-US" altLang="en-US" dirty="0"/>
              <a:t>s</a:t>
            </a:r>
          </a:p>
          <a:p>
            <a:pPr lvl="1"/>
            <a:r>
              <a:rPr lang="en-US" altLang="en-US" dirty="0"/>
              <a:t>Link may be unidirectional </a:t>
            </a:r>
            <a:r>
              <a:rPr lang="en-US" altLang="en-US" dirty="0">
                <a:solidFill>
                  <a:srgbClr val="FF0000"/>
                </a:solidFill>
              </a:rPr>
              <a:t>or</a:t>
            </a:r>
            <a:r>
              <a:rPr lang="en-US" altLang="en-US" dirty="0"/>
              <a:t> bi-directional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a:extLst>
              <a:ext uri="{FF2B5EF4-FFF2-40B4-BE49-F238E27FC236}">
                <a16:creationId xmlns:a16="http://schemas.microsoft.com/office/drawing/2014/main" id="{34E55BDD-A170-4015-BADB-B0ED48E46AEA}"/>
              </a:ext>
            </a:extLst>
          </p:cNvPr>
          <p:cNvSpPr>
            <a:spLocks noGrp="1" noChangeArrowheads="1"/>
          </p:cNvSpPr>
          <p:nvPr>
            <p:ph type="body" idx="1"/>
          </p:nvPr>
        </p:nvSpPr>
        <p:spPr>
          <a:xfrm>
            <a:off x="882650" y="1135063"/>
            <a:ext cx="7535863" cy="3821112"/>
          </a:xfrm>
        </p:spPr>
        <p:txBody>
          <a:bodyPr/>
          <a:lstStyle/>
          <a:p>
            <a:r>
              <a:rPr lang="en-US" altLang="en-US" dirty="0"/>
              <a:t>Operations</a:t>
            </a:r>
          </a:p>
          <a:p>
            <a:pPr lvl="1"/>
            <a:r>
              <a:rPr lang="en-US" altLang="en-US" dirty="0"/>
              <a:t>Create a new mailbox (port)</a:t>
            </a:r>
          </a:p>
          <a:p>
            <a:pPr lvl="1"/>
            <a:r>
              <a:rPr lang="en-US" altLang="en-US" dirty="0"/>
              <a:t>Send and receive messages through mailbox</a:t>
            </a:r>
          </a:p>
          <a:p>
            <a:pPr lvl="1"/>
            <a:r>
              <a:rPr lang="en-US" altLang="en-US" dirty="0"/>
              <a:t>Delete a mailbox</a:t>
            </a:r>
          </a:p>
          <a:p>
            <a:r>
              <a:rPr lang="en-US" altLang="en-US" dirty="0"/>
              <a:t>Primitives are defined as:</a:t>
            </a:r>
          </a:p>
          <a:p>
            <a:pPr lvl="1"/>
            <a:r>
              <a:rPr lang="en-US" altLang="en-US" b="1" dirty="0">
                <a:latin typeface="Courier New" panose="02070309020205020404" pitchFamily="49" charset="0"/>
              </a:rPr>
              <a:t>send</a:t>
            </a:r>
            <a:r>
              <a:rPr lang="en-US" altLang="en-US" dirty="0"/>
              <a:t>(</a:t>
            </a:r>
            <a:r>
              <a:rPr lang="en-US" altLang="en-US" i="1" dirty="0"/>
              <a:t>A, message</a:t>
            </a:r>
            <a:r>
              <a:rPr lang="en-US" altLang="en-US" dirty="0"/>
              <a:t>) – send a message to mailbox A</a:t>
            </a:r>
          </a:p>
          <a:p>
            <a:pPr lvl="1"/>
            <a:r>
              <a:rPr lang="en-US" altLang="en-US" b="1" dirty="0">
                <a:latin typeface="Courier New" panose="02070309020205020404" pitchFamily="49" charset="0"/>
              </a:rPr>
              <a:t>receive</a:t>
            </a:r>
            <a:r>
              <a:rPr lang="en-US" altLang="en-US" dirty="0"/>
              <a:t>(</a:t>
            </a:r>
            <a:r>
              <a:rPr lang="en-US" altLang="en-US" i="1" dirty="0"/>
              <a:t>A, message</a:t>
            </a:r>
            <a:r>
              <a:rPr lang="en-US" altLang="en-US" dirty="0"/>
              <a:t>) – receive a message from mailbox A</a:t>
            </a:r>
          </a:p>
        </p:txBody>
      </p:sp>
      <p:sp>
        <p:nvSpPr>
          <p:cNvPr id="86019" name="Rectangle 2">
            <a:extLst>
              <a:ext uri="{FF2B5EF4-FFF2-40B4-BE49-F238E27FC236}">
                <a16:creationId xmlns:a16="http://schemas.microsoft.com/office/drawing/2014/main" id="{5F04958A-396F-4A7F-8CBA-0260CD19660B}"/>
              </a:ext>
            </a:extLst>
          </p:cNvPr>
          <p:cNvSpPr>
            <a:spLocks noGrp="1" noChangeArrowheads="1"/>
          </p:cNvSpPr>
          <p:nvPr>
            <p:ph type="title"/>
          </p:nvPr>
        </p:nvSpPr>
        <p:spPr>
          <a:xfrm>
            <a:off x="1234572" y="141201"/>
            <a:ext cx="7947025" cy="576263"/>
          </a:xfrm>
        </p:spPr>
        <p:txBody>
          <a:bodyPr/>
          <a:lstStyle/>
          <a:p>
            <a:pPr eaLnBrk="1" hangingPunct="1"/>
            <a:r>
              <a:rPr lang="en-US" altLang="en-US" dirty="0"/>
              <a:t>Indirect Communication (Cont.)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97701EB2-5660-4646-90DB-5F302502B1C7}"/>
              </a:ext>
            </a:extLst>
          </p:cNvPr>
          <p:cNvSpPr>
            <a:spLocks noGrp="1" noChangeArrowheads="1"/>
          </p:cNvSpPr>
          <p:nvPr>
            <p:ph type="body" idx="1"/>
          </p:nvPr>
        </p:nvSpPr>
        <p:spPr>
          <a:xfrm>
            <a:off x="882650" y="1127125"/>
            <a:ext cx="6637338" cy="4530725"/>
          </a:xfrm>
        </p:spPr>
        <p:txBody>
          <a:bodyPr/>
          <a:lstStyle/>
          <a:p>
            <a:r>
              <a:rPr lang="en-US" altLang="en-US" dirty="0"/>
              <a:t>Mailbox sharing</a:t>
            </a:r>
          </a:p>
          <a:p>
            <a:pPr lvl="1"/>
            <a:r>
              <a:rPr lang="en-US" altLang="en-US" i="1" dirty="0"/>
              <a:t>P</a:t>
            </a:r>
            <a:r>
              <a:rPr lang="en-US" altLang="en-US" i="1" baseline="-25000" dirty="0"/>
              <a:t>1</a:t>
            </a:r>
            <a:r>
              <a:rPr lang="en-US" altLang="en-US" i="1" dirty="0"/>
              <a:t>, P</a:t>
            </a:r>
            <a:r>
              <a:rPr lang="en-US" altLang="en-US" i="1" baseline="-25000" dirty="0"/>
              <a:t>2</a:t>
            </a:r>
            <a:r>
              <a:rPr lang="en-US" altLang="en-US" i="1" dirty="0"/>
              <a:t>,</a:t>
            </a:r>
            <a:r>
              <a:rPr lang="en-US" altLang="en-US" dirty="0"/>
              <a:t> and</a:t>
            </a:r>
            <a:r>
              <a:rPr lang="en-US" altLang="en-US" i="1" dirty="0"/>
              <a:t> P</a:t>
            </a:r>
            <a:r>
              <a:rPr lang="en-US" altLang="en-US" i="1" baseline="-25000" dirty="0"/>
              <a:t>3</a:t>
            </a:r>
            <a:r>
              <a:rPr lang="en-US" altLang="en-US" dirty="0"/>
              <a:t> share mailbox A</a:t>
            </a:r>
          </a:p>
          <a:p>
            <a:pPr lvl="1"/>
            <a:r>
              <a:rPr lang="en-US" altLang="en-US" i="1" dirty="0"/>
              <a:t>P</a:t>
            </a:r>
            <a:r>
              <a:rPr lang="en-US" altLang="en-US" i="1" baseline="-25000" dirty="0"/>
              <a:t>1</a:t>
            </a:r>
            <a:r>
              <a:rPr lang="en-US" altLang="en-US" dirty="0"/>
              <a:t>, sends; </a:t>
            </a:r>
            <a:r>
              <a:rPr lang="en-US" altLang="en-US" i="1" dirty="0"/>
              <a:t>P</a:t>
            </a:r>
            <a:r>
              <a:rPr lang="en-US" altLang="en-US" i="1" baseline="-25000" dirty="0"/>
              <a:t>2</a:t>
            </a:r>
            <a:r>
              <a:rPr lang="en-US" altLang="en-US" i="1" dirty="0"/>
              <a:t> </a:t>
            </a:r>
            <a:r>
              <a:rPr lang="en-US" altLang="en-US" dirty="0"/>
              <a:t>and</a:t>
            </a:r>
            <a:r>
              <a:rPr lang="en-US" altLang="en-US" i="1" dirty="0"/>
              <a:t> P</a:t>
            </a:r>
            <a:r>
              <a:rPr lang="en-US" altLang="en-US" i="1" baseline="-25000" dirty="0"/>
              <a:t>3</a:t>
            </a:r>
            <a:r>
              <a:rPr lang="en-US" altLang="en-US" dirty="0"/>
              <a:t> receive</a:t>
            </a:r>
          </a:p>
          <a:p>
            <a:pPr lvl="1"/>
            <a:r>
              <a:rPr lang="en-US" altLang="en-US" dirty="0"/>
              <a:t>Who gets the message?</a:t>
            </a:r>
          </a:p>
          <a:p>
            <a:r>
              <a:rPr lang="en-US" altLang="en-US" dirty="0"/>
              <a:t>Solutions</a:t>
            </a:r>
          </a:p>
          <a:p>
            <a:pPr lvl="1"/>
            <a:r>
              <a:rPr lang="en-US" altLang="en-US" dirty="0"/>
              <a:t>Allow a link to be associated with at most two processes</a:t>
            </a:r>
          </a:p>
          <a:p>
            <a:pPr lvl="1"/>
            <a:r>
              <a:rPr lang="en-US" altLang="en-US" dirty="0"/>
              <a:t>Allow only one process at a time to execute a receive operation</a:t>
            </a:r>
          </a:p>
          <a:p>
            <a:pPr lvl="1"/>
            <a:r>
              <a:rPr lang="en-US" altLang="en-US" dirty="0"/>
              <a:t>Allow the system to select arbitrarily (optionally) the receiver.  Sender is notified who the receiver was.</a:t>
            </a:r>
          </a:p>
        </p:txBody>
      </p:sp>
      <p:sp>
        <p:nvSpPr>
          <p:cNvPr id="88067" name="Rectangle 2">
            <a:extLst>
              <a:ext uri="{FF2B5EF4-FFF2-40B4-BE49-F238E27FC236}">
                <a16:creationId xmlns:a16="http://schemas.microsoft.com/office/drawing/2014/main" id="{24243AD7-0317-465B-AB50-5EC00B8ABFD8}"/>
              </a:ext>
            </a:extLst>
          </p:cNvPr>
          <p:cNvSpPr>
            <a:spLocks noGrp="1" noChangeArrowheads="1"/>
          </p:cNvSpPr>
          <p:nvPr>
            <p:ph type="title"/>
          </p:nvPr>
        </p:nvSpPr>
        <p:spPr>
          <a:xfrm>
            <a:off x="976985" y="129169"/>
            <a:ext cx="8058734" cy="576263"/>
          </a:xfrm>
        </p:spPr>
        <p:txBody>
          <a:bodyPr/>
          <a:lstStyle/>
          <a:p>
            <a:pPr eaLnBrk="1" hangingPunct="1"/>
            <a:r>
              <a:rPr lang="en-US" altLang="en-US" dirty="0"/>
              <a:t>Indirect Communication (Cont.)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66DE404-CE0D-4099-B2D8-AC3784357141}"/>
              </a:ext>
            </a:extLst>
          </p:cNvPr>
          <p:cNvSpPr>
            <a:spLocks noGrp="1" noChangeArrowheads="1"/>
          </p:cNvSpPr>
          <p:nvPr>
            <p:ph type="title"/>
          </p:nvPr>
        </p:nvSpPr>
        <p:spPr>
          <a:xfrm>
            <a:off x="457200" y="115550"/>
            <a:ext cx="8229600" cy="576262"/>
          </a:xfrm>
        </p:spPr>
        <p:txBody>
          <a:bodyPr/>
          <a:lstStyle/>
          <a:p>
            <a:pPr eaLnBrk="1" hangingPunct="1"/>
            <a:r>
              <a:rPr lang="en-US" altLang="en-US" dirty="0"/>
              <a:t>Synchronization</a:t>
            </a:r>
          </a:p>
        </p:txBody>
      </p:sp>
      <p:sp>
        <p:nvSpPr>
          <p:cNvPr id="44035" name="Rectangle 3">
            <a:extLst>
              <a:ext uri="{FF2B5EF4-FFF2-40B4-BE49-F238E27FC236}">
                <a16:creationId xmlns:a16="http://schemas.microsoft.com/office/drawing/2014/main" id="{67B9D991-600B-415B-8F62-A95ED2FAF9E0}"/>
              </a:ext>
            </a:extLst>
          </p:cNvPr>
          <p:cNvSpPr>
            <a:spLocks noGrp="1" noChangeArrowheads="1"/>
          </p:cNvSpPr>
          <p:nvPr>
            <p:ph type="body" idx="1"/>
          </p:nvPr>
        </p:nvSpPr>
        <p:spPr>
          <a:xfrm>
            <a:off x="1230225" y="1588165"/>
            <a:ext cx="7716838" cy="4976891"/>
          </a:xfrm>
        </p:spPr>
        <p:txBody>
          <a:bodyPr/>
          <a:lstStyle/>
          <a:p>
            <a:pPr marL="379413" indent="-379413">
              <a:defRPr/>
            </a:pPr>
            <a:r>
              <a:rPr lang="en-US" b="1" dirty="0">
                <a:solidFill>
                  <a:srgbClr val="006699"/>
                </a:solidFill>
                <a:latin typeface="+mj-lt"/>
              </a:rPr>
              <a:t>Blocking</a:t>
            </a:r>
            <a:r>
              <a:rPr lang="en-US" dirty="0">
                <a:cs typeface="ＭＳ Ｐゴシック" charset="-128"/>
              </a:rPr>
              <a:t> is considered </a:t>
            </a:r>
            <a:r>
              <a:rPr lang="en-US" b="1" dirty="0">
                <a:solidFill>
                  <a:srgbClr val="006699"/>
                </a:solidFill>
                <a:latin typeface="+mj-lt"/>
              </a:rPr>
              <a:t>synchronous</a:t>
            </a:r>
          </a:p>
          <a:p>
            <a:pPr marL="798513" lvl="1" indent="-341313">
              <a:defRPr/>
            </a:pPr>
            <a:r>
              <a:rPr lang="en-US" b="1" dirty="0"/>
              <a:t>Blocking send </a:t>
            </a:r>
            <a:r>
              <a:rPr lang="en-US" dirty="0"/>
              <a:t>--</a:t>
            </a:r>
            <a:r>
              <a:rPr lang="en-US" b="1" dirty="0"/>
              <a:t> </a:t>
            </a:r>
            <a:r>
              <a:rPr lang="en-US" dirty="0"/>
              <a:t>the sender is blocked until the message is received</a:t>
            </a:r>
          </a:p>
          <a:p>
            <a:pPr marL="798513" lvl="1" indent="-341313">
              <a:defRPr/>
            </a:pPr>
            <a:r>
              <a:rPr lang="en-US" b="1" dirty="0"/>
              <a:t>Blocking receive </a:t>
            </a:r>
            <a:r>
              <a:rPr lang="en-US" dirty="0"/>
              <a:t>--</a:t>
            </a:r>
            <a:r>
              <a:rPr lang="en-US" b="1" dirty="0"/>
              <a:t> </a:t>
            </a:r>
            <a:r>
              <a:rPr lang="en-US" dirty="0"/>
              <a:t>the receiver is  blocked until a message is available</a:t>
            </a:r>
          </a:p>
          <a:p>
            <a:pPr marL="379413" indent="-379413">
              <a:defRPr/>
            </a:pPr>
            <a:r>
              <a:rPr lang="en-US" b="1" dirty="0">
                <a:solidFill>
                  <a:srgbClr val="006699"/>
                </a:solidFill>
                <a:latin typeface="+mj-lt"/>
              </a:rPr>
              <a:t>Non-blocking</a:t>
            </a:r>
            <a:r>
              <a:rPr lang="en-US" dirty="0">
                <a:cs typeface="ＭＳ Ｐゴシック" charset="-128"/>
              </a:rPr>
              <a:t> is considered </a:t>
            </a:r>
            <a:r>
              <a:rPr lang="en-US" b="1" dirty="0">
                <a:solidFill>
                  <a:srgbClr val="006699"/>
                </a:solidFill>
                <a:latin typeface="+mj-lt"/>
              </a:rPr>
              <a:t>asynchronous</a:t>
            </a:r>
          </a:p>
          <a:p>
            <a:pPr marL="798513" lvl="1" indent="-341313">
              <a:defRPr/>
            </a:pPr>
            <a:r>
              <a:rPr lang="en-US" b="1" dirty="0"/>
              <a:t>Non-blocking send</a:t>
            </a:r>
            <a:r>
              <a:rPr lang="en-US" dirty="0"/>
              <a:t> -- the sender sends the message and continue</a:t>
            </a:r>
          </a:p>
          <a:p>
            <a:pPr marL="798513" lvl="1" indent="-341313">
              <a:defRPr/>
            </a:pPr>
            <a:r>
              <a:rPr lang="en-US" b="1" dirty="0"/>
              <a:t>Non-blocking receive</a:t>
            </a:r>
            <a:r>
              <a:rPr lang="en-US" dirty="0"/>
              <a:t> -- the receiver receives:</a:t>
            </a:r>
          </a:p>
          <a:p>
            <a:pPr marL="1141413" lvl="2" indent="-341313">
              <a:defRPr/>
            </a:pPr>
            <a:r>
              <a:rPr lang="en-US" dirty="0"/>
              <a:t>A valid message,  or </a:t>
            </a:r>
          </a:p>
          <a:p>
            <a:pPr marL="1141413" lvl="2" indent="-341313">
              <a:defRPr/>
            </a:pPr>
            <a:r>
              <a:rPr lang="en-US" dirty="0"/>
              <a:t>Null message</a:t>
            </a:r>
          </a:p>
          <a:p>
            <a:pPr marL="398463" indent="-341313">
              <a:defRPr/>
            </a:pPr>
            <a:r>
              <a:rPr lang="en-US" dirty="0">
                <a:ea typeface="ＭＳ Ｐゴシック" charset="0"/>
                <a:cs typeface="ＭＳ Ｐゴシック" charset="-128"/>
              </a:rPr>
              <a:t>Different combinations possible</a:t>
            </a:r>
          </a:p>
          <a:p>
            <a:pPr marL="798513" lvl="1" indent="-341313">
              <a:defRPr/>
            </a:pPr>
            <a:r>
              <a:rPr lang="en-US" dirty="0">
                <a:ea typeface="ＭＳ Ｐゴシック" charset="0"/>
              </a:rPr>
              <a:t>If both send and receive are blocking, we have a </a:t>
            </a:r>
            <a:r>
              <a:rPr lang="en-US" b="1" dirty="0">
                <a:solidFill>
                  <a:srgbClr val="006699"/>
                </a:solidFill>
                <a:latin typeface="+mj-lt"/>
              </a:rPr>
              <a:t>rendezvous</a:t>
            </a:r>
          </a:p>
          <a:p>
            <a:pPr marL="398463" indent="-341313">
              <a:defRPr/>
            </a:pPr>
            <a:endParaRPr lang="en-US" dirty="0">
              <a:cs typeface="ＭＳ Ｐゴシック" charset="-128"/>
            </a:endParaRPr>
          </a:p>
          <a:p>
            <a:pPr marL="1141413" lvl="2" indent="-341313">
              <a:buFont typeface="Monotype Sorts" pitchFamily="-84" charset="2"/>
              <a:buChar char="l"/>
              <a:defRPr/>
            </a:pPr>
            <a:endParaRPr lang="en-US" dirty="0"/>
          </a:p>
        </p:txBody>
      </p:sp>
      <p:sp>
        <p:nvSpPr>
          <p:cNvPr id="2" name="TextBox 1">
            <a:extLst>
              <a:ext uri="{FF2B5EF4-FFF2-40B4-BE49-F238E27FC236}">
                <a16:creationId xmlns:a16="http://schemas.microsoft.com/office/drawing/2014/main" id="{5FB062E3-7EE3-4CB3-A7FD-45050A40F8C4}"/>
              </a:ext>
            </a:extLst>
          </p:cNvPr>
          <p:cNvSpPr txBox="1"/>
          <p:nvPr/>
        </p:nvSpPr>
        <p:spPr>
          <a:xfrm>
            <a:off x="866272" y="1091585"/>
            <a:ext cx="7471609" cy="369332"/>
          </a:xfrm>
          <a:prstGeom prst="rect">
            <a:avLst/>
          </a:prstGeom>
          <a:noFill/>
        </p:spPr>
        <p:txBody>
          <a:bodyPr wrap="square" rtlCol="0">
            <a:spAutoFit/>
          </a:bodyPr>
          <a:lstStyle/>
          <a:p>
            <a:pPr marL="379413" indent="-379413">
              <a:defRPr/>
            </a:pPr>
            <a:r>
              <a:rPr lang="en-US" dirty="0">
                <a:cs typeface="ＭＳ Ｐゴシック" charset="-128"/>
              </a:rPr>
              <a:t>Message passing may be either blocking or non-blocking</a:t>
            </a:r>
          </a:p>
        </p:txBody>
      </p:sp>
    </p:spTree>
    <p:extLst>
      <p:ext uri="{BB962C8B-B14F-4D97-AF65-F5344CB8AC3E}">
        <p14:creationId xmlns:p14="http://schemas.microsoft.com/office/powerpoint/2010/main" val="16159241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EFCCDAF0-ADCB-498D-ABA7-61D9ACD7A11E}"/>
              </a:ext>
            </a:extLst>
          </p:cNvPr>
          <p:cNvSpPr>
            <a:spLocks noGrp="1" noChangeArrowheads="1"/>
          </p:cNvSpPr>
          <p:nvPr>
            <p:ph type="title"/>
          </p:nvPr>
        </p:nvSpPr>
        <p:spPr>
          <a:xfrm>
            <a:off x="457200" y="230188"/>
            <a:ext cx="8229600" cy="576262"/>
          </a:xfrm>
        </p:spPr>
        <p:txBody>
          <a:bodyPr/>
          <a:lstStyle/>
          <a:p>
            <a:pPr eaLnBrk="1" hangingPunct="1"/>
            <a:r>
              <a:rPr lang="en-US" altLang="en-US"/>
              <a:t>Buffering</a:t>
            </a:r>
          </a:p>
        </p:txBody>
      </p:sp>
      <p:sp>
        <p:nvSpPr>
          <p:cNvPr id="94211" name="Rectangle 3">
            <a:extLst>
              <a:ext uri="{FF2B5EF4-FFF2-40B4-BE49-F238E27FC236}">
                <a16:creationId xmlns:a16="http://schemas.microsoft.com/office/drawing/2014/main" id="{9F3FAE0B-E324-4D81-9059-93D9D79F308F}"/>
              </a:ext>
            </a:extLst>
          </p:cNvPr>
          <p:cNvSpPr>
            <a:spLocks noGrp="1" noChangeArrowheads="1"/>
          </p:cNvSpPr>
          <p:nvPr>
            <p:ph type="body" idx="1"/>
          </p:nvPr>
        </p:nvSpPr>
        <p:spPr>
          <a:xfrm>
            <a:off x="889000" y="1233488"/>
            <a:ext cx="7658100" cy="4530725"/>
          </a:xfrm>
        </p:spPr>
        <p:txBody>
          <a:bodyPr/>
          <a:lstStyle/>
          <a:p>
            <a:r>
              <a:rPr lang="en-US" dirty="0"/>
              <a:t>Whether communication is direct or indirect, messages exchanged by communicating processes reside in a temporary queue.</a:t>
            </a:r>
          </a:p>
          <a:p>
            <a:r>
              <a:rPr lang="en-US" dirty="0"/>
              <a:t> Basically, such queues can be implemented in three ways:( </a:t>
            </a:r>
            <a:r>
              <a:rPr lang="en-US" altLang="en-US" i="1" dirty="0"/>
              <a:t>Queue of messages attached to the link).</a:t>
            </a:r>
          </a:p>
          <a:p>
            <a:r>
              <a:rPr lang="en-US" altLang="en-US" dirty="0"/>
              <a:t>Implemented in one of </a:t>
            </a:r>
            <a:r>
              <a:rPr lang="en-US" altLang="en-US" dirty="0">
                <a:solidFill>
                  <a:srgbClr val="FF0000"/>
                </a:solidFill>
                <a:highlight>
                  <a:srgbClr val="FFFF00"/>
                </a:highlight>
              </a:rPr>
              <a:t>three ways</a:t>
            </a:r>
          </a:p>
          <a:p>
            <a:pPr lvl="1">
              <a:buFont typeface="Monotype Sorts" pitchFamily="-84" charset="2"/>
              <a:buNone/>
            </a:pPr>
            <a:r>
              <a:rPr lang="en-US" altLang="en-US" dirty="0">
                <a:solidFill>
                  <a:srgbClr val="CC6600"/>
                </a:solidFill>
              </a:rPr>
              <a:t>1.</a:t>
            </a:r>
            <a:r>
              <a:rPr lang="en-US" altLang="en-US" dirty="0"/>
              <a:t>	Zero capacity – no messages are queued on a link.</a:t>
            </a:r>
            <a:br>
              <a:rPr lang="en-US" altLang="en-US" dirty="0"/>
            </a:br>
            <a:r>
              <a:rPr lang="en-US" altLang="en-US" dirty="0"/>
              <a:t>Sender must wait for receiver (rendezvous)</a:t>
            </a:r>
          </a:p>
          <a:p>
            <a:pPr lvl="1">
              <a:buFont typeface="Monotype Sorts" pitchFamily="-84" charset="2"/>
              <a:buNone/>
            </a:pPr>
            <a:r>
              <a:rPr lang="en-US" altLang="en-US" dirty="0">
                <a:solidFill>
                  <a:srgbClr val="CC6600"/>
                </a:solidFill>
              </a:rPr>
              <a:t>2.</a:t>
            </a:r>
            <a:r>
              <a:rPr lang="en-US" altLang="en-US" dirty="0"/>
              <a:t>	Bounded capacity – finite length of </a:t>
            </a:r>
            <a:r>
              <a:rPr lang="en-US" altLang="en-US" i="1" dirty="0"/>
              <a:t>n</a:t>
            </a:r>
            <a:r>
              <a:rPr lang="en-US" altLang="en-US" dirty="0"/>
              <a:t> messages</a:t>
            </a:r>
            <a:br>
              <a:rPr lang="en-US" altLang="en-US" dirty="0"/>
            </a:br>
            <a:r>
              <a:rPr lang="en-US" altLang="en-US" dirty="0"/>
              <a:t>Sender must wait if link full</a:t>
            </a:r>
          </a:p>
          <a:p>
            <a:pPr lvl="1">
              <a:buFont typeface="Monotype Sorts" pitchFamily="-84" charset="2"/>
              <a:buNone/>
            </a:pPr>
            <a:r>
              <a:rPr lang="en-US" altLang="en-US" dirty="0">
                <a:solidFill>
                  <a:srgbClr val="CC6600"/>
                </a:solidFill>
              </a:rPr>
              <a:t>3.</a:t>
            </a:r>
            <a:r>
              <a:rPr lang="en-US" altLang="en-US" dirty="0"/>
              <a:t>	Unbounded capacity – infinite length </a:t>
            </a:r>
            <a:br>
              <a:rPr lang="en-US" altLang="en-US" dirty="0"/>
            </a:br>
            <a:r>
              <a:rPr lang="en-US" altLang="en-US" dirty="0"/>
              <a:t>Sender never waits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77B0164-79AB-466A-AEF8-910811B2B40E}"/>
              </a:ext>
            </a:extLst>
          </p:cNvPr>
          <p:cNvSpPr>
            <a:spLocks noGrp="1" noChangeArrowheads="1"/>
          </p:cNvSpPr>
          <p:nvPr>
            <p:ph type="title"/>
          </p:nvPr>
        </p:nvSpPr>
        <p:spPr>
          <a:xfrm>
            <a:off x="966788" y="225425"/>
            <a:ext cx="7850187" cy="576263"/>
          </a:xfrm>
        </p:spPr>
        <p:txBody>
          <a:bodyPr/>
          <a:lstStyle/>
          <a:p>
            <a:r>
              <a:rPr lang="en-US" altLang="en-US"/>
              <a:t>Examples of IPC Systems - POSIX</a:t>
            </a:r>
          </a:p>
        </p:txBody>
      </p:sp>
      <p:sp>
        <p:nvSpPr>
          <p:cNvPr id="96259" name="Content Placeholder 2">
            <a:extLst>
              <a:ext uri="{FF2B5EF4-FFF2-40B4-BE49-F238E27FC236}">
                <a16:creationId xmlns:a16="http://schemas.microsoft.com/office/drawing/2014/main" id="{97B56D75-D444-495A-8F21-29317312A895}"/>
              </a:ext>
            </a:extLst>
          </p:cNvPr>
          <p:cNvSpPr>
            <a:spLocks noGrp="1" noChangeArrowheads="1"/>
          </p:cNvSpPr>
          <p:nvPr>
            <p:ph idx="1"/>
          </p:nvPr>
        </p:nvSpPr>
        <p:spPr>
          <a:xfrm>
            <a:off x="911225" y="1233488"/>
            <a:ext cx="7577138" cy="4530725"/>
          </a:xfrm>
        </p:spPr>
        <p:txBody>
          <a:bodyPr/>
          <a:lstStyle/>
          <a:p>
            <a:r>
              <a:rPr lang="en-US" altLang="en-US" dirty="0"/>
              <a:t>POSIX Shared Memory</a:t>
            </a:r>
          </a:p>
          <a:p>
            <a:pPr lvl="1"/>
            <a:r>
              <a:rPr lang="en-US" altLang="en-US" dirty="0"/>
              <a:t>Process first creates shared memory segment</a:t>
            </a:r>
            <a:br>
              <a:rPr lang="en-US" altLang="en-US" dirty="0"/>
            </a:br>
            <a:r>
              <a:rPr lang="en-US" altLang="en-US" b="1" dirty="0" err="1">
                <a:latin typeface="Courier New" panose="02070309020205020404" pitchFamily="49" charset="0"/>
                <a:cs typeface="Courier New" panose="02070309020205020404" pitchFamily="49" charset="0"/>
              </a:rPr>
              <a:t>shm_fd</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shm_open</a:t>
            </a:r>
            <a:r>
              <a:rPr lang="en-US" altLang="en-US" b="1" dirty="0">
                <a:latin typeface="Courier New" panose="02070309020205020404" pitchFamily="49" charset="0"/>
                <a:cs typeface="Courier New" panose="02070309020205020404" pitchFamily="49" charset="0"/>
              </a:rPr>
              <a:t>(name, O CREAT | O RDWR, 0666);</a:t>
            </a:r>
          </a:p>
          <a:p>
            <a:pPr lvl="1"/>
            <a:r>
              <a:rPr lang="en-US" altLang="en-US" dirty="0"/>
              <a:t>Also used to open an existing segment</a:t>
            </a:r>
          </a:p>
          <a:p>
            <a:pPr lvl="1"/>
            <a:r>
              <a:rPr lang="en-US" altLang="en-US" dirty="0"/>
              <a:t>Set the size of the object</a:t>
            </a:r>
          </a:p>
          <a:p>
            <a:pPr>
              <a:buFont typeface="Monotype Sorts" pitchFamily="-84" charset="2"/>
              <a:buNone/>
            </a:pPr>
            <a:r>
              <a:rPr lang="en-US" altLang="en-US" dirty="0"/>
              <a:t>	            </a:t>
            </a:r>
            <a:r>
              <a:rPr lang="en-US" altLang="en-US" b="1" dirty="0" err="1">
                <a:latin typeface="Courier New" panose="02070309020205020404" pitchFamily="49" charset="0"/>
              </a:rPr>
              <a:t>ftruncate</a:t>
            </a:r>
            <a:r>
              <a:rPr lang="en-US" altLang="en-US" b="1" dirty="0">
                <a:latin typeface="Courier New" panose="02070309020205020404" pitchFamily="49" charset="0"/>
              </a:rPr>
              <a:t>(</a:t>
            </a:r>
            <a:r>
              <a:rPr lang="en-US" altLang="en-US" b="1" dirty="0" err="1">
                <a:latin typeface="Courier New" panose="02070309020205020404" pitchFamily="49" charset="0"/>
              </a:rPr>
              <a:t>shm_fd</a:t>
            </a:r>
            <a:r>
              <a:rPr lang="en-US" altLang="en-US" b="1" dirty="0">
                <a:latin typeface="Courier New" panose="02070309020205020404" pitchFamily="49" charset="0"/>
              </a:rPr>
              <a:t>, 4096); </a:t>
            </a:r>
          </a:p>
          <a:p>
            <a:pPr lvl="1"/>
            <a:r>
              <a:rPr lang="en-US" altLang="en-US" dirty="0"/>
              <a:t>Use </a:t>
            </a:r>
            <a:r>
              <a:rPr lang="en-US" altLang="en-US" b="1" dirty="0" err="1">
                <a:latin typeface="Courier New" panose="02070309020205020404" pitchFamily="49" charset="0"/>
                <a:cs typeface="Courier New" panose="02070309020205020404" pitchFamily="49" charset="0"/>
              </a:rPr>
              <a:t>mmap</a:t>
            </a:r>
            <a:r>
              <a:rPr lang="en-US" altLang="en-US" b="1" dirty="0">
                <a:latin typeface="Courier New" panose="02070309020205020404" pitchFamily="49" charset="0"/>
                <a:cs typeface="Courier New" panose="02070309020205020404" pitchFamily="49" charset="0"/>
              </a:rPr>
              <a:t>() </a:t>
            </a:r>
            <a:r>
              <a:rPr lang="en-US" altLang="en-US" dirty="0"/>
              <a:t>to memory-map a file pointer to the shared memory object</a:t>
            </a:r>
          </a:p>
          <a:p>
            <a:pPr lvl="1"/>
            <a:r>
              <a:rPr lang="en-US" altLang="en-US" dirty="0"/>
              <a:t>Reading and writing to shared memory is done by using the pointer returned by </a:t>
            </a:r>
            <a:r>
              <a:rPr lang="en-US" altLang="en-US" b="1" dirty="0" err="1">
                <a:latin typeface="Courier New" panose="02070309020205020404" pitchFamily="49" charset="0"/>
                <a:cs typeface="Courier New" panose="02070309020205020404" pitchFamily="49" charset="0"/>
              </a:rPr>
              <a:t>mmap</a:t>
            </a:r>
            <a:r>
              <a:rPr lang="en-US" altLang="en-US" b="1" dirty="0">
                <a:latin typeface="Courier New" panose="02070309020205020404" pitchFamily="49" charset="0"/>
                <a:cs typeface="Courier New" panose="02070309020205020404" pitchFamily="49" charset="0"/>
              </a:rPr>
              <a:t>()</a:t>
            </a:r>
            <a:r>
              <a:rPr lang="en-US" altLang="en-US" dirty="0"/>
              <a:t>.</a:t>
            </a:r>
            <a:br>
              <a:rPr lang="en-US" altLang="en-US" dirty="0"/>
            </a:br>
            <a:r>
              <a:rPr lang="en-US" altLang="en-US" dirty="0"/>
              <a:t/>
            </a:r>
            <a:br>
              <a:rPr lang="en-US" altLang="en-US" dirty="0"/>
            </a:br>
            <a:endParaRPr lang="en-US" altLang="en-US" b="1" dirty="0">
              <a:latin typeface="Courier New" panose="020703090202050204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a:extLst>
              <a:ext uri="{FF2B5EF4-FFF2-40B4-BE49-F238E27FC236}">
                <a16:creationId xmlns:a16="http://schemas.microsoft.com/office/drawing/2014/main" id="{35415C98-6AA0-438D-B9AC-E2E863863792}"/>
              </a:ext>
            </a:extLst>
          </p:cNvPr>
          <p:cNvSpPr>
            <a:spLocks noGrp="1" noChangeArrowheads="1"/>
          </p:cNvSpPr>
          <p:nvPr>
            <p:ph type="title"/>
          </p:nvPr>
        </p:nvSpPr>
        <p:spPr>
          <a:xfrm>
            <a:off x="1138238" y="170228"/>
            <a:ext cx="7548562" cy="576262"/>
          </a:xfrm>
        </p:spPr>
        <p:txBody>
          <a:bodyPr/>
          <a:lstStyle/>
          <a:p>
            <a:r>
              <a:rPr lang="en-US" altLang="en-US" dirty="0"/>
              <a:t>Examples of IPC Systems - Mach</a:t>
            </a:r>
          </a:p>
        </p:txBody>
      </p:sp>
      <p:sp>
        <p:nvSpPr>
          <p:cNvPr id="102403" name="Content Placeholder 2">
            <a:extLst>
              <a:ext uri="{FF2B5EF4-FFF2-40B4-BE49-F238E27FC236}">
                <a16:creationId xmlns:a16="http://schemas.microsoft.com/office/drawing/2014/main" id="{F7B5A04B-9E69-4538-9F47-9CD69C217C70}"/>
              </a:ext>
            </a:extLst>
          </p:cNvPr>
          <p:cNvSpPr>
            <a:spLocks noGrp="1" noChangeArrowheads="1"/>
          </p:cNvSpPr>
          <p:nvPr>
            <p:ph idx="1"/>
          </p:nvPr>
        </p:nvSpPr>
        <p:spPr>
          <a:xfrm>
            <a:off x="854075" y="1076325"/>
            <a:ext cx="7645400" cy="4530725"/>
          </a:xfrm>
        </p:spPr>
        <p:txBody>
          <a:bodyPr/>
          <a:lstStyle/>
          <a:p>
            <a:r>
              <a:rPr lang="en-US" altLang="en-US" dirty="0"/>
              <a:t>Mach communication is message based</a:t>
            </a:r>
          </a:p>
          <a:p>
            <a:pPr lvl="1"/>
            <a:r>
              <a:rPr lang="en-US" altLang="en-US" dirty="0"/>
              <a:t>Even system calls are messages</a:t>
            </a:r>
          </a:p>
          <a:p>
            <a:pPr lvl="1"/>
            <a:r>
              <a:rPr lang="en-US" altLang="en-US" dirty="0"/>
              <a:t>Each task gets two ports at creation  - Kernel and Notify</a:t>
            </a:r>
          </a:p>
          <a:p>
            <a:pPr lvl="1"/>
            <a:r>
              <a:rPr lang="en-US" altLang="en-US" dirty="0"/>
              <a:t>Messages are sent and received using the </a:t>
            </a:r>
            <a:r>
              <a:rPr lang="en-US" altLang="en-US" b="1" dirty="0" err="1">
                <a:latin typeface="Courier New" panose="02070309020205020404" pitchFamily="49" charset="0"/>
              </a:rPr>
              <a:t>mach_msg</a:t>
            </a:r>
            <a:r>
              <a:rPr lang="en-US" altLang="en-US" b="1" dirty="0">
                <a:latin typeface="Courier New" panose="02070309020205020404" pitchFamily="49" charset="0"/>
              </a:rPr>
              <a:t>() </a:t>
            </a:r>
            <a:r>
              <a:rPr lang="en-US" altLang="en-US" dirty="0"/>
              <a:t>function</a:t>
            </a:r>
          </a:p>
          <a:p>
            <a:pPr lvl="1"/>
            <a:r>
              <a:rPr lang="en-US" altLang="en-US" dirty="0"/>
              <a:t>Ports needed for communication, created via</a:t>
            </a:r>
          </a:p>
          <a:p>
            <a:pPr lvl="1">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mach_port_allocate</a:t>
            </a:r>
            <a:r>
              <a:rPr lang="en-US" altLang="en-US" b="1" dirty="0">
                <a:latin typeface="Courier New" panose="02070309020205020404" pitchFamily="49" charset="0"/>
              </a:rPr>
              <a:t>()</a:t>
            </a:r>
          </a:p>
          <a:p>
            <a:pPr lvl="1"/>
            <a:r>
              <a:rPr lang="en-US" altLang="en-US" dirty="0"/>
              <a:t>Send and receive are flexible; for example four options if mailbox full:</a:t>
            </a:r>
          </a:p>
          <a:p>
            <a:pPr lvl="2"/>
            <a:r>
              <a:rPr lang="en-US" altLang="en-US" dirty="0"/>
              <a:t>Wait indefinitely</a:t>
            </a:r>
          </a:p>
          <a:p>
            <a:pPr lvl="2"/>
            <a:r>
              <a:rPr lang="en-US" altLang="en-US" dirty="0"/>
              <a:t>Wait at most n milliseconds</a:t>
            </a:r>
          </a:p>
          <a:p>
            <a:pPr lvl="2"/>
            <a:r>
              <a:rPr lang="en-US" altLang="en-US" dirty="0"/>
              <a:t>Return immediately</a:t>
            </a:r>
          </a:p>
          <a:p>
            <a:pPr lvl="2"/>
            <a:r>
              <a:rPr lang="en-US" altLang="en-US" dirty="0"/>
              <a:t>Temporarily cache a message</a:t>
            </a:r>
          </a:p>
          <a:p>
            <a:pPr lvl="1"/>
            <a:endParaRPr lang="en-US" altLang="en-US" b="1" dirty="0">
              <a:latin typeface="Courier New" panose="020703090202050204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9AA84AD8-45BC-496F-93D4-85BB20F8DC08}"/>
              </a:ext>
            </a:extLst>
          </p:cNvPr>
          <p:cNvSpPr>
            <a:spLocks noGrp="1" noChangeArrowheads="1"/>
          </p:cNvSpPr>
          <p:nvPr>
            <p:ph type="title"/>
          </p:nvPr>
        </p:nvSpPr>
        <p:spPr>
          <a:xfrm>
            <a:off x="959603" y="170670"/>
            <a:ext cx="8229600" cy="576263"/>
          </a:xfrm>
        </p:spPr>
        <p:txBody>
          <a:bodyPr/>
          <a:lstStyle/>
          <a:p>
            <a:r>
              <a:rPr lang="en-US" altLang="en-US" dirty="0"/>
              <a:t>Examples of IPC Systems – Windows</a:t>
            </a:r>
          </a:p>
        </p:txBody>
      </p:sp>
      <p:sp>
        <p:nvSpPr>
          <p:cNvPr id="107523" name="Content Placeholder 2">
            <a:extLst>
              <a:ext uri="{FF2B5EF4-FFF2-40B4-BE49-F238E27FC236}">
                <a16:creationId xmlns:a16="http://schemas.microsoft.com/office/drawing/2014/main" id="{31766832-DFC8-4A86-A2CF-46CA4D6FAF7B}"/>
              </a:ext>
            </a:extLst>
          </p:cNvPr>
          <p:cNvSpPr>
            <a:spLocks noGrp="1" noChangeArrowheads="1"/>
          </p:cNvSpPr>
          <p:nvPr>
            <p:ph idx="1"/>
          </p:nvPr>
        </p:nvSpPr>
        <p:spPr>
          <a:xfrm>
            <a:off x="869950" y="1154113"/>
            <a:ext cx="6950075" cy="4530725"/>
          </a:xfrm>
        </p:spPr>
        <p:txBody>
          <a:bodyPr/>
          <a:lstStyle/>
          <a:p>
            <a:r>
              <a:rPr lang="en-US" altLang="en-US" dirty="0"/>
              <a:t>Message-passing centric via </a:t>
            </a:r>
            <a:r>
              <a:rPr lang="en-US" altLang="en-US" b="1" dirty="0">
                <a:solidFill>
                  <a:srgbClr val="006699"/>
                </a:solidFill>
                <a:latin typeface="+mj-lt"/>
              </a:rPr>
              <a:t>advanced</a:t>
            </a:r>
            <a:r>
              <a:rPr lang="en-US" altLang="en-US" b="1" dirty="0">
                <a:solidFill>
                  <a:srgbClr val="0000FF"/>
                </a:solidFill>
              </a:rPr>
              <a:t> </a:t>
            </a:r>
            <a:r>
              <a:rPr lang="en-US" altLang="en-US" b="1" dirty="0">
                <a:solidFill>
                  <a:srgbClr val="006699"/>
                </a:solidFill>
                <a:latin typeface="+mj-lt"/>
              </a:rPr>
              <a:t>local</a:t>
            </a:r>
            <a:r>
              <a:rPr lang="en-US" altLang="en-US" b="1" dirty="0">
                <a:solidFill>
                  <a:srgbClr val="0000FF"/>
                </a:solidFill>
              </a:rPr>
              <a:t> </a:t>
            </a:r>
            <a:r>
              <a:rPr lang="en-US" altLang="en-US" b="1" dirty="0">
                <a:solidFill>
                  <a:srgbClr val="006699"/>
                </a:solidFill>
                <a:latin typeface="+mj-lt"/>
              </a:rPr>
              <a:t>procedure</a:t>
            </a:r>
            <a:r>
              <a:rPr lang="en-US" altLang="en-US" b="1" dirty="0">
                <a:solidFill>
                  <a:srgbClr val="0000FF"/>
                </a:solidFill>
              </a:rPr>
              <a:t> </a:t>
            </a:r>
            <a:r>
              <a:rPr lang="en-US" altLang="en-US" b="1" dirty="0">
                <a:solidFill>
                  <a:srgbClr val="006699"/>
                </a:solidFill>
                <a:latin typeface="+mj-lt"/>
              </a:rPr>
              <a:t>call</a:t>
            </a:r>
            <a:r>
              <a:rPr lang="en-US" altLang="en-US" b="1" dirty="0">
                <a:solidFill>
                  <a:srgbClr val="0000FF"/>
                </a:solidFill>
              </a:rPr>
              <a:t> </a:t>
            </a:r>
            <a:r>
              <a:rPr lang="en-US" altLang="en-US" b="1" dirty="0">
                <a:solidFill>
                  <a:srgbClr val="000000"/>
                </a:solidFill>
              </a:rPr>
              <a:t>(</a:t>
            </a:r>
            <a:r>
              <a:rPr lang="en-US" altLang="en-US" b="1" dirty="0">
                <a:solidFill>
                  <a:srgbClr val="006699"/>
                </a:solidFill>
                <a:latin typeface="+mj-lt"/>
              </a:rPr>
              <a:t>LPC</a:t>
            </a:r>
            <a:r>
              <a:rPr lang="en-US" altLang="en-US" b="1" dirty="0">
                <a:solidFill>
                  <a:srgbClr val="000000"/>
                </a:solidFill>
              </a:rPr>
              <a:t>)</a:t>
            </a:r>
            <a:r>
              <a:rPr lang="en-US" altLang="en-US" dirty="0"/>
              <a:t> facility</a:t>
            </a:r>
          </a:p>
          <a:p>
            <a:pPr lvl="1"/>
            <a:r>
              <a:rPr lang="en-US" altLang="en-US" dirty="0"/>
              <a:t>Only works between processes on the same system</a:t>
            </a:r>
          </a:p>
          <a:p>
            <a:pPr lvl="1"/>
            <a:r>
              <a:rPr lang="en-US" altLang="en-US" dirty="0"/>
              <a:t>Uses ports (like mailboxes) to establish and maintain communication channels</a:t>
            </a:r>
          </a:p>
          <a:p>
            <a:pPr lvl="1"/>
            <a:r>
              <a:rPr lang="en-US" altLang="en-US" dirty="0"/>
              <a:t>Communication works as follows:</a:t>
            </a:r>
          </a:p>
          <a:p>
            <a:pPr lvl="2"/>
            <a:r>
              <a:rPr lang="en-US" altLang="en-US" dirty="0"/>
              <a:t>The client opens a handle to the subsystem’</a:t>
            </a:r>
            <a:r>
              <a:rPr lang="en-US" altLang="ja-JP" dirty="0"/>
              <a:t>s </a:t>
            </a:r>
            <a:r>
              <a:rPr lang="en-US" altLang="ja-JP" b="1" dirty="0">
                <a:solidFill>
                  <a:srgbClr val="006699"/>
                </a:solidFill>
                <a:latin typeface="+mj-lt"/>
              </a:rPr>
              <a:t>connection</a:t>
            </a:r>
            <a:r>
              <a:rPr lang="en-US" altLang="ja-JP" b="1" dirty="0">
                <a:solidFill>
                  <a:srgbClr val="0000FF"/>
                </a:solidFill>
              </a:rPr>
              <a:t> </a:t>
            </a:r>
            <a:r>
              <a:rPr lang="en-US" altLang="ja-JP" b="1" dirty="0">
                <a:solidFill>
                  <a:srgbClr val="006699"/>
                </a:solidFill>
                <a:latin typeface="+mj-lt"/>
              </a:rPr>
              <a:t>port</a:t>
            </a:r>
            <a:r>
              <a:rPr lang="en-US" altLang="ja-JP" dirty="0"/>
              <a:t> object.</a:t>
            </a:r>
          </a:p>
          <a:p>
            <a:pPr lvl="2"/>
            <a:r>
              <a:rPr lang="en-US" altLang="en-US" dirty="0"/>
              <a:t>The client sends a connection request.</a:t>
            </a:r>
          </a:p>
          <a:p>
            <a:pPr lvl="2"/>
            <a:r>
              <a:rPr lang="en-US" altLang="en-US" dirty="0"/>
              <a:t>The server creates two private </a:t>
            </a:r>
            <a:r>
              <a:rPr lang="en-US" altLang="en-US" b="1" dirty="0">
                <a:solidFill>
                  <a:srgbClr val="006699"/>
                </a:solidFill>
                <a:latin typeface="+mj-lt"/>
              </a:rPr>
              <a:t>communication</a:t>
            </a:r>
            <a:r>
              <a:rPr lang="en-US" altLang="en-US" b="1" dirty="0">
                <a:solidFill>
                  <a:srgbClr val="0000FF"/>
                </a:solidFill>
              </a:rPr>
              <a:t> </a:t>
            </a:r>
            <a:r>
              <a:rPr lang="en-US" altLang="en-US" b="1" dirty="0">
                <a:solidFill>
                  <a:srgbClr val="006699"/>
                </a:solidFill>
                <a:latin typeface="+mj-lt"/>
              </a:rPr>
              <a:t>ports</a:t>
            </a:r>
            <a:r>
              <a:rPr lang="en-US" altLang="en-US" b="1" dirty="0">
                <a:solidFill>
                  <a:srgbClr val="0000FF"/>
                </a:solidFill>
              </a:rPr>
              <a:t> </a:t>
            </a:r>
            <a:r>
              <a:rPr lang="en-US" altLang="en-US" dirty="0"/>
              <a:t>and returns the handle to one of them to the client.</a:t>
            </a:r>
          </a:p>
          <a:p>
            <a:pPr lvl="2"/>
            <a:r>
              <a:rPr lang="en-US" altLang="en-US" dirty="0"/>
              <a:t>The client and server use the corresponding port handle to send messages or callbacks and to listen for replies.</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04fd754-02b4-4b83-8de5-fcec4d9ad888">
      <Terms xmlns="http://schemas.microsoft.com/office/infopath/2007/PartnerControls"/>
    </lcf76f155ced4ddcb4097134ff3c332f>
    <TaxCatchAll xmlns="30552f9c-0f0b-4b22-ae40-6a7e015281a6"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DFECE3E6D13047AA949BAD418AC523" ma:contentTypeVersion="15" ma:contentTypeDescription="Create a new document." ma:contentTypeScope="" ma:versionID="e0ab63ac9add98c8dd5a5e0ca9f016b4">
  <xsd:schema xmlns:xsd="http://www.w3.org/2001/XMLSchema" xmlns:xs="http://www.w3.org/2001/XMLSchema" xmlns:p="http://schemas.microsoft.com/office/2006/metadata/properties" xmlns:ns1="http://schemas.microsoft.com/sharepoint/v3" xmlns:ns2="904fd754-02b4-4b83-8de5-fcec4d9ad888" xmlns:ns3="30552f9c-0f0b-4b22-ae40-6a7e015281a6" targetNamespace="http://schemas.microsoft.com/office/2006/metadata/properties" ma:root="true" ma:fieldsID="5c712977036efd9496ddda25dcb403b5" ns1:_="" ns2:_="" ns3:_="">
    <xsd:import namespace="http://schemas.microsoft.com/sharepoint/v3"/>
    <xsd:import namespace="904fd754-02b4-4b83-8de5-fcec4d9ad888"/>
    <xsd:import namespace="30552f9c-0f0b-4b22-ae40-6a7e015281a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SearchProperties"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4fd754-02b4-4b83-8de5-fcec4d9ad8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552f9c-0f0b-4b22-ae40-6a7e015281a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e21243-f04a-4330-a28a-53a42626d6ce}" ma:internalName="TaxCatchAll" ma:showField="CatchAllData" ma:web="30552f9c-0f0b-4b22-ae40-6a7e015281a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433EBF-D52D-4C30-AA75-05B842E1CE95}">
  <ds:schemaRefs>
    <ds:schemaRef ds:uri="http://schemas.microsoft.com/office/2006/documentManagement/types"/>
    <ds:schemaRef ds:uri="http://purl.org/dc/dcmitype/"/>
    <ds:schemaRef ds:uri="35ac72bb-6e66-44cc-83f8-5100c656d1f7"/>
    <ds:schemaRef ds:uri="http://purl.org/dc/terms/"/>
    <ds:schemaRef ds:uri="http://schemas.microsoft.com/office/infopath/2007/PartnerControls"/>
    <ds:schemaRef ds:uri="http://schemas.openxmlformats.org/package/2006/metadata/core-properties"/>
    <ds:schemaRef ds:uri="http://www.w3.org/XML/1998/namespace"/>
    <ds:schemaRef ds:uri="e5b6be36-7386-47fb-8a9a-07470a3e7672"/>
    <ds:schemaRef ds:uri="http://schemas.microsoft.com/office/2006/metadata/properties"/>
    <ds:schemaRef ds:uri="http://purl.org/dc/elements/1.1/"/>
    <ds:schemaRef ds:uri="904fd754-02b4-4b83-8de5-fcec4d9ad888"/>
    <ds:schemaRef ds:uri="30552f9c-0f0b-4b22-ae40-6a7e015281a6"/>
    <ds:schemaRef ds:uri="http://schemas.microsoft.com/sharepoint/v3"/>
  </ds:schemaRefs>
</ds:datastoreItem>
</file>

<file path=customXml/itemProps2.xml><?xml version="1.0" encoding="utf-8"?>
<ds:datastoreItem xmlns:ds="http://schemas.openxmlformats.org/officeDocument/2006/customXml" ds:itemID="{58468BC4-00DC-4042-8229-82E41A8EDB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4fd754-02b4-4b83-8de5-fcec4d9ad888"/>
    <ds:schemaRef ds:uri="30552f9c-0f0b-4b22-ae40-6a7e015281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1949AB-3B31-4AEF-ADA9-55D49328E2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OS8</Template>
  <TotalTime>22752</TotalTime>
  <Words>3430</Words>
  <Application>Microsoft Office PowerPoint</Application>
  <PresentationFormat>On-screen Show (4:3)</PresentationFormat>
  <Paragraphs>370</Paragraphs>
  <Slides>44</Slides>
  <Notes>39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44</vt:i4>
      </vt:variant>
    </vt:vector>
  </HeadingPairs>
  <TitlesOfParts>
    <vt:vector size="57" baseType="lpstr">
      <vt:lpstr>ＭＳ Ｐゴシック</vt:lpstr>
      <vt:lpstr>ＭＳ Ｐゴシック</vt:lpstr>
      <vt:lpstr>Arial</vt:lpstr>
      <vt:lpstr>Courier</vt:lpstr>
      <vt:lpstr>Courier New</vt:lpstr>
      <vt:lpstr>Helvetica</vt:lpstr>
      <vt:lpstr>Monaco</vt:lpstr>
      <vt:lpstr>Monotype Sorts</vt:lpstr>
      <vt:lpstr>Times New Roman</vt:lpstr>
      <vt:lpstr>Verdana</vt:lpstr>
      <vt:lpstr>Webdings</vt:lpstr>
      <vt:lpstr>Wingdings</vt:lpstr>
      <vt:lpstr>os-8</vt:lpstr>
      <vt:lpstr>Chapter 3:  Processes</vt:lpstr>
      <vt:lpstr>Outline</vt:lpstr>
      <vt:lpstr>Objectives</vt:lpstr>
      <vt:lpstr>Process Concept</vt:lpstr>
      <vt:lpstr>Process Concept (Cont.)</vt:lpstr>
      <vt:lpstr>Process State</vt:lpstr>
      <vt:lpstr>Process Control Block (PCB)</vt:lpstr>
      <vt:lpstr>Threads</vt:lpstr>
      <vt:lpstr>Process Scheduling</vt:lpstr>
      <vt:lpstr>Context Switch</vt:lpstr>
      <vt:lpstr>Multitasking in Mobile Systems</vt:lpstr>
      <vt:lpstr>Operations on Processes</vt:lpstr>
      <vt:lpstr>Process Creation</vt:lpstr>
      <vt:lpstr>Process Creation (Cont.)</vt:lpstr>
      <vt:lpstr>Process Termination</vt:lpstr>
      <vt:lpstr>Process Termination</vt:lpstr>
      <vt:lpstr>Android Process Importance Hierarchy</vt:lpstr>
      <vt:lpstr>Multiprocess Architecture – Chrome Browser</vt:lpstr>
      <vt:lpstr>Communication </vt:lpstr>
      <vt:lpstr>Interprocess Communication</vt:lpstr>
      <vt:lpstr> 3.4.1 Shared-Memory systems</vt:lpstr>
      <vt:lpstr>Producer-Consumer Problem</vt:lpstr>
      <vt:lpstr>IPC – Shared Memory</vt:lpstr>
      <vt:lpstr>Bounded-Buffer – Shared-Memory Solution</vt:lpstr>
      <vt:lpstr>Producer Process – Shared Memory</vt:lpstr>
      <vt:lpstr>Consumer Process – Shared Memory</vt:lpstr>
      <vt:lpstr>What about Filling all the Buffers?</vt:lpstr>
      <vt:lpstr>Producer </vt:lpstr>
      <vt:lpstr>Consumer</vt:lpstr>
      <vt:lpstr>Race Condition</vt:lpstr>
      <vt:lpstr>Race Condition (Cont.)</vt:lpstr>
      <vt:lpstr>2) IPC – Message Passing</vt:lpstr>
      <vt:lpstr> 2) IPC – Message Passing</vt:lpstr>
      <vt:lpstr>Message Passing (Cont.)</vt:lpstr>
      <vt:lpstr>Message Passing  (CONT.)</vt:lpstr>
      <vt:lpstr>1.Direct  Communication</vt:lpstr>
      <vt:lpstr>Indirect Communication</vt:lpstr>
      <vt:lpstr>Indirect Communication (Cont.)</vt:lpstr>
      <vt:lpstr>Indirect Communication (Cont.)</vt:lpstr>
      <vt:lpstr>Synchronization</vt:lpstr>
      <vt:lpstr>Buffering</vt:lpstr>
      <vt:lpstr>Examples of IPC Systems - POSIX</vt:lpstr>
      <vt:lpstr>Examples of IPC Systems - Mach</vt:lpstr>
      <vt:lpstr>Examples of IPC Systems – Windows</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mo</cp:lastModifiedBy>
  <cp:revision>368</cp:revision>
  <cp:lastPrinted>2013-10-02T18:16:40Z</cp:lastPrinted>
  <dcterms:created xsi:type="dcterms:W3CDTF">2011-01-13T23:43:38Z</dcterms:created>
  <dcterms:modified xsi:type="dcterms:W3CDTF">2024-04-12T12:01:53Z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0x01010017DFECE3E6D13047AA949BAD418AC523</vt:lpwstr>
  </property>
</Properties>
</file>
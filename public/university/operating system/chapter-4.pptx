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4584" r:id="rId4"/>
  </p:sldMasterIdLst>
  <p:notesMasterIdLst>
    <p:notesMasterId r:id="rId65"/>
  </p:notesMasterIdLst>
  <p:handoutMasterIdLst>
    <p:handoutMasterId r:id="rId66"/>
  </p:handoutMasterIdLst>
  <p:sldIdLst>
    <p:sldId id="331" r:id="rId5"/>
    <p:sldId id="332" r:id="rId6"/>
    <p:sldId id="333" r:id="rId7"/>
    <p:sldId id="334" r:id="rId8"/>
    <p:sldId id="377" r:id="rId9"/>
    <p:sldId id="335" r:id="rId10"/>
    <p:sldId id="336" r:id="rId11"/>
    <p:sldId id="337" r:id="rId12"/>
    <p:sldId id="338" r:id="rId13"/>
    <p:sldId id="374" r:id="rId14"/>
    <p:sldId id="378" r:id="rId15"/>
    <p:sldId id="340" r:id="rId16"/>
    <p:sldId id="379" r:id="rId17"/>
    <p:sldId id="399" r:id="rId18"/>
    <p:sldId id="341" r:id="rId19"/>
    <p:sldId id="380" r:id="rId20"/>
    <p:sldId id="342" r:id="rId21"/>
    <p:sldId id="343" r:id="rId22"/>
    <p:sldId id="344" r:id="rId23"/>
    <p:sldId id="345" r:id="rId24"/>
    <p:sldId id="346" r:id="rId25"/>
    <p:sldId id="347" r:id="rId26"/>
    <p:sldId id="348" r:id="rId27"/>
    <p:sldId id="354" r:id="rId28"/>
    <p:sldId id="382" r:id="rId29"/>
    <p:sldId id="383" r:id="rId30"/>
    <p:sldId id="400" r:id="rId31"/>
    <p:sldId id="357" r:id="rId32"/>
    <p:sldId id="408" r:id="rId33"/>
    <p:sldId id="358" r:id="rId34"/>
    <p:sldId id="409" r:id="rId35"/>
    <p:sldId id="386" r:id="rId36"/>
    <p:sldId id="388" r:id="rId37"/>
    <p:sldId id="401" r:id="rId38"/>
    <p:sldId id="394" r:id="rId39"/>
    <p:sldId id="391" r:id="rId40"/>
    <p:sldId id="359" r:id="rId41"/>
    <p:sldId id="395" r:id="rId42"/>
    <p:sldId id="402" r:id="rId43"/>
    <p:sldId id="360" r:id="rId44"/>
    <p:sldId id="373" r:id="rId45"/>
    <p:sldId id="396" r:id="rId46"/>
    <p:sldId id="397" r:id="rId47"/>
    <p:sldId id="403" r:id="rId48"/>
    <p:sldId id="404" r:id="rId49"/>
    <p:sldId id="361" r:id="rId50"/>
    <p:sldId id="362" r:id="rId51"/>
    <p:sldId id="363" r:id="rId52"/>
    <p:sldId id="375" r:id="rId53"/>
    <p:sldId id="364" r:id="rId54"/>
    <p:sldId id="365" r:id="rId55"/>
    <p:sldId id="398" r:id="rId56"/>
    <p:sldId id="366" r:id="rId57"/>
    <p:sldId id="367" r:id="rId58"/>
    <p:sldId id="368" r:id="rId59"/>
    <p:sldId id="376" r:id="rId60"/>
    <p:sldId id="369" r:id="rId61"/>
    <p:sldId id="370" r:id="rId62"/>
    <p:sldId id="371" r:id="rId63"/>
    <p:sldId id="372" r:id="rId64"/>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a:srgbClr val="FF0000"/>
    <a:srgbClr val="CCE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33" autoAdjust="0"/>
    <p:restoredTop sz="93333" autoAdjust="0"/>
  </p:normalViewPr>
  <p:slideViewPr>
    <p:cSldViewPr snapToGrid="0">
      <p:cViewPr varScale="1">
        <p:scale>
          <a:sx n="68" d="100"/>
          <a:sy n="68" d="100"/>
        </p:scale>
        <p:origin x="504" y="66"/>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826"/>
    </p:cViewPr>
  </p:sorterViewPr>
  <p:notesViewPr>
    <p:cSldViewPr snapToGrid="0">
      <p:cViewPr varScale="1">
        <p:scale>
          <a:sx n="61" d="100"/>
          <a:sy n="61" d="100"/>
        </p:scale>
        <p:origin x="3216" y="7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50C4562-1819-4A4C-8E84-8762598F0822}"/>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2650">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E888F6BF-980E-4154-9582-73071EB466C0}"/>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2650">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437443ED-743B-40CA-A0C4-A5094D1EF90B}"/>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2650">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12D72069-5AE5-45CA-B9B5-C7885281CF29}"/>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a:latin typeface="Helvetica" charset="0"/>
                <a:ea typeface="MS PGothic" charset="-128"/>
              </a:defRPr>
            </a:lvl1pPr>
          </a:lstStyle>
          <a:p>
            <a:pPr>
              <a:defRPr/>
            </a:pPr>
            <a:fld id="{823917F1-2811-4D89-BB39-7F4B860017A8}"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3FF863A-563B-4650-9916-E2BA74893987}"/>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0275">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7A50AAA7-213E-427A-9B08-F380117F32A1}"/>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0275">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5B45F81B-3B51-469E-8039-6D6090697704}"/>
              </a:ext>
            </a:extLst>
          </p:cNvPr>
          <p:cNvSpPr>
            <a:spLocks noGrp="1" noRot="1" noChangeAspect="1" noChangeArrowheads="1" noTextEdit="1"/>
          </p:cNvSpPr>
          <p:nvPr>
            <p:ph type="sldImg" idx="2"/>
          </p:nvPr>
        </p:nvSpPr>
        <p:spPr bwMode="auto">
          <a:xfrm>
            <a:off x="1182688" y="698500"/>
            <a:ext cx="4646612"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55A1AB8E-F82E-43C1-AD5C-E4A371BC271C}"/>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48055955-90A4-4D08-AB1C-A4B30E64B85E}"/>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0275">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BDE66CCC-5F13-4776-85DA-D53B16116D6A}"/>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a:latin typeface="Times New Roman" charset="0"/>
                <a:ea typeface="MS PGothic" charset="-128"/>
              </a:defRPr>
            </a:lvl1pPr>
          </a:lstStyle>
          <a:p>
            <a:pPr>
              <a:defRPr/>
            </a:pPr>
            <a:fld id="{B502DF71-3C45-4C55-AF2B-283333F9BC5B}"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49BB91D0-98A2-452A-9686-40FABA68D0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54CFF6C-4004-4410-88F0-F4F19A1CCD13}" type="slidenum">
              <a:rPr lang="en-US" altLang="en-US" smtClean="0">
                <a:latin typeface="Helvetica" panose="020B0604020202020204" pitchFamily="34" charset="0"/>
              </a:rPr>
              <a:pPr/>
              <a:t>1</a:t>
            </a:fld>
            <a:endParaRPr lang="en-US" altLang="en-US" dirty="0">
              <a:latin typeface="Helvetica" panose="020B0604020202020204" pitchFamily="34" charset="0"/>
            </a:endParaRPr>
          </a:p>
        </p:txBody>
      </p:sp>
      <p:sp>
        <p:nvSpPr>
          <p:cNvPr id="6146" name="Rectangle 2">
            <a:extLst>
              <a:ext uri="{FF2B5EF4-FFF2-40B4-BE49-F238E27FC236}">
                <a16:creationId xmlns:a16="http://schemas.microsoft.com/office/drawing/2014/main" id="{665B70CD-1D40-4FBB-B69E-B0BE8DCDA900}"/>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A2F07CFF-7563-4EE5-812A-6F8C90FD70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94713BEE-C1CE-484C-819E-C7874EAB19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A73D603-B8D2-4718-A866-542F17F0E427}" type="slidenum">
              <a:rPr lang="en-US" altLang="en-US" smtClean="0">
                <a:latin typeface="Helvetica" panose="020B0604020202020204" pitchFamily="34" charset="0"/>
              </a:rPr>
              <a:pPr/>
              <a:t>2</a:t>
            </a:fld>
            <a:endParaRPr lang="en-US" altLang="en-US" dirty="0">
              <a:latin typeface="Helvetica" panose="020B0604020202020204" pitchFamily="34" charset="0"/>
            </a:endParaRPr>
          </a:p>
        </p:txBody>
      </p:sp>
      <p:sp>
        <p:nvSpPr>
          <p:cNvPr id="8194" name="Rectangle 2">
            <a:extLst>
              <a:ext uri="{FF2B5EF4-FFF2-40B4-BE49-F238E27FC236}">
                <a16:creationId xmlns:a16="http://schemas.microsoft.com/office/drawing/2014/main" id="{B58D9914-4AE8-433F-9B79-3F921095428F}"/>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1AF60734-AFF9-4268-9BD1-9AFF6E1D63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5BB938EB-EAE1-4FAC-BCB5-53974E688A20}"/>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9AA36B63-1BA8-465A-9F47-478166EC3C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502DF71-3C45-4C55-AF2B-283333F9BC5B}" type="slidenum">
              <a:rPr lang="en-US" altLang="x-none" smtClean="0"/>
              <a:pPr>
                <a:defRPr/>
              </a:pPr>
              <a:t>4</a:t>
            </a:fld>
            <a:endParaRPr lang="en-US" altLang="x-none"/>
          </a:p>
        </p:txBody>
      </p:sp>
    </p:spTree>
    <p:extLst>
      <p:ext uri="{BB962C8B-B14F-4D97-AF65-F5344CB8AC3E}">
        <p14:creationId xmlns:p14="http://schemas.microsoft.com/office/powerpoint/2010/main" val="957398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a:extLst>
              <a:ext uri="{FF2B5EF4-FFF2-40B4-BE49-F238E27FC236}">
                <a16:creationId xmlns:a16="http://schemas.microsoft.com/office/drawing/2014/main" id="{27DF9E4E-96D6-414F-8641-F5F4875E71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AF3DCFE-B091-466E-897F-AF0229B99FBE}" type="slidenum">
              <a:rPr lang="en-US" altLang="en-US" smtClean="0">
                <a:latin typeface="Helvetica" panose="020B0604020202020204" pitchFamily="34" charset="0"/>
              </a:rPr>
              <a:pPr/>
              <a:t>5</a:t>
            </a:fld>
            <a:endParaRPr lang="en-US" altLang="en-US">
              <a:latin typeface="Helvetica" panose="020B0604020202020204" pitchFamily="34" charset="0"/>
            </a:endParaRPr>
          </a:p>
        </p:txBody>
      </p:sp>
      <p:sp>
        <p:nvSpPr>
          <p:cNvPr id="13314" name="Rectangle 2">
            <a:extLst>
              <a:ext uri="{FF2B5EF4-FFF2-40B4-BE49-F238E27FC236}">
                <a16:creationId xmlns:a16="http://schemas.microsoft.com/office/drawing/2014/main" id="{FBCEF41C-2D09-4D79-B128-D63857A2F2E6}"/>
              </a:ext>
            </a:extLst>
          </p:cNvPr>
          <p:cNvSpPr>
            <a:spLocks noGrp="1" noRot="1" noChangeAspect="1" noChangeArrowheads="1" noTextEdit="1"/>
          </p:cNvSpPr>
          <p:nvPr>
            <p:ph type="sldImg"/>
          </p:nvPr>
        </p:nvSpPr>
        <p:spPr>
          <a:ln/>
        </p:spPr>
      </p:sp>
      <p:sp>
        <p:nvSpPr>
          <p:cNvPr id="13315" name="Rectangle 3">
            <a:extLst>
              <a:ext uri="{FF2B5EF4-FFF2-40B4-BE49-F238E27FC236}">
                <a16:creationId xmlns:a16="http://schemas.microsoft.com/office/drawing/2014/main" id="{D9ACFA5D-A5EC-4373-81C2-0F6EFDCB20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B3B691F4-8A83-4EB6-9CC2-A3360F1AD4D3}"/>
              </a:ext>
            </a:extLst>
          </p:cNvPr>
          <p:cNvSpPr>
            <a:spLocks noGrp="1" noRot="1" noChangeAspect="1" noChangeArrowheads="1" noTextEdit="1"/>
          </p:cNvSpPr>
          <p:nvPr>
            <p:ph type="sldImg"/>
          </p:nvPr>
        </p:nvSpPr>
        <p:spPr>
          <a:ln/>
        </p:spPr>
      </p:sp>
      <p:sp>
        <p:nvSpPr>
          <p:cNvPr id="15362" name="Rectangle 3">
            <a:extLst>
              <a:ext uri="{FF2B5EF4-FFF2-40B4-BE49-F238E27FC236}">
                <a16:creationId xmlns:a16="http://schemas.microsoft.com/office/drawing/2014/main" id="{EF4246C7-27CE-4111-80E3-59FD3BCD55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a:extLst>
              <a:ext uri="{FF2B5EF4-FFF2-40B4-BE49-F238E27FC236}">
                <a16:creationId xmlns:a16="http://schemas.microsoft.com/office/drawing/2014/main" id="{A989082A-5E14-437A-8593-A083C9E0BC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19C771-0D6A-4807-BCDD-77C1F2EE8271}" type="slidenum">
              <a:rPr lang="en-US" altLang="en-US" smtClean="0">
                <a:latin typeface="Helvetica" panose="020B0604020202020204" pitchFamily="34" charset="0"/>
              </a:rPr>
              <a:pPr/>
              <a:t>7</a:t>
            </a:fld>
            <a:endParaRPr lang="en-US" altLang="en-US">
              <a:latin typeface="Helvetica" panose="020B0604020202020204" pitchFamily="34" charset="0"/>
            </a:endParaRPr>
          </a:p>
        </p:txBody>
      </p:sp>
      <p:sp>
        <p:nvSpPr>
          <p:cNvPr id="17410" name="Rectangle 2">
            <a:extLst>
              <a:ext uri="{FF2B5EF4-FFF2-40B4-BE49-F238E27FC236}">
                <a16:creationId xmlns:a16="http://schemas.microsoft.com/office/drawing/2014/main" id="{2AC42077-757B-4A4C-8A05-7B590F2EC1D6}"/>
              </a:ext>
            </a:extLst>
          </p:cNvPr>
          <p:cNvSpPr>
            <a:spLocks noGrp="1" noRot="1" noChangeAspect="1" noChangeArrowheads="1" noTextEdit="1"/>
          </p:cNvSpPr>
          <p:nvPr>
            <p:ph type="sldImg"/>
          </p:nvPr>
        </p:nvSpPr>
        <p:spPr>
          <a:ln/>
        </p:spPr>
      </p:sp>
      <p:sp>
        <p:nvSpPr>
          <p:cNvPr id="17411" name="Rectangle 3">
            <a:extLst>
              <a:ext uri="{FF2B5EF4-FFF2-40B4-BE49-F238E27FC236}">
                <a16:creationId xmlns:a16="http://schemas.microsoft.com/office/drawing/2014/main" id="{AC753078-9E5A-48E2-813D-E5D6523990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B998348D-9A8E-4A1B-A5CC-88DB5AB92904}"/>
              </a:ext>
            </a:extLst>
          </p:cNvPr>
          <p:cNvSpPr>
            <a:spLocks noGrp="1" noRot="1" noChangeAspect="1" noChangeArrowheads="1" noTextEdit="1"/>
          </p:cNvSpPr>
          <p:nvPr>
            <p:ph type="sldImg"/>
          </p:nvPr>
        </p:nvSpPr>
        <p:spPr>
          <a:ln/>
        </p:spPr>
      </p:sp>
      <p:sp>
        <p:nvSpPr>
          <p:cNvPr id="19458" name="Rectangle 3">
            <a:extLst>
              <a:ext uri="{FF2B5EF4-FFF2-40B4-BE49-F238E27FC236}">
                <a16:creationId xmlns:a16="http://schemas.microsoft.com/office/drawing/2014/main" id="{677410E8-14CB-430D-9C9B-CA14C8C01E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2CB3E8E7-C086-4355-9CE8-18739774E7C1}"/>
              </a:ext>
            </a:extLst>
          </p:cNvPr>
          <p:cNvSpPr>
            <a:spLocks noGrp="1" noRot="1" noChangeAspect="1" noChangeArrowheads="1" noTextEdit="1"/>
          </p:cNvSpPr>
          <p:nvPr>
            <p:ph type="sldImg"/>
          </p:nvPr>
        </p:nvSpPr>
        <p:spPr>
          <a:ln/>
        </p:spPr>
      </p:sp>
      <p:sp>
        <p:nvSpPr>
          <p:cNvPr id="21506" name="Rectangle 3">
            <a:extLst>
              <a:ext uri="{FF2B5EF4-FFF2-40B4-BE49-F238E27FC236}">
                <a16:creationId xmlns:a16="http://schemas.microsoft.com/office/drawing/2014/main" id="{D7150505-875B-411A-8576-2DD58804D9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B2858C04-233B-4F84-8B85-EA895CEAF2C7}"/>
              </a:ext>
            </a:extLst>
          </p:cNvPr>
          <p:cNvSpPr>
            <a:spLocks noGrp="1" noRot="1" noChangeAspect="1" noChangeArrowheads="1" noTextEdit="1"/>
          </p:cNvSpPr>
          <p:nvPr>
            <p:ph type="sldImg"/>
          </p:nvPr>
        </p:nvSpPr>
        <p:spPr>
          <a:ln/>
        </p:spPr>
      </p:sp>
      <p:sp>
        <p:nvSpPr>
          <p:cNvPr id="23554" name="Rectangle 3">
            <a:extLst>
              <a:ext uri="{FF2B5EF4-FFF2-40B4-BE49-F238E27FC236}">
                <a16:creationId xmlns:a16="http://schemas.microsoft.com/office/drawing/2014/main" id="{7E4843CC-89D3-47B0-BBCC-C97C1F2F47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B307F2A2-9C89-4CCD-8947-EF9F7A7FA4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4200DDC-C11B-49B3-97E9-1ED578740C37}" type="slidenum">
              <a:rPr lang="en-US" altLang="en-US" smtClean="0">
                <a:latin typeface="Helvetica" panose="020B0604020202020204" pitchFamily="34" charset="0"/>
              </a:rPr>
              <a:pPr/>
              <a:t>12</a:t>
            </a:fld>
            <a:endParaRPr lang="en-US" altLang="en-US">
              <a:latin typeface="Helvetica" panose="020B0604020202020204" pitchFamily="34" charset="0"/>
            </a:endParaRPr>
          </a:p>
        </p:txBody>
      </p:sp>
      <p:sp>
        <p:nvSpPr>
          <p:cNvPr id="26626" name="Rectangle 2">
            <a:extLst>
              <a:ext uri="{FF2B5EF4-FFF2-40B4-BE49-F238E27FC236}">
                <a16:creationId xmlns:a16="http://schemas.microsoft.com/office/drawing/2014/main" id="{FB56883D-676A-482F-9E14-FE9A4AE241AE}"/>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A2F62D35-9C65-414C-A86A-3FDBE9961F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Yes, it's still true. The speedup can't be less than zero (if parallelizing your code makes it slower, just run the serial version) or more than 100% (because saving more than 100% of the runtime would make the runtime negative).</a:t>
            </a:r>
          </a:p>
          <a:p>
            <a:endParaRPr lang="en-US" altLang="en-US" dirty="0">
              <a:latin typeface="Times New Roman" panose="02020603050405020304" pitchFamily="18" charset="0"/>
            </a:endParaRPr>
          </a:p>
          <a:p>
            <a:r>
              <a:rPr lang="en-US" altLang="en-US" dirty="0">
                <a:latin typeface="Times New Roman" panose="02020603050405020304" pitchFamily="18" charset="0"/>
              </a:rPr>
              <a:t>Multicore processors are essentially just a matter of terminology changing over time. If you think you have one processor with four cores, Amdahl thinks you have four processors.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IDEAL </a:t>
            </a:r>
            <a:r>
              <a:rPr lang="ar-JO" dirty="0"/>
              <a:t>مثالي</a:t>
            </a:r>
            <a:endParaRPr lang="en-US" dirty="0"/>
          </a:p>
        </p:txBody>
      </p:sp>
      <p:sp>
        <p:nvSpPr>
          <p:cNvPr id="4" name="Slide Number Placeholder 3"/>
          <p:cNvSpPr>
            <a:spLocks noGrp="1"/>
          </p:cNvSpPr>
          <p:nvPr>
            <p:ph type="sldNum" sz="quarter" idx="5"/>
          </p:nvPr>
        </p:nvSpPr>
        <p:spPr/>
        <p:txBody>
          <a:bodyPr/>
          <a:lstStyle/>
          <a:p>
            <a:pPr>
              <a:defRPr/>
            </a:pPr>
            <a:fld id="{B502DF71-3C45-4C55-AF2B-283333F9BC5B}" type="slidenum">
              <a:rPr lang="en-US" altLang="x-none" smtClean="0"/>
              <a:pPr>
                <a:defRPr/>
              </a:pPr>
              <a:t>13</a:t>
            </a:fld>
            <a:endParaRPr lang="en-US" altLang="x-none"/>
          </a:p>
        </p:txBody>
      </p:sp>
    </p:spTree>
    <p:extLst>
      <p:ext uri="{BB962C8B-B14F-4D97-AF65-F5344CB8AC3E}">
        <p14:creationId xmlns:p14="http://schemas.microsoft.com/office/powerpoint/2010/main" val="29528668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3DF3E7C6-C9CA-4089-A553-275E1982B8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9398EA6-8FE3-4BCE-B6A8-508B0A27C7F8}" type="slidenum">
              <a:rPr lang="en-US" altLang="en-US" smtClean="0">
                <a:latin typeface="Helvetica" panose="020B0604020202020204" pitchFamily="34" charset="0"/>
              </a:rPr>
              <a:pPr/>
              <a:t>15</a:t>
            </a:fld>
            <a:endParaRPr lang="en-US" altLang="en-US">
              <a:latin typeface="Helvetica" panose="020B0604020202020204" pitchFamily="34" charset="0"/>
            </a:endParaRPr>
          </a:p>
        </p:txBody>
      </p:sp>
      <p:sp>
        <p:nvSpPr>
          <p:cNvPr id="29698" name="Rectangle 2">
            <a:extLst>
              <a:ext uri="{FF2B5EF4-FFF2-40B4-BE49-F238E27FC236}">
                <a16:creationId xmlns:a16="http://schemas.microsoft.com/office/drawing/2014/main" id="{173988C8-FA90-46B8-B16F-16B1E13B3807}"/>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E2C96CC4-5B31-40CD-B384-477B7275DA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12803BA9-336C-40B8-B240-AE76B19DBC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A5F754-A269-48A9-AF00-EE1AB4FE158B}" type="slidenum">
              <a:rPr lang="en-US" altLang="en-US" smtClean="0">
                <a:latin typeface="Helvetica" panose="020B0604020202020204" pitchFamily="34" charset="0"/>
              </a:rPr>
              <a:pPr/>
              <a:t>17</a:t>
            </a:fld>
            <a:endParaRPr lang="en-US" altLang="en-US">
              <a:latin typeface="Helvetica" panose="020B0604020202020204" pitchFamily="34" charset="0"/>
            </a:endParaRPr>
          </a:p>
        </p:txBody>
      </p:sp>
      <p:sp>
        <p:nvSpPr>
          <p:cNvPr id="32770" name="Rectangle 2">
            <a:extLst>
              <a:ext uri="{FF2B5EF4-FFF2-40B4-BE49-F238E27FC236}">
                <a16:creationId xmlns:a16="http://schemas.microsoft.com/office/drawing/2014/main" id="{3118FFA9-F8CF-48E9-8DBD-7D20A0B41DDE}"/>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4CD8A752-1AAD-4C50-BBDA-5D51338F2F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EB8C0B8A-AD96-4A57-B567-49E824FFE3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B6B8074-FFAA-46E8-A8E7-A2DF12801B2C}" type="slidenum">
              <a:rPr lang="en-US" altLang="en-US" smtClean="0">
                <a:latin typeface="Helvetica" panose="020B0604020202020204" pitchFamily="34" charset="0"/>
              </a:rPr>
              <a:pPr/>
              <a:t>18</a:t>
            </a:fld>
            <a:endParaRPr lang="en-US" altLang="en-US">
              <a:latin typeface="Helvetica" panose="020B0604020202020204" pitchFamily="34" charset="0"/>
            </a:endParaRPr>
          </a:p>
        </p:txBody>
      </p:sp>
      <p:sp>
        <p:nvSpPr>
          <p:cNvPr id="34818" name="Rectangle 2">
            <a:extLst>
              <a:ext uri="{FF2B5EF4-FFF2-40B4-BE49-F238E27FC236}">
                <a16:creationId xmlns:a16="http://schemas.microsoft.com/office/drawing/2014/main" id="{6F09C86C-58BC-4607-981A-D231C591FCB5}"/>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0398BD5B-BC5C-4CDB-9D48-4CA967CB7D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2C789749-18B6-4527-94FF-59E54FAC3E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F77C39C-CCD1-4085-91E8-2B527B8A2188}" type="slidenum">
              <a:rPr lang="en-US" altLang="en-US" smtClean="0">
                <a:latin typeface="Helvetica" panose="020B0604020202020204" pitchFamily="34" charset="0"/>
              </a:rPr>
              <a:pPr/>
              <a:t>19</a:t>
            </a:fld>
            <a:endParaRPr lang="en-US" altLang="en-US">
              <a:latin typeface="Helvetica" panose="020B0604020202020204" pitchFamily="34" charset="0"/>
            </a:endParaRPr>
          </a:p>
        </p:txBody>
      </p:sp>
      <p:sp>
        <p:nvSpPr>
          <p:cNvPr id="36866" name="Rectangle 2">
            <a:extLst>
              <a:ext uri="{FF2B5EF4-FFF2-40B4-BE49-F238E27FC236}">
                <a16:creationId xmlns:a16="http://schemas.microsoft.com/office/drawing/2014/main" id="{30A9510C-2BDE-4137-877F-7D3AEFD82511}"/>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2C693E25-AC6E-41AC-A5E3-4037EB9E40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66CBFBC-E533-4BF2-B5D5-3A45F5C190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A8AF47D-CB37-4C77-9E61-6FE982C48A6C}" type="slidenum">
              <a:rPr lang="en-US" altLang="en-US" smtClean="0">
                <a:latin typeface="Helvetica" panose="020B0604020202020204" pitchFamily="34" charset="0"/>
              </a:rPr>
              <a:pPr/>
              <a:t>20</a:t>
            </a:fld>
            <a:endParaRPr lang="en-US" altLang="en-US">
              <a:latin typeface="Helvetica" panose="020B0604020202020204" pitchFamily="34" charset="0"/>
            </a:endParaRPr>
          </a:p>
        </p:txBody>
      </p:sp>
      <p:sp>
        <p:nvSpPr>
          <p:cNvPr id="38914" name="Rectangle 2">
            <a:extLst>
              <a:ext uri="{FF2B5EF4-FFF2-40B4-BE49-F238E27FC236}">
                <a16:creationId xmlns:a16="http://schemas.microsoft.com/office/drawing/2014/main" id="{77584299-1856-48BE-B736-7EC68096B10B}"/>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17E5BFC8-6F28-4BDE-8F1C-CE906E2BFF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13071C3A-881C-48B3-B309-1D92C9DD80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6B73719-6FB6-4E20-AE32-14616D4F0E63}" type="slidenum">
              <a:rPr lang="en-US" altLang="en-US" smtClean="0">
                <a:latin typeface="Helvetica" panose="020B0604020202020204" pitchFamily="34" charset="0"/>
              </a:rPr>
              <a:pPr/>
              <a:t>21</a:t>
            </a:fld>
            <a:endParaRPr lang="en-US" altLang="en-US">
              <a:latin typeface="Helvetica" panose="020B0604020202020204" pitchFamily="34" charset="0"/>
            </a:endParaRPr>
          </a:p>
        </p:txBody>
      </p:sp>
      <p:sp>
        <p:nvSpPr>
          <p:cNvPr id="40962" name="Rectangle 2">
            <a:extLst>
              <a:ext uri="{FF2B5EF4-FFF2-40B4-BE49-F238E27FC236}">
                <a16:creationId xmlns:a16="http://schemas.microsoft.com/office/drawing/2014/main" id="{1D8F37CA-C0AA-4EA5-95A9-4F33D4E5D41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CFEE2A4B-553A-4DCA-8D0B-3BB07C4342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36DF61C1-FABB-4C2F-A2F6-2A6755D4309B}"/>
              </a:ext>
            </a:extLst>
          </p:cNvPr>
          <p:cNvSpPr>
            <a:spLocks noGrp="1" noRot="1" noChangeAspect="1" noChangeArrowheads="1" noTextEdit="1"/>
          </p:cNvSpPr>
          <p:nvPr>
            <p:ph type="sldImg"/>
          </p:nvPr>
        </p:nvSpPr>
        <p:spPr>
          <a:ln/>
        </p:spPr>
      </p:sp>
      <p:sp>
        <p:nvSpPr>
          <p:cNvPr id="43010" name="Rectangle 3">
            <a:extLst>
              <a:ext uri="{FF2B5EF4-FFF2-40B4-BE49-F238E27FC236}">
                <a16:creationId xmlns:a16="http://schemas.microsoft.com/office/drawing/2014/main" id="{93420185-E3D4-4A25-8067-B745C75A3F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DE5937DC-D53C-4814-A45E-BF7CA978FE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BF23E72-A12C-4C92-8AE1-BFA934D068FF}" type="slidenum">
              <a:rPr lang="en-US" altLang="en-US" smtClean="0">
                <a:latin typeface="Helvetica" panose="020B0604020202020204" pitchFamily="34" charset="0"/>
              </a:rPr>
              <a:pPr/>
              <a:t>23</a:t>
            </a:fld>
            <a:endParaRPr lang="en-US" altLang="en-US">
              <a:latin typeface="Helvetica" panose="020B0604020202020204" pitchFamily="34" charset="0"/>
            </a:endParaRPr>
          </a:p>
        </p:txBody>
      </p:sp>
      <p:sp>
        <p:nvSpPr>
          <p:cNvPr id="45058" name="Rectangle 2">
            <a:extLst>
              <a:ext uri="{FF2B5EF4-FFF2-40B4-BE49-F238E27FC236}">
                <a16:creationId xmlns:a16="http://schemas.microsoft.com/office/drawing/2014/main" id="{C69EBE3A-525E-43F8-98FF-7CCE61EFF8B1}"/>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DBDAC0BA-8814-496D-B065-6E2C7E2CFC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95FB8F64-88BB-4559-9134-E35CDEC201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C5D0B0-D187-4E63-8B13-81271B8117FB}" type="slidenum">
              <a:rPr lang="en-US" altLang="en-US" smtClean="0">
                <a:latin typeface="Helvetica" panose="020B0604020202020204" pitchFamily="34" charset="0"/>
              </a:rPr>
              <a:pPr/>
              <a:t>24</a:t>
            </a:fld>
            <a:endParaRPr lang="en-US" altLang="en-US">
              <a:latin typeface="Helvetica" panose="020B0604020202020204" pitchFamily="34" charset="0"/>
            </a:endParaRPr>
          </a:p>
        </p:txBody>
      </p:sp>
      <p:sp>
        <p:nvSpPr>
          <p:cNvPr id="52226" name="Rectangle 2">
            <a:extLst>
              <a:ext uri="{FF2B5EF4-FFF2-40B4-BE49-F238E27FC236}">
                <a16:creationId xmlns:a16="http://schemas.microsoft.com/office/drawing/2014/main" id="{E7CC628D-83F5-4EEA-8C50-0B294DCF1E84}"/>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4F97B3F5-0425-41C0-BA0E-2A5645FFB0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7712BD98-8FD1-4C5B-ACCD-B506C3F309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03646A7-87D1-4E08-9877-083F79BE34C5}" type="slidenum">
              <a:rPr lang="en-US" altLang="en-US" smtClean="0">
                <a:latin typeface="Helvetica" panose="020B0604020202020204" pitchFamily="34" charset="0"/>
              </a:rPr>
              <a:pPr/>
              <a:t>28</a:t>
            </a:fld>
            <a:endParaRPr lang="en-US" altLang="en-US">
              <a:latin typeface="Helvetica" panose="020B0604020202020204" pitchFamily="34" charset="0"/>
            </a:endParaRPr>
          </a:p>
        </p:txBody>
      </p:sp>
      <p:sp>
        <p:nvSpPr>
          <p:cNvPr id="58370" name="Rectangle 2">
            <a:extLst>
              <a:ext uri="{FF2B5EF4-FFF2-40B4-BE49-F238E27FC236}">
                <a16:creationId xmlns:a16="http://schemas.microsoft.com/office/drawing/2014/main" id="{8DCF3906-A485-420D-A07D-6796D1373AF0}"/>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7B4482B-2E5E-4B60-925B-792A624476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4BB7AAAF-2D0D-444E-9C4A-241B805364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58E20DC-D625-4FC1-80D1-197547D6A0FC}" type="slidenum">
              <a:rPr lang="en-US" altLang="en-US" smtClean="0">
                <a:latin typeface="Helvetica" panose="020B0604020202020204" pitchFamily="34" charset="0"/>
              </a:rPr>
              <a:pPr/>
              <a:t>30</a:t>
            </a:fld>
            <a:endParaRPr lang="en-US" altLang="en-US">
              <a:latin typeface="Helvetica" panose="020B0604020202020204" pitchFamily="34" charset="0"/>
            </a:endParaRPr>
          </a:p>
        </p:txBody>
      </p:sp>
      <p:sp>
        <p:nvSpPr>
          <p:cNvPr id="60418" name="Rectangle 2">
            <a:extLst>
              <a:ext uri="{FF2B5EF4-FFF2-40B4-BE49-F238E27FC236}">
                <a16:creationId xmlns:a16="http://schemas.microsoft.com/office/drawing/2014/main" id="{E9908802-64CA-49E3-931A-595B2C94C490}"/>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1AC4CBFD-A424-47AF-AE08-5BE9978F66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4BB7AAAF-2D0D-444E-9C4A-241B805364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58E20DC-D625-4FC1-80D1-197547D6A0FC}" type="slidenum">
              <a:rPr lang="en-US" altLang="en-US" smtClean="0">
                <a:latin typeface="Helvetica" panose="020B0604020202020204" pitchFamily="34" charset="0"/>
              </a:rPr>
              <a:pPr/>
              <a:t>31</a:t>
            </a:fld>
            <a:endParaRPr lang="en-US" altLang="en-US">
              <a:latin typeface="Helvetica" panose="020B0604020202020204" pitchFamily="34" charset="0"/>
            </a:endParaRPr>
          </a:p>
        </p:txBody>
      </p:sp>
      <p:sp>
        <p:nvSpPr>
          <p:cNvPr id="60418" name="Rectangle 2">
            <a:extLst>
              <a:ext uri="{FF2B5EF4-FFF2-40B4-BE49-F238E27FC236}">
                <a16:creationId xmlns:a16="http://schemas.microsoft.com/office/drawing/2014/main" id="{E9908802-64CA-49E3-931A-595B2C94C490}"/>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1AC4CBFD-A424-47AF-AE08-5BE9978F66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801451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17EBCBBF-41C5-425A-8C78-5D293D9B85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2086FDF-C283-4A26-A609-6B6E5A4F7611}" type="slidenum">
              <a:rPr lang="en-US" altLang="en-US" smtClean="0">
                <a:latin typeface="Helvetica" panose="020B0604020202020204" pitchFamily="34" charset="0"/>
              </a:rPr>
              <a:pPr/>
              <a:t>37</a:t>
            </a:fld>
            <a:endParaRPr lang="en-US" altLang="en-US">
              <a:latin typeface="Helvetica" panose="020B0604020202020204" pitchFamily="34" charset="0"/>
            </a:endParaRPr>
          </a:p>
        </p:txBody>
      </p:sp>
      <p:sp>
        <p:nvSpPr>
          <p:cNvPr id="70658" name="Rectangle 2">
            <a:extLst>
              <a:ext uri="{FF2B5EF4-FFF2-40B4-BE49-F238E27FC236}">
                <a16:creationId xmlns:a16="http://schemas.microsoft.com/office/drawing/2014/main" id="{B9B233EF-4231-4BA9-9EEF-1E69C0C6DA33}"/>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C24EF9F7-118A-440E-835D-273EF50030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OpenMP is a set of compiler directives as well as an API for </a:t>
            </a:r>
            <a:r>
              <a:rPr lang="en-US" altLang="en-US" dirty="0" err="1">
                <a:latin typeface="Times New Roman" panose="02020603050405020304" pitchFamily="18" charset="0"/>
              </a:rPr>
              <a:t>programswritten</a:t>
            </a:r>
            <a:r>
              <a:rPr lang="en-US" altLang="en-US" dirty="0">
                <a:latin typeface="Times New Roman" panose="02020603050405020304" pitchFamily="18" charset="0"/>
              </a:rPr>
              <a:t> in C, C++, or FORTRAN that provides support for parallel programming in </a:t>
            </a:r>
            <a:r>
              <a:rPr lang="en-US" altLang="en-US" dirty="0" err="1">
                <a:latin typeface="Times New Roman" panose="02020603050405020304" pitchFamily="18" charset="0"/>
              </a:rPr>
              <a:t>sharedmemory</a:t>
            </a:r>
            <a:endParaRPr lang="en-US" altLang="en-US" dirty="0">
              <a:latin typeface="Times New Roman" panose="02020603050405020304" pitchFamily="18" charset="0"/>
            </a:endParaRPr>
          </a:p>
          <a:p>
            <a:r>
              <a:rPr lang="en-US" altLang="en-US" dirty="0">
                <a:latin typeface="Times New Roman" panose="02020603050405020304" pitchFamily="18" charset="0"/>
              </a:rPr>
              <a:t>environments. OpenMP identifies parallel regions as blocks of code that may run in parallel. Application developers insert compiler directives into their code at parallel regions, and these directives instruct the OpenMP run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78748FDE-E8BC-4A9C-A7E9-E83C7D7088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6B4739B-763B-41A7-BF7B-6390169FD7EB}" type="slidenum">
              <a:rPr lang="en-US" altLang="en-US" smtClean="0">
                <a:latin typeface="Helvetica" panose="020B0604020202020204" pitchFamily="34" charset="0"/>
              </a:rPr>
              <a:pPr/>
              <a:t>40</a:t>
            </a:fld>
            <a:endParaRPr lang="en-US" altLang="en-US">
              <a:latin typeface="Helvetica" panose="020B0604020202020204" pitchFamily="34" charset="0"/>
            </a:endParaRPr>
          </a:p>
        </p:txBody>
      </p:sp>
      <p:sp>
        <p:nvSpPr>
          <p:cNvPr id="73730" name="Rectangle 2">
            <a:extLst>
              <a:ext uri="{FF2B5EF4-FFF2-40B4-BE49-F238E27FC236}">
                <a16:creationId xmlns:a16="http://schemas.microsoft.com/office/drawing/2014/main" id="{2EDC8114-80FF-4527-8452-8939C60B2594}"/>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3D42AF9C-FB2A-4442-A801-C023077146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2F305424-2E1B-470D-A274-29ABA8FF1D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5790EF-1AC9-4C3D-A973-AAE8B010255A}" type="slidenum">
              <a:rPr lang="en-US" altLang="en-US" smtClean="0">
                <a:latin typeface="Helvetica" panose="020B0604020202020204" pitchFamily="34" charset="0"/>
              </a:rPr>
              <a:pPr/>
              <a:t>41</a:t>
            </a:fld>
            <a:endParaRPr lang="en-US" altLang="en-US">
              <a:latin typeface="Helvetica" panose="020B0604020202020204" pitchFamily="34" charset="0"/>
            </a:endParaRPr>
          </a:p>
        </p:txBody>
      </p:sp>
      <p:sp>
        <p:nvSpPr>
          <p:cNvPr id="75778" name="Rectangle 2">
            <a:extLst>
              <a:ext uri="{FF2B5EF4-FFF2-40B4-BE49-F238E27FC236}">
                <a16:creationId xmlns:a16="http://schemas.microsoft.com/office/drawing/2014/main" id="{D5C964FA-22D0-4E05-B730-D533B6A44435}"/>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880E7091-F446-484C-8E4A-417D2AC58F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33333"/>
                </a:solidFill>
                <a:effectLst/>
                <a:latin typeface="-apple-system"/>
              </a:rPr>
              <a:t>Welcome to the Swift community. Together we are working to build a programming language to empower everyone to turn their ideas into apps on any platform.</a:t>
            </a:r>
          </a:p>
          <a:p>
            <a:pPr algn="l"/>
            <a:r>
              <a:rPr lang="en-US" b="0" i="0" dirty="0">
                <a:solidFill>
                  <a:srgbClr val="333333"/>
                </a:solidFill>
                <a:effectLst/>
                <a:latin typeface="-apple-system"/>
              </a:rPr>
              <a:t>Announced in 2014, the Swift programming language has quickly become one of the fastest growing languages in history. Swift makes it easy to write software that is incredibly fast and safe by design. Our goals for Swift are ambitious: we want to make programming simple things easy, and difficult things possible.</a:t>
            </a:r>
          </a:p>
          <a:p>
            <a:pPr algn="l"/>
            <a:r>
              <a:rPr lang="en-US" b="0" i="0" dirty="0">
                <a:solidFill>
                  <a:srgbClr val="333333"/>
                </a:solidFill>
                <a:effectLst/>
                <a:latin typeface="-apple-system"/>
              </a:rPr>
              <a:t>For students, learning Swift has been a great introduction to modern programming concepts and best practices. And because it is open, their Swift skills will be able to be applied to an even broader range of platforms, from mobile devices to the desktop to the cloud.</a:t>
            </a:r>
          </a:p>
          <a:p>
            <a:endParaRPr lang="en-US" dirty="0"/>
          </a:p>
        </p:txBody>
      </p:sp>
      <p:sp>
        <p:nvSpPr>
          <p:cNvPr id="4" name="Slide Number Placeholder 3"/>
          <p:cNvSpPr>
            <a:spLocks noGrp="1"/>
          </p:cNvSpPr>
          <p:nvPr>
            <p:ph type="sldNum" sz="quarter" idx="5"/>
          </p:nvPr>
        </p:nvSpPr>
        <p:spPr/>
        <p:txBody>
          <a:bodyPr/>
          <a:lstStyle/>
          <a:p>
            <a:pPr>
              <a:defRPr/>
            </a:pPr>
            <a:fld id="{B502DF71-3C45-4C55-AF2B-283333F9BC5B}" type="slidenum">
              <a:rPr lang="en-US" altLang="x-none" smtClean="0"/>
              <a:pPr>
                <a:defRPr/>
              </a:pPr>
              <a:t>42</a:t>
            </a:fld>
            <a:endParaRPr lang="en-US" altLang="x-none"/>
          </a:p>
        </p:txBody>
      </p:sp>
    </p:spTree>
    <p:extLst>
      <p:ext uri="{BB962C8B-B14F-4D97-AF65-F5344CB8AC3E}">
        <p14:creationId xmlns:p14="http://schemas.microsoft.com/office/powerpoint/2010/main" val="26612187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5FF94ED2-DF55-4D1B-8DA2-07A842A2B1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910074-6A37-4496-AE68-529FF68CD695}" type="slidenum">
              <a:rPr lang="en-US" altLang="en-US" smtClean="0">
                <a:latin typeface="Helvetica" panose="020B0604020202020204" pitchFamily="34" charset="0"/>
              </a:rPr>
              <a:pPr/>
              <a:t>46</a:t>
            </a:fld>
            <a:endParaRPr lang="en-US" altLang="en-US">
              <a:latin typeface="Helvetica" panose="020B0604020202020204" pitchFamily="34" charset="0"/>
            </a:endParaRPr>
          </a:p>
        </p:txBody>
      </p:sp>
      <p:sp>
        <p:nvSpPr>
          <p:cNvPr id="79874" name="Rectangle 2">
            <a:extLst>
              <a:ext uri="{FF2B5EF4-FFF2-40B4-BE49-F238E27FC236}">
                <a16:creationId xmlns:a16="http://schemas.microsoft.com/office/drawing/2014/main" id="{03D7B118-35EC-41E3-912A-ACD9C96F6AA2}"/>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396523C0-C350-444A-B4E1-1329DD7129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FA5AFAA5-5218-4C59-9B07-DF3DD016E3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20F8462-1483-480D-9499-599BDADC3331}" type="slidenum">
              <a:rPr lang="en-US" altLang="en-US" smtClean="0">
                <a:latin typeface="Helvetica" panose="020B0604020202020204" pitchFamily="34" charset="0"/>
              </a:rPr>
              <a:pPr/>
              <a:t>47</a:t>
            </a:fld>
            <a:endParaRPr lang="en-US" altLang="en-US">
              <a:latin typeface="Helvetica" panose="020B0604020202020204" pitchFamily="34" charset="0"/>
            </a:endParaRPr>
          </a:p>
        </p:txBody>
      </p:sp>
      <p:sp>
        <p:nvSpPr>
          <p:cNvPr id="81922" name="Rectangle 2">
            <a:extLst>
              <a:ext uri="{FF2B5EF4-FFF2-40B4-BE49-F238E27FC236}">
                <a16:creationId xmlns:a16="http://schemas.microsoft.com/office/drawing/2014/main" id="{A72C3A4C-AD16-4898-8CE5-E59313D1A7C9}"/>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F024EE35-1071-4350-AC7A-2880808BA5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CF84B4F2-9D3B-4B2F-BF96-A59F225777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7FC7D05-D70C-4688-A6EC-0CAD37F60868}" type="slidenum">
              <a:rPr lang="en-US" altLang="en-US" smtClean="0">
                <a:latin typeface="Helvetica" panose="020B0604020202020204" pitchFamily="34" charset="0"/>
              </a:rPr>
              <a:pPr/>
              <a:t>48</a:t>
            </a:fld>
            <a:endParaRPr lang="en-US" altLang="en-US">
              <a:latin typeface="Helvetica" panose="020B0604020202020204" pitchFamily="34" charset="0"/>
            </a:endParaRPr>
          </a:p>
        </p:txBody>
      </p:sp>
      <p:sp>
        <p:nvSpPr>
          <p:cNvPr id="83970" name="Rectangle 2">
            <a:extLst>
              <a:ext uri="{FF2B5EF4-FFF2-40B4-BE49-F238E27FC236}">
                <a16:creationId xmlns:a16="http://schemas.microsoft.com/office/drawing/2014/main" id="{B362FC63-0CF8-4F27-8D50-36C311771347}"/>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05EA1D9E-4BA7-46A6-8A84-EDB8389F72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3D8E3A22-255B-4013-9FAA-354F228081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5384F79-FBB8-4CF0-ACB5-B2C4E81F4BD7}" type="slidenum">
              <a:rPr lang="en-US" altLang="en-US" smtClean="0">
                <a:latin typeface="Helvetica" panose="020B0604020202020204" pitchFamily="34" charset="0"/>
              </a:rPr>
              <a:pPr/>
              <a:t>49</a:t>
            </a:fld>
            <a:endParaRPr lang="en-US" altLang="en-US">
              <a:latin typeface="Helvetica" panose="020B0604020202020204" pitchFamily="34" charset="0"/>
            </a:endParaRPr>
          </a:p>
        </p:txBody>
      </p:sp>
      <p:sp>
        <p:nvSpPr>
          <p:cNvPr id="86018" name="Rectangle 2">
            <a:extLst>
              <a:ext uri="{FF2B5EF4-FFF2-40B4-BE49-F238E27FC236}">
                <a16:creationId xmlns:a16="http://schemas.microsoft.com/office/drawing/2014/main" id="{3414BE9A-3487-46A0-8D93-908174E2B341}"/>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850E0C92-CD42-45A7-9966-C095105AF2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E5962F69-093A-408F-B384-7C8444BFC0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46DE1FD-0744-4729-8EA7-07AB55511A72}" type="slidenum">
              <a:rPr lang="en-US" altLang="en-US" smtClean="0">
                <a:latin typeface="Helvetica" panose="020B0604020202020204" pitchFamily="34" charset="0"/>
              </a:rPr>
              <a:pPr/>
              <a:t>50</a:t>
            </a:fld>
            <a:endParaRPr lang="en-US" altLang="en-US">
              <a:latin typeface="Helvetica" panose="020B0604020202020204" pitchFamily="34" charset="0"/>
            </a:endParaRPr>
          </a:p>
        </p:txBody>
      </p:sp>
      <p:sp>
        <p:nvSpPr>
          <p:cNvPr id="88066" name="Rectangle 2">
            <a:extLst>
              <a:ext uri="{FF2B5EF4-FFF2-40B4-BE49-F238E27FC236}">
                <a16:creationId xmlns:a16="http://schemas.microsoft.com/office/drawing/2014/main" id="{EF35BB1E-D520-47C0-8054-BC16A9F20902}"/>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5BD69566-D1C2-496F-B046-36CA881CC8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F2B3D9C8-405E-4869-B7DA-C0EA2952C0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7F09621-5A44-4CBF-82F9-AF59D7D29429}" type="slidenum">
              <a:rPr lang="en-US" altLang="en-US" smtClean="0">
                <a:latin typeface="Helvetica" panose="020B0604020202020204" pitchFamily="34" charset="0"/>
              </a:rPr>
              <a:pPr/>
              <a:t>51</a:t>
            </a:fld>
            <a:endParaRPr lang="en-US" altLang="en-US">
              <a:latin typeface="Helvetica" panose="020B0604020202020204" pitchFamily="34" charset="0"/>
            </a:endParaRPr>
          </a:p>
        </p:txBody>
      </p:sp>
      <p:sp>
        <p:nvSpPr>
          <p:cNvPr id="90114" name="Rectangle 2">
            <a:extLst>
              <a:ext uri="{FF2B5EF4-FFF2-40B4-BE49-F238E27FC236}">
                <a16:creationId xmlns:a16="http://schemas.microsoft.com/office/drawing/2014/main" id="{7E4665BD-4253-40F1-BC78-DE8BBDAB76FC}"/>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76713D87-7305-49B3-91D0-F30C446371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a:extLst>
              <a:ext uri="{FF2B5EF4-FFF2-40B4-BE49-F238E27FC236}">
                <a16:creationId xmlns:a16="http://schemas.microsoft.com/office/drawing/2014/main" id="{DAE79D6A-67CB-4C69-BA94-F4EE051A70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C124DD7-701B-4C62-BB67-32CAEE595173}" type="slidenum">
              <a:rPr lang="en-US" altLang="en-US" smtClean="0">
                <a:latin typeface="Helvetica" panose="020B0604020202020204" pitchFamily="34" charset="0"/>
              </a:rPr>
              <a:pPr/>
              <a:t>53</a:t>
            </a:fld>
            <a:endParaRPr lang="en-US" altLang="en-US">
              <a:latin typeface="Helvetica" panose="020B0604020202020204" pitchFamily="34" charset="0"/>
            </a:endParaRPr>
          </a:p>
        </p:txBody>
      </p:sp>
      <p:sp>
        <p:nvSpPr>
          <p:cNvPr id="93186" name="Rectangle 2">
            <a:extLst>
              <a:ext uri="{FF2B5EF4-FFF2-40B4-BE49-F238E27FC236}">
                <a16:creationId xmlns:a16="http://schemas.microsoft.com/office/drawing/2014/main" id="{1B7687CC-A2DC-4DB6-9D2E-F0DF0D822E9A}"/>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18288A69-48FB-4D7D-9160-2B0CCFFD78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825BBC46-A330-4F4A-B305-93B88114E3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AF1AA22-768A-4441-B4A7-7B9EE0F1CEA2}" type="slidenum">
              <a:rPr lang="en-US" altLang="en-US" smtClean="0">
                <a:latin typeface="Helvetica" panose="020B0604020202020204" pitchFamily="34" charset="0"/>
              </a:rPr>
              <a:pPr/>
              <a:t>54</a:t>
            </a:fld>
            <a:endParaRPr lang="en-US" altLang="en-US">
              <a:latin typeface="Helvetica" panose="020B0604020202020204" pitchFamily="34" charset="0"/>
            </a:endParaRPr>
          </a:p>
        </p:txBody>
      </p:sp>
      <p:sp>
        <p:nvSpPr>
          <p:cNvPr id="95234" name="Rectangle 2">
            <a:extLst>
              <a:ext uri="{FF2B5EF4-FFF2-40B4-BE49-F238E27FC236}">
                <a16:creationId xmlns:a16="http://schemas.microsoft.com/office/drawing/2014/main" id="{52C4AF6F-3A33-4B3D-A9C5-999D34DE6596}"/>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03C39424-7CC6-4EAD-B6CC-B6829E4E36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a:extLst>
              <a:ext uri="{FF2B5EF4-FFF2-40B4-BE49-F238E27FC236}">
                <a16:creationId xmlns:a16="http://schemas.microsoft.com/office/drawing/2014/main" id="{74F122F5-4598-4486-AEE9-A0E29FCC7F21}"/>
              </a:ext>
            </a:extLst>
          </p:cNvPr>
          <p:cNvSpPr txBox="1">
            <a:spLocks noGrp="1" noChangeArrowheads="1"/>
          </p:cNvSpPr>
          <p:nvPr/>
        </p:nvSpPr>
        <p:spPr bwMode="auto">
          <a:xfrm>
            <a:off x="3973513" y="8853488"/>
            <a:ext cx="3055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604" tIns="45801" rIns="91604" bIns="45801" anchor="b"/>
          <a:lstStyle>
            <a:lvl1pPr defTabSz="898525">
              <a:defRPr>
                <a:solidFill>
                  <a:schemeClr val="tx1"/>
                </a:solidFill>
                <a:latin typeface="Verdana" panose="020B0604030504040204" pitchFamily="34" charset="0"/>
                <a:ea typeface="MS PGothic" panose="020B0600070205080204" pitchFamily="34" charset="-128"/>
              </a:defRPr>
            </a:lvl1pPr>
            <a:lvl2pPr marL="742950" indent="-285750" defTabSz="898525">
              <a:defRPr>
                <a:solidFill>
                  <a:schemeClr val="tx1"/>
                </a:solidFill>
                <a:latin typeface="Verdana" panose="020B0604030504040204" pitchFamily="34" charset="0"/>
                <a:ea typeface="MS PGothic" panose="020B0600070205080204" pitchFamily="34" charset="-128"/>
              </a:defRPr>
            </a:lvl2pPr>
            <a:lvl3pPr marL="1143000" indent="-228600" defTabSz="898525">
              <a:defRPr>
                <a:solidFill>
                  <a:schemeClr val="tx1"/>
                </a:solidFill>
                <a:latin typeface="Verdana" panose="020B0604030504040204" pitchFamily="34" charset="0"/>
                <a:ea typeface="MS PGothic" panose="020B0600070205080204" pitchFamily="34" charset="-128"/>
              </a:defRPr>
            </a:lvl3pPr>
            <a:lvl4pPr marL="1600200" indent="-228600" defTabSz="898525">
              <a:defRPr>
                <a:solidFill>
                  <a:schemeClr val="tx1"/>
                </a:solidFill>
                <a:latin typeface="Verdana" panose="020B0604030504040204" pitchFamily="34" charset="0"/>
                <a:ea typeface="MS PGothic" panose="020B0600070205080204" pitchFamily="34" charset="-128"/>
              </a:defRPr>
            </a:lvl4pPr>
            <a:lvl5pPr marL="2057400" indent="-228600" defTabSz="898525">
              <a:defRPr>
                <a:solidFill>
                  <a:schemeClr val="tx1"/>
                </a:solidFill>
                <a:latin typeface="Verdana" panose="020B0604030504040204" pitchFamily="34" charset="0"/>
                <a:ea typeface="MS PGothic" panose="020B0600070205080204" pitchFamily="34" charset="-128"/>
              </a:defRPr>
            </a:lvl5pPr>
            <a:lvl6pPr marL="2514600" indent="-228600" defTabSz="8985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8985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8985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8985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r"/>
            <a:fld id="{4F87849D-3357-408B-BE81-D941B68A9C17}" type="slidenum">
              <a:rPr lang="en-US" altLang="en-US" sz="1200">
                <a:latin typeface="Helvetica" panose="020B0604020202020204" pitchFamily="34" charset="0"/>
              </a:rPr>
              <a:pPr algn="r"/>
              <a:t>55</a:t>
            </a:fld>
            <a:endParaRPr lang="en-US" altLang="en-US" sz="1200">
              <a:latin typeface="Helvetica" panose="020B0604020202020204" pitchFamily="34" charset="0"/>
            </a:endParaRPr>
          </a:p>
        </p:txBody>
      </p:sp>
      <p:sp>
        <p:nvSpPr>
          <p:cNvPr id="97282" name="Rectangle 2">
            <a:extLst>
              <a:ext uri="{FF2B5EF4-FFF2-40B4-BE49-F238E27FC236}">
                <a16:creationId xmlns:a16="http://schemas.microsoft.com/office/drawing/2014/main" id="{73C4DCE4-88C5-4C98-9DA5-E017D80E13F4}"/>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9765D6DE-A5FC-47F0-B3FB-BFABDB9A26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D3517A6B-4F86-4BF0-A7FB-1BD5EBE189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7116B57-7969-4071-A746-9D77D5F1E3CB}" type="slidenum">
              <a:rPr lang="en-US" altLang="en-US" smtClean="0">
                <a:latin typeface="Helvetica" panose="020B0604020202020204" pitchFamily="34" charset="0"/>
              </a:rPr>
              <a:pPr/>
              <a:t>56</a:t>
            </a:fld>
            <a:endParaRPr lang="en-US" altLang="en-US">
              <a:latin typeface="Helvetica" panose="020B0604020202020204" pitchFamily="34" charset="0"/>
            </a:endParaRPr>
          </a:p>
        </p:txBody>
      </p:sp>
      <p:sp>
        <p:nvSpPr>
          <p:cNvPr id="99330" name="Rectangle 2">
            <a:extLst>
              <a:ext uri="{FF2B5EF4-FFF2-40B4-BE49-F238E27FC236}">
                <a16:creationId xmlns:a16="http://schemas.microsoft.com/office/drawing/2014/main" id="{7878F00E-B648-4612-B5CB-D00AADE35000}"/>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1DC6BA39-1EDC-4A74-8794-176CC37BF5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a:extLst>
              <a:ext uri="{FF2B5EF4-FFF2-40B4-BE49-F238E27FC236}">
                <a16:creationId xmlns:a16="http://schemas.microsoft.com/office/drawing/2014/main" id="{A98BD5E9-68DB-44E3-B64A-5E17DF84C5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6A8B9C-1E5D-4E07-B8D8-9FCDFD426338}" type="slidenum">
              <a:rPr lang="en-US" altLang="en-US" smtClean="0">
                <a:latin typeface="Helvetica" panose="020B0604020202020204" pitchFamily="34" charset="0"/>
              </a:rPr>
              <a:pPr/>
              <a:t>57</a:t>
            </a:fld>
            <a:endParaRPr lang="en-US" altLang="en-US">
              <a:latin typeface="Helvetica" panose="020B0604020202020204" pitchFamily="34" charset="0"/>
            </a:endParaRPr>
          </a:p>
        </p:txBody>
      </p:sp>
      <p:sp>
        <p:nvSpPr>
          <p:cNvPr id="101378" name="Rectangle 2">
            <a:extLst>
              <a:ext uri="{FF2B5EF4-FFF2-40B4-BE49-F238E27FC236}">
                <a16:creationId xmlns:a16="http://schemas.microsoft.com/office/drawing/2014/main" id="{21B327CA-F749-48DD-B520-75AA26D49D2A}"/>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F1ED87E5-76C2-4D48-98D1-5C54D1AA78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C0C37606-01E7-4DBC-B837-C0D0A6173E71}"/>
              </a:ext>
            </a:extLst>
          </p:cNvPr>
          <p:cNvSpPr>
            <a:spLocks noGrp="1" noRot="1" noChangeAspect="1" noChangeArrowheads="1" noTextEdit="1"/>
          </p:cNvSpPr>
          <p:nvPr>
            <p:ph type="sldImg"/>
          </p:nvPr>
        </p:nvSpPr>
        <p:spPr>
          <a:ln/>
        </p:spPr>
      </p:sp>
      <p:sp>
        <p:nvSpPr>
          <p:cNvPr id="103426" name="Rectangle 3">
            <a:extLst>
              <a:ext uri="{FF2B5EF4-FFF2-40B4-BE49-F238E27FC236}">
                <a16:creationId xmlns:a16="http://schemas.microsoft.com/office/drawing/2014/main" id="{97C32648-9B7A-4EFE-847A-739C71023A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a:extLst>
              <a:ext uri="{FF2B5EF4-FFF2-40B4-BE49-F238E27FC236}">
                <a16:creationId xmlns:a16="http://schemas.microsoft.com/office/drawing/2014/main" id="{0D5813B0-A22D-4F2C-8A3F-0BFE4DE6B2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B12ED1-C80C-4561-A421-39FDA9B078BC}" type="slidenum">
              <a:rPr lang="en-US" altLang="en-US" smtClean="0">
                <a:latin typeface="Helvetica" panose="020B0604020202020204" pitchFamily="34" charset="0"/>
              </a:rPr>
              <a:pPr/>
              <a:t>59</a:t>
            </a:fld>
            <a:endParaRPr lang="en-US" altLang="en-US">
              <a:latin typeface="Helvetica" panose="020B0604020202020204" pitchFamily="34" charset="0"/>
            </a:endParaRPr>
          </a:p>
        </p:txBody>
      </p:sp>
      <p:sp>
        <p:nvSpPr>
          <p:cNvPr id="105474" name="Rectangle 2">
            <a:extLst>
              <a:ext uri="{FF2B5EF4-FFF2-40B4-BE49-F238E27FC236}">
                <a16:creationId xmlns:a16="http://schemas.microsoft.com/office/drawing/2014/main" id="{1C79D5CE-BCEF-4B0F-9D0F-A5485F9BA0EC}"/>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E6ECB659-BD3A-4C4F-8EF1-B79B7B4847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a:extLst>
              <a:ext uri="{FF2B5EF4-FFF2-40B4-BE49-F238E27FC236}">
                <a16:creationId xmlns:a16="http://schemas.microsoft.com/office/drawing/2014/main" id="{5B7BA288-9799-4FCC-AA27-DAA56CA5F3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FD05454-0887-49D1-BB79-E16982FE9E04}" type="slidenum">
              <a:rPr lang="en-US" altLang="en-US" smtClean="0">
                <a:latin typeface="Helvetica" panose="020B0604020202020204" pitchFamily="34" charset="0"/>
              </a:rPr>
              <a:pPr/>
              <a:t>60</a:t>
            </a:fld>
            <a:endParaRPr lang="en-US" altLang="en-US">
              <a:latin typeface="Helvetica" panose="020B0604020202020204" pitchFamily="34" charset="0"/>
            </a:endParaRPr>
          </a:p>
        </p:txBody>
      </p:sp>
      <p:sp>
        <p:nvSpPr>
          <p:cNvPr id="107522" name="Rectangle 2">
            <a:extLst>
              <a:ext uri="{FF2B5EF4-FFF2-40B4-BE49-F238E27FC236}">
                <a16:creationId xmlns:a16="http://schemas.microsoft.com/office/drawing/2014/main" id="{55C74086-1C19-4246-8A2B-B6C7CCC34331}"/>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2E3FD3FF-5B29-43D0-9279-B7FF5B29F0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47BBB9-46FE-43E2-BCA5-C7E7490AF36D}" type="datetime1">
              <a:rPr lang="en-US" smtClean="0"/>
              <a:t>4/13/2024</a:t>
            </a:fld>
            <a:endParaRPr lang="en-US" dirty="0"/>
          </a:p>
        </p:txBody>
      </p:sp>
      <p:sp>
        <p:nvSpPr>
          <p:cNvPr id="5" name="Footer Placeholder 4"/>
          <p:cNvSpPr>
            <a:spLocks noGrp="1"/>
          </p:cNvSpPr>
          <p:nvPr>
            <p:ph type="ftr" sz="quarter" idx="11"/>
          </p:nvPr>
        </p:nvSpPr>
        <p:spPr/>
        <p:txBody>
          <a:bodyPr/>
          <a:lstStyle/>
          <a:p>
            <a:r>
              <a:rPr lang="en-US"/>
              <a:t>updated by atef obeidat</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94628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534AF9-2E76-4329-9448-5C8720124BC8}" type="datetime1">
              <a:rPr lang="en-US" smtClean="0"/>
              <a:t>4/13/2024</a:t>
            </a:fld>
            <a:endParaRPr lang="en-US" dirty="0"/>
          </a:p>
        </p:txBody>
      </p:sp>
      <p:sp>
        <p:nvSpPr>
          <p:cNvPr id="5" name="Footer Placeholder 4"/>
          <p:cNvSpPr>
            <a:spLocks noGrp="1"/>
          </p:cNvSpPr>
          <p:nvPr>
            <p:ph type="ftr" sz="quarter" idx="11"/>
          </p:nvPr>
        </p:nvSpPr>
        <p:spPr/>
        <p:txBody>
          <a:bodyPr/>
          <a:lstStyle/>
          <a:p>
            <a:r>
              <a:rPr lang="en-US"/>
              <a:t>updated by atef obeidat</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94275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F38CCB-C4E0-4630-8588-934A2E471748}" type="datetime1">
              <a:rPr lang="en-US" smtClean="0"/>
              <a:t>4/13/2024</a:t>
            </a:fld>
            <a:endParaRPr lang="en-US" dirty="0"/>
          </a:p>
        </p:txBody>
      </p:sp>
      <p:sp>
        <p:nvSpPr>
          <p:cNvPr id="5" name="Footer Placeholder 4"/>
          <p:cNvSpPr>
            <a:spLocks noGrp="1"/>
          </p:cNvSpPr>
          <p:nvPr>
            <p:ph type="ftr" sz="quarter" idx="11"/>
          </p:nvPr>
        </p:nvSpPr>
        <p:spPr/>
        <p:txBody>
          <a:bodyPr/>
          <a:lstStyle/>
          <a:p>
            <a:r>
              <a:rPr lang="en-US"/>
              <a:t>updated by atef obeidat</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40509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400BFB-2DAB-49FD-976C-A4B4586E91D2}" type="datetime1">
              <a:rPr lang="en-US" smtClean="0"/>
              <a:t>4/13/2024</a:t>
            </a:fld>
            <a:endParaRPr lang="en-US" dirty="0"/>
          </a:p>
        </p:txBody>
      </p:sp>
      <p:sp>
        <p:nvSpPr>
          <p:cNvPr id="6" name="Footer Placeholder 5"/>
          <p:cNvSpPr>
            <a:spLocks noGrp="1"/>
          </p:cNvSpPr>
          <p:nvPr>
            <p:ph type="ftr" sz="quarter" idx="11"/>
          </p:nvPr>
        </p:nvSpPr>
        <p:spPr/>
        <p:txBody>
          <a:bodyPr/>
          <a:lstStyle/>
          <a:p>
            <a:r>
              <a:rPr lang="en-US"/>
              <a:t>updated by atef obeidat</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16990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188F37-6A71-47B2-99B0-CADE535C3986}" type="datetime1">
              <a:rPr lang="en-US" smtClean="0"/>
              <a:t>4/13/2024</a:t>
            </a:fld>
            <a:endParaRPr lang="en-US" dirty="0"/>
          </a:p>
        </p:txBody>
      </p:sp>
      <p:sp>
        <p:nvSpPr>
          <p:cNvPr id="8" name="Footer Placeholder 7"/>
          <p:cNvSpPr>
            <a:spLocks noGrp="1"/>
          </p:cNvSpPr>
          <p:nvPr>
            <p:ph type="ftr" sz="quarter" idx="11"/>
          </p:nvPr>
        </p:nvSpPr>
        <p:spPr/>
        <p:txBody>
          <a:bodyPr/>
          <a:lstStyle/>
          <a:p>
            <a:r>
              <a:rPr lang="en-US"/>
              <a:t>updated by atef obeidat</a:t>
            </a:r>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20429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FF6E39-99CD-406C-8156-9CD20E93AAC3}" type="datetime1">
              <a:rPr lang="en-US" smtClean="0"/>
              <a:t>4/13/2024</a:t>
            </a:fld>
            <a:endParaRPr lang="en-US" dirty="0"/>
          </a:p>
        </p:txBody>
      </p:sp>
      <p:sp>
        <p:nvSpPr>
          <p:cNvPr id="4" name="Footer Placeholder 3"/>
          <p:cNvSpPr>
            <a:spLocks noGrp="1"/>
          </p:cNvSpPr>
          <p:nvPr>
            <p:ph type="ftr" sz="quarter" idx="11"/>
          </p:nvPr>
        </p:nvSpPr>
        <p:spPr/>
        <p:txBody>
          <a:bodyPr/>
          <a:lstStyle/>
          <a:p>
            <a:r>
              <a:rPr lang="en-US"/>
              <a:t>updated by atef obeidat</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8821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A3705B-CC5B-4B20-A5F6-98A74144A83D}" type="datetime1">
              <a:rPr lang="en-US" smtClean="0"/>
              <a:t>4/13/2024</a:t>
            </a:fld>
            <a:endParaRPr lang="en-US" dirty="0"/>
          </a:p>
        </p:txBody>
      </p:sp>
      <p:sp>
        <p:nvSpPr>
          <p:cNvPr id="3" name="Footer Placeholder 2"/>
          <p:cNvSpPr>
            <a:spLocks noGrp="1"/>
          </p:cNvSpPr>
          <p:nvPr>
            <p:ph type="ftr" sz="quarter" idx="11"/>
          </p:nvPr>
        </p:nvSpPr>
        <p:spPr/>
        <p:txBody>
          <a:bodyPr/>
          <a:lstStyle/>
          <a:p>
            <a:r>
              <a:rPr lang="en-US"/>
              <a:t>updated by atef obeidat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55677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8AEB7EB-CC19-4BAD-AAA8-4B2372F52E2C}" type="datetime1">
              <a:rPr lang="en-US" smtClean="0"/>
              <a:t>4/13/2024</a:t>
            </a:fld>
            <a:endParaRPr lang="en-US" dirty="0"/>
          </a:p>
        </p:txBody>
      </p:sp>
      <p:sp>
        <p:nvSpPr>
          <p:cNvPr id="6" name="Footer Placeholder 5"/>
          <p:cNvSpPr>
            <a:spLocks noGrp="1"/>
          </p:cNvSpPr>
          <p:nvPr>
            <p:ph type="ftr" sz="quarter" idx="11"/>
          </p:nvPr>
        </p:nvSpPr>
        <p:spPr/>
        <p:txBody>
          <a:bodyPr/>
          <a:lstStyle/>
          <a:p>
            <a:r>
              <a:rPr lang="en-US"/>
              <a:t>updated by atef obeidat</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50725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5BE9D5-972E-41D3-A441-9989E15ECD86}" type="datetime1">
              <a:rPr lang="en-US" smtClean="0"/>
              <a:t>4/13/2024</a:t>
            </a:fld>
            <a:endParaRPr lang="en-US" dirty="0"/>
          </a:p>
        </p:txBody>
      </p:sp>
      <p:sp>
        <p:nvSpPr>
          <p:cNvPr id="6" name="Footer Placeholder 5"/>
          <p:cNvSpPr>
            <a:spLocks noGrp="1"/>
          </p:cNvSpPr>
          <p:nvPr>
            <p:ph type="ftr" sz="quarter" idx="11"/>
          </p:nvPr>
        </p:nvSpPr>
        <p:spPr/>
        <p:txBody>
          <a:bodyPr/>
          <a:lstStyle/>
          <a:p>
            <a:r>
              <a:rPr lang="en-US"/>
              <a:t>updated by atef obeidat</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52619845"/>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5BE9D5-972E-41D3-A441-9989E15ECD86}" type="datetime1">
              <a:rPr lang="en-US" smtClean="0"/>
              <a:t>4/13/2024</a:t>
            </a:fld>
            <a:endParaRPr lang="en-US" dirty="0"/>
          </a:p>
        </p:txBody>
      </p:sp>
      <p:sp>
        <p:nvSpPr>
          <p:cNvPr id="5" name="Footer Placeholder 4"/>
          <p:cNvSpPr>
            <a:spLocks noGrp="1"/>
          </p:cNvSpPr>
          <p:nvPr>
            <p:ph type="ftr" sz="quarter" idx="11"/>
          </p:nvPr>
        </p:nvSpPr>
        <p:spPr/>
        <p:txBody>
          <a:bodyPr/>
          <a:lstStyle/>
          <a:p>
            <a:r>
              <a:rPr lang="en-US"/>
              <a:t>updated by atef obeidat</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70766362"/>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5BE9D5-972E-41D3-A441-9989E15ECD86}" type="datetime1">
              <a:rPr lang="en-US" smtClean="0"/>
              <a:t>4/13/2024</a:t>
            </a:fld>
            <a:endParaRPr lang="en-US" dirty="0"/>
          </a:p>
        </p:txBody>
      </p:sp>
      <p:sp>
        <p:nvSpPr>
          <p:cNvPr id="5" name="Footer Placeholder 4"/>
          <p:cNvSpPr>
            <a:spLocks noGrp="1"/>
          </p:cNvSpPr>
          <p:nvPr>
            <p:ph type="ftr" sz="quarter" idx="11"/>
          </p:nvPr>
        </p:nvSpPr>
        <p:spPr/>
        <p:txBody>
          <a:bodyPr/>
          <a:lstStyle/>
          <a:p>
            <a:r>
              <a:rPr lang="en-US"/>
              <a:t>updated by atef obeidat</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80616557"/>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5BE9D5-972E-41D3-A441-9989E15ECD86}" type="datetime1">
              <a:rPr lang="en-US" smtClean="0"/>
              <a:t>4/13/2024</a:t>
            </a:fld>
            <a:endParaRPr lang="en-US" dirty="0"/>
          </a:p>
        </p:txBody>
      </p:sp>
      <p:sp>
        <p:nvSpPr>
          <p:cNvPr id="5" name="Footer Placeholder 4"/>
          <p:cNvSpPr>
            <a:spLocks noGrp="1"/>
          </p:cNvSpPr>
          <p:nvPr>
            <p:ph type="ftr" sz="quarter" idx="11"/>
          </p:nvPr>
        </p:nvSpPr>
        <p:spPr/>
        <p:txBody>
          <a:bodyPr/>
          <a:lstStyle/>
          <a:p>
            <a:r>
              <a:rPr lang="en-US"/>
              <a:t>updated by atef obeidat</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61220607"/>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5BE9D5-972E-41D3-A441-9989E15ECD86}" type="datetime1">
              <a:rPr lang="en-US" smtClean="0"/>
              <a:t>4/13/2024</a:t>
            </a:fld>
            <a:endParaRPr lang="en-US" dirty="0"/>
          </a:p>
        </p:txBody>
      </p:sp>
      <p:sp>
        <p:nvSpPr>
          <p:cNvPr id="5" name="Footer Placeholder 4"/>
          <p:cNvSpPr>
            <a:spLocks noGrp="1"/>
          </p:cNvSpPr>
          <p:nvPr>
            <p:ph type="ftr" sz="quarter" idx="11"/>
          </p:nvPr>
        </p:nvSpPr>
        <p:spPr/>
        <p:txBody>
          <a:bodyPr/>
          <a:lstStyle/>
          <a:p>
            <a:r>
              <a:rPr lang="en-US"/>
              <a:t>updated by atef obeidat</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58457262"/>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5BE9D5-972E-41D3-A441-9989E15ECD86}" type="datetime1">
              <a:rPr lang="en-US" smtClean="0"/>
              <a:t>4/13/2024</a:t>
            </a:fld>
            <a:endParaRPr lang="en-US" dirty="0"/>
          </a:p>
        </p:txBody>
      </p:sp>
      <p:sp>
        <p:nvSpPr>
          <p:cNvPr id="5" name="Footer Placeholder 4"/>
          <p:cNvSpPr>
            <a:spLocks noGrp="1"/>
          </p:cNvSpPr>
          <p:nvPr>
            <p:ph type="ftr" sz="quarter" idx="11"/>
          </p:nvPr>
        </p:nvSpPr>
        <p:spPr/>
        <p:txBody>
          <a:bodyPr/>
          <a:lstStyle/>
          <a:p>
            <a:r>
              <a:rPr lang="en-US"/>
              <a:t>updated by atef obeidat</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36018069"/>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2C13F2-17F3-49E3-A174-0442D833360F}" type="datetime1">
              <a:rPr lang="en-US" smtClean="0"/>
              <a:t>4/13/2024</a:t>
            </a:fld>
            <a:endParaRPr lang="en-US" dirty="0"/>
          </a:p>
        </p:txBody>
      </p:sp>
      <p:sp>
        <p:nvSpPr>
          <p:cNvPr id="5" name="Footer Placeholder 4"/>
          <p:cNvSpPr>
            <a:spLocks noGrp="1"/>
          </p:cNvSpPr>
          <p:nvPr>
            <p:ph type="ftr" sz="quarter" idx="11"/>
          </p:nvPr>
        </p:nvSpPr>
        <p:spPr/>
        <p:txBody>
          <a:bodyPr/>
          <a:lstStyle/>
          <a:p>
            <a:r>
              <a:rPr lang="en-US"/>
              <a:t>updated by atef obeidat</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226951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1048E5-8B88-4F48-8582-62D985CABBC5}" type="datetime1">
              <a:rPr lang="en-US" smtClean="0"/>
              <a:t>4/13/2024</a:t>
            </a:fld>
            <a:endParaRPr lang="en-US" dirty="0"/>
          </a:p>
        </p:txBody>
      </p:sp>
      <p:sp>
        <p:nvSpPr>
          <p:cNvPr id="5" name="Footer Placeholder 4"/>
          <p:cNvSpPr>
            <a:spLocks noGrp="1"/>
          </p:cNvSpPr>
          <p:nvPr>
            <p:ph type="ftr" sz="quarter" idx="11"/>
          </p:nvPr>
        </p:nvSpPr>
        <p:spPr/>
        <p:txBody>
          <a:bodyPr/>
          <a:lstStyle/>
          <a:p>
            <a:r>
              <a:rPr lang="en-US"/>
              <a:t>updated by atef obeidat</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69019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299044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55BE9D5-972E-41D3-A441-9989E15ECD86}" type="datetime1">
              <a:rPr lang="en-US" smtClean="0"/>
              <a:t>4/13/2024</a:t>
            </a:fld>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updated by atef obeidat</a:t>
            </a:r>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009408846"/>
      </p:ext>
    </p:extLst>
  </p:cSld>
  <p:clrMap bg1="lt1" tx1="dk1" bg2="lt2" tx2="dk2" accent1="accent1" accent2="accent2" accent3="accent3" accent4="accent4" accent5="accent5" accent6="accent6" hlink="hlink" folHlink="folHlink"/>
  <p:sldLayoutIdLst>
    <p:sldLayoutId id="2147484585" r:id="rId1"/>
    <p:sldLayoutId id="2147484586" r:id="rId2"/>
    <p:sldLayoutId id="2147484587" r:id="rId3"/>
    <p:sldLayoutId id="2147484588" r:id="rId4"/>
    <p:sldLayoutId id="2147484589" r:id="rId5"/>
    <p:sldLayoutId id="2147484590" r:id="rId6"/>
    <p:sldLayoutId id="2147484591" r:id="rId7"/>
    <p:sldLayoutId id="2147484592" r:id="rId8"/>
    <p:sldLayoutId id="2147484593" r:id="rId9"/>
    <p:sldLayoutId id="2147484594" r:id="rId10"/>
    <p:sldLayoutId id="2147484595" r:id="rId11"/>
    <p:sldLayoutId id="2147484596" r:id="rId12"/>
    <p:sldLayoutId id="2147484597" r:id="rId13"/>
    <p:sldLayoutId id="2147484598" r:id="rId14"/>
    <p:sldLayoutId id="2147484599" r:id="rId15"/>
    <p:sldLayoutId id="2147484600" r:id="rId16"/>
    <p:sldLayoutId id="2147484601" r:id="rId17"/>
  </p:sldLayoutIdLst>
  <p:hf hd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89BB6AAA-4250-44C0-8BF1-0E2B0D4E2A29}"/>
              </a:ext>
            </a:extLst>
          </p:cNvPr>
          <p:cNvSpPr>
            <a:spLocks noGrp="1" noChangeArrowheads="1"/>
          </p:cNvSpPr>
          <p:nvPr>
            <p:ph type="ctrTitle"/>
          </p:nvPr>
        </p:nvSpPr>
        <p:spPr/>
        <p:txBody>
          <a:bodyPr/>
          <a:lstStyle/>
          <a:p>
            <a:pPr eaLnBrk="1" hangingPunct="1"/>
            <a:r>
              <a:rPr lang="en-US" altLang="en-US" dirty="0"/>
              <a:t>Chapter 4:  Threads &amp; Concurrency </a:t>
            </a:r>
          </a:p>
        </p:txBody>
      </p:sp>
      <p:sp>
        <p:nvSpPr>
          <p:cNvPr id="2" name="Subtitle 1">
            <a:extLst>
              <a:ext uri="{FF2B5EF4-FFF2-40B4-BE49-F238E27FC236}">
                <a16:creationId xmlns:a16="http://schemas.microsoft.com/office/drawing/2014/main" id="{62E400E0-744A-3D05-19EF-63BC4198C360}"/>
              </a:ext>
            </a:extLst>
          </p:cNvPr>
          <p:cNvSpPr>
            <a:spLocks noGrp="1"/>
          </p:cNvSpPr>
          <p:nvPr>
            <p:ph type="subTitle" idx="1"/>
          </p:nvPr>
        </p:nvSpPr>
        <p:spPr/>
        <p:txBody>
          <a:bodyPr/>
          <a:lstStyle/>
          <a:p>
            <a:r>
              <a:rPr lang="en-US" dirty="0"/>
              <a:t>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203D3746-8758-479C-93A3-DC90B12F640F}"/>
              </a:ext>
            </a:extLst>
          </p:cNvPr>
          <p:cNvSpPr>
            <a:spLocks noGrp="1" noChangeArrowheads="1"/>
          </p:cNvSpPr>
          <p:nvPr>
            <p:ph type="title"/>
          </p:nvPr>
        </p:nvSpPr>
        <p:spPr>
          <a:xfrm>
            <a:off x="457200" y="224522"/>
            <a:ext cx="8229600" cy="576262"/>
          </a:xfrm>
        </p:spPr>
        <p:txBody>
          <a:bodyPr>
            <a:normAutofit fontScale="90000"/>
          </a:bodyPr>
          <a:lstStyle/>
          <a:p>
            <a:pPr eaLnBrk="1" hangingPunct="1"/>
            <a:r>
              <a:rPr lang="en-US" altLang="en-US" dirty="0"/>
              <a:t>Outline</a:t>
            </a:r>
          </a:p>
        </p:txBody>
      </p:sp>
      <p:sp>
        <p:nvSpPr>
          <p:cNvPr id="7170" name="Rectangle 3">
            <a:extLst>
              <a:ext uri="{FF2B5EF4-FFF2-40B4-BE49-F238E27FC236}">
                <a16:creationId xmlns:a16="http://schemas.microsoft.com/office/drawing/2014/main" id="{BE2970C8-8537-47B0-BAC1-E14D29076865}"/>
              </a:ext>
            </a:extLst>
          </p:cNvPr>
          <p:cNvSpPr>
            <a:spLocks noGrp="1" noChangeArrowheads="1"/>
          </p:cNvSpPr>
          <p:nvPr>
            <p:ph idx="1"/>
          </p:nvPr>
        </p:nvSpPr>
        <p:spPr/>
        <p:txBody>
          <a:bodyPr>
            <a:normAutofit/>
          </a:bodyPr>
          <a:lstStyle/>
          <a:p>
            <a:r>
              <a:rPr lang="en-US" altLang="en-US" dirty="0"/>
              <a:t>Overview</a:t>
            </a:r>
          </a:p>
          <a:p>
            <a:r>
              <a:rPr lang="en-US" altLang="en-US" dirty="0"/>
              <a:t>Multicore Programming</a:t>
            </a:r>
          </a:p>
          <a:p>
            <a:r>
              <a:rPr lang="en-US" altLang="en-US" dirty="0"/>
              <a:t>Multithreading Models</a:t>
            </a:r>
          </a:p>
          <a:p>
            <a:r>
              <a:rPr lang="en-US" altLang="en-US" dirty="0"/>
              <a:t>Thread Libraries</a:t>
            </a:r>
          </a:p>
          <a:p>
            <a:r>
              <a:rPr lang="en-US" altLang="en-US" dirty="0"/>
              <a:t>Implicit Threading</a:t>
            </a:r>
          </a:p>
          <a:p>
            <a:r>
              <a:rPr lang="en-US" altLang="en-US" dirty="0"/>
              <a:t>Threading Issues</a:t>
            </a:r>
          </a:p>
          <a:p>
            <a:r>
              <a:rPr lang="en-US" altLang="en-US" dirty="0"/>
              <a:t>Operating System Examples</a:t>
            </a:r>
          </a:p>
          <a:p>
            <a:pPr>
              <a:buFont typeface="Monotype Sorts" pitchFamily="-84" charset="2"/>
              <a:buNone/>
            </a:pPr>
            <a:endParaRPr lang="en-US" altLang="en-US" dirty="0"/>
          </a:p>
        </p:txBody>
      </p:sp>
      <p:sp>
        <p:nvSpPr>
          <p:cNvPr id="2" name="Date Placeholder 1">
            <a:extLst>
              <a:ext uri="{FF2B5EF4-FFF2-40B4-BE49-F238E27FC236}">
                <a16:creationId xmlns:a16="http://schemas.microsoft.com/office/drawing/2014/main" id="{AA4898D4-9498-1DFC-B091-DAF73B0582CB}"/>
              </a:ext>
            </a:extLst>
          </p:cNvPr>
          <p:cNvSpPr>
            <a:spLocks noGrp="1"/>
          </p:cNvSpPr>
          <p:nvPr>
            <p:ph type="dt" sz="half" idx="10"/>
          </p:nvPr>
        </p:nvSpPr>
        <p:spPr/>
        <p:txBody>
          <a:bodyPr/>
          <a:lstStyle/>
          <a:p>
            <a:fld id="{1F76F6D6-2B2C-40F6-8EB9-C6CBA0D95E28}" type="datetime1">
              <a:rPr lang="en-US" smtClean="0"/>
              <a:t>4/13/2024</a:t>
            </a:fld>
            <a:endParaRPr lang="en-US" dirty="0"/>
          </a:p>
        </p:txBody>
      </p:sp>
      <p:sp>
        <p:nvSpPr>
          <p:cNvPr id="3" name="Footer Placeholder 2">
            <a:extLst>
              <a:ext uri="{FF2B5EF4-FFF2-40B4-BE49-F238E27FC236}">
                <a16:creationId xmlns:a16="http://schemas.microsoft.com/office/drawing/2014/main" id="{9600357D-0DA2-8F28-42E7-3EE2AA3FF3EA}"/>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AC216CEF-4717-71B2-AD81-35BB45EB42D4}"/>
              </a:ext>
            </a:extLst>
          </p:cNvPr>
          <p:cNvSpPr>
            <a:spLocks noGrp="1"/>
          </p:cNvSpPr>
          <p:nvPr>
            <p:ph type="sldNum" sz="quarter" idx="12"/>
          </p:nvPr>
        </p:nvSpPr>
        <p:spPr/>
        <p:txBody>
          <a:bodyPr/>
          <a:lstStyle/>
          <a:p>
            <a:fld id="{48F63A3B-78C7-47BE-AE5E-E10140E04643}"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F4FAEF8D-141E-4014-81C2-5AD32F559235}"/>
              </a:ext>
            </a:extLst>
          </p:cNvPr>
          <p:cNvSpPr>
            <a:spLocks noGrp="1"/>
          </p:cNvSpPr>
          <p:nvPr>
            <p:ph type="title"/>
          </p:nvPr>
        </p:nvSpPr>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69649437-64F3-4573-8F48-4963AC548C97}"/>
              </a:ext>
            </a:extLst>
          </p:cNvPr>
          <p:cNvSpPr>
            <a:spLocks noGrp="1"/>
          </p:cNvSpPr>
          <p:nvPr>
            <p:ph idx="1"/>
          </p:nvPr>
        </p:nvSpPr>
        <p:spPr>
          <a:xfrm>
            <a:off x="806450" y="1233488"/>
            <a:ext cx="6940550" cy="4530725"/>
          </a:xfrm>
        </p:spPr>
        <p:txBody>
          <a:bodyPr>
            <a:normAutofit/>
          </a:bodyPr>
          <a:lstStyle/>
          <a:p>
            <a:r>
              <a:rPr lang="en-US" altLang="en-US" dirty="0"/>
              <a:t>Identify the basic components of a thread, and contrast threads and processes</a:t>
            </a:r>
          </a:p>
          <a:p>
            <a:r>
              <a:rPr lang="en-US" altLang="en-US" dirty="0"/>
              <a:t>Describe the benefits and challenges of designing multithreaded applications</a:t>
            </a:r>
          </a:p>
          <a:p>
            <a:r>
              <a:rPr lang="en-US" altLang="en-US" dirty="0"/>
              <a:t>Illustrate different approaches to implicit threading including thread pools, fork-join, and Grand Central Dispatch</a:t>
            </a:r>
          </a:p>
          <a:p>
            <a:r>
              <a:rPr lang="en-US" altLang="en-US" dirty="0"/>
              <a:t>Describe how the Windows and Linux operating systems represent threads</a:t>
            </a:r>
          </a:p>
          <a:p>
            <a:r>
              <a:rPr lang="en-US" altLang="en-US" dirty="0"/>
              <a:t>Design multithreaded applications using the </a:t>
            </a:r>
            <a:r>
              <a:rPr lang="en-US" altLang="en-US" dirty="0" err="1"/>
              <a:t>Pthreads</a:t>
            </a:r>
            <a:r>
              <a:rPr lang="en-US" altLang="en-US" dirty="0"/>
              <a:t>, Java, and Windows threading APIs</a:t>
            </a:r>
          </a:p>
          <a:p>
            <a:endParaRPr lang="en-US" altLang="en-US" dirty="0"/>
          </a:p>
        </p:txBody>
      </p:sp>
      <p:sp>
        <p:nvSpPr>
          <p:cNvPr id="2" name="Date Placeholder 1">
            <a:extLst>
              <a:ext uri="{FF2B5EF4-FFF2-40B4-BE49-F238E27FC236}">
                <a16:creationId xmlns:a16="http://schemas.microsoft.com/office/drawing/2014/main" id="{7404E25F-A0D9-DA4B-8D39-B7B48C6132F1}"/>
              </a:ext>
            </a:extLst>
          </p:cNvPr>
          <p:cNvSpPr>
            <a:spLocks noGrp="1"/>
          </p:cNvSpPr>
          <p:nvPr>
            <p:ph type="dt" sz="half" idx="10"/>
          </p:nvPr>
        </p:nvSpPr>
        <p:spPr/>
        <p:txBody>
          <a:bodyPr/>
          <a:lstStyle/>
          <a:p>
            <a:fld id="{08F133EC-D807-4E3B-8403-E769B1D4D347}" type="datetime1">
              <a:rPr lang="en-US" smtClean="0"/>
              <a:t>4/13/2024</a:t>
            </a:fld>
            <a:endParaRPr lang="en-US" dirty="0"/>
          </a:p>
        </p:txBody>
      </p:sp>
      <p:sp>
        <p:nvSpPr>
          <p:cNvPr id="3" name="Footer Placeholder 2">
            <a:extLst>
              <a:ext uri="{FF2B5EF4-FFF2-40B4-BE49-F238E27FC236}">
                <a16:creationId xmlns:a16="http://schemas.microsoft.com/office/drawing/2014/main" id="{40F5B89D-7903-5C38-A7E5-445103593CC7}"/>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3D207F43-B173-D7F8-FA89-D008CC1909A8}"/>
              </a:ext>
            </a:extLst>
          </p:cNvPr>
          <p:cNvSpPr>
            <a:spLocks noGrp="1"/>
          </p:cNvSpPr>
          <p:nvPr>
            <p:ph type="sldNum" sz="quarter" idx="12"/>
          </p:nvPr>
        </p:nvSpPr>
        <p:spPr/>
        <p:txBody>
          <a:bodyPr/>
          <a:lstStyle/>
          <a:p>
            <a:fld id="{48F63A3B-78C7-47BE-AE5E-E10140E04643}" type="slidenum">
              <a:rPr lang="en-US" smtClean="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1">
            <a:extLst>
              <a:ext uri="{FF2B5EF4-FFF2-40B4-BE49-F238E27FC236}">
                <a16:creationId xmlns:a16="http://schemas.microsoft.com/office/drawing/2014/main" id="{71774012-3807-4498-B991-8D9050F65A48}"/>
              </a:ext>
            </a:extLst>
          </p:cNvPr>
          <p:cNvSpPr>
            <a:spLocks noGrp="1"/>
          </p:cNvSpPr>
          <p:nvPr>
            <p:ph type="title"/>
          </p:nvPr>
        </p:nvSpPr>
        <p:spPr>
          <a:xfrm>
            <a:off x="457200" y="222868"/>
            <a:ext cx="8229600" cy="576262"/>
          </a:xfrm>
        </p:spPr>
        <p:txBody>
          <a:bodyPr>
            <a:normAutofit fontScale="90000"/>
          </a:bodyPr>
          <a:lstStyle/>
          <a:p>
            <a:r>
              <a:rPr lang="en-US" altLang="en-US" dirty="0"/>
              <a:t>Motivation</a:t>
            </a:r>
          </a:p>
        </p:txBody>
      </p:sp>
      <p:sp>
        <p:nvSpPr>
          <p:cNvPr id="11266" name="Content Placeholder 2">
            <a:extLst>
              <a:ext uri="{FF2B5EF4-FFF2-40B4-BE49-F238E27FC236}">
                <a16:creationId xmlns:a16="http://schemas.microsoft.com/office/drawing/2014/main" id="{284F1CF5-435D-4BB1-9339-BE39F15E24AA}"/>
              </a:ext>
            </a:extLst>
          </p:cNvPr>
          <p:cNvSpPr>
            <a:spLocks noGrp="1"/>
          </p:cNvSpPr>
          <p:nvPr>
            <p:ph idx="1"/>
          </p:nvPr>
        </p:nvSpPr>
        <p:spPr>
          <a:xfrm>
            <a:off x="806450" y="1233488"/>
            <a:ext cx="6813550" cy="4530725"/>
          </a:xfrm>
        </p:spPr>
        <p:txBody>
          <a:bodyPr>
            <a:normAutofit/>
          </a:bodyPr>
          <a:lstStyle/>
          <a:p>
            <a:r>
              <a:rPr lang="en-US" altLang="en-US" dirty="0"/>
              <a:t>Most modern applications are multithreaded</a:t>
            </a:r>
          </a:p>
          <a:p>
            <a:r>
              <a:rPr lang="en-US" altLang="en-US" dirty="0"/>
              <a:t>Threads run within application</a:t>
            </a:r>
          </a:p>
          <a:p>
            <a:r>
              <a:rPr lang="en-US" altLang="en-US" dirty="0"/>
              <a:t>Multiple tasks with the application can be implemented by separate threads</a:t>
            </a:r>
          </a:p>
          <a:p>
            <a:pPr lvl="1"/>
            <a:r>
              <a:rPr lang="en-US" altLang="en-US" dirty="0"/>
              <a:t>Update display</a:t>
            </a:r>
          </a:p>
          <a:p>
            <a:pPr lvl="1"/>
            <a:r>
              <a:rPr lang="en-US" altLang="en-US" dirty="0"/>
              <a:t>Fetch data</a:t>
            </a:r>
          </a:p>
          <a:p>
            <a:pPr lvl="1"/>
            <a:r>
              <a:rPr lang="en-US" altLang="en-US" dirty="0"/>
              <a:t>Spell checking</a:t>
            </a:r>
          </a:p>
          <a:p>
            <a:pPr lvl="1"/>
            <a:r>
              <a:rPr lang="en-US" altLang="en-US" dirty="0"/>
              <a:t>Answer a network request</a:t>
            </a:r>
          </a:p>
          <a:p>
            <a:r>
              <a:rPr lang="en-US" altLang="en-US" dirty="0"/>
              <a:t>Process creation is heavy-weight while thread creation is light-weight</a:t>
            </a:r>
          </a:p>
          <a:p>
            <a:r>
              <a:rPr lang="en-US" altLang="en-US" dirty="0"/>
              <a:t>Can simplify code, increase efficiency</a:t>
            </a:r>
          </a:p>
          <a:p>
            <a:r>
              <a:rPr lang="en-US" altLang="en-US" dirty="0"/>
              <a:t>Kernels are generally multithreaded</a:t>
            </a:r>
          </a:p>
        </p:txBody>
      </p:sp>
      <p:sp>
        <p:nvSpPr>
          <p:cNvPr id="2" name="Date Placeholder 1">
            <a:extLst>
              <a:ext uri="{FF2B5EF4-FFF2-40B4-BE49-F238E27FC236}">
                <a16:creationId xmlns:a16="http://schemas.microsoft.com/office/drawing/2014/main" id="{347A95CE-A639-288A-BF1B-7804A16DFEE0}"/>
              </a:ext>
            </a:extLst>
          </p:cNvPr>
          <p:cNvSpPr>
            <a:spLocks noGrp="1"/>
          </p:cNvSpPr>
          <p:nvPr>
            <p:ph type="dt" sz="half" idx="10"/>
          </p:nvPr>
        </p:nvSpPr>
        <p:spPr/>
        <p:txBody>
          <a:bodyPr/>
          <a:lstStyle/>
          <a:p>
            <a:fld id="{4368973B-652F-4270-9C72-922059B0B853}" type="datetime1">
              <a:rPr lang="en-US" smtClean="0"/>
              <a:t>4/13/2024</a:t>
            </a:fld>
            <a:endParaRPr lang="en-US" dirty="0"/>
          </a:p>
        </p:txBody>
      </p:sp>
      <p:sp>
        <p:nvSpPr>
          <p:cNvPr id="3" name="Footer Placeholder 2">
            <a:extLst>
              <a:ext uri="{FF2B5EF4-FFF2-40B4-BE49-F238E27FC236}">
                <a16:creationId xmlns:a16="http://schemas.microsoft.com/office/drawing/2014/main" id="{1E6C04D3-C4F1-1E5D-9F97-E2827729C41F}"/>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85FAB4AC-CCC9-5FD6-8DD3-82D2AD278B34}"/>
              </a:ext>
            </a:extLst>
          </p:cNvPr>
          <p:cNvSpPr>
            <a:spLocks noGrp="1"/>
          </p:cNvSpPr>
          <p:nvPr>
            <p:ph type="sldNum" sz="quarter" idx="12"/>
          </p:nvPr>
        </p:nvSpPr>
        <p:spPr/>
        <p:txBody>
          <a:bodyPr/>
          <a:lstStyle/>
          <a:p>
            <a:fld id="{48F63A3B-78C7-47BE-AE5E-E10140E04643}" type="slidenum">
              <a:rPr lang="en-US" smtClean="0"/>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46D3DE18-7E7E-4C93-8C78-DD142B08CC88}"/>
              </a:ext>
            </a:extLst>
          </p:cNvPr>
          <p:cNvSpPr>
            <a:spLocks noGrp="1" noChangeArrowheads="1"/>
          </p:cNvSpPr>
          <p:nvPr>
            <p:ph type="title"/>
          </p:nvPr>
        </p:nvSpPr>
        <p:spPr>
          <a:xfrm>
            <a:off x="749300" y="228830"/>
            <a:ext cx="8499475" cy="576262"/>
          </a:xfrm>
        </p:spPr>
        <p:txBody>
          <a:bodyPr>
            <a:normAutofit fontScale="90000"/>
          </a:bodyPr>
          <a:lstStyle/>
          <a:p>
            <a:pPr eaLnBrk="1" hangingPunct="1"/>
            <a:r>
              <a:rPr lang="en-US" altLang="en-US" dirty="0"/>
              <a:t>Single and Multithreaded Processes</a:t>
            </a:r>
          </a:p>
        </p:txBody>
      </p:sp>
      <p:sp>
        <p:nvSpPr>
          <p:cNvPr id="2" name="Date Placeholder 1">
            <a:extLst>
              <a:ext uri="{FF2B5EF4-FFF2-40B4-BE49-F238E27FC236}">
                <a16:creationId xmlns:a16="http://schemas.microsoft.com/office/drawing/2014/main" id="{BE9E32C8-9288-CAB7-8ED6-FDC3BB329D66}"/>
              </a:ext>
            </a:extLst>
          </p:cNvPr>
          <p:cNvSpPr>
            <a:spLocks noGrp="1"/>
          </p:cNvSpPr>
          <p:nvPr>
            <p:ph type="dt" sz="half" idx="10"/>
          </p:nvPr>
        </p:nvSpPr>
        <p:spPr/>
        <p:txBody>
          <a:bodyPr/>
          <a:lstStyle/>
          <a:p>
            <a:fld id="{D2B19E22-6C73-4152-8B2C-8A7389C28370}" type="datetime1">
              <a:rPr lang="en-US" smtClean="0"/>
              <a:t>4/13/2024</a:t>
            </a:fld>
            <a:endParaRPr lang="en-US" dirty="0"/>
          </a:p>
        </p:txBody>
      </p:sp>
      <p:sp>
        <p:nvSpPr>
          <p:cNvPr id="3" name="Footer Placeholder 2">
            <a:extLst>
              <a:ext uri="{FF2B5EF4-FFF2-40B4-BE49-F238E27FC236}">
                <a16:creationId xmlns:a16="http://schemas.microsoft.com/office/drawing/2014/main" id="{3654D69C-DDA1-E87E-83A1-92AAD1E9270D}"/>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AD053BC0-61C6-3D73-BB7B-7F8721F54465}"/>
              </a:ext>
            </a:extLst>
          </p:cNvPr>
          <p:cNvSpPr>
            <a:spLocks noGrp="1"/>
          </p:cNvSpPr>
          <p:nvPr>
            <p:ph type="sldNum" sz="quarter" idx="12"/>
          </p:nvPr>
        </p:nvSpPr>
        <p:spPr/>
        <p:txBody>
          <a:bodyPr/>
          <a:lstStyle/>
          <a:p>
            <a:fld id="{48F63A3B-78C7-47BE-AE5E-E10140E04643}" type="slidenum">
              <a:rPr lang="en-US" smtClean="0"/>
              <a:t>5</a:t>
            </a:fld>
            <a:endParaRPr lang="en-US" dirty="0"/>
          </a:p>
        </p:txBody>
      </p:sp>
      <p:pic>
        <p:nvPicPr>
          <p:cNvPr id="12290" name="Picture 1">
            <a:extLst>
              <a:ext uri="{FF2B5EF4-FFF2-40B4-BE49-F238E27FC236}">
                <a16:creationId xmlns:a16="http://schemas.microsoft.com/office/drawing/2014/main" id="{0489C83A-880F-4FB0-8474-2FE1A357C54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9300" y="1282700"/>
            <a:ext cx="7626350" cy="428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a:extLst>
              <a:ext uri="{FF2B5EF4-FFF2-40B4-BE49-F238E27FC236}">
                <a16:creationId xmlns:a16="http://schemas.microsoft.com/office/drawing/2014/main" id="{FE08425D-ED51-450A-B441-45E2EB4CE289}"/>
              </a:ext>
            </a:extLst>
          </p:cNvPr>
          <p:cNvSpPr>
            <a:spLocks noGrp="1"/>
          </p:cNvSpPr>
          <p:nvPr>
            <p:ph type="title"/>
          </p:nvPr>
        </p:nvSpPr>
        <p:spPr>
          <a:xfrm>
            <a:off x="885825" y="168870"/>
            <a:ext cx="8229600" cy="576262"/>
          </a:xfrm>
        </p:spPr>
        <p:txBody>
          <a:bodyPr>
            <a:normAutofit fontScale="90000"/>
          </a:bodyPr>
          <a:lstStyle/>
          <a:p>
            <a:pPr eaLnBrk="1" hangingPunct="1"/>
            <a:r>
              <a:rPr lang="en-US" altLang="en-US" dirty="0"/>
              <a:t>Multithreaded Server Architecture</a:t>
            </a:r>
          </a:p>
        </p:txBody>
      </p:sp>
      <p:sp>
        <p:nvSpPr>
          <p:cNvPr id="2" name="Date Placeholder 1">
            <a:extLst>
              <a:ext uri="{FF2B5EF4-FFF2-40B4-BE49-F238E27FC236}">
                <a16:creationId xmlns:a16="http://schemas.microsoft.com/office/drawing/2014/main" id="{E3811AAE-EA29-AA47-B46B-213184561100}"/>
              </a:ext>
            </a:extLst>
          </p:cNvPr>
          <p:cNvSpPr>
            <a:spLocks noGrp="1"/>
          </p:cNvSpPr>
          <p:nvPr>
            <p:ph type="dt" sz="half" idx="10"/>
          </p:nvPr>
        </p:nvSpPr>
        <p:spPr/>
        <p:txBody>
          <a:bodyPr/>
          <a:lstStyle/>
          <a:p>
            <a:fld id="{BB0E8C6C-5DF5-45F9-A926-2EBC6CA2DCB6}" type="datetime1">
              <a:rPr lang="en-US" smtClean="0"/>
              <a:t>4/13/2024</a:t>
            </a:fld>
            <a:endParaRPr lang="en-US" dirty="0"/>
          </a:p>
        </p:txBody>
      </p:sp>
      <p:sp>
        <p:nvSpPr>
          <p:cNvPr id="3" name="Footer Placeholder 2">
            <a:extLst>
              <a:ext uri="{FF2B5EF4-FFF2-40B4-BE49-F238E27FC236}">
                <a16:creationId xmlns:a16="http://schemas.microsoft.com/office/drawing/2014/main" id="{5569E569-52DE-8387-68DC-3457EB3CD0A9}"/>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EF7BC275-AC50-F3E8-972C-9BAEBB0E9D4E}"/>
              </a:ext>
            </a:extLst>
          </p:cNvPr>
          <p:cNvSpPr>
            <a:spLocks noGrp="1"/>
          </p:cNvSpPr>
          <p:nvPr>
            <p:ph type="sldNum" sz="quarter" idx="12"/>
          </p:nvPr>
        </p:nvSpPr>
        <p:spPr/>
        <p:txBody>
          <a:bodyPr/>
          <a:lstStyle/>
          <a:p>
            <a:fld id="{48F63A3B-78C7-47BE-AE5E-E10140E04643}" type="slidenum">
              <a:rPr lang="en-US" smtClean="0"/>
              <a:t>6</a:t>
            </a:fld>
            <a:endParaRPr lang="en-US" dirty="0"/>
          </a:p>
        </p:txBody>
      </p:sp>
      <p:pic>
        <p:nvPicPr>
          <p:cNvPr id="14338" name="Picture 1">
            <a:extLst>
              <a:ext uri="{FF2B5EF4-FFF2-40B4-BE49-F238E27FC236}">
                <a16:creationId xmlns:a16="http://schemas.microsoft.com/office/drawing/2014/main" id="{CF5D0D58-5C7A-45B8-AD7F-B5E9EF91996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4200" y="2006600"/>
            <a:ext cx="7966075" cy="284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CB64F3E7-BE56-4BF5-89DF-866E7EA88B71}"/>
              </a:ext>
            </a:extLst>
          </p:cNvPr>
          <p:cNvSpPr>
            <a:spLocks noGrp="1" noChangeArrowheads="1"/>
          </p:cNvSpPr>
          <p:nvPr>
            <p:ph type="title"/>
          </p:nvPr>
        </p:nvSpPr>
        <p:spPr>
          <a:xfrm>
            <a:off x="862013" y="481242"/>
            <a:ext cx="6951662" cy="312738"/>
          </a:xfrm>
        </p:spPr>
        <p:txBody>
          <a:bodyPr>
            <a:normAutofit fontScale="90000"/>
          </a:bodyPr>
          <a:lstStyle/>
          <a:p>
            <a:pPr eaLnBrk="1" hangingPunct="1"/>
            <a:r>
              <a:rPr lang="en-US" altLang="en-US" dirty="0"/>
              <a:t>Benefits</a:t>
            </a:r>
          </a:p>
        </p:txBody>
      </p:sp>
      <p:sp>
        <p:nvSpPr>
          <p:cNvPr id="16386" name="Rectangle 3">
            <a:extLst>
              <a:ext uri="{FF2B5EF4-FFF2-40B4-BE49-F238E27FC236}">
                <a16:creationId xmlns:a16="http://schemas.microsoft.com/office/drawing/2014/main" id="{AEFC87E0-114C-4BFC-8B34-FD5EF6B87DCF}"/>
              </a:ext>
            </a:extLst>
          </p:cNvPr>
          <p:cNvSpPr>
            <a:spLocks noGrp="1" noChangeArrowheads="1"/>
          </p:cNvSpPr>
          <p:nvPr>
            <p:ph idx="1"/>
          </p:nvPr>
        </p:nvSpPr>
        <p:spPr>
          <a:xfrm>
            <a:off x="806450" y="1233488"/>
            <a:ext cx="7207250" cy="4530725"/>
          </a:xfrm>
        </p:spPr>
        <p:txBody>
          <a:bodyPr>
            <a:normAutofit/>
          </a:bodyPr>
          <a:lstStyle/>
          <a:p>
            <a:r>
              <a:rPr lang="en-US" altLang="en-US" b="1" dirty="0"/>
              <a:t>Responsiveness – </a:t>
            </a:r>
            <a:r>
              <a:rPr lang="en-US" altLang="en-US" dirty="0"/>
              <a:t>may allow continued execution if part of process is blocked, especially important for user interfaces</a:t>
            </a:r>
          </a:p>
          <a:p>
            <a:r>
              <a:rPr lang="en-US" altLang="en-US" b="1" dirty="0"/>
              <a:t>Resource Sharing – </a:t>
            </a:r>
            <a:r>
              <a:rPr lang="en-US" altLang="en-US" dirty="0"/>
              <a:t>threads share resources of process, easier than shared memory or message passing</a:t>
            </a:r>
          </a:p>
          <a:p>
            <a:r>
              <a:rPr lang="en-US" altLang="en-US" b="1" dirty="0"/>
              <a:t>Economy – </a:t>
            </a:r>
            <a:r>
              <a:rPr lang="en-US" altLang="en-US" dirty="0"/>
              <a:t>cheaper than process creation, thread switching lower overhead than context switching</a:t>
            </a:r>
          </a:p>
          <a:p>
            <a:r>
              <a:rPr lang="en-US" altLang="en-US" b="1" dirty="0"/>
              <a:t>Scalability – </a:t>
            </a:r>
            <a:r>
              <a:rPr lang="en-US" altLang="en-US" dirty="0"/>
              <a:t>process can take advantage of multicore architectures</a:t>
            </a:r>
            <a:br>
              <a:rPr lang="en-US" altLang="en-US" dirty="0"/>
            </a:br>
            <a:endParaRPr lang="en-US" altLang="en-US" dirty="0"/>
          </a:p>
          <a:p>
            <a:endParaRPr lang="en-US" altLang="en-US" b="1" dirty="0"/>
          </a:p>
        </p:txBody>
      </p:sp>
      <p:sp>
        <p:nvSpPr>
          <p:cNvPr id="2" name="Date Placeholder 1">
            <a:extLst>
              <a:ext uri="{FF2B5EF4-FFF2-40B4-BE49-F238E27FC236}">
                <a16:creationId xmlns:a16="http://schemas.microsoft.com/office/drawing/2014/main" id="{58508792-BD20-BA32-BAB5-D524BA633D0F}"/>
              </a:ext>
            </a:extLst>
          </p:cNvPr>
          <p:cNvSpPr>
            <a:spLocks noGrp="1"/>
          </p:cNvSpPr>
          <p:nvPr>
            <p:ph type="dt" sz="half" idx="10"/>
          </p:nvPr>
        </p:nvSpPr>
        <p:spPr/>
        <p:txBody>
          <a:bodyPr/>
          <a:lstStyle/>
          <a:p>
            <a:fld id="{10EE8097-4161-4E72-BCF9-D16EFCB16D5F}" type="datetime1">
              <a:rPr lang="en-US" smtClean="0"/>
              <a:t>4/13/2024</a:t>
            </a:fld>
            <a:endParaRPr lang="en-US" dirty="0"/>
          </a:p>
        </p:txBody>
      </p:sp>
      <p:sp>
        <p:nvSpPr>
          <p:cNvPr id="3" name="Footer Placeholder 2">
            <a:extLst>
              <a:ext uri="{FF2B5EF4-FFF2-40B4-BE49-F238E27FC236}">
                <a16:creationId xmlns:a16="http://schemas.microsoft.com/office/drawing/2014/main" id="{8B7B7EB3-A275-6735-2B34-1817F36B36F4}"/>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E802DC8A-97F1-2782-E191-6386BEC47238}"/>
              </a:ext>
            </a:extLst>
          </p:cNvPr>
          <p:cNvSpPr>
            <a:spLocks noGrp="1"/>
          </p:cNvSpPr>
          <p:nvPr>
            <p:ph type="sldNum" sz="quarter" idx="12"/>
          </p:nvPr>
        </p:nvSpPr>
        <p:spPr/>
        <p:txBody>
          <a:bodyPr/>
          <a:lstStyle/>
          <a:p>
            <a:fld id="{48F63A3B-78C7-47BE-AE5E-E10140E04643}" type="slidenum">
              <a:rPr lang="en-US" smtClean="0"/>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5DAE641A-82E5-4706-A422-7614EF045674}"/>
              </a:ext>
            </a:extLst>
          </p:cNvPr>
          <p:cNvSpPr>
            <a:spLocks noGrp="1"/>
          </p:cNvSpPr>
          <p:nvPr>
            <p:ph type="title"/>
          </p:nvPr>
        </p:nvSpPr>
        <p:spPr>
          <a:xfrm>
            <a:off x="1012825" y="222868"/>
            <a:ext cx="7673975" cy="576262"/>
          </a:xfrm>
        </p:spPr>
        <p:txBody>
          <a:bodyPr>
            <a:normAutofit fontScale="90000"/>
          </a:bodyPr>
          <a:lstStyle/>
          <a:p>
            <a:pPr eaLnBrk="1" hangingPunct="1"/>
            <a:r>
              <a:rPr lang="en-US" altLang="en-US" dirty="0"/>
              <a:t>Multicore Programming</a:t>
            </a:r>
          </a:p>
        </p:txBody>
      </p:sp>
      <p:sp>
        <p:nvSpPr>
          <p:cNvPr id="18434" name="Content Placeholder 2">
            <a:extLst>
              <a:ext uri="{FF2B5EF4-FFF2-40B4-BE49-F238E27FC236}">
                <a16:creationId xmlns:a16="http://schemas.microsoft.com/office/drawing/2014/main" id="{A7143B20-81F4-4C44-95F8-D8F686F2F4F7}"/>
              </a:ext>
            </a:extLst>
          </p:cNvPr>
          <p:cNvSpPr>
            <a:spLocks noGrp="1"/>
          </p:cNvSpPr>
          <p:nvPr>
            <p:ph idx="1"/>
          </p:nvPr>
        </p:nvSpPr>
        <p:spPr>
          <a:xfrm>
            <a:off x="808002" y="1208088"/>
            <a:ext cx="7723188" cy="4530725"/>
          </a:xfrm>
        </p:spPr>
        <p:txBody>
          <a:bodyPr>
            <a:normAutofit/>
          </a:bodyPr>
          <a:lstStyle/>
          <a:p>
            <a:r>
              <a:rPr lang="en-US" altLang="en-US" b="1" dirty="0">
                <a:solidFill>
                  <a:srgbClr val="006699"/>
                </a:solidFill>
                <a:latin typeface="+mj-lt"/>
              </a:rPr>
              <a:t>Multicore</a:t>
            </a:r>
            <a:r>
              <a:rPr lang="en-US" altLang="en-US" dirty="0"/>
              <a:t> or </a:t>
            </a:r>
            <a:r>
              <a:rPr lang="en-US" altLang="en-US" b="1" dirty="0">
                <a:solidFill>
                  <a:srgbClr val="006699"/>
                </a:solidFill>
                <a:latin typeface="+mj-lt"/>
              </a:rPr>
              <a:t>multiprocessor</a:t>
            </a:r>
            <a:r>
              <a:rPr lang="en-US" altLang="en-US" dirty="0"/>
              <a:t> systems putting pressure on programmers, challenges include:</a:t>
            </a:r>
          </a:p>
          <a:p>
            <a:pPr lvl="1"/>
            <a:r>
              <a:rPr lang="en-US" altLang="en-US" b="1" dirty="0"/>
              <a:t>Dividing activities</a:t>
            </a:r>
          </a:p>
          <a:p>
            <a:pPr lvl="1"/>
            <a:r>
              <a:rPr lang="en-US" altLang="en-US" b="1" dirty="0"/>
              <a:t>Balance</a:t>
            </a:r>
          </a:p>
          <a:p>
            <a:pPr lvl="1"/>
            <a:r>
              <a:rPr lang="en-US" altLang="en-US" b="1" dirty="0"/>
              <a:t>Data splitting</a:t>
            </a:r>
          </a:p>
          <a:p>
            <a:pPr lvl="1"/>
            <a:r>
              <a:rPr lang="en-US" altLang="en-US" b="1" dirty="0"/>
              <a:t>Data dependency</a:t>
            </a:r>
          </a:p>
          <a:p>
            <a:pPr lvl="1"/>
            <a:r>
              <a:rPr lang="en-US" altLang="en-US" b="1" dirty="0"/>
              <a:t>Testing and debugging</a:t>
            </a:r>
          </a:p>
          <a:p>
            <a:r>
              <a:rPr lang="en-US" altLang="en-US" b="1" i="1" dirty="0"/>
              <a:t>Parallelism</a:t>
            </a:r>
            <a:r>
              <a:rPr lang="en-US" altLang="en-US" dirty="0"/>
              <a:t> implies a system can perform more than one task simultaneously</a:t>
            </a:r>
          </a:p>
          <a:p>
            <a:r>
              <a:rPr lang="en-US" altLang="en-US" b="1" i="1" dirty="0"/>
              <a:t>Concurrency</a:t>
            </a:r>
            <a:r>
              <a:rPr lang="en-US" altLang="en-US" dirty="0"/>
              <a:t> supports more than one task making progress</a:t>
            </a:r>
          </a:p>
          <a:p>
            <a:pPr lvl="1"/>
            <a:r>
              <a:rPr lang="en-US" altLang="en-US" dirty="0"/>
              <a:t>Single processor / core, scheduler providing concurrency</a:t>
            </a:r>
          </a:p>
          <a:p>
            <a:pPr lvl="1">
              <a:buFont typeface="Monotype Sorts" pitchFamily="-84" charset="2"/>
              <a:buNone/>
            </a:pPr>
            <a:endParaRPr lang="en-US" altLang="en-US" dirty="0"/>
          </a:p>
          <a:p>
            <a:pPr lvl="1">
              <a:buFont typeface="Monotype Sorts" pitchFamily="-84" charset="2"/>
              <a:buNone/>
            </a:pPr>
            <a:endParaRPr lang="en-US" altLang="en-US" dirty="0"/>
          </a:p>
        </p:txBody>
      </p:sp>
      <p:sp>
        <p:nvSpPr>
          <p:cNvPr id="2" name="Date Placeholder 1">
            <a:extLst>
              <a:ext uri="{FF2B5EF4-FFF2-40B4-BE49-F238E27FC236}">
                <a16:creationId xmlns:a16="http://schemas.microsoft.com/office/drawing/2014/main" id="{3536C85A-DD64-ED3A-7A85-C08E34B6D08D}"/>
              </a:ext>
            </a:extLst>
          </p:cNvPr>
          <p:cNvSpPr>
            <a:spLocks noGrp="1"/>
          </p:cNvSpPr>
          <p:nvPr>
            <p:ph type="dt" sz="half" idx="10"/>
          </p:nvPr>
        </p:nvSpPr>
        <p:spPr/>
        <p:txBody>
          <a:bodyPr/>
          <a:lstStyle/>
          <a:p>
            <a:fld id="{DC6EEBC8-7937-438D-9DC1-49DD5FC679DB}" type="datetime1">
              <a:rPr lang="en-US" smtClean="0"/>
              <a:t>4/13/2024</a:t>
            </a:fld>
            <a:endParaRPr lang="en-US" dirty="0"/>
          </a:p>
        </p:txBody>
      </p:sp>
      <p:sp>
        <p:nvSpPr>
          <p:cNvPr id="4" name="Footer Placeholder 3">
            <a:extLst>
              <a:ext uri="{FF2B5EF4-FFF2-40B4-BE49-F238E27FC236}">
                <a16:creationId xmlns:a16="http://schemas.microsoft.com/office/drawing/2014/main" id="{15DE3090-5209-B240-5F59-52AE9A34C0A0}"/>
              </a:ext>
            </a:extLst>
          </p:cNvPr>
          <p:cNvSpPr>
            <a:spLocks noGrp="1"/>
          </p:cNvSpPr>
          <p:nvPr>
            <p:ph type="ftr" sz="quarter" idx="11"/>
          </p:nvPr>
        </p:nvSpPr>
        <p:spPr/>
        <p:txBody>
          <a:bodyPr/>
          <a:lstStyle/>
          <a:p>
            <a:r>
              <a:rPr lang="en-US"/>
              <a:t>updated by atef obeidat</a:t>
            </a:r>
            <a:endParaRPr lang="en-US" dirty="0"/>
          </a:p>
        </p:txBody>
      </p:sp>
      <p:sp>
        <p:nvSpPr>
          <p:cNvPr id="3" name="Slide Number Placeholder 2">
            <a:extLst>
              <a:ext uri="{FF2B5EF4-FFF2-40B4-BE49-F238E27FC236}">
                <a16:creationId xmlns:a16="http://schemas.microsoft.com/office/drawing/2014/main" id="{814C0D31-1909-5085-F141-6BF7A831B08E}"/>
              </a:ext>
            </a:extLst>
          </p:cNvPr>
          <p:cNvSpPr>
            <a:spLocks noGrp="1"/>
          </p:cNvSpPr>
          <p:nvPr>
            <p:ph type="sldNum" sz="quarter" idx="12"/>
          </p:nvPr>
        </p:nvSpPr>
        <p:spPr/>
        <p:txBody>
          <a:bodyPr/>
          <a:lstStyle/>
          <a:p>
            <a:fld id="{48F63A3B-78C7-47BE-AE5E-E10140E04643}" type="slidenum">
              <a:rPr lang="en-US" smtClean="0"/>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99AFB161-ED93-4730-90CF-60C15CF17766}"/>
              </a:ext>
            </a:extLst>
          </p:cNvPr>
          <p:cNvSpPr>
            <a:spLocks noGrp="1"/>
          </p:cNvSpPr>
          <p:nvPr>
            <p:ph type="title"/>
          </p:nvPr>
        </p:nvSpPr>
        <p:spPr>
          <a:xfrm>
            <a:off x="676275" y="222215"/>
            <a:ext cx="8229600" cy="576262"/>
          </a:xfrm>
        </p:spPr>
        <p:txBody>
          <a:bodyPr>
            <a:normAutofit fontScale="90000"/>
          </a:bodyPr>
          <a:lstStyle/>
          <a:p>
            <a:pPr eaLnBrk="1" hangingPunct="1"/>
            <a:r>
              <a:rPr lang="en-US" altLang="en-US" dirty="0"/>
              <a:t>Concurrency vs. Parallelism</a:t>
            </a:r>
          </a:p>
        </p:txBody>
      </p:sp>
      <p:sp>
        <p:nvSpPr>
          <p:cNvPr id="2" name="Date Placeholder 1">
            <a:extLst>
              <a:ext uri="{FF2B5EF4-FFF2-40B4-BE49-F238E27FC236}">
                <a16:creationId xmlns:a16="http://schemas.microsoft.com/office/drawing/2014/main" id="{8626A979-74F6-8E71-C2AD-0C025C36D290}"/>
              </a:ext>
            </a:extLst>
          </p:cNvPr>
          <p:cNvSpPr>
            <a:spLocks noGrp="1"/>
          </p:cNvSpPr>
          <p:nvPr>
            <p:ph type="dt" sz="half" idx="10"/>
          </p:nvPr>
        </p:nvSpPr>
        <p:spPr/>
        <p:txBody>
          <a:bodyPr/>
          <a:lstStyle/>
          <a:p>
            <a:fld id="{34C651EE-FAC0-459D-8112-4F9169AD254B}" type="datetime1">
              <a:rPr lang="en-US" smtClean="0"/>
              <a:t>4/13/2024</a:t>
            </a:fld>
            <a:endParaRPr lang="en-US" dirty="0"/>
          </a:p>
        </p:txBody>
      </p:sp>
      <p:sp>
        <p:nvSpPr>
          <p:cNvPr id="3" name="Footer Placeholder 2">
            <a:extLst>
              <a:ext uri="{FF2B5EF4-FFF2-40B4-BE49-F238E27FC236}">
                <a16:creationId xmlns:a16="http://schemas.microsoft.com/office/drawing/2014/main" id="{CABCF2BC-EEC8-4740-3248-01AAE59A2AA1}"/>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A12D7207-98D7-889B-EC89-9935BAC626F8}"/>
              </a:ext>
            </a:extLst>
          </p:cNvPr>
          <p:cNvSpPr>
            <a:spLocks noGrp="1"/>
          </p:cNvSpPr>
          <p:nvPr>
            <p:ph type="sldNum" sz="quarter" idx="12"/>
          </p:nvPr>
        </p:nvSpPr>
        <p:spPr/>
        <p:txBody>
          <a:bodyPr/>
          <a:lstStyle/>
          <a:p>
            <a:fld id="{48F63A3B-78C7-47BE-AE5E-E10140E04643}" type="slidenum">
              <a:rPr lang="en-US" smtClean="0"/>
              <a:t>9</a:t>
            </a:fld>
            <a:endParaRPr lang="en-US" dirty="0"/>
          </a:p>
        </p:txBody>
      </p:sp>
      <p:sp>
        <p:nvSpPr>
          <p:cNvPr id="20482" name="Rectangle 3">
            <a:extLst>
              <a:ext uri="{FF2B5EF4-FFF2-40B4-BE49-F238E27FC236}">
                <a16:creationId xmlns:a16="http://schemas.microsoft.com/office/drawing/2014/main" id="{D036A6A0-4CE5-4725-A8D1-F915FCFB1B90}"/>
              </a:ext>
            </a:extLst>
          </p:cNvPr>
          <p:cNvSpPr>
            <a:spLocks noGrp="1" noChangeArrowheads="1"/>
          </p:cNvSpPr>
          <p:nvPr/>
        </p:nvSpPr>
        <p:spPr bwMode="auto">
          <a:xfrm>
            <a:off x="802433" y="1163638"/>
            <a:ext cx="7912359"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lstStyle>
            <a:lvl1pPr marL="488950" indent="-488950">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buSzPct val="110000"/>
              <a:buFont typeface="Wingdings" panose="05000000000000000000" pitchFamily="2" charset="2"/>
              <a:buChar char="§"/>
            </a:pPr>
            <a:r>
              <a:rPr lang="en-US" altLang="en-US" b="1" dirty="0"/>
              <a:t>Concurrent execution on single-core system:</a:t>
            </a:r>
          </a:p>
          <a:p>
            <a:endParaRPr lang="en-US" altLang="en-US" b="1" dirty="0"/>
          </a:p>
          <a:p>
            <a:endParaRPr lang="en-US" altLang="en-US" b="1" dirty="0"/>
          </a:p>
          <a:p>
            <a:endParaRPr lang="en-US" altLang="en-US" b="1" dirty="0"/>
          </a:p>
          <a:p>
            <a:pPr>
              <a:buFontTx/>
              <a:buNone/>
            </a:pPr>
            <a:endParaRPr lang="en-US" altLang="en-US" b="1" dirty="0"/>
          </a:p>
          <a:p>
            <a:pPr>
              <a:buSzPct val="110000"/>
              <a:buFont typeface="Wingdings" panose="05000000000000000000" pitchFamily="2" charset="2"/>
              <a:buChar char="§"/>
            </a:pPr>
            <a:r>
              <a:rPr lang="en-US" altLang="en-US" b="1" dirty="0"/>
              <a:t>Parallelism on a multi-core system:</a:t>
            </a:r>
          </a:p>
          <a:p>
            <a:endParaRPr lang="en-US" altLang="en-US" b="1" dirty="0"/>
          </a:p>
        </p:txBody>
      </p:sp>
      <p:pic>
        <p:nvPicPr>
          <p:cNvPr id="20483" name="Picture 1">
            <a:extLst>
              <a:ext uri="{FF2B5EF4-FFF2-40B4-BE49-F238E27FC236}">
                <a16:creationId xmlns:a16="http://schemas.microsoft.com/office/drawing/2014/main" id="{823F49F0-4145-4731-B6A8-7F150BB638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87413" y="1830388"/>
            <a:ext cx="7799387"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Picture 2">
            <a:extLst>
              <a:ext uri="{FF2B5EF4-FFF2-40B4-BE49-F238E27FC236}">
                <a16:creationId xmlns:a16="http://schemas.microsoft.com/office/drawing/2014/main" id="{B2355580-5738-4BF5-8926-EC91E28B045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25675" y="3638258"/>
            <a:ext cx="4692650"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CAD927E8-64DE-4671-A690-608A4563E404}"/>
              </a:ext>
            </a:extLst>
          </p:cNvPr>
          <p:cNvSpPr>
            <a:spLocks noGrp="1"/>
          </p:cNvSpPr>
          <p:nvPr>
            <p:ph type="title"/>
          </p:nvPr>
        </p:nvSpPr>
        <p:spPr>
          <a:xfrm>
            <a:off x="1012825" y="213537"/>
            <a:ext cx="7673975" cy="576262"/>
          </a:xfrm>
        </p:spPr>
        <p:txBody>
          <a:bodyPr>
            <a:normAutofit fontScale="90000"/>
          </a:bodyPr>
          <a:lstStyle/>
          <a:p>
            <a:pPr eaLnBrk="1" hangingPunct="1"/>
            <a:r>
              <a:rPr lang="en-US" altLang="en-US" dirty="0"/>
              <a:t>Multicore Programming</a:t>
            </a:r>
          </a:p>
        </p:txBody>
      </p:sp>
      <p:sp>
        <p:nvSpPr>
          <p:cNvPr id="22530" name="Content Placeholder 2">
            <a:extLst>
              <a:ext uri="{FF2B5EF4-FFF2-40B4-BE49-F238E27FC236}">
                <a16:creationId xmlns:a16="http://schemas.microsoft.com/office/drawing/2014/main" id="{9FB1F3DE-869C-4D7F-9A3F-53A8F1DC93F7}"/>
              </a:ext>
            </a:extLst>
          </p:cNvPr>
          <p:cNvSpPr>
            <a:spLocks noGrp="1"/>
          </p:cNvSpPr>
          <p:nvPr>
            <p:ph idx="1"/>
          </p:nvPr>
        </p:nvSpPr>
        <p:spPr>
          <a:xfrm>
            <a:off x="449705" y="1233488"/>
            <a:ext cx="8237095" cy="4530725"/>
          </a:xfrm>
        </p:spPr>
        <p:txBody>
          <a:bodyPr/>
          <a:lstStyle/>
          <a:p>
            <a:r>
              <a:rPr lang="en-US" altLang="en-US" sz="2400" dirty="0"/>
              <a:t>Types of parallelism </a:t>
            </a:r>
          </a:p>
          <a:p>
            <a:pPr lvl="1"/>
            <a:r>
              <a:rPr lang="en-US" altLang="en-US" sz="2400" b="1" dirty="0">
                <a:solidFill>
                  <a:srgbClr val="006699"/>
                </a:solidFill>
                <a:latin typeface="+mj-lt"/>
              </a:rPr>
              <a:t>Data parallelism </a:t>
            </a:r>
            <a:r>
              <a:rPr lang="en-US" altLang="en-US" sz="2400" dirty="0"/>
              <a:t>– distributes subsets of the same data across multiple cores, </a:t>
            </a:r>
            <a:r>
              <a:rPr lang="en-US" altLang="en-US" sz="2400" dirty="0">
                <a:solidFill>
                  <a:srgbClr val="FF0000"/>
                </a:solidFill>
              </a:rPr>
              <a:t>same operation on each</a:t>
            </a:r>
          </a:p>
          <a:p>
            <a:pPr lvl="2" algn="r" rtl="1"/>
            <a:r>
              <a:rPr lang="ar-JO" altLang="en-US" sz="2400" b="1" dirty="0">
                <a:solidFill>
                  <a:srgbClr val="FF0000"/>
                </a:solidFill>
              </a:rPr>
              <a:t>معالجة أجزاء البيانات بشكل متزامن مثل جمع مصفوفه على عدة اجهزه </a:t>
            </a:r>
            <a:endParaRPr lang="en-US" altLang="en-US" sz="2400" b="1" dirty="0">
              <a:solidFill>
                <a:srgbClr val="FF0000"/>
              </a:solidFill>
            </a:endParaRPr>
          </a:p>
          <a:p>
            <a:pPr lvl="1"/>
            <a:r>
              <a:rPr lang="en-US" altLang="en-US" sz="2400" b="1" dirty="0">
                <a:solidFill>
                  <a:srgbClr val="006699"/>
                </a:solidFill>
                <a:latin typeface="+mj-lt"/>
              </a:rPr>
              <a:t>Task parallelism </a:t>
            </a:r>
            <a:r>
              <a:rPr lang="en-US" altLang="en-US" sz="2400" dirty="0"/>
              <a:t>– distributing threads across cores, each thread performing </a:t>
            </a:r>
            <a:r>
              <a:rPr lang="en-US" altLang="en-US" sz="2400" dirty="0">
                <a:solidFill>
                  <a:srgbClr val="FF0000"/>
                </a:solidFill>
              </a:rPr>
              <a:t>unique operation</a:t>
            </a:r>
            <a:endParaRPr lang="ar-JO" altLang="en-US" sz="2400" dirty="0">
              <a:solidFill>
                <a:srgbClr val="FF0000"/>
              </a:solidFill>
            </a:endParaRPr>
          </a:p>
          <a:p>
            <a:pPr lvl="2" algn="r" rtl="1"/>
            <a:r>
              <a:rPr lang="ar-JO" altLang="en-US" sz="2400" dirty="0">
                <a:solidFill>
                  <a:srgbClr val="FF0000"/>
                </a:solidFill>
              </a:rPr>
              <a:t>تنفيذ اجزاء من البرنامج </a:t>
            </a:r>
            <a:r>
              <a:rPr lang="en-US" altLang="en-US" sz="2400" dirty="0">
                <a:solidFill>
                  <a:srgbClr val="FF0000"/>
                </a:solidFill>
              </a:rPr>
              <a:t>thread</a:t>
            </a:r>
            <a:r>
              <a:rPr lang="ar-JO" altLang="en-US" sz="2400" dirty="0">
                <a:solidFill>
                  <a:srgbClr val="FF0000"/>
                </a:solidFill>
              </a:rPr>
              <a:t> على عدة اجهزه</a:t>
            </a:r>
            <a:endParaRPr lang="en-US" altLang="en-US" sz="2400" dirty="0">
              <a:solidFill>
                <a:srgbClr val="FF0000"/>
              </a:solidFill>
            </a:endParaRPr>
          </a:p>
          <a:p>
            <a:pPr lvl="1">
              <a:buFont typeface="Monotype Sorts" pitchFamily="-84" charset="2"/>
              <a:buNone/>
            </a:pPr>
            <a:endParaRPr lang="en-US" altLang="en-US" sz="2400" dirty="0"/>
          </a:p>
        </p:txBody>
      </p:sp>
      <p:sp>
        <p:nvSpPr>
          <p:cNvPr id="2" name="Date Placeholder 1">
            <a:extLst>
              <a:ext uri="{FF2B5EF4-FFF2-40B4-BE49-F238E27FC236}">
                <a16:creationId xmlns:a16="http://schemas.microsoft.com/office/drawing/2014/main" id="{56960672-E87C-F6FB-54B0-EEBE2767FA94}"/>
              </a:ext>
            </a:extLst>
          </p:cNvPr>
          <p:cNvSpPr>
            <a:spLocks noGrp="1"/>
          </p:cNvSpPr>
          <p:nvPr>
            <p:ph type="dt" sz="half" idx="10"/>
          </p:nvPr>
        </p:nvSpPr>
        <p:spPr/>
        <p:txBody>
          <a:bodyPr/>
          <a:lstStyle/>
          <a:p>
            <a:fld id="{CE0CBF78-F2CA-40F2-B4E9-EC52A413ECBA}" type="datetime1">
              <a:rPr lang="en-US" smtClean="0"/>
              <a:t>4/13/2024</a:t>
            </a:fld>
            <a:endParaRPr lang="en-US" dirty="0"/>
          </a:p>
        </p:txBody>
      </p:sp>
      <p:sp>
        <p:nvSpPr>
          <p:cNvPr id="3" name="Footer Placeholder 2">
            <a:extLst>
              <a:ext uri="{FF2B5EF4-FFF2-40B4-BE49-F238E27FC236}">
                <a16:creationId xmlns:a16="http://schemas.microsoft.com/office/drawing/2014/main" id="{5ECDE12E-995E-F17D-342F-CADADA3D0832}"/>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0BE4DC59-A2F4-0FFB-3A46-05485FB3EC45}"/>
              </a:ext>
            </a:extLst>
          </p:cNvPr>
          <p:cNvSpPr>
            <a:spLocks noGrp="1"/>
          </p:cNvSpPr>
          <p:nvPr>
            <p:ph type="sldNum" sz="quarter" idx="12"/>
          </p:nvPr>
        </p:nvSpPr>
        <p:spPr/>
        <p:txBody>
          <a:bodyPr/>
          <a:lstStyle/>
          <a:p>
            <a:fld id="{48F63A3B-78C7-47BE-AE5E-E10140E04643}" type="slidenum">
              <a:rPr lang="en-US" smtClean="0"/>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F297ACC2-6415-49B5-B30C-3C6679A213F7}"/>
              </a:ext>
            </a:extLst>
          </p:cNvPr>
          <p:cNvSpPr>
            <a:spLocks noGrp="1"/>
          </p:cNvSpPr>
          <p:nvPr>
            <p:ph type="title"/>
          </p:nvPr>
        </p:nvSpPr>
        <p:spPr/>
        <p:txBody>
          <a:bodyPr/>
          <a:lstStyle/>
          <a:p>
            <a:r>
              <a:rPr lang="en-US" altLang="en-US" dirty="0"/>
              <a:t>Data and Task Parallelism</a:t>
            </a:r>
          </a:p>
        </p:txBody>
      </p:sp>
      <p:sp>
        <p:nvSpPr>
          <p:cNvPr id="2" name="Date Placeholder 1">
            <a:extLst>
              <a:ext uri="{FF2B5EF4-FFF2-40B4-BE49-F238E27FC236}">
                <a16:creationId xmlns:a16="http://schemas.microsoft.com/office/drawing/2014/main" id="{52FB7097-29DD-3444-9D78-4BA8A2647D2D}"/>
              </a:ext>
            </a:extLst>
          </p:cNvPr>
          <p:cNvSpPr>
            <a:spLocks noGrp="1"/>
          </p:cNvSpPr>
          <p:nvPr>
            <p:ph type="dt" sz="half" idx="10"/>
          </p:nvPr>
        </p:nvSpPr>
        <p:spPr/>
        <p:txBody>
          <a:bodyPr/>
          <a:lstStyle/>
          <a:p>
            <a:fld id="{588FCA37-471A-46CF-81ED-1C55FC0CF2F7}" type="datetime1">
              <a:rPr lang="en-US" smtClean="0"/>
              <a:t>4/13/2024</a:t>
            </a:fld>
            <a:endParaRPr lang="en-US" dirty="0"/>
          </a:p>
        </p:txBody>
      </p:sp>
      <p:sp>
        <p:nvSpPr>
          <p:cNvPr id="3" name="Footer Placeholder 2">
            <a:extLst>
              <a:ext uri="{FF2B5EF4-FFF2-40B4-BE49-F238E27FC236}">
                <a16:creationId xmlns:a16="http://schemas.microsoft.com/office/drawing/2014/main" id="{84D23A51-3DE9-8BFC-B9D7-8D2E61E2C04A}"/>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A35EEBF0-292C-6967-F64B-89B1B2A5C114}"/>
              </a:ext>
            </a:extLst>
          </p:cNvPr>
          <p:cNvSpPr>
            <a:spLocks noGrp="1"/>
          </p:cNvSpPr>
          <p:nvPr>
            <p:ph type="sldNum" sz="quarter" idx="12"/>
          </p:nvPr>
        </p:nvSpPr>
        <p:spPr/>
        <p:txBody>
          <a:bodyPr/>
          <a:lstStyle/>
          <a:p>
            <a:fld id="{48F63A3B-78C7-47BE-AE5E-E10140E04643}" type="slidenum">
              <a:rPr lang="en-US" smtClean="0"/>
              <a:t>11</a:t>
            </a:fld>
            <a:endParaRPr lang="en-US" dirty="0"/>
          </a:p>
        </p:txBody>
      </p:sp>
      <p:pic>
        <p:nvPicPr>
          <p:cNvPr id="24578" name="Picture 1">
            <a:extLst>
              <a:ext uri="{FF2B5EF4-FFF2-40B4-BE49-F238E27FC236}">
                <a16:creationId xmlns:a16="http://schemas.microsoft.com/office/drawing/2014/main" id="{7C4056CB-23F8-4E11-9D19-A3540316F52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38300" y="1473200"/>
            <a:ext cx="5851525" cy="390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8081C5BE-54CB-4060-BFB3-18429EA46275}"/>
              </a:ext>
            </a:extLst>
          </p:cNvPr>
          <p:cNvSpPr>
            <a:spLocks noGrp="1" noChangeArrowheads="1"/>
          </p:cNvSpPr>
          <p:nvPr>
            <p:ph type="title"/>
          </p:nvPr>
        </p:nvSpPr>
        <p:spPr>
          <a:xfrm>
            <a:off x="457200" y="229606"/>
            <a:ext cx="8229600" cy="576262"/>
          </a:xfrm>
        </p:spPr>
        <p:txBody>
          <a:bodyPr>
            <a:normAutofit fontScale="90000"/>
          </a:bodyPr>
          <a:lstStyle/>
          <a:p>
            <a:pPr eaLnBrk="1" hangingPunct="1"/>
            <a:r>
              <a:rPr lang="en-US" altLang="en-US" dirty="0"/>
              <a:t>Amda</a:t>
            </a:r>
            <a:r>
              <a:rPr lang="en-US" altLang="en-US" dirty="0">
                <a:solidFill>
                  <a:srgbClr val="66CCFF"/>
                </a:solidFill>
              </a:rPr>
              <a:t>h</a:t>
            </a:r>
            <a:r>
              <a:rPr lang="en-US" altLang="en-US" dirty="0"/>
              <a:t>l’s Law</a:t>
            </a:r>
          </a:p>
        </p:txBody>
      </p:sp>
      <p:sp>
        <p:nvSpPr>
          <p:cNvPr id="12291" name="Rectangle 3">
            <a:extLst>
              <a:ext uri="{FF2B5EF4-FFF2-40B4-BE49-F238E27FC236}">
                <a16:creationId xmlns:a16="http://schemas.microsoft.com/office/drawing/2014/main" id="{6A1AEDCB-DDB2-4B98-87D9-BFA079D3CF4C}"/>
              </a:ext>
            </a:extLst>
          </p:cNvPr>
          <p:cNvSpPr>
            <a:spLocks noGrp="1" noChangeArrowheads="1"/>
          </p:cNvSpPr>
          <p:nvPr>
            <p:ph idx="1"/>
          </p:nvPr>
        </p:nvSpPr>
        <p:spPr>
          <a:xfrm>
            <a:off x="254129" y="1158253"/>
            <a:ext cx="7900988" cy="5092422"/>
          </a:xfrm>
        </p:spPr>
        <p:txBody>
          <a:bodyPr>
            <a:normAutofit fontScale="92500" lnSpcReduction="20000"/>
          </a:bodyPr>
          <a:lstStyle/>
          <a:p>
            <a:pPr>
              <a:defRPr/>
            </a:pPr>
            <a:r>
              <a:rPr lang="en-US" altLang="en-US" sz="1600" dirty="0">
                <a:cs typeface="ＭＳ Ｐゴシック" charset="-128"/>
              </a:rPr>
              <a:t>Identifies performance </a:t>
            </a:r>
            <a:r>
              <a:rPr lang="en-US" altLang="en-US" sz="1600" dirty="0">
                <a:solidFill>
                  <a:srgbClr val="FF0000"/>
                </a:solidFill>
                <a:cs typeface="ＭＳ Ｐゴシック" charset="-128"/>
              </a:rPr>
              <a:t>gains</a:t>
            </a:r>
            <a:r>
              <a:rPr lang="en-US" altLang="en-US" sz="1600" dirty="0">
                <a:cs typeface="ＭＳ Ｐゴシック" charset="-128"/>
              </a:rPr>
              <a:t> from adding </a:t>
            </a:r>
            <a:r>
              <a:rPr lang="en-US" altLang="en-US" sz="1600" dirty="0">
                <a:solidFill>
                  <a:srgbClr val="FF0000"/>
                </a:solidFill>
                <a:cs typeface="ＭＳ Ｐゴシック" charset="-128"/>
              </a:rPr>
              <a:t>additional cores </a:t>
            </a:r>
            <a:r>
              <a:rPr lang="en-US" altLang="en-US" sz="1600" dirty="0">
                <a:cs typeface="ＭＳ Ｐゴシック" charset="-128"/>
              </a:rPr>
              <a:t>to an application that has both </a:t>
            </a:r>
            <a:r>
              <a:rPr lang="en-US" altLang="en-US" sz="1600" dirty="0">
                <a:solidFill>
                  <a:srgbClr val="FF0000"/>
                </a:solidFill>
                <a:cs typeface="ＭＳ Ｐゴシック" charset="-128"/>
              </a:rPr>
              <a:t>serial</a:t>
            </a:r>
            <a:r>
              <a:rPr lang="en-US" altLang="en-US" sz="1600" dirty="0">
                <a:cs typeface="ＭＳ Ｐゴシック" charset="-128"/>
              </a:rPr>
              <a:t> and </a:t>
            </a:r>
            <a:r>
              <a:rPr lang="en-US" altLang="en-US" sz="1600" dirty="0">
                <a:solidFill>
                  <a:srgbClr val="FF0000"/>
                </a:solidFill>
                <a:cs typeface="ＭＳ Ｐゴシック" charset="-128"/>
              </a:rPr>
              <a:t>parallel</a:t>
            </a:r>
            <a:r>
              <a:rPr lang="en-US" altLang="en-US" sz="1600" dirty="0">
                <a:cs typeface="ＭＳ Ｐゴシック" charset="-128"/>
              </a:rPr>
              <a:t> components</a:t>
            </a:r>
          </a:p>
          <a:p>
            <a:pPr>
              <a:defRPr/>
            </a:pPr>
            <a:r>
              <a:rPr lang="en-US" altLang="en-US" sz="1600" i="1" dirty="0">
                <a:cs typeface="ＭＳ Ｐゴシック" charset="-128"/>
              </a:rPr>
              <a:t>S</a:t>
            </a:r>
            <a:r>
              <a:rPr lang="en-US" altLang="en-US" sz="1600" dirty="0">
                <a:cs typeface="ＭＳ Ｐゴシック" charset="-128"/>
              </a:rPr>
              <a:t> is serial portion</a:t>
            </a:r>
          </a:p>
          <a:p>
            <a:pPr>
              <a:defRPr/>
            </a:pPr>
            <a:r>
              <a:rPr lang="en-US" altLang="en-US" sz="1600" i="1" dirty="0">
                <a:cs typeface="ＭＳ Ｐゴシック" charset="-128"/>
              </a:rPr>
              <a:t>N</a:t>
            </a:r>
            <a:r>
              <a:rPr lang="en-US" altLang="en-US" sz="1600" dirty="0">
                <a:cs typeface="ＭＳ Ｐゴシック" charset="-128"/>
              </a:rPr>
              <a:t> processing cores</a:t>
            </a:r>
          </a:p>
          <a:p>
            <a:pPr>
              <a:defRPr/>
            </a:pPr>
            <a:endParaRPr lang="en-US" altLang="en-US" sz="1600" dirty="0">
              <a:cs typeface="ＭＳ Ｐゴシック" charset="-128"/>
            </a:endParaRPr>
          </a:p>
          <a:p>
            <a:pPr>
              <a:defRPr/>
            </a:pPr>
            <a:endParaRPr lang="en-US" altLang="en-US" sz="1600" dirty="0">
              <a:cs typeface="ＭＳ Ｐゴシック" charset="-128"/>
            </a:endParaRPr>
          </a:p>
          <a:p>
            <a:pPr marL="0" indent="0">
              <a:buFont typeface="Monotype Sorts" pitchFamily="-84" charset="2"/>
              <a:buNone/>
              <a:defRPr/>
            </a:pPr>
            <a:endParaRPr lang="en-US" altLang="en-US" sz="1600" dirty="0">
              <a:cs typeface="ＭＳ Ｐゴシック" charset="-128"/>
            </a:endParaRPr>
          </a:p>
          <a:p>
            <a:pPr>
              <a:defRPr/>
            </a:pPr>
            <a:r>
              <a:rPr lang="en-US" altLang="en-US" sz="1600" dirty="0">
                <a:solidFill>
                  <a:srgbClr val="FF0000"/>
                </a:solidFill>
                <a:highlight>
                  <a:srgbClr val="FFFF00"/>
                </a:highlight>
                <a:cs typeface="ＭＳ Ｐゴシック" charset="-128"/>
              </a:rPr>
              <a:t>EXAMPLE</a:t>
            </a:r>
            <a:r>
              <a:rPr lang="en-US" altLang="en-US" sz="1600" dirty="0">
                <a:cs typeface="ＭＳ Ｐゴシック" charset="-128"/>
              </a:rPr>
              <a:t>, if application is </a:t>
            </a:r>
            <a:r>
              <a:rPr lang="en-US" altLang="en-US" sz="1600" dirty="0">
                <a:solidFill>
                  <a:srgbClr val="FF0000"/>
                </a:solidFill>
                <a:highlight>
                  <a:srgbClr val="FFFF00"/>
                </a:highlight>
                <a:cs typeface="ＭＳ Ｐゴシック" charset="-128"/>
              </a:rPr>
              <a:t>75% parallel </a:t>
            </a:r>
            <a:r>
              <a:rPr lang="en-US" altLang="en-US" sz="1600" dirty="0">
                <a:cs typeface="ＭＳ Ｐゴシック" charset="-128"/>
              </a:rPr>
              <a:t>/ </a:t>
            </a:r>
            <a:r>
              <a:rPr lang="en-US" altLang="en-US" sz="1600" dirty="0">
                <a:solidFill>
                  <a:srgbClr val="FF0000"/>
                </a:solidFill>
                <a:highlight>
                  <a:srgbClr val="FFFF00"/>
                </a:highlight>
                <a:cs typeface="ＭＳ Ｐゴシック" charset="-128"/>
              </a:rPr>
              <a:t>25% serial, </a:t>
            </a:r>
            <a:r>
              <a:rPr lang="en-US" altLang="en-US" sz="1600" dirty="0">
                <a:cs typeface="ＭＳ Ｐゴシック" charset="-128"/>
              </a:rPr>
              <a:t>moving from 1 to 2 cores results in speedup </a:t>
            </a:r>
            <a:r>
              <a:rPr lang="en-US" altLang="en-US" sz="1600" dirty="0">
                <a:solidFill>
                  <a:srgbClr val="FF0000"/>
                </a:solidFill>
                <a:highlight>
                  <a:srgbClr val="FFFF00"/>
                </a:highlight>
                <a:cs typeface="ＭＳ Ｐゴシック" charset="-128"/>
              </a:rPr>
              <a:t>of 1.6 times</a:t>
            </a:r>
          </a:p>
          <a:p>
            <a:pPr lvl="1">
              <a:defRPr/>
            </a:pPr>
            <a:r>
              <a:rPr lang="en-US" altLang="en-US" dirty="0">
                <a:cs typeface="ＭＳ Ｐゴシック" charset="-128"/>
              </a:rPr>
              <a:t>1/(.25+(1-.25)/2)=1/.625= 1.6</a:t>
            </a:r>
          </a:p>
          <a:p>
            <a:pPr>
              <a:defRPr/>
            </a:pPr>
            <a:r>
              <a:rPr lang="en-US" altLang="en-US" sz="2200" dirty="0">
                <a:solidFill>
                  <a:srgbClr val="FF0000"/>
                </a:solidFill>
                <a:highlight>
                  <a:srgbClr val="FFFF00"/>
                </a:highlight>
                <a:cs typeface="ＭＳ Ｐゴシック" charset="-128"/>
              </a:rPr>
              <a:t>As </a:t>
            </a:r>
            <a:r>
              <a:rPr lang="en-US" altLang="en-US" sz="2200" i="1" dirty="0">
                <a:solidFill>
                  <a:srgbClr val="FF0000"/>
                </a:solidFill>
                <a:highlight>
                  <a:srgbClr val="FFFF00"/>
                </a:highlight>
                <a:cs typeface="ＭＳ Ｐゴシック" charset="-128"/>
              </a:rPr>
              <a:t>N</a:t>
            </a:r>
            <a:r>
              <a:rPr lang="en-US" altLang="en-US" sz="2200" dirty="0">
                <a:solidFill>
                  <a:srgbClr val="FF0000"/>
                </a:solidFill>
                <a:highlight>
                  <a:srgbClr val="FFFF00"/>
                </a:highlight>
                <a:cs typeface="ＭＳ Ｐゴシック" charset="-128"/>
              </a:rPr>
              <a:t> approaches infinity, speedup approaches 1 / </a:t>
            </a:r>
            <a:r>
              <a:rPr lang="en-US" altLang="en-US" sz="2200" i="1" dirty="0">
                <a:solidFill>
                  <a:srgbClr val="FF0000"/>
                </a:solidFill>
                <a:highlight>
                  <a:srgbClr val="FFFF00"/>
                </a:highlight>
                <a:cs typeface="ＭＳ Ｐゴシック" charset="-128"/>
              </a:rPr>
              <a:t>S </a:t>
            </a:r>
          </a:p>
          <a:p>
            <a:pPr>
              <a:buFont typeface="Monotype Sorts" pitchFamily="-84" charset="2"/>
              <a:buNone/>
              <a:defRPr/>
            </a:pPr>
            <a:r>
              <a:rPr lang="en-US" altLang="en-US" sz="1600" b="1" dirty="0">
                <a:cs typeface="ＭＳ Ｐゴシック" charset="-128"/>
              </a:rPr>
              <a:t/>
            </a:r>
            <a:br>
              <a:rPr lang="en-US" altLang="en-US" sz="1600" b="1" dirty="0">
                <a:cs typeface="ＭＳ Ｐゴシック" charset="-128"/>
              </a:rPr>
            </a:br>
            <a:r>
              <a:rPr lang="en-US" altLang="en-US" sz="1600" b="1" dirty="0">
                <a:cs typeface="ＭＳ Ｐゴシック" charset="-128"/>
              </a:rPr>
              <a:t>Serial portion of an application has </a:t>
            </a:r>
            <a:r>
              <a:rPr lang="en-US" altLang="en-US" sz="1600" b="1" dirty="0"/>
              <a:t>disproportionate </a:t>
            </a:r>
            <a:r>
              <a:rPr lang="ar-JO" altLang="en-US" sz="1600" b="1" dirty="0"/>
              <a:t>تاثير عكسي</a:t>
            </a:r>
            <a:r>
              <a:rPr lang="en-US" altLang="en-US" sz="1600" b="1" dirty="0"/>
              <a:t> effect </a:t>
            </a:r>
            <a:r>
              <a:rPr lang="en-US" altLang="en-US" sz="1600" b="1" dirty="0">
                <a:cs typeface="ＭＳ Ｐゴシック" charset="-128"/>
              </a:rPr>
              <a:t>on performance gained by adding additional cores</a:t>
            </a:r>
          </a:p>
          <a:p>
            <a:pPr>
              <a:buFont typeface="Monotype Sorts" pitchFamily="-84" charset="2"/>
              <a:buNone/>
              <a:defRPr/>
            </a:pPr>
            <a:endParaRPr lang="en-US" altLang="en-US" sz="800" b="1" dirty="0">
              <a:cs typeface="ＭＳ Ｐゴシック" charset="-128"/>
            </a:endParaRPr>
          </a:p>
          <a:p>
            <a:pPr>
              <a:defRPr/>
            </a:pPr>
            <a:r>
              <a:rPr lang="en-US" altLang="en-US" sz="1600" dirty="0">
                <a:cs typeface="ＭＳ Ｐゴシック" charset="-128"/>
              </a:rPr>
              <a:t>But does the law take into account contemporary multicore systems?</a:t>
            </a:r>
            <a:r>
              <a:rPr lang="ar-SA" altLang="en-US" sz="1600" dirty="0">
                <a:cs typeface="+mj-cs"/>
              </a:rPr>
              <a:t> ولكن هل يأخذ القانون في الاعتبار الأنظمة المعاصرة متعددة النواة؟</a:t>
            </a:r>
            <a:endParaRPr lang="en-US" altLang="en-US" sz="1600" dirty="0">
              <a:cs typeface="+mj-cs"/>
            </a:endParaRPr>
          </a:p>
          <a:p>
            <a:pPr>
              <a:defRPr/>
            </a:pPr>
            <a:r>
              <a:rPr lang="en-US" altLang="en-US" sz="2200" dirty="0">
                <a:solidFill>
                  <a:srgbClr val="FF0000"/>
                </a:solidFill>
                <a:highlight>
                  <a:srgbClr val="FFFF00"/>
                </a:highlight>
                <a:latin typeface="Times New Roman" panose="02020603050405020304" pitchFamily="18" charset="0"/>
              </a:rPr>
              <a:t>Yes, it's still true</a:t>
            </a:r>
            <a:endParaRPr lang="en-US" altLang="en-US" sz="3500" dirty="0">
              <a:solidFill>
                <a:srgbClr val="FF0000"/>
              </a:solidFill>
              <a:highlight>
                <a:srgbClr val="FFFF00"/>
              </a:highlight>
              <a:cs typeface="+mj-cs"/>
            </a:endParaRPr>
          </a:p>
        </p:txBody>
      </p:sp>
      <p:sp>
        <p:nvSpPr>
          <p:cNvPr id="2" name="Date Placeholder 1">
            <a:extLst>
              <a:ext uri="{FF2B5EF4-FFF2-40B4-BE49-F238E27FC236}">
                <a16:creationId xmlns:a16="http://schemas.microsoft.com/office/drawing/2014/main" id="{5F54A8F4-5E29-F667-55F2-41D49FBFC945}"/>
              </a:ext>
            </a:extLst>
          </p:cNvPr>
          <p:cNvSpPr>
            <a:spLocks noGrp="1"/>
          </p:cNvSpPr>
          <p:nvPr>
            <p:ph type="dt" sz="half" idx="10"/>
          </p:nvPr>
        </p:nvSpPr>
        <p:spPr/>
        <p:txBody>
          <a:bodyPr/>
          <a:lstStyle/>
          <a:p>
            <a:fld id="{89E9F331-C369-43DF-BDC1-CB93437366B8}" type="datetime1">
              <a:rPr lang="en-US" smtClean="0"/>
              <a:t>4/13/2024</a:t>
            </a:fld>
            <a:endParaRPr lang="en-US" dirty="0"/>
          </a:p>
        </p:txBody>
      </p:sp>
      <p:sp>
        <p:nvSpPr>
          <p:cNvPr id="3" name="Footer Placeholder 2">
            <a:extLst>
              <a:ext uri="{FF2B5EF4-FFF2-40B4-BE49-F238E27FC236}">
                <a16:creationId xmlns:a16="http://schemas.microsoft.com/office/drawing/2014/main" id="{B76DA6A5-664C-1B28-1256-E051F2A77805}"/>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84B89AB0-725C-7766-799F-E43D03A5FFE7}"/>
              </a:ext>
            </a:extLst>
          </p:cNvPr>
          <p:cNvSpPr>
            <a:spLocks noGrp="1"/>
          </p:cNvSpPr>
          <p:nvPr>
            <p:ph type="sldNum" sz="quarter" idx="12"/>
          </p:nvPr>
        </p:nvSpPr>
        <p:spPr/>
        <p:txBody>
          <a:bodyPr/>
          <a:lstStyle/>
          <a:p>
            <a:fld id="{48F63A3B-78C7-47BE-AE5E-E10140E04643}" type="slidenum">
              <a:rPr lang="en-US" smtClean="0"/>
              <a:t>12</a:t>
            </a:fld>
            <a:endParaRPr lang="en-US" dirty="0"/>
          </a:p>
        </p:txBody>
      </p:sp>
      <p:pic>
        <p:nvPicPr>
          <p:cNvPr id="25603" name="Picture 1" descr="Screen Shot 2012-12-04 at 7.54.07 PM.png">
            <a:extLst>
              <a:ext uri="{FF2B5EF4-FFF2-40B4-BE49-F238E27FC236}">
                <a16:creationId xmlns:a16="http://schemas.microsoft.com/office/drawing/2014/main" id="{73692B8D-A89E-4AD0-A1E3-ED895D4F405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27487" y="1934709"/>
            <a:ext cx="2430463"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681CBC2B-DB28-4332-A1D1-A51237439D2D}"/>
              </a:ext>
            </a:extLst>
          </p:cNvPr>
          <p:cNvSpPr>
            <a:spLocks noGrp="1"/>
          </p:cNvSpPr>
          <p:nvPr>
            <p:ph type="title"/>
          </p:nvPr>
        </p:nvSpPr>
        <p:spPr>
          <a:xfrm>
            <a:off x="457200" y="224522"/>
            <a:ext cx="8229600" cy="576262"/>
          </a:xfrm>
        </p:spPr>
        <p:txBody>
          <a:bodyPr>
            <a:normAutofit fontScale="90000"/>
          </a:bodyPr>
          <a:lstStyle/>
          <a:p>
            <a:r>
              <a:rPr lang="en-US" altLang="en-US" dirty="0"/>
              <a:t>Amdahl’s Law</a:t>
            </a:r>
          </a:p>
        </p:txBody>
      </p:sp>
      <p:sp>
        <p:nvSpPr>
          <p:cNvPr id="2" name="Date Placeholder 1">
            <a:extLst>
              <a:ext uri="{FF2B5EF4-FFF2-40B4-BE49-F238E27FC236}">
                <a16:creationId xmlns:a16="http://schemas.microsoft.com/office/drawing/2014/main" id="{CE30E124-A8A7-0B77-A42C-B7EDEB5284F2}"/>
              </a:ext>
            </a:extLst>
          </p:cNvPr>
          <p:cNvSpPr>
            <a:spLocks noGrp="1"/>
          </p:cNvSpPr>
          <p:nvPr>
            <p:ph type="dt" sz="half" idx="10"/>
          </p:nvPr>
        </p:nvSpPr>
        <p:spPr/>
        <p:txBody>
          <a:bodyPr/>
          <a:lstStyle/>
          <a:p>
            <a:fld id="{100C0D6F-4F64-48AC-8E59-DE8BE5280483}" type="datetime1">
              <a:rPr lang="en-US" smtClean="0"/>
              <a:t>4/13/2024</a:t>
            </a:fld>
            <a:endParaRPr lang="en-US" dirty="0"/>
          </a:p>
        </p:txBody>
      </p:sp>
      <p:sp>
        <p:nvSpPr>
          <p:cNvPr id="3" name="Footer Placeholder 2">
            <a:extLst>
              <a:ext uri="{FF2B5EF4-FFF2-40B4-BE49-F238E27FC236}">
                <a16:creationId xmlns:a16="http://schemas.microsoft.com/office/drawing/2014/main" id="{20947814-06BC-D557-E776-04EE06A657AB}"/>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C4DFF727-6F9C-B908-E73E-50AD18246576}"/>
              </a:ext>
            </a:extLst>
          </p:cNvPr>
          <p:cNvSpPr>
            <a:spLocks noGrp="1"/>
          </p:cNvSpPr>
          <p:nvPr>
            <p:ph type="sldNum" sz="quarter" idx="12"/>
          </p:nvPr>
        </p:nvSpPr>
        <p:spPr/>
        <p:txBody>
          <a:bodyPr/>
          <a:lstStyle/>
          <a:p>
            <a:fld id="{48F63A3B-78C7-47BE-AE5E-E10140E04643}" type="slidenum">
              <a:rPr lang="en-US" smtClean="0"/>
              <a:t>13</a:t>
            </a:fld>
            <a:endParaRPr lang="en-US" dirty="0"/>
          </a:p>
        </p:txBody>
      </p:sp>
      <p:pic>
        <p:nvPicPr>
          <p:cNvPr id="27650" name="Picture 3">
            <a:extLst>
              <a:ext uri="{FF2B5EF4-FFF2-40B4-BE49-F238E27FC236}">
                <a16:creationId xmlns:a16="http://schemas.microsoft.com/office/drawing/2014/main" id="{9173F832-D0B8-4682-8422-824AC9A2C50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8500" y="895928"/>
            <a:ext cx="8445500" cy="5144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E57C78-92A1-47A5-9748-EF7A03205A37}"/>
              </a:ext>
            </a:extLst>
          </p:cNvPr>
          <p:cNvSpPr>
            <a:spLocks noGrp="1"/>
          </p:cNvSpPr>
          <p:nvPr>
            <p:ph type="title"/>
          </p:nvPr>
        </p:nvSpPr>
        <p:spPr/>
        <p:txBody>
          <a:bodyPr/>
          <a:lstStyle/>
          <a:p>
            <a:r>
              <a:rPr lang="en-US" b="1" i="0" u="none" strike="noStrike" baseline="0" dirty="0">
                <a:solidFill>
                  <a:srgbClr val="FF0000"/>
                </a:solidFill>
                <a:latin typeface="HelveticaNeueLTStd-BdEx"/>
              </a:rPr>
              <a:t>Multithreading Models</a:t>
            </a:r>
            <a:endParaRPr lang="en-US" sz="4800" dirty="0">
              <a:solidFill>
                <a:srgbClr val="FF0000"/>
              </a:solidFill>
            </a:endParaRPr>
          </a:p>
        </p:txBody>
      </p:sp>
      <p:sp>
        <p:nvSpPr>
          <p:cNvPr id="4" name="Content Placeholder 3">
            <a:extLst>
              <a:ext uri="{FF2B5EF4-FFF2-40B4-BE49-F238E27FC236}">
                <a16:creationId xmlns:a16="http://schemas.microsoft.com/office/drawing/2014/main" id="{C8769D01-A74F-42E2-917F-BF386C35C2F5}"/>
              </a:ext>
            </a:extLst>
          </p:cNvPr>
          <p:cNvSpPr>
            <a:spLocks noGrp="1"/>
          </p:cNvSpPr>
          <p:nvPr>
            <p:ph idx="1"/>
          </p:nvPr>
        </p:nvSpPr>
        <p:spPr/>
        <p:txBody>
          <a:bodyPr>
            <a:normAutofit fontScale="92500" lnSpcReduction="20000"/>
          </a:bodyPr>
          <a:lstStyle/>
          <a:p>
            <a:r>
              <a:rPr lang="en-US" sz="2400" dirty="0"/>
              <a:t>Our discussion so far has treated threads in a generic sense. However, support</a:t>
            </a:r>
            <a:r>
              <a:rPr lang="ar-JO" sz="2400" dirty="0"/>
              <a:t> </a:t>
            </a:r>
            <a:r>
              <a:rPr lang="en-US" sz="2400" dirty="0"/>
              <a:t>for threads may be provided either at </a:t>
            </a:r>
          </a:p>
          <a:p>
            <a:pPr lvl="1"/>
            <a:r>
              <a:rPr lang="en-US" sz="2400" dirty="0">
                <a:solidFill>
                  <a:srgbClr val="FF0000"/>
                </a:solidFill>
                <a:highlight>
                  <a:srgbClr val="FFFF00"/>
                </a:highlight>
              </a:rPr>
              <a:t>the user level</a:t>
            </a:r>
            <a:r>
              <a:rPr lang="en-US" sz="2400" dirty="0"/>
              <a:t>, for user threads,</a:t>
            </a:r>
            <a:r>
              <a:rPr lang="en-US" sz="2000" i="1" dirty="0"/>
              <a:t> User threads are supported above the kernel and</a:t>
            </a:r>
            <a:r>
              <a:rPr lang="ar-JO" sz="2000" i="1" dirty="0"/>
              <a:t> </a:t>
            </a:r>
            <a:r>
              <a:rPr lang="en-US" sz="2000" i="1" dirty="0"/>
              <a:t>are managed without kernel support, </a:t>
            </a:r>
            <a:endParaRPr lang="en-US" sz="2400" i="1" dirty="0"/>
          </a:p>
          <a:p>
            <a:pPr lvl="1"/>
            <a:r>
              <a:rPr lang="en-US" sz="2400" dirty="0">
                <a:solidFill>
                  <a:srgbClr val="FF0000"/>
                </a:solidFill>
                <a:highlight>
                  <a:srgbClr val="FFFF00"/>
                </a:highlight>
              </a:rPr>
              <a:t>or by the</a:t>
            </a:r>
            <a:r>
              <a:rPr lang="ar-JO" sz="2400" dirty="0">
                <a:solidFill>
                  <a:srgbClr val="FF0000"/>
                </a:solidFill>
                <a:highlight>
                  <a:srgbClr val="FFFF00"/>
                </a:highlight>
              </a:rPr>
              <a:t> </a:t>
            </a:r>
            <a:r>
              <a:rPr lang="en-US" sz="2400" dirty="0">
                <a:solidFill>
                  <a:srgbClr val="FF0000"/>
                </a:solidFill>
                <a:highlight>
                  <a:srgbClr val="FFFF00"/>
                </a:highlight>
              </a:rPr>
              <a:t>kernel</a:t>
            </a:r>
            <a:r>
              <a:rPr lang="en-US" sz="2400" dirty="0"/>
              <a:t>, for kernel threads. </a:t>
            </a:r>
            <a:r>
              <a:rPr lang="en-US" sz="2000" i="1" dirty="0"/>
              <a:t>whereas kernel threads are supported</a:t>
            </a:r>
            <a:r>
              <a:rPr lang="ar-JO" sz="2000" i="1" dirty="0"/>
              <a:t> </a:t>
            </a:r>
            <a:r>
              <a:rPr lang="en-US" sz="2000" i="1" dirty="0"/>
              <a:t>and managed directly by the operating system. </a:t>
            </a:r>
            <a:endParaRPr lang="ar-JO" sz="2000" i="1" dirty="0"/>
          </a:p>
          <a:p>
            <a:r>
              <a:rPr lang="en-US" sz="2400" dirty="0"/>
              <a:t>Virtually all current</a:t>
            </a:r>
            <a:r>
              <a:rPr lang="ar-JO" sz="2400" dirty="0"/>
              <a:t> </a:t>
            </a:r>
            <a:r>
              <a:rPr lang="en-US" sz="2400" dirty="0"/>
              <a:t>operating systems—including</a:t>
            </a:r>
            <a:r>
              <a:rPr lang="ar-JO" sz="2400" dirty="0"/>
              <a:t> </a:t>
            </a:r>
            <a:r>
              <a:rPr lang="en-US" sz="2400" dirty="0">
                <a:solidFill>
                  <a:srgbClr val="FF0000"/>
                </a:solidFill>
              </a:rPr>
              <a:t>Windows, Linux, and macOS</a:t>
            </a:r>
            <a:r>
              <a:rPr lang="en-US" sz="2400" dirty="0"/>
              <a:t>— support kernel</a:t>
            </a:r>
            <a:r>
              <a:rPr lang="ar-JO" sz="2400" dirty="0"/>
              <a:t> </a:t>
            </a:r>
            <a:r>
              <a:rPr lang="en-US" sz="2400" dirty="0"/>
              <a:t>threads.</a:t>
            </a:r>
          </a:p>
        </p:txBody>
      </p:sp>
      <p:sp>
        <p:nvSpPr>
          <p:cNvPr id="2" name="Date Placeholder 1">
            <a:extLst>
              <a:ext uri="{FF2B5EF4-FFF2-40B4-BE49-F238E27FC236}">
                <a16:creationId xmlns:a16="http://schemas.microsoft.com/office/drawing/2014/main" id="{75B671CD-9927-0B8F-3EE9-E8AF95D2F454}"/>
              </a:ext>
            </a:extLst>
          </p:cNvPr>
          <p:cNvSpPr>
            <a:spLocks noGrp="1"/>
          </p:cNvSpPr>
          <p:nvPr>
            <p:ph type="dt" sz="half" idx="10"/>
          </p:nvPr>
        </p:nvSpPr>
        <p:spPr/>
        <p:txBody>
          <a:bodyPr/>
          <a:lstStyle/>
          <a:p>
            <a:fld id="{14D43E1F-F76A-4AC7-9F89-B9BC0EE6885C}" type="datetime1">
              <a:rPr lang="en-US" smtClean="0"/>
              <a:t>4/13/2024</a:t>
            </a:fld>
            <a:endParaRPr lang="en-US" dirty="0"/>
          </a:p>
        </p:txBody>
      </p:sp>
      <p:sp>
        <p:nvSpPr>
          <p:cNvPr id="5" name="Footer Placeholder 4">
            <a:extLst>
              <a:ext uri="{FF2B5EF4-FFF2-40B4-BE49-F238E27FC236}">
                <a16:creationId xmlns:a16="http://schemas.microsoft.com/office/drawing/2014/main" id="{E6ED7CE3-DA92-B117-5E34-FE41C772B10A}"/>
              </a:ext>
            </a:extLst>
          </p:cNvPr>
          <p:cNvSpPr>
            <a:spLocks noGrp="1"/>
          </p:cNvSpPr>
          <p:nvPr>
            <p:ph type="ftr" sz="quarter" idx="11"/>
          </p:nvPr>
        </p:nvSpPr>
        <p:spPr/>
        <p:txBody>
          <a:bodyPr/>
          <a:lstStyle/>
          <a:p>
            <a:r>
              <a:rPr lang="en-US"/>
              <a:t>updated by atef obeidat</a:t>
            </a:r>
            <a:endParaRPr lang="en-US" dirty="0"/>
          </a:p>
        </p:txBody>
      </p:sp>
      <p:sp>
        <p:nvSpPr>
          <p:cNvPr id="6" name="Slide Number Placeholder 5">
            <a:extLst>
              <a:ext uri="{FF2B5EF4-FFF2-40B4-BE49-F238E27FC236}">
                <a16:creationId xmlns:a16="http://schemas.microsoft.com/office/drawing/2014/main" id="{ED04B3F6-9887-49E2-0F65-DB0E6463CBBF}"/>
              </a:ext>
            </a:extLst>
          </p:cNvPr>
          <p:cNvSpPr>
            <a:spLocks noGrp="1"/>
          </p:cNvSpPr>
          <p:nvPr>
            <p:ph type="sldNum" sz="quarter" idx="12"/>
          </p:nvPr>
        </p:nvSpPr>
        <p:spPr/>
        <p:txBody>
          <a:bodyPr/>
          <a:lstStyle/>
          <a:p>
            <a:fld id="{48F63A3B-78C7-47BE-AE5E-E10140E04643}" type="slidenum">
              <a:rPr lang="en-US" smtClean="0"/>
              <a:t>14</a:t>
            </a:fld>
            <a:endParaRPr lang="en-US" dirty="0"/>
          </a:p>
        </p:txBody>
      </p:sp>
    </p:spTree>
    <p:extLst>
      <p:ext uri="{BB962C8B-B14F-4D97-AF65-F5344CB8AC3E}">
        <p14:creationId xmlns:p14="http://schemas.microsoft.com/office/powerpoint/2010/main" val="2050004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30A3DCFF-94B3-4FFC-B2A6-FE43AD17947C}"/>
              </a:ext>
            </a:extLst>
          </p:cNvPr>
          <p:cNvSpPr>
            <a:spLocks noGrp="1" noChangeArrowheads="1"/>
          </p:cNvSpPr>
          <p:nvPr>
            <p:ph type="title"/>
          </p:nvPr>
        </p:nvSpPr>
        <p:spPr>
          <a:xfrm>
            <a:off x="609599" y="528506"/>
            <a:ext cx="7826375" cy="576262"/>
          </a:xfrm>
        </p:spPr>
        <p:txBody>
          <a:bodyPr>
            <a:normAutofit fontScale="90000"/>
          </a:bodyPr>
          <a:lstStyle/>
          <a:p>
            <a:pPr eaLnBrk="1" hangingPunct="1"/>
            <a:r>
              <a:rPr lang="en-US" altLang="en-US" dirty="0">
                <a:solidFill>
                  <a:srgbClr val="FF0000"/>
                </a:solidFill>
              </a:rPr>
              <a:t>User Threads and Kernel Threads</a:t>
            </a:r>
          </a:p>
        </p:txBody>
      </p:sp>
      <p:sp>
        <p:nvSpPr>
          <p:cNvPr id="28674" name="Rectangle 3">
            <a:extLst>
              <a:ext uri="{FF2B5EF4-FFF2-40B4-BE49-F238E27FC236}">
                <a16:creationId xmlns:a16="http://schemas.microsoft.com/office/drawing/2014/main" id="{BA746B80-CDA4-4092-8028-5DF7040388F9}"/>
              </a:ext>
            </a:extLst>
          </p:cNvPr>
          <p:cNvSpPr>
            <a:spLocks noGrp="1" noChangeArrowheads="1"/>
          </p:cNvSpPr>
          <p:nvPr>
            <p:ph idx="1"/>
          </p:nvPr>
        </p:nvSpPr>
        <p:spPr>
          <a:xfrm>
            <a:off x="609599" y="1431235"/>
            <a:ext cx="7560366" cy="4620067"/>
          </a:xfrm>
        </p:spPr>
        <p:txBody>
          <a:bodyPr>
            <a:normAutofit fontScale="92500"/>
          </a:bodyPr>
          <a:lstStyle/>
          <a:p>
            <a:r>
              <a:rPr lang="en-US" altLang="en-US" b="1" dirty="0">
                <a:solidFill>
                  <a:srgbClr val="006699"/>
                </a:solidFill>
                <a:latin typeface="+mj-lt"/>
              </a:rPr>
              <a:t>User threads </a:t>
            </a:r>
            <a:r>
              <a:rPr lang="en-US" altLang="en-US" dirty="0"/>
              <a:t>- management done by user-level threads library</a:t>
            </a:r>
          </a:p>
          <a:p>
            <a:r>
              <a:rPr lang="en-US" altLang="en-US" dirty="0"/>
              <a:t>Three primary thread libraries:</a:t>
            </a:r>
          </a:p>
          <a:p>
            <a:pPr lvl="1"/>
            <a:r>
              <a:rPr lang="en-US" altLang="en-US" sz="1800" dirty="0"/>
              <a:t> POSIX </a:t>
            </a:r>
            <a:r>
              <a:rPr lang="en-US" altLang="en-US" sz="1800" b="1" dirty="0" err="1">
                <a:solidFill>
                  <a:srgbClr val="006699"/>
                </a:solidFill>
                <a:latin typeface="+mj-lt"/>
              </a:rPr>
              <a:t>Pthreads</a:t>
            </a:r>
            <a:endParaRPr lang="en-US" altLang="en-US" sz="1800" b="1" dirty="0">
              <a:solidFill>
                <a:srgbClr val="006699"/>
              </a:solidFill>
              <a:latin typeface="+mj-lt"/>
            </a:endParaRPr>
          </a:p>
          <a:p>
            <a:pPr lvl="1"/>
            <a:r>
              <a:rPr lang="en-US" altLang="en-US" sz="1800" dirty="0"/>
              <a:t> Windows threads</a:t>
            </a:r>
          </a:p>
          <a:p>
            <a:pPr lvl="1"/>
            <a:r>
              <a:rPr lang="en-US" altLang="en-US" sz="1800" dirty="0"/>
              <a:t> Java threads</a:t>
            </a:r>
          </a:p>
          <a:p>
            <a:r>
              <a:rPr lang="en-US" altLang="en-US" b="1" dirty="0">
                <a:solidFill>
                  <a:srgbClr val="006699"/>
                </a:solidFill>
                <a:latin typeface="+mj-lt"/>
              </a:rPr>
              <a:t>Kernel threads </a:t>
            </a:r>
            <a:r>
              <a:rPr lang="en-US" altLang="en-US" dirty="0"/>
              <a:t>- Supported by the Kernel</a:t>
            </a:r>
          </a:p>
          <a:p>
            <a:r>
              <a:rPr lang="en-US" altLang="en-US" dirty="0"/>
              <a:t>Examples – virtually all general -purpose operating systems, including:</a:t>
            </a:r>
          </a:p>
          <a:p>
            <a:pPr lvl="1"/>
            <a:r>
              <a:rPr lang="en-US" altLang="en-US" sz="1800" dirty="0"/>
              <a:t>Windows </a:t>
            </a:r>
          </a:p>
          <a:p>
            <a:pPr lvl="1"/>
            <a:r>
              <a:rPr lang="en-US" altLang="en-US" sz="1800" dirty="0"/>
              <a:t>Linux</a:t>
            </a:r>
          </a:p>
          <a:p>
            <a:pPr lvl="1"/>
            <a:r>
              <a:rPr lang="en-US" altLang="en-US" sz="1800" dirty="0"/>
              <a:t>Mac OS X</a:t>
            </a:r>
          </a:p>
          <a:p>
            <a:pPr lvl="1"/>
            <a:r>
              <a:rPr lang="en-US" altLang="en-US" sz="1800" dirty="0"/>
              <a:t>iOS</a:t>
            </a:r>
          </a:p>
          <a:p>
            <a:pPr lvl="1"/>
            <a:r>
              <a:rPr lang="en-US" altLang="en-US" sz="1800" dirty="0"/>
              <a:t>Android</a:t>
            </a:r>
          </a:p>
          <a:p>
            <a:pPr lvl="1"/>
            <a:endParaRPr lang="en-US" altLang="en-US" sz="1800" dirty="0"/>
          </a:p>
        </p:txBody>
      </p:sp>
      <p:sp>
        <p:nvSpPr>
          <p:cNvPr id="2" name="Date Placeholder 1">
            <a:extLst>
              <a:ext uri="{FF2B5EF4-FFF2-40B4-BE49-F238E27FC236}">
                <a16:creationId xmlns:a16="http://schemas.microsoft.com/office/drawing/2014/main" id="{82929ECD-CE88-41F9-1D2E-F942630912EB}"/>
              </a:ext>
            </a:extLst>
          </p:cNvPr>
          <p:cNvSpPr>
            <a:spLocks noGrp="1"/>
          </p:cNvSpPr>
          <p:nvPr>
            <p:ph type="dt" sz="half" idx="10"/>
          </p:nvPr>
        </p:nvSpPr>
        <p:spPr/>
        <p:txBody>
          <a:bodyPr/>
          <a:lstStyle/>
          <a:p>
            <a:fld id="{26A5D5BE-B68C-46A4-BB42-8F293B3607E7}" type="datetime1">
              <a:rPr lang="en-US" smtClean="0"/>
              <a:t>4/13/2024</a:t>
            </a:fld>
            <a:endParaRPr lang="en-US" dirty="0"/>
          </a:p>
        </p:txBody>
      </p:sp>
      <p:sp>
        <p:nvSpPr>
          <p:cNvPr id="3" name="Footer Placeholder 2">
            <a:extLst>
              <a:ext uri="{FF2B5EF4-FFF2-40B4-BE49-F238E27FC236}">
                <a16:creationId xmlns:a16="http://schemas.microsoft.com/office/drawing/2014/main" id="{7AA7CC21-52F6-F4C0-AEE2-84CFA6F307F6}"/>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66E91C59-7CA2-3D67-CB1C-FA9E53BAC1F4}"/>
              </a:ext>
            </a:extLst>
          </p:cNvPr>
          <p:cNvSpPr>
            <a:spLocks noGrp="1"/>
          </p:cNvSpPr>
          <p:nvPr>
            <p:ph type="sldNum" sz="quarter" idx="12"/>
          </p:nvPr>
        </p:nvSpPr>
        <p:spPr/>
        <p:txBody>
          <a:bodyPr/>
          <a:lstStyle/>
          <a:p>
            <a:fld id="{48F63A3B-78C7-47BE-AE5E-E10140E04643}" type="slidenum">
              <a:rPr lang="en-US" smtClean="0"/>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13ED592C-0C4E-45A3-A96C-C192AD94647B}"/>
              </a:ext>
            </a:extLst>
          </p:cNvPr>
          <p:cNvSpPr>
            <a:spLocks noGrp="1"/>
          </p:cNvSpPr>
          <p:nvPr>
            <p:ph type="title"/>
          </p:nvPr>
        </p:nvSpPr>
        <p:spPr>
          <a:xfrm>
            <a:off x="609599" y="609600"/>
            <a:ext cx="6785114" cy="781878"/>
          </a:xfrm>
        </p:spPr>
        <p:txBody>
          <a:bodyPr/>
          <a:lstStyle/>
          <a:p>
            <a:r>
              <a:rPr lang="en-US" altLang="en-US" dirty="0">
                <a:solidFill>
                  <a:srgbClr val="FF0000"/>
                </a:solidFill>
              </a:rPr>
              <a:t>User and Kernel Threads</a:t>
            </a:r>
          </a:p>
        </p:txBody>
      </p:sp>
      <p:sp>
        <p:nvSpPr>
          <p:cNvPr id="2" name="Date Placeholder 1">
            <a:extLst>
              <a:ext uri="{FF2B5EF4-FFF2-40B4-BE49-F238E27FC236}">
                <a16:creationId xmlns:a16="http://schemas.microsoft.com/office/drawing/2014/main" id="{5CC1FCBC-30C6-5D07-96CB-149A2CC92AFF}"/>
              </a:ext>
            </a:extLst>
          </p:cNvPr>
          <p:cNvSpPr>
            <a:spLocks noGrp="1"/>
          </p:cNvSpPr>
          <p:nvPr>
            <p:ph type="dt" sz="half" idx="10"/>
          </p:nvPr>
        </p:nvSpPr>
        <p:spPr/>
        <p:txBody>
          <a:bodyPr/>
          <a:lstStyle/>
          <a:p>
            <a:fld id="{C2A68AF9-6065-498E-8E74-E8C0F62D06F2}" type="datetime1">
              <a:rPr lang="en-US" smtClean="0"/>
              <a:t>4/13/2024</a:t>
            </a:fld>
            <a:endParaRPr lang="en-US" dirty="0"/>
          </a:p>
        </p:txBody>
      </p:sp>
      <p:sp>
        <p:nvSpPr>
          <p:cNvPr id="3" name="Footer Placeholder 2">
            <a:extLst>
              <a:ext uri="{FF2B5EF4-FFF2-40B4-BE49-F238E27FC236}">
                <a16:creationId xmlns:a16="http://schemas.microsoft.com/office/drawing/2014/main" id="{9C49005A-DFE8-756D-A701-2ECAD6F8F428}"/>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AB7D958A-68A6-F2AB-7179-176F08994FD4}"/>
              </a:ext>
            </a:extLst>
          </p:cNvPr>
          <p:cNvSpPr>
            <a:spLocks noGrp="1"/>
          </p:cNvSpPr>
          <p:nvPr>
            <p:ph type="sldNum" sz="quarter" idx="12"/>
          </p:nvPr>
        </p:nvSpPr>
        <p:spPr/>
        <p:txBody>
          <a:bodyPr/>
          <a:lstStyle/>
          <a:p>
            <a:fld id="{48F63A3B-78C7-47BE-AE5E-E10140E04643}" type="slidenum">
              <a:rPr lang="en-US" smtClean="0"/>
              <a:t>16</a:t>
            </a:fld>
            <a:endParaRPr lang="en-US" dirty="0"/>
          </a:p>
        </p:txBody>
      </p:sp>
      <p:pic>
        <p:nvPicPr>
          <p:cNvPr id="30722" name="Picture 1">
            <a:extLst>
              <a:ext uri="{FF2B5EF4-FFF2-40B4-BE49-F238E27FC236}">
                <a16:creationId xmlns:a16="http://schemas.microsoft.com/office/drawing/2014/main" id="{2BDB5D90-D947-41F8-BDFE-DD7C4ED2F1D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20938" y="1901825"/>
            <a:ext cx="4826000" cy="266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27C60FED-BD89-4655-8023-6D89846C2197}"/>
              </a:ext>
            </a:extLst>
          </p:cNvPr>
          <p:cNvSpPr>
            <a:spLocks noGrp="1" noChangeArrowheads="1"/>
          </p:cNvSpPr>
          <p:nvPr>
            <p:ph type="title"/>
          </p:nvPr>
        </p:nvSpPr>
        <p:spPr>
          <a:xfrm>
            <a:off x="457200" y="226237"/>
            <a:ext cx="8229600" cy="1016154"/>
          </a:xfrm>
        </p:spPr>
        <p:txBody>
          <a:bodyPr>
            <a:noAutofit/>
          </a:bodyPr>
          <a:lstStyle/>
          <a:p>
            <a:pPr eaLnBrk="1" hangingPunct="1"/>
            <a:r>
              <a:rPr lang="en-US" altLang="en-US" sz="4000" dirty="0">
                <a:solidFill>
                  <a:srgbClr val="FF0000"/>
                </a:solidFill>
              </a:rPr>
              <a:t>Multithreading Models</a:t>
            </a:r>
          </a:p>
        </p:txBody>
      </p:sp>
      <p:sp>
        <p:nvSpPr>
          <p:cNvPr id="31746" name="Rectangle 3">
            <a:extLst>
              <a:ext uri="{FF2B5EF4-FFF2-40B4-BE49-F238E27FC236}">
                <a16:creationId xmlns:a16="http://schemas.microsoft.com/office/drawing/2014/main" id="{0986761F-3FB5-4AD0-B6CE-CA9BD246E11B}"/>
              </a:ext>
            </a:extLst>
          </p:cNvPr>
          <p:cNvSpPr>
            <a:spLocks noGrp="1" noChangeArrowheads="1"/>
          </p:cNvSpPr>
          <p:nvPr>
            <p:ph idx="1"/>
          </p:nvPr>
        </p:nvSpPr>
        <p:spPr>
          <a:xfrm>
            <a:off x="609599" y="1500810"/>
            <a:ext cx="6347714" cy="3061251"/>
          </a:xfrm>
        </p:spPr>
        <p:txBody>
          <a:bodyPr>
            <a:normAutofit/>
          </a:bodyPr>
          <a:lstStyle/>
          <a:p>
            <a:r>
              <a:rPr lang="en-US" altLang="en-US" sz="2000" b="1" dirty="0"/>
              <a:t>Many-to-One</a:t>
            </a:r>
            <a:br>
              <a:rPr lang="en-US" altLang="en-US" sz="2000" b="1" dirty="0"/>
            </a:br>
            <a:endParaRPr lang="en-US" altLang="en-US" sz="2000" b="1" dirty="0"/>
          </a:p>
          <a:p>
            <a:r>
              <a:rPr lang="en-US" altLang="en-US" sz="2000" b="1" dirty="0"/>
              <a:t>One-to-One</a:t>
            </a:r>
            <a:br>
              <a:rPr lang="en-US" altLang="en-US" sz="2000" b="1" dirty="0"/>
            </a:br>
            <a:endParaRPr lang="en-US" altLang="en-US" sz="2000" b="1" dirty="0"/>
          </a:p>
          <a:p>
            <a:r>
              <a:rPr lang="en-US" altLang="en-US" sz="2000" b="1" dirty="0"/>
              <a:t>Many-to-Many</a:t>
            </a:r>
          </a:p>
          <a:p>
            <a:pPr marL="0" indent="0">
              <a:buNone/>
            </a:pPr>
            <a:endParaRPr lang="en-US" altLang="en-US" sz="2000" dirty="0"/>
          </a:p>
          <a:p>
            <a:r>
              <a:rPr lang="en-US" altLang="en-US" sz="2000" b="1" dirty="0"/>
              <a:t>Two level model </a:t>
            </a:r>
          </a:p>
          <a:p>
            <a:endParaRPr lang="en-US" altLang="en-US" sz="2000" dirty="0"/>
          </a:p>
        </p:txBody>
      </p:sp>
      <p:sp>
        <p:nvSpPr>
          <p:cNvPr id="2" name="Date Placeholder 1">
            <a:extLst>
              <a:ext uri="{FF2B5EF4-FFF2-40B4-BE49-F238E27FC236}">
                <a16:creationId xmlns:a16="http://schemas.microsoft.com/office/drawing/2014/main" id="{4BFEB915-1385-0393-D247-5E23D6649CEB}"/>
              </a:ext>
            </a:extLst>
          </p:cNvPr>
          <p:cNvSpPr>
            <a:spLocks noGrp="1"/>
          </p:cNvSpPr>
          <p:nvPr>
            <p:ph type="dt" sz="half" idx="10"/>
          </p:nvPr>
        </p:nvSpPr>
        <p:spPr/>
        <p:txBody>
          <a:bodyPr/>
          <a:lstStyle/>
          <a:p>
            <a:fld id="{04582602-BD99-407D-8C99-94B122713B9D}" type="datetime1">
              <a:rPr lang="en-US" smtClean="0"/>
              <a:t>4/13/2024</a:t>
            </a:fld>
            <a:endParaRPr lang="en-US" dirty="0"/>
          </a:p>
        </p:txBody>
      </p:sp>
      <p:sp>
        <p:nvSpPr>
          <p:cNvPr id="3" name="Footer Placeholder 2">
            <a:extLst>
              <a:ext uri="{FF2B5EF4-FFF2-40B4-BE49-F238E27FC236}">
                <a16:creationId xmlns:a16="http://schemas.microsoft.com/office/drawing/2014/main" id="{7AF6EA45-511B-592C-92EE-F40E43E32E3B}"/>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2F7C1D24-0E5E-5703-07FF-B3D66C62ABFB}"/>
              </a:ext>
            </a:extLst>
          </p:cNvPr>
          <p:cNvSpPr>
            <a:spLocks noGrp="1"/>
          </p:cNvSpPr>
          <p:nvPr>
            <p:ph type="sldNum" sz="quarter" idx="12"/>
          </p:nvPr>
        </p:nvSpPr>
        <p:spPr/>
        <p:txBody>
          <a:bodyPr/>
          <a:lstStyle/>
          <a:p>
            <a:fld id="{48F63A3B-78C7-47BE-AE5E-E10140E04643}" type="slidenum">
              <a:rPr lang="en-US" smtClean="0"/>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1428C89C-D1C7-44B6-B4FD-1F83ABA1D420}"/>
              </a:ext>
            </a:extLst>
          </p:cNvPr>
          <p:cNvSpPr>
            <a:spLocks noGrp="1" noChangeArrowheads="1"/>
          </p:cNvSpPr>
          <p:nvPr>
            <p:ph type="title"/>
          </p:nvPr>
        </p:nvSpPr>
        <p:spPr>
          <a:xfrm>
            <a:off x="457200" y="222868"/>
            <a:ext cx="8229600" cy="576262"/>
          </a:xfrm>
        </p:spPr>
        <p:txBody>
          <a:bodyPr>
            <a:normAutofit fontScale="90000"/>
          </a:bodyPr>
          <a:lstStyle/>
          <a:p>
            <a:pPr eaLnBrk="1" hangingPunct="1"/>
            <a:r>
              <a:rPr lang="en-US" altLang="en-US" dirty="0"/>
              <a:t>1.Many-to-One</a:t>
            </a:r>
          </a:p>
        </p:txBody>
      </p:sp>
      <p:sp>
        <p:nvSpPr>
          <p:cNvPr id="33794" name="Rectangle 3">
            <a:extLst>
              <a:ext uri="{FF2B5EF4-FFF2-40B4-BE49-F238E27FC236}">
                <a16:creationId xmlns:a16="http://schemas.microsoft.com/office/drawing/2014/main" id="{5D915EFA-C388-487C-B6EF-E80827050A34}"/>
              </a:ext>
            </a:extLst>
          </p:cNvPr>
          <p:cNvSpPr>
            <a:spLocks noGrp="1" noChangeArrowheads="1"/>
          </p:cNvSpPr>
          <p:nvPr>
            <p:ph idx="1"/>
          </p:nvPr>
        </p:nvSpPr>
        <p:spPr>
          <a:xfrm>
            <a:off x="457200" y="1154884"/>
            <a:ext cx="7721730" cy="4530725"/>
          </a:xfrm>
        </p:spPr>
        <p:txBody>
          <a:bodyPr/>
          <a:lstStyle/>
          <a:p>
            <a:r>
              <a:rPr lang="en-US" altLang="en-US" dirty="0"/>
              <a:t>Many user-level threads mapped to single kernel thread</a:t>
            </a:r>
          </a:p>
          <a:p>
            <a:r>
              <a:rPr lang="en-US" altLang="en-US" dirty="0"/>
              <a:t>One thread blocking causes all to block</a:t>
            </a:r>
          </a:p>
          <a:p>
            <a:r>
              <a:rPr lang="en-US" altLang="en-US" dirty="0"/>
              <a:t>Multiple threads may not run in parallel on multicores system because only one may be in kernel at a time</a:t>
            </a:r>
          </a:p>
          <a:p>
            <a:r>
              <a:rPr lang="en-US" altLang="en-US" dirty="0"/>
              <a:t>Few systems currently use this model</a:t>
            </a:r>
          </a:p>
          <a:p>
            <a:r>
              <a:rPr lang="en-US" altLang="en-US" dirty="0"/>
              <a:t>Examples:</a:t>
            </a:r>
          </a:p>
          <a:p>
            <a:pPr lvl="1"/>
            <a:r>
              <a:rPr lang="en-US" altLang="en-US" b="1" dirty="0">
                <a:solidFill>
                  <a:srgbClr val="006699"/>
                </a:solidFill>
                <a:latin typeface="+mj-lt"/>
              </a:rPr>
              <a:t>Solaris Green Threads</a:t>
            </a:r>
          </a:p>
          <a:p>
            <a:pPr lvl="1"/>
            <a:r>
              <a:rPr lang="en-US" altLang="en-US" b="1" dirty="0">
                <a:solidFill>
                  <a:srgbClr val="006699"/>
                </a:solidFill>
                <a:latin typeface="+mj-lt"/>
              </a:rPr>
              <a:t>GNU Portable Threads</a:t>
            </a:r>
          </a:p>
        </p:txBody>
      </p:sp>
      <p:sp>
        <p:nvSpPr>
          <p:cNvPr id="2" name="Date Placeholder 1">
            <a:extLst>
              <a:ext uri="{FF2B5EF4-FFF2-40B4-BE49-F238E27FC236}">
                <a16:creationId xmlns:a16="http://schemas.microsoft.com/office/drawing/2014/main" id="{9C8C13CB-0E1E-E45A-3C1A-8EAE32E2AEEC}"/>
              </a:ext>
            </a:extLst>
          </p:cNvPr>
          <p:cNvSpPr>
            <a:spLocks noGrp="1"/>
          </p:cNvSpPr>
          <p:nvPr>
            <p:ph type="dt" sz="half" idx="10"/>
          </p:nvPr>
        </p:nvSpPr>
        <p:spPr/>
        <p:txBody>
          <a:bodyPr/>
          <a:lstStyle/>
          <a:p>
            <a:fld id="{1EFE06F2-27B6-4A22-88ED-E8FF63CDFC7A}" type="datetime1">
              <a:rPr lang="en-US" smtClean="0"/>
              <a:t>4/13/2024</a:t>
            </a:fld>
            <a:endParaRPr lang="en-US" dirty="0"/>
          </a:p>
        </p:txBody>
      </p:sp>
      <p:sp>
        <p:nvSpPr>
          <p:cNvPr id="3" name="Footer Placeholder 2">
            <a:extLst>
              <a:ext uri="{FF2B5EF4-FFF2-40B4-BE49-F238E27FC236}">
                <a16:creationId xmlns:a16="http://schemas.microsoft.com/office/drawing/2014/main" id="{53F782FD-6667-5272-E7CD-683204A4E485}"/>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D4D4C132-1F3E-D1B0-12B3-454CE4179740}"/>
              </a:ext>
            </a:extLst>
          </p:cNvPr>
          <p:cNvSpPr>
            <a:spLocks noGrp="1"/>
          </p:cNvSpPr>
          <p:nvPr>
            <p:ph type="sldNum" sz="quarter" idx="12"/>
          </p:nvPr>
        </p:nvSpPr>
        <p:spPr/>
        <p:txBody>
          <a:bodyPr/>
          <a:lstStyle/>
          <a:p>
            <a:fld id="{48F63A3B-78C7-47BE-AE5E-E10140E04643}" type="slidenum">
              <a:rPr lang="en-US" smtClean="0"/>
              <a:t>18</a:t>
            </a:fld>
            <a:endParaRPr lang="en-US" dirty="0"/>
          </a:p>
        </p:txBody>
      </p:sp>
      <p:pic>
        <p:nvPicPr>
          <p:cNvPr id="33795" name="Picture 1">
            <a:extLst>
              <a:ext uri="{FF2B5EF4-FFF2-40B4-BE49-F238E27FC236}">
                <a16:creationId xmlns:a16="http://schemas.microsoft.com/office/drawing/2014/main" id="{6B215585-915F-44AD-918A-FBC0A438F8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67711" y="3420246"/>
            <a:ext cx="4501646" cy="2702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4FBEFB0E-7F3F-4EF4-9827-FE005FBB4E98}"/>
              </a:ext>
            </a:extLst>
          </p:cNvPr>
          <p:cNvSpPr>
            <a:spLocks noGrp="1" noChangeArrowheads="1"/>
          </p:cNvSpPr>
          <p:nvPr>
            <p:ph type="title"/>
          </p:nvPr>
        </p:nvSpPr>
        <p:spPr>
          <a:xfrm>
            <a:off x="457200" y="224522"/>
            <a:ext cx="8229600" cy="576262"/>
          </a:xfrm>
        </p:spPr>
        <p:txBody>
          <a:bodyPr>
            <a:normAutofit fontScale="90000"/>
          </a:bodyPr>
          <a:lstStyle/>
          <a:p>
            <a:pPr eaLnBrk="1" hangingPunct="1"/>
            <a:r>
              <a:rPr lang="en-US" altLang="en-US" dirty="0"/>
              <a:t>2.One-to-One</a:t>
            </a:r>
          </a:p>
        </p:txBody>
      </p:sp>
      <p:sp>
        <p:nvSpPr>
          <p:cNvPr id="35842" name="Rectangle 3">
            <a:extLst>
              <a:ext uri="{FF2B5EF4-FFF2-40B4-BE49-F238E27FC236}">
                <a16:creationId xmlns:a16="http://schemas.microsoft.com/office/drawing/2014/main" id="{C9353153-B94C-4BC4-A944-80F7FC0E3196}"/>
              </a:ext>
            </a:extLst>
          </p:cNvPr>
          <p:cNvSpPr>
            <a:spLocks noGrp="1" noChangeArrowheads="1"/>
          </p:cNvSpPr>
          <p:nvPr>
            <p:ph idx="1"/>
          </p:nvPr>
        </p:nvSpPr>
        <p:spPr>
          <a:xfrm>
            <a:off x="806449" y="1233488"/>
            <a:ext cx="7628423" cy="4530725"/>
          </a:xfrm>
        </p:spPr>
        <p:txBody>
          <a:bodyPr/>
          <a:lstStyle/>
          <a:p>
            <a:r>
              <a:rPr lang="en-US" altLang="en-US" dirty="0"/>
              <a:t>Each user-level thread maps to kernel thread</a:t>
            </a:r>
          </a:p>
          <a:p>
            <a:r>
              <a:rPr lang="en-US" altLang="en-US" dirty="0"/>
              <a:t>Creating a user-level thread creates a kernel thread</a:t>
            </a:r>
          </a:p>
          <a:p>
            <a:r>
              <a:rPr lang="en-US" altLang="en-US" dirty="0"/>
              <a:t>More concurrency than many-to-one</a:t>
            </a:r>
          </a:p>
          <a:p>
            <a:r>
              <a:rPr lang="en-US" altLang="en-US" dirty="0"/>
              <a:t>Number of threads per process sometimes restricted due to overhead</a:t>
            </a:r>
            <a:r>
              <a:rPr lang="ar-JO" altLang="en-US" dirty="0"/>
              <a:t> </a:t>
            </a:r>
            <a:r>
              <a:rPr lang="ar-JO" altLang="en-US" sz="1600" i="1" dirty="0"/>
              <a:t>عدد مؤشرات الترابط لكل عملية مقيد في بعض الأحيان بسبب الحمل</a:t>
            </a:r>
            <a:endParaRPr lang="en-US" altLang="en-US" i="1" dirty="0"/>
          </a:p>
          <a:p>
            <a:r>
              <a:rPr lang="en-US" altLang="en-US" dirty="0"/>
              <a:t>Examples</a:t>
            </a:r>
          </a:p>
          <a:p>
            <a:pPr lvl="1"/>
            <a:r>
              <a:rPr lang="en-US" altLang="en-US" dirty="0"/>
              <a:t>Windows</a:t>
            </a:r>
          </a:p>
          <a:p>
            <a:pPr lvl="1"/>
            <a:r>
              <a:rPr lang="en-US" altLang="en-US" dirty="0"/>
              <a:t>Linux</a:t>
            </a:r>
          </a:p>
        </p:txBody>
      </p:sp>
      <p:sp>
        <p:nvSpPr>
          <p:cNvPr id="2" name="Date Placeholder 1">
            <a:extLst>
              <a:ext uri="{FF2B5EF4-FFF2-40B4-BE49-F238E27FC236}">
                <a16:creationId xmlns:a16="http://schemas.microsoft.com/office/drawing/2014/main" id="{1DAACC33-BA3E-73D3-847D-214A71FFAF76}"/>
              </a:ext>
            </a:extLst>
          </p:cNvPr>
          <p:cNvSpPr>
            <a:spLocks noGrp="1"/>
          </p:cNvSpPr>
          <p:nvPr>
            <p:ph type="dt" sz="half" idx="10"/>
          </p:nvPr>
        </p:nvSpPr>
        <p:spPr/>
        <p:txBody>
          <a:bodyPr/>
          <a:lstStyle/>
          <a:p>
            <a:fld id="{4FF67173-DE16-4998-B936-86A6BBB465EA}" type="datetime1">
              <a:rPr lang="en-US" smtClean="0"/>
              <a:t>4/13/2024</a:t>
            </a:fld>
            <a:endParaRPr lang="en-US" dirty="0"/>
          </a:p>
        </p:txBody>
      </p:sp>
      <p:sp>
        <p:nvSpPr>
          <p:cNvPr id="3" name="Footer Placeholder 2">
            <a:extLst>
              <a:ext uri="{FF2B5EF4-FFF2-40B4-BE49-F238E27FC236}">
                <a16:creationId xmlns:a16="http://schemas.microsoft.com/office/drawing/2014/main" id="{BF0BFF6C-FC0F-E4AA-C576-920CCD08ABFB}"/>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5931A776-0CAD-C545-397B-06C3CE7EE846}"/>
              </a:ext>
            </a:extLst>
          </p:cNvPr>
          <p:cNvSpPr>
            <a:spLocks noGrp="1"/>
          </p:cNvSpPr>
          <p:nvPr>
            <p:ph type="sldNum" sz="quarter" idx="12"/>
          </p:nvPr>
        </p:nvSpPr>
        <p:spPr/>
        <p:txBody>
          <a:bodyPr/>
          <a:lstStyle/>
          <a:p>
            <a:fld id="{48F63A3B-78C7-47BE-AE5E-E10140E04643}" type="slidenum">
              <a:rPr lang="en-US" smtClean="0"/>
              <a:t>19</a:t>
            </a:fld>
            <a:endParaRPr lang="en-US" dirty="0"/>
          </a:p>
        </p:txBody>
      </p:sp>
      <p:pic>
        <p:nvPicPr>
          <p:cNvPr id="35843" name="Picture 1">
            <a:extLst>
              <a:ext uri="{FF2B5EF4-FFF2-40B4-BE49-F238E27FC236}">
                <a16:creationId xmlns:a16="http://schemas.microsoft.com/office/drawing/2014/main" id="{EF8F904A-031A-45E1-82C4-C375DF8A63A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84625" y="3349625"/>
            <a:ext cx="3914775"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C6AC490D-7E71-499F-80A2-0817A44950E2}"/>
              </a:ext>
            </a:extLst>
          </p:cNvPr>
          <p:cNvSpPr>
            <a:spLocks noGrp="1" noChangeArrowheads="1"/>
          </p:cNvSpPr>
          <p:nvPr>
            <p:ph type="title"/>
          </p:nvPr>
        </p:nvSpPr>
        <p:spPr>
          <a:xfrm>
            <a:off x="457200" y="224522"/>
            <a:ext cx="8229600" cy="576262"/>
          </a:xfrm>
        </p:spPr>
        <p:txBody>
          <a:bodyPr>
            <a:normAutofit fontScale="90000"/>
          </a:bodyPr>
          <a:lstStyle/>
          <a:p>
            <a:pPr eaLnBrk="1" hangingPunct="1"/>
            <a:r>
              <a:rPr lang="en-US" altLang="en-US" dirty="0"/>
              <a:t>3.Many-to-Many Model</a:t>
            </a:r>
          </a:p>
        </p:txBody>
      </p:sp>
      <p:sp>
        <p:nvSpPr>
          <p:cNvPr id="37890" name="Rectangle 3">
            <a:extLst>
              <a:ext uri="{FF2B5EF4-FFF2-40B4-BE49-F238E27FC236}">
                <a16:creationId xmlns:a16="http://schemas.microsoft.com/office/drawing/2014/main" id="{6A3ECDFD-78CA-4E72-9500-110C17908290}"/>
              </a:ext>
            </a:extLst>
          </p:cNvPr>
          <p:cNvSpPr>
            <a:spLocks noGrp="1" noChangeArrowheads="1"/>
          </p:cNvSpPr>
          <p:nvPr>
            <p:ph idx="1"/>
          </p:nvPr>
        </p:nvSpPr>
        <p:spPr>
          <a:xfrm>
            <a:off x="827088" y="1155700"/>
            <a:ext cx="7607785" cy="4445000"/>
          </a:xfrm>
        </p:spPr>
        <p:txBody>
          <a:bodyPr/>
          <a:lstStyle/>
          <a:p>
            <a:r>
              <a:rPr lang="en-US" altLang="en-US" dirty="0"/>
              <a:t>Allows many user level threads to be mapped to many kernel threads</a:t>
            </a:r>
          </a:p>
          <a:p>
            <a:r>
              <a:rPr lang="en-US" altLang="en-US" dirty="0"/>
              <a:t>Allows the  operating system to create a sufficient number of kernel threads</a:t>
            </a:r>
          </a:p>
          <a:p>
            <a:r>
              <a:rPr lang="en-US" altLang="en-US" dirty="0"/>
              <a:t>Windows  with the </a:t>
            </a:r>
            <a:r>
              <a:rPr lang="en-US" altLang="en-US" i="1" dirty="0" err="1"/>
              <a:t>ThreadFiber</a:t>
            </a:r>
            <a:r>
              <a:rPr lang="en-US" altLang="en-US" dirty="0"/>
              <a:t> package</a:t>
            </a:r>
          </a:p>
          <a:p>
            <a:r>
              <a:rPr lang="en-US" altLang="en-US" dirty="0"/>
              <a:t>Otherwise not very common</a:t>
            </a:r>
          </a:p>
        </p:txBody>
      </p:sp>
      <p:sp>
        <p:nvSpPr>
          <p:cNvPr id="2" name="Date Placeholder 1">
            <a:extLst>
              <a:ext uri="{FF2B5EF4-FFF2-40B4-BE49-F238E27FC236}">
                <a16:creationId xmlns:a16="http://schemas.microsoft.com/office/drawing/2014/main" id="{5A3E0582-BF5D-9FE1-BD5F-FC9F132BA55D}"/>
              </a:ext>
            </a:extLst>
          </p:cNvPr>
          <p:cNvSpPr>
            <a:spLocks noGrp="1"/>
          </p:cNvSpPr>
          <p:nvPr>
            <p:ph type="dt" sz="half" idx="10"/>
          </p:nvPr>
        </p:nvSpPr>
        <p:spPr/>
        <p:txBody>
          <a:bodyPr/>
          <a:lstStyle/>
          <a:p>
            <a:fld id="{D10214DE-B77C-4DBF-BC74-7A1CCDCE2374}" type="datetime1">
              <a:rPr lang="en-US" smtClean="0"/>
              <a:t>4/13/2024</a:t>
            </a:fld>
            <a:endParaRPr lang="en-US" dirty="0"/>
          </a:p>
        </p:txBody>
      </p:sp>
      <p:sp>
        <p:nvSpPr>
          <p:cNvPr id="3" name="Footer Placeholder 2">
            <a:extLst>
              <a:ext uri="{FF2B5EF4-FFF2-40B4-BE49-F238E27FC236}">
                <a16:creationId xmlns:a16="http://schemas.microsoft.com/office/drawing/2014/main" id="{72E49FEF-D21B-EDA4-5D60-49C8F1564208}"/>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6BD4DC07-9FF5-AF70-7FBD-8B95DFC8AEA2}"/>
              </a:ext>
            </a:extLst>
          </p:cNvPr>
          <p:cNvSpPr>
            <a:spLocks noGrp="1"/>
          </p:cNvSpPr>
          <p:nvPr>
            <p:ph type="sldNum" sz="quarter" idx="12"/>
          </p:nvPr>
        </p:nvSpPr>
        <p:spPr/>
        <p:txBody>
          <a:bodyPr/>
          <a:lstStyle/>
          <a:p>
            <a:fld id="{48F63A3B-78C7-47BE-AE5E-E10140E04643}" type="slidenum">
              <a:rPr lang="en-US" smtClean="0"/>
              <a:t>20</a:t>
            </a:fld>
            <a:endParaRPr lang="en-US" dirty="0"/>
          </a:p>
        </p:txBody>
      </p:sp>
      <p:pic>
        <p:nvPicPr>
          <p:cNvPr id="37891" name="Picture 1">
            <a:extLst>
              <a:ext uri="{FF2B5EF4-FFF2-40B4-BE49-F238E27FC236}">
                <a16:creationId xmlns:a16="http://schemas.microsoft.com/office/drawing/2014/main" id="{CCAA589D-3ED6-47FF-8B49-15D8580890C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378200"/>
            <a:ext cx="3943350"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A98DC882-9265-4F2A-AAAB-DD166A263E20}"/>
              </a:ext>
            </a:extLst>
          </p:cNvPr>
          <p:cNvSpPr>
            <a:spLocks noGrp="1" noChangeArrowheads="1"/>
          </p:cNvSpPr>
          <p:nvPr>
            <p:ph type="title"/>
          </p:nvPr>
        </p:nvSpPr>
        <p:spPr>
          <a:xfrm>
            <a:off x="457200" y="228830"/>
            <a:ext cx="8229600" cy="576262"/>
          </a:xfrm>
        </p:spPr>
        <p:txBody>
          <a:bodyPr>
            <a:normAutofit fontScale="90000"/>
          </a:bodyPr>
          <a:lstStyle/>
          <a:p>
            <a:pPr eaLnBrk="1" hangingPunct="1"/>
            <a:r>
              <a:rPr lang="en-US" altLang="en-US" dirty="0"/>
              <a:t>4.Two-level Model</a:t>
            </a:r>
          </a:p>
        </p:txBody>
      </p:sp>
      <p:sp>
        <p:nvSpPr>
          <p:cNvPr id="39938" name="Rectangle 3">
            <a:extLst>
              <a:ext uri="{FF2B5EF4-FFF2-40B4-BE49-F238E27FC236}">
                <a16:creationId xmlns:a16="http://schemas.microsoft.com/office/drawing/2014/main" id="{A2E2CD6A-C625-47A4-91CD-EAFB177081EE}"/>
              </a:ext>
            </a:extLst>
          </p:cNvPr>
          <p:cNvSpPr>
            <a:spLocks noGrp="1" noChangeArrowheads="1"/>
          </p:cNvSpPr>
          <p:nvPr>
            <p:ph idx="1"/>
          </p:nvPr>
        </p:nvSpPr>
        <p:spPr>
          <a:xfrm>
            <a:off x="839787" y="1155700"/>
            <a:ext cx="7641739" cy="4456113"/>
          </a:xfrm>
        </p:spPr>
        <p:txBody>
          <a:bodyPr/>
          <a:lstStyle/>
          <a:p>
            <a:r>
              <a:rPr lang="en-US" altLang="en-US" dirty="0"/>
              <a:t>Similar to M:M, except that it allows a user thread to be </a:t>
            </a:r>
            <a:r>
              <a:rPr lang="en-US" altLang="en-US" b="1" dirty="0"/>
              <a:t>bound</a:t>
            </a:r>
            <a:r>
              <a:rPr lang="en-US" altLang="en-US" dirty="0"/>
              <a:t> to kernel thread</a:t>
            </a:r>
          </a:p>
        </p:txBody>
      </p:sp>
      <p:sp>
        <p:nvSpPr>
          <p:cNvPr id="2" name="Date Placeholder 1">
            <a:extLst>
              <a:ext uri="{FF2B5EF4-FFF2-40B4-BE49-F238E27FC236}">
                <a16:creationId xmlns:a16="http://schemas.microsoft.com/office/drawing/2014/main" id="{15F258FE-160F-6C34-4473-3A0050726624}"/>
              </a:ext>
            </a:extLst>
          </p:cNvPr>
          <p:cNvSpPr>
            <a:spLocks noGrp="1"/>
          </p:cNvSpPr>
          <p:nvPr>
            <p:ph type="dt" sz="half" idx="10"/>
          </p:nvPr>
        </p:nvSpPr>
        <p:spPr/>
        <p:txBody>
          <a:bodyPr/>
          <a:lstStyle/>
          <a:p>
            <a:fld id="{C1381219-A14C-47C7-8BCC-B122EAA8CFFA}" type="datetime1">
              <a:rPr lang="en-US" smtClean="0"/>
              <a:t>4/13/2024</a:t>
            </a:fld>
            <a:endParaRPr lang="en-US" dirty="0"/>
          </a:p>
        </p:txBody>
      </p:sp>
      <p:sp>
        <p:nvSpPr>
          <p:cNvPr id="3" name="Footer Placeholder 2">
            <a:extLst>
              <a:ext uri="{FF2B5EF4-FFF2-40B4-BE49-F238E27FC236}">
                <a16:creationId xmlns:a16="http://schemas.microsoft.com/office/drawing/2014/main" id="{1B7557E4-5D60-66D4-53B1-727B760B350E}"/>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3EF70F44-DF8C-65AA-D343-7C0C6C25772B}"/>
              </a:ext>
            </a:extLst>
          </p:cNvPr>
          <p:cNvSpPr>
            <a:spLocks noGrp="1"/>
          </p:cNvSpPr>
          <p:nvPr>
            <p:ph type="sldNum" sz="quarter" idx="12"/>
          </p:nvPr>
        </p:nvSpPr>
        <p:spPr/>
        <p:txBody>
          <a:bodyPr/>
          <a:lstStyle/>
          <a:p>
            <a:fld id="{48F63A3B-78C7-47BE-AE5E-E10140E04643}" type="slidenum">
              <a:rPr lang="en-US" smtClean="0"/>
              <a:t>21</a:t>
            </a:fld>
            <a:endParaRPr lang="en-US" dirty="0"/>
          </a:p>
        </p:txBody>
      </p:sp>
      <p:pic>
        <p:nvPicPr>
          <p:cNvPr id="39939" name="Picture 1">
            <a:extLst>
              <a:ext uri="{FF2B5EF4-FFF2-40B4-BE49-F238E27FC236}">
                <a16:creationId xmlns:a16="http://schemas.microsoft.com/office/drawing/2014/main" id="{95426A68-78A8-483B-AE90-0C4299BC760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51100" y="2336800"/>
            <a:ext cx="4222750"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26BE45F0-3DE5-4D5E-A6DF-893325F2493F}"/>
              </a:ext>
            </a:extLst>
          </p:cNvPr>
          <p:cNvSpPr>
            <a:spLocks noGrp="1"/>
          </p:cNvSpPr>
          <p:nvPr>
            <p:ph type="title"/>
          </p:nvPr>
        </p:nvSpPr>
        <p:spPr>
          <a:xfrm>
            <a:off x="457200" y="216906"/>
            <a:ext cx="8229600" cy="576262"/>
          </a:xfrm>
        </p:spPr>
        <p:txBody>
          <a:bodyPr>
            <a:normAutofit fontScale="90000"/>
          </a:bodyPr>
          <a:lstStyle/>
          <a:p>
            <a:pPr eaLnBrk="1" hangingPunct="1"/>
            <a:r>
              <a:rPr lang="en-US" altLang="en-US" dirty="0"/>
              <a:t>Thread Libraries</a:t>
            </a:r>
          </a:p>
        </p:txBody>
      </p:sp>
      <p:sp>
        <p:nvSpPr>
          <p:cNvPr id="41986" name="Content Placeholder 2">
            <a:extLst>
              <a:ext uri="{FF2B5EF4-FFF2-40B4-BE49-F238E27FC236}">
                <a16:creationId xmlns:a16="http://schemas.microsoft.com/office/drawing/2014/main" id="{656EC163-3A42-463F-98B9-34FCCA5B7338}"/>
              </a:ext>
            </a:extLst>
          </p:cNvPr>
          <p:cNvSpPr>
            <a:spLocks noGrp="1"/>
          </p:cNvSpPr>
          <p:nvPr>
            <p:ph idx="1"/>
          </p:nvPr>
        </p:nvSpPr>
        <p:spPr>
          <a:xfrm>
            <a:off x="834442" y="1233488"/>
            <a:ext cx="7703067" cy="4530725"/>
          </a:xfrm>
        </p:spPr>
        <p:txBody>
          <a:bodyPr/>
          <a:lstStyle/>
          <a:p>
            <a:r>
              <a:rPr lang="en-US" altLang="en-US" b="1" dirty="0">
                <a:solidFill>
                  <a:srgbClr val="3366FF"/>
                </a:solidFill>
              </a:rPr>
              <a:t>Thread library</a:t>
            </a:r>
            <a:r>
              <a:rPr lang="en-US" altLang="en-US" dirty="0">
                <a:solidFill>
                  <a:srgbClr val="3366FF"/>
                </a:solidFill>
              </a:rPr>
              <a:t> </a:t>
            </a:r>
            <a:r>
              <a:rPr lang="en-US" altLang="en-US" dirty="0"/>
              <a:t>provides programmer with API for creating and managing threads</a:t>
            </a:r>
          </a:p>
          <a:p>
            <a:r>
              <a:rPr lang="en-US" altLang="en-US" dirty="0"/>
              <a:t>Two primary ways of implementing</a:t>
            </a:r>
          </a:p>
          <a:p>
            <a:pPr lvl="1"/>
            <a:r>
              <a:rPr lang="en-US" altLang="en-US" dirty="0"/>
              <a:t>Library entirely in user space</a:t>
            </a:r>
          </a:p>
          <a:p>
            <a:pPr lvl="1"/>
            <a:r>
              <a:rPr lang="en-US" altLang="en-US" dirty="0"/>
              <a:t>Kernel-level library supported by the OS</a:t>
            </a:r>
          </a:p>
        </p:txBody>
      </p:sp>
      <p:sp>
        <p:nvSpPr>
          <p:cNvPr id="2" name="Date Placeholder 1">
            <a:extLst>
              <a:ext uri="{FF2B5EF4-FFF2-40B4-BE49-F238E27FC236}">
                <a16:creationId xmlns:a16="http://schemas.microsoft.com/office/drawing/2014/main" id="{AACAF902-3283-DDFB-5E1D-33CDEE8AEFF6}"/>
              </a:ext>
            </a:extLst>
          </p:cNvPr>
          <p:cNvSpPr>
            <a:spLocks noGrp="1"/>
          </p:cNvSpPr>
          <p:nvPr>
            <p:ph type="dt" sz="half" idx="10"/>
          </p:nvPr>
        </p:nvSpPr>
        <p:spPr/>
        <p:txBody>
          <a:bodyPr/>
          <a:lstStyle/>
          <a:p>
            <a:fld id="{C51363B4-0BFD-422D-8F8F-F5FB28239E13}" type="datetime1">
              <a:rPr lang="en-US" smtClean="0"/>
              <a:t>4/13/2024</a:t>
            </a:fld>
            <a:endParaRPr lang="en-US" dirty="0"/>
          </a:p>
        </p:txBody>
      </p:sp>
      <p:sp>
        <p:nvSpPr>
          <p:cNvPr id="3" name="Footer Placeholder 2">
            <a:extLst>
              <a:ext uri="{FF2B5EF4-FFF2-40B4-BE49-F238E27FC236}">
                <a16:creationId xmlns:a16="http://schemas.microsoft.com/office/drawing/2014/main" id="{D35D7150-52FA-4D44-B012-0CAD1584B421}"/>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C2684267-7B82-B3C0-6746-EDA61A04B811}"/>
              </a:ext>
            </a:extLst>
          </p:cNvPr>
          <p:cNvSpPr>
            <a:spLocks noGrp="1"/>
          </p:cNvSpPr>
          <p:nvPr>
            <p:ph type="sldNum" sz="quarter" idx="12"/>
          </p:nvPr>
        </p:nvSpPr>
        <p:spPr/>
        <p:txBody>
          <a:bodyPr/>
          <a:lstStyle/>
          <a:p>
            <a:fld id="{48F63A3B-78C7-47BE-AE5E-E10140E04643}" type="slidenum">
              <a:rPr lang="en-US" smtClean="0"/>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8F382B6E-9987-479D-9B85-186AB98DDD45}"/>
              </a:ext>
            </a:extLst>
          </p:cNvPr>
          <p:cNvSpPr>
            <a:spLocks noGrp="1" noChangeArrowheads="1"/>
          </p:cNvSpPr>
          <p:nvPr>
            <p:ph type="title"/>
          </p:nvPr>
        </p:nvSpPr>
        <p:spPr>
          <a:xfrm>
            <a:off x="457200" y="220275"/>
            <a:ext cx="8229600" cy="576262"/>
          </a:xfrm>
        </p:spPr>
        <p:txBody>
          <a:bodyPr>
            <a:normAutofit fontScale="90000"/>
          </a:bodyPr>
          <a:lstStyle/>
          <a:p>
            <a:pPr eaLnBrk="1" hangingPunct="1"/>
            <a:r>
              <a:rPr lang="en-US" altLang="en-US" dirty="0" err="1"/>
              <a:t>Pthreads</a:t>
            </a:r>
            <a:r>
              <a:rPr lang="en-US" altLang="en-US"/>
              <a:t> (POSIX THREAD)</a:t>
            </a:r>
            <a:endParaRPr lang="en-US" altLang="en-US" dirty="0"/>
          </a:p>
        </p:txBody>
      </p:sp>
      <p:sp>
        <p:nvSpPr>
          <p:cNvPr id="44034" name="Rectangle 3">
            <a:extLst>
              <a:ext uri="{FF2B5EF4-FFF2-40B4-BE49-F238E27FC236}">
                <a16:creationId xmlns:a16="http://schemas.microsoft.com/office/drawing/2014/main" id="{9DE6F01A-727E-4FA1-9360-3180865E3C5E}"/>
              </a:ext>
            </a:extLst>
          </p:cNvPr>
          <p:cNvSpPr>
            <a:spLocks noGrp="1" noChangeArrowheads="1"/>
          </p:cNvSpPr>
          <p:nvPr>
            <p:ph idx="1"/>
          </p:nvPr>
        </p:nvSpPr>
        <p:spPr>
          <a:xfrm>
            <a:off x="858416" y="1233488"/>
            <a:ext cx="7613780" cy="4465637"/>
          </a:xfrm>
        </p:spPr>
        <p:txBody>
          <a:bodyPr/>
          <a:lstStyle/>
          <a:p>
            <a:r>
              <a:rPr lang="en-US" altLang="en-US" dirty="0"/>
              <a:t>May be provided either as user-level or kernel-level</a:t>
            </a:r>
          </a:p>
          <a:p>
            <a:r>
              <a:rPr lang="en-US" altLang="en-US" dirty="0"/>
              <a:t>A POSIX standard (IEEE 1003.1c) API for thread creation and synchronization</a:t>
            </a:r>
          </a:p>
          <a:p>
            <a:r>
              <a:rPr lang="en-US" altLang="en-US" b="1" i="1" dirty="0"/>
              <a:t>Specification</a:t>
            </a:r>
            <a:r>
              <a:rPr lang="en-US" altLang="en-US" dirty="0"/>
              <a:t>, not </a:t>
            </a:r>
            <a:r>
              <a:rPr lang="en-US" altLang="en-US" b="1" i="1" dirty="0"/>
              <a:t>implementation</a:t>
            </a:r>
            <a:endParaRPr lang="en-US" altLang="en-US" dirty="0"/>
          </a:p>
          <a:p>
            <a:r>
              <a:rPr lang="en-US" altLang="en-US" dirty="0"/>
              <a:t>API specifies behavior of the thread library, implementation is up to development of the library</a:t>
            </a:r>
          </a:p>
          <a:p>
            <a:r>
              <a:rPr lang="en-US" altLang="en-US" dirty="0"/>
              <a:t>Common in UNIX operating systems (Linux &amp; Mac OS X)</a:t>
            </a:r>
          </a:p>
          <a:p>
            <a:pPr>
              <a:buFont typeface="Monotype Sorts" pitchFamily="-84" charset="2"/>
              <a:buNone/>
            </a:pPr>
            <a:endParaRPr lang="en-US" altLang="en-US" dirty="0"/>
          </a:p>
        </p:txBody>
      </p:sp>
      <p:sp>
        <p:nvSpPr>
          <p:cNvPr id="2" name="Date Placeholder 1">
            <a:extLst>
              <a:ext uri="{FF2B5EF4-FFF2-40B4-BE49-F238E27FC236}">
                <a16:creationId xmlns:a16="http://schemas.microsoft.com/office/drawing/2014/main" id="{4E2C93AD-FFB8-E696-7DDE-E69C79DF5DC4}"/>
              </a:ext>
            </a:extLst>
          </p:cNvPr>
          <p:cNvSpPr>
            <a:spLocks noGrp="1"/>
          </p:cNvSpPr>
          <p:nvPr>
            <p:ph type="dt" sz="half" idx="10"/>
          </p:nvPr>
        </p:nvSpPr>
        <p:spPr/>
        <p:txBody>
          <a:bodyPr/>
          <a:lstStyle/>
          <a:p>
            <a:fld id="{E1898B6C-193A-4309-B190-68FF4181520C}" type="datetime1">
              <a:rPr lang="en-US" smtClean="0"/>
              <a:t>4/13/2024</a:t>
            </a:fld>
            <a:endParaRPr lang="en-US" dirty="0"/>
          </a:p>
        </p:txBody>
      </p:sp>
      <p:sp>
        <p:nvSpPr>
          <p:cNvPr id="3" name="Footer Placeholder 2">
            <a:extLst>
              <a:ext uri="{FF2B5EF4-FFF2-40B4-BE49-F238E27FC236}">
                <a16:creationId xmlns:a16="http://schemas.microsoft.com/office/drawing/2014/main" id="{2CC8AB54-E75D-7F42-7C78-105F271E9F3A}"/>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1EFEDB5F-0849-B327-820A-D5B73AE764A6}"/>
              </a:ext>
            </a:extLst>
          </p:cNvPr>
          <p:cNvSpPr>
            <a:spLocks noGrp="1"/>
          </p:cNvSpPr>
          <p:nvPr>
            <p:ph type="sldNum" sz="quarter" idx="12"/>
          </p:nvPr>
        </p:nvSpPr>
        <p:spPr/>
        <p:txBody>
          <a:bodyPr/>
          <a:lstStyle/>
          <a:p>
            <a:fld id="{48F63A3B-78C7-47BE-AE5E-E10140E04643}" type="slidenum">
              <a:rPr lang="en-US" smtClean="0"/>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4">
            <a:extLst>
              <a:ext uri="{FF2B5EF4-FFF2-40B4-BE49-F238E27FC236}">
                <a16:creationId xmlns:a16="http://schemas.microsoft.com/office/drawing/2014/main" id="{C1AEEAB0-CD68-4885-8DE2-6E1B4D4613A0}"/>
              </a:ext>
            </a:extLst>
          </p:cNvPr>
          <p:cNvSpPr>
            <a:spLocks noGrp="1" noChangeArrowheads="1"/>
          </p:cNvSpPr>
          <p:nvPr>
            <p:ph type="title"/>
          </p:nvPr>
        </p:nvSpPr>
        <p:spPr>
          <a:xfrm>
            <a:off x="457200" y="226237"/>
            <a:ext cx="8229600" cy="576262"/>
          </a:xfrm>
        </p:spPr>
        <p:txBody>
          <a:bodyPr>
            <a:normAutofit fontScale="90000"/>
          </a:bodyPr>
          <a:lstStyle/>
          <a:p>
            <a:pPr eaLnBrk="1" hangingPunct="1"/>
            <a:r>
              <a:rPr lang="en-US" altLang="en-US" dirty="0"/>
              <a:t>Java Threads</a:t>
            </a:r>
          </a:p>
        </p:txBody>
      </p:sp>
      <p:sp>
        <p:nvSpPr>
          <p:cNvPr id="51202" name="Rectangle 5">
            <a:extLst>
              <a:ext uri="{FF2B5EF4-FFF2-40B4-BE49-F238E27FC236}">
                <a16:creationId xmlns:a16="http://schemas.microsoft.com/office/drawing/2014/main" id="{570CFFC5-7BD7-485F-B933-EB13E069C189}"/>
              </a:ext>
            </a:extLst>
          </p:cNvPr>
          <p:cNvSpPr>
            <a:spLocks noGrp="1" noChangeArrowheads="1"/>
          </p:cNvSpPr>
          <p:nvPr>
            <p:ph idx="1"/>
          </p:nvPr>
        </p:nvSpPr>
        <p:spPr>
          <a:xfrm>
            <a:off x="811213" y="1231900"/>
            <a:ext cx="7688975" cy="4989996"/>
          </a:xfrm>
        </p:spPr>
        <p:txBody>
          <a:bodyPr>
            <a:normAutofit/>
          </a:bodyPr>
          <a:lstStyle/>
          <a:p>
            <a:r>
              <a:rPr lang="en-US" altLang="en-US" dirty="0"/>
              <a:t>Java threads are managed by the JVM</a:t>
            </a:r>
          </a:p>
          <a:p>
            <a:r>
              <a:rPr lang="en-US" altLang="en-US" dirty="0"/>
              <a:t>Typically implemented using the threads model provided by underlying OS</a:t>
            </a:r>
          </a:p>
          <a:p>
            <a:r>
              <a:rPr lang="en-US" altLang="en-US" dirty="0"/>
              <a:t>Java threads may be created by:</a:t>
            </a:r>
          </a:p>
          <a:p>
            <a:pPr lvl="1"/>
            <a:r>
              <a:rPr lang="en-US" altLang="en-US" dirty="0"/>
              <a:t>Extending Thread class</a:t>
            </a:r>
          </a:p>
          <a:p>
            <a:pPr lvl="1"/>
            <a:r>
              <a:rPr lang="en-US" altLang="en-US" dirty="0"/>
              <a:t>Implementing the </a:t>
            </a:r>
            <a:r>
              <a:rPr lang="en-US" altLang="en-US" dirty="0">
                <a:solidFill>
                  <a:srgbClr val="FF0000"/>
                </a:solidFill>
              </a:rPr>
              <a:t>Runnable interface</a:t>
            </a: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pPr marL="457200" lvl="1" indent="0">
              <a:buNone/>
            </a:pPr>
            <a:endParaRPr lang="en-US" altLang="en-US" sz="900" dirty="0"/>
          </a:p>
          <a:p>
            <a:pPr lvl="1"/>
            <a:r>
              <a:rPr lang="en-US" altLang="en-US" dirty="0"/>
              <a:t>Standard practice is to implement Runnable interface</a:t>
            </a:r>
            <a:br>
              <a:rPr lang="en-US" altLang="en-US" dirty="0"/>
            </a:br>
            <a:endParaRPr lang="en-US" altLang="en-US" dirty="0"/>
          </a:p>
        </p:txBody>
      </p:sp>
      <p:sp>
        <p:nvSpPr>
          <p:cNvPr id="2" name="Date Placeholder 1">
            <a:extLst>
              <a:ext uri="{FF2B5EF4-FFF2-40B4-BE49-F238E27FC236}">
                <a16:creationId xmlns:a16="http://schemas.microsoft.com/office/drawing/2014/main" id="{20E6DFE4-5EFF-4DC0-C81B-BAED4398A489}"/>
              </a:ext>
            </a:extLst>
          </p:cNvPr>
          <p:cNvSpPr>
            <a:spLocks noGrp="1"/>
          </p:cNvSpPr>
          <p:nvPr>
            <p:ph type="dt" sz="half" idx="10"/>
          </p:nvPr>
        </p:nvSpPr>
        <p:spPr/>
        <p:txBody>
          <a:bodyPr/>
          <a:lstStyle/>
          <a:p>
            <a:fld id="{805691E1-B5D1-4DB5-A450-1740B9F02115}" type="datetime1">
              <a:rPr lang="en-US" smtClean="0"/>
              <a:t>4/13/2024</a:t>
            </a:fld>
            <a:endParaRPr lang="en-US" dirty="0"/>
          </a:p>
        </p:txBody>
      </p:sp>
      <p:sp>
        <p:nvSpPr>
          <p:cNvPr id="3" name="Footer Placeholder 2">
            <a:extLst>
              <a:ext uri="{FF2B5EF4-FFF2-40B4-BE49-F238E27FC236}">
                <a16:creationId xmlns:a16="http://schemas.microsoft.com/office/drawing/2014/main" id="{CDB332FE-2925-2B4A-0487-3F7D5EE90E56}"/>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BB649635-8BF9-28C2-A0C7-85B12DB4F7F5}"/>
              </a:ext>
            </a:extLst>
          </p:cNvPr>
          <p:cNvSpPr>
            <a:spLocks noGrp="1"/>
          </p:cNvSpPr>
          <p:nvPr>
            <p:ph type="sldNum" sz="quarter" idx="12"/>
          </p:nvPr>
        </p:nvSpPr>
        <p:spPr/>
        <p:txBody>
          <a:bodyPr/>
          <a:lstStyle/>
          <a:p>
            <a:fld id="{48F63A3B-78C7-47BE-AE5E-E10140E04643}" type="slidenum">
              <a:rPr lang="en-US" smtClean="0"/>
              <a:t>24</a:t>
            </a:fld>
            <a:endParaRPr lang="en-US" dirty="0"/>
          </a:p>
        </p:txBody>
      </p:sp>
      <p:pic>
        <p:nvPicPr>
          <p:cNvPr id="51203" name="Picture 1" descr="Screen Shot 2012-12-04 at 9.09.28 PM.png">
            <a:extLst>
              <a:ext uri="{FF2B5EF4-FFF2-40B4-BE49-F238E27FC236}">
                <a16:creationId xmlns:a16="http://schemas.microsoft.com/office/drawing/2014/main" id="{0C728E61-EF06-4D16-9CCE-0AA7C7626B2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98675" y="3503613"/>
            <a:ext cx="3773488"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C60F206A-FBEA-44F3-B6C2-45680ED56A86}"/>
              </a:ext>
            </a:extLst>
          </p:cNvPr>
          <p:cNvSpPr>
            <a:spLocks noGrp="1"/>
          </p:cNvSpPr>
          <p:nvPr>
            <p:ph type="title"/>
          </p:nvPr>
        </p:nvSpPr>
        <p:spPr>
          <a:xfrm>
            <a:off x="457200" y="224522"/>
            <a:ext cx="8229600" cy="576262"/>
          </a:xfrm>
        </p:spPr>
        <p:txBody>
          <a:bodyPr>
            <a:normAutofit fontScale="90000"/>
          </a:bodyPr>
          <a:lstStyle/>
          <a:p>
            <a:r>
              <a:rPr lang="en-US" altLang="en-US" dirty="0"/>
              <a:t>Java Threads</a:t>
            </a:r>
          </a:p>
        </p:txBody>
      </p:sp>
      <p:sp>
        <p:nvSpPr>
          <p:cNvPr id="2" name="Date Placeholder 1">
            <a:extLst>
              <a:ext uri="{FF2B5EF4-FFF2-40B4-BE49-F238E27FC236}">
                <a16:creationId xmlns:a16="http://schemas.microsoft.com/office/drawing/2014/main" id="{37219D28-4380-200D-C1B2-51C5F12AF21A}"/>
              </a:ext>
            </a:extLst>
          </p:cNvPr>
          <p:cNvSpPr>
            <a:spLocks noGrp="1"/>
          </p:cNvSpPr>
          <p:nvPr>
            <p:ph type="dt" sz="half" idx="10"/>
          </p:nvPr>
        </p:nvSpPr>
        <p:spPr/>
        <p:txBody>
          <a:bodyPr/>
          <a:lstStyle/>
          <a:p>
            <a:fld id="{0F8590A1-666F-47B0-9651-8E3736B10D4B}" type="datetime1">
              <a:rPr lang="en-US" smtClean="0"/>
              <a:t>4/13/2024</a:t>
            </a:fld>
            <a:endParaRPr lang="en-US" dirty="0"/>
          </a:p>
        </p:txBody>
      </p:sp>
      <p:sp>
        <p:nvSpPr>
          <p:cNvPr id="3" name="Footer Placeholder 2">
            <a:extLst>
              <a:ext uri="{FF2B5EF4-FFF2-40B4-BE49-F238E27FC236}">
                <a16:creationId xmlns:a16="http://schemas.microsoft.com/office/drawing/2014/main" id="{D66974EF-8316-C9DB-DAFD-BB1586E947E0}"/>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2053A087-4CB8-E006-9B04-DDB24A36AA23}"/>
              </a:ext>
            </a:extLst>
          </p:cNvPr>
          <p:cNvSpPr>
            <a:spLocks noGrp="1"/>
          </p:cNvSpPr>
          <p:nvPr>
            <p:ph type="sldNum" sz="quarter" idx="12"/>
          </p:nvPr>
        </p:nvSpPr>
        <p:spPr/>
        <p:txBody>
          <a:bodyPr/>
          <a:lstStyle/>
          <a:p>
            <a:fld id="{48F63A3B-78C7-47BE-AE5E-E10140E04643}" type="slidenum">
              <a:rPr lang="en-US" smtClean="0"/>
              <a:t>25</a:t>
            </a:fld>
            <a:endParaRPr lang="en-US" dirty="0"/>
          </a:p>
        </p:txBody>
      </p:sp>
      <p:sp>
        <p:nvSpPr>
          <p:cNvPr id="53250" name="TextBox 2">
            <a:extLst>
              <a:ext uri="{FF2B5EF4-FFF2-40B4-BE49-F238E27FC236}">
                <a16:creationId xmlns:a16="http://schemas.microsoft.com/office/drawing/2014/main" id="{93AD19CF-3C73-477D-B858-C3606B2B5F51}"/>
              </a:ext>
            </a:extLst>
          </p:cNvPr>
          <p:cNvSpPr txBox="1">
            <a:spLocks noChangeArrowheads="1"/>
          </p:cNvSpPr>
          <p:nvPr/>
        </p:nvSpPr>
        <p:spPr bwMode="auto">
          <a:xfrm>
            <a:off x="1141413" y="1062038"/>
            <a:ext cx="4657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b="1">
                <a:latin typeface="Verdana" panose="020B0604030504040204" pitchFamily="34" charset="0"/>
              </a:rPr>
              <a:t>Implementing Runnable interface:</a:t>
            </a:r>
          </a:p>
        </p:txBody>
      </p:sp>
      <p:pic>
        <p:nvPicPr>
          <p:cNvPr id="53251" name="Picture 3">
            <a:extLst>
              <a:ext uri="{FF2B5EF4-FFF2-40B4-BE49-F238E27FC236}">
                <a16:creationId xmlns:a16="http://schemas.microsoft.com/office/drawing/2014/main" id="{3A6E59B6-1369-4D02-9B41-9466C54EE0E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93875" y="1492250"/>
            <a:ext cx="4826000"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Rectangle 4">
            <a:extLst>
              <a:ext uri="{FF2B5EF4-FFF2-40B4-BE49-F238E27FC236}">
                <a16:creationId xmlns:a16="http://schemas.microsoft.com/office/drawing/2014/main" id="{5D600B74-6680-4450-BB6F-CBCFF22AA844}"/>
              </a:ext>
            </a:extLst>
          </p:cNvPr>
          <p:cNvSpPr>
            <a:spLocks noChangeArrowheads="1"/>
          </p:cNvSpPr>
          <p:nvPr/>
        </p:nvSpPr>
        <p:spPr bwMode="auto">
          <a:xfrm>
            <a:off x="1214438" y="3014663"/>
            <a:ext cx="2546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b="1">
                <a:latin typeface="Verdana" panose="020B0604030504040204" pitchFamily="34" charset="0"/>
              </a:rPr>
              <a:t>Creating a thread:</a:t>
            </a:r>
          </a:p>
        </p:txBody>
      </p:sp>
      <p:pic>
        <p:nvPicPr>
          <p:cNvPr id="53253" name="Picture 5">
            <a:extLst>
              <a:ext uri="{FF2B5EF4-FFF2-40B4-BE49-F238E27FC236}">
                <a16:creationId xmlns:a16="http://schemas.microsoft.com/office/drawing/2014/main" id="{3157C5FE-DF44-43EE-B465-730C09A7D09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49413" y="3494088"/>
            <a:ext cx="4800600"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Rectangle 6">
            <a:extLst>
              <a:ext uri="{FF2B5EF4-FFF2-40B4-BE49-F238E27FC236}">
                <a16:creationId xmlns:a16="http://schemas.microsoft.com/office/drawing/2014/main" id="{B7EDA4AE-092F-4D4E-9689-344AD518F977}"/>
              </a:ext>
            </a:extLst>
          </p:cNvPr>
          <p:cNvSpPr>
            <a:spLocks noChangeArrowheads="1"/>
          </p:cNvSpPr>
          <p:nvPr/>
        </p:nvSpPr>
        <p:spPr bwMode="auto">
          <a:xfrm>
            <a:off x="1214438" y="4219575"/>
            <a:ext cx="2849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b="1">
                <a:latin typeface="Verdana" panose="020B0604030504040204" pitchFamily="34" charset="0"/>
              </a:rPr>
              <a:t>Waiting on a thread:</a:t>
            </a:r>
          </a:p>
        </p:txBody>
      </p:sp>
      <p:pic>
        <p:nvPicPr>
          <p:cNvPr id="53255" name="Picture 7">
            <a:extLst>
              <a:ext uri="{FF2B5EF4-FFF2-40B4-BE49-F238E27FC236}">
                <a16:creationId xmlns:a16="http://schemas.microsoft.com/office/drawing/2014/main" id="{6EBBEE03-6B80-4FB8-8BA5-A69C6B30746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93875" y="4657725"/>
            <a:ext cx="4114800"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13BB46A0-1D14-4FC6-A460-C90F6E2D37CA}"/>
              </a:ext>
            </a:extLst>
          </p:cNvPr>
          <p:cNvSpPr>
            <a:spLocks noGrp="1"/>
          </p:cNvSpPr>
          <p:nvPr>
            <p:ph type="title"/>
          </p:nvPr>
        </p:nvSpPr>
        <p:spPr/>
        <p:txBody>
          <a:bodyPr/>
          <a:lstStyle/>
          <a:p>
            <a:r>
              <a:rPr lang="en-US" altLang="en-US"/>
              <a:t>Java Executor Framework</a:t>
            </a:r>
          </a:p>
        </p:txBody>
      </p:sp>
      <p:sp>
        <p:nvSpPr>
          <p:cNvPr id="54274" name="Content Placeholder 2">
            <a:extLst>
              <a:ext uri="{FF2B5EF4-FFF2-40B4-BE49-F238E27FC236}">
                <a16:creationId xmlns:a16="http://schemas.microsoft.com/office/drawing/2014/main" id="{0D32A769-ACA8-4BB5-9FC7-1A36C936DB94}"/>
              </a:ext>
            </a:extLst>
          </p:cNvPr>
          <p:cNvSpPr>
            <a:spLocks noGrp="1"/>
          </p:cNvSpPr>
          <p:nvPr>
            <p:ph idx="1"/>
          </p:nvPr>
        </p:nvSpPr>
        <p:spPr>
          <a:xfrm>
            <a:off x="609599" y="1311966"/>
            <a:ext cx="6347714" cy="4729398"/>
          </a:xfrm>
        </p:spPr>
        <p:txBody>
          <a:bodyPr>
            <a:normAutofit/>
          </a:bodyPr>
          <a:lstStyle/>
          <a:p>
            <a:r>
              <a:rPr lang="en-US" altLang="en-US" dirty="0"/>
              <a:t>Rather than explicitly creating threads, Java also allows thread creation around the Executor interface:</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r>
              <a:rPr lang="en-US" altLang="en-US" dirty="0">
                <a:solidFill>
                  <a:srgbClr val="FF0000"/>
                </a:solidFill>
              </a:rPr>
              <a:t>The Executor is used as follows:</a:t>
            </a:r>
            <a:br>
              <a:rPr lang="en-US" altLang="en-US" dirty="0">
                <a:solidFill>
                  <a:srgbClr val="FF0000"/>
                </a:solidFill>
              </a:rPr>
            </a:br>
            <a:r>
              <a:rPr lang="en-US" altLang="en-US" dirty="0"/>
              <a:t/>
            </a:r>
            <a:br>
              <a:rPr lang="en-US" altLang="en-US" dirty="0"/>
            </a:br>
            <a:endParaRPr lang="en-US" altLang="en-US" dirty="0"/>
          </a:p>
        </p:txBody>
      </p:sp>
      <p:sp>
        <p:nvSpPr>
          <p:cNvPr id="2" name="Date Placeholder 1">
            <a:extLst>
              <a:ext uri="{FF2B5EF4-FFF2-40B4-BE49-F238E27FC236}">
                <a16:creationId xmlns:a16="http://schemas.microsoft.com/office/drawing/2014/main" id="{0D0017D3-6F89-CB3F-215C-8F0D2CF6A267}"/>
              </a:ext>
            </a:extLst>
          </p:cNvPr>
          <p:cNvSpPr>
            <a:spLocks noGrp="1"/>
          </p:cNvSpPr>
          <p:nvPr>
            <p:ph type="dt" sz="half" idx="10"/>
          </p:nvPr>
        </p:nvSpPr>
        <p:spPr/>
        <p:txBody>
          <a:bodyPr/>
          <a:lstStyle/>
          <a:p>
            <a:fld id="{DE853D05-233F-441E-8985-3B761E3115B9}" type="datetime1">
              <a:rPr lang="en-US" smtClean="0"/>
              <a:t>4/13/2024</a:t>
            </a:fld>
            <a:endParaRPr lang="en-US" dirty="0"/>
          </a:p>
        </p:txBody>
      </p:sp>
      <p:sp>
        <p:nvSpPr>
          <p:cNvPr id="3" name="Footer Placeholder 2">
            <a:extLst>
              <a:ext uri="{FF2B5EF4-FFF2-40B4-BE49-F238E27FC236}">
                <a16:creationId xmlns:a16="http://schemas.microsoft.com/office/drawing/2014/main" id="{F840A76C-6345-B826-3D2E-373B0F6C2B08}"/>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59261451-2998-8BAF-3407-EFB60C274EC2}"/>
              </a:ext>
            </a:extLst>
          </p:cNvPr>
          <p:cNvSpPr>
            <a:spLocks noGrp="1"/>
          </p:cNvSpPr>
          <p:nvPr>
            <p:ph type="sldNum" sz="quarter" idx="12"/>
          </p:nvPr>
        </p:nvSpPr>
        <p:spPr/>
        <p:txBody>
          <a:bodyPr/>
          <a:lstStyle/>
          <a:p>
            <a:fld id="{48F63A3B-78C7-47BE-AE5E-E10140E04643}" type="slidenum">
              <a:rPr lang="en-US" smtClean="0"/>
              <a:t>26</a:t>
            </a:fld>
            <a:endParaRPr lang="en-US" dirty="0"/>
          </a:p>
        </p:txBody>
      </p:sp>
      <p:pic>
        <p:nvPicPr>
          <p:cNvPr id="54275" name="Picture 3">
            <a:extLst>
              <a:ext uri="{FF2B5EF4-FFF2-40B4-BE49-F238E27FC236}">
                <a16:creationId xmlns:a16="http://schemas.microsoft.com/office/drawing/2014/main" id="{925F2420-3B38-4BBF-95DB-0D1FB6F5004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51063" y="1982788"/>
            <a:ext cx="42672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6" name="Picture 4">
            <a:extLst>
              <a:ext uri="{FF2B5EF4-FFF2-40B4-BE49-F238E27FC236}">
                <a16:creationId xmlns:a16="http://schemas.microsoft.com/office/drawing/2014/main" id="{83D93813-F376-44DC-802B-F865A1A1049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20913" y="4083050"/>
            <a:ext cx="36957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112EFF-558D-4D1D-94B2-D0A2C81EA3E2}"/>
              </a:ext>
            </a:extLst>
          </p:cNvPr>
          <p:cNvSpPr>
            <a:spLocks noGrp="1"/>
          </p:cNvSpPr>
          <p:nvPr>
            <p:ph type="ctrTitle"/>
          </p:nvPr>
        </p:nvSpPr>
        <p:spPr/>
        <p:txBody>
          <a:bodyPr/>
          <a:lstStyle/>
          <a:p>
            <a:r>
              <a:rPr lang="en-US" sz="4800" b="1" i="0" u="none" strike="noStrike" baseline="0" dirty="0">
                <a:solidFill>
                  <a:srgbClr val="FF0000"/>
                </a:solidFill>
                <a:latin typeface="HelveticaNeueLTStd-BdEx"/>
              </a:rPr>
              <a:t>4.5 Implicit Threading</a:t>
            </a:r>
            <a:endParaRPr lang="en-US" sz="8800" dirty="0">
              <a:solidFill>
                <a:srgbClr val="FF0000"/>
              </a:solidFill>
            </a:endParaRPr>
          </a:p>
        </p:txBody>
      </p:sp>
    </p:spTree>
    <p:extLst>
      <p:ext uri="{BB962C8B-B14F-4D97-AF65-F5344CB8AC3E}">
        <p14:creationId xmlns:p14="http://schemas.microsoft.com/office/powerpoint/2010/main" val="2796881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F9E55120-F5D0-46C2-82BE-CA6606138A0F}"/>
              </a:ext>
            </a:extLst>
          </p:cNvPr>
          <p:cNvSpPr>
            <a:spLocks noGrp="1" noChangeArrowheads="1"/>
          </p:cNvSpPr>
          <p:nvPr>
            <p:ph type="title"/>
          </p:nvPr>
        </p:nvSpPr>
        <p:spPr>
          <a:xfrm>
            <a:off x="457200" y="219499"/>
            <a:ext cx="8229600" cy="576262"/>
          </a:xfrm>
        </p:spPr>
        <p:txBody>
          <a:bodyPr>
            <a:normAutofit fontScale="90000"/>
          </a:bodyPr>
          <a:lstStyle/>
          <a:p>
            <a:pPr eaLnBrk="1" hangingPunct="1"/>
            <a:r>
              <a:rPr lang="en-US" altLang="en-US" dirty="0">
                <a:solidFill>
                  <a:schemeClr val="accent5"/>
                </a:solidFill>
              </a:rPr>
              <a:t>Implicit Threading</a:t>
            </a:r>
          </a:p>
        </p:txBody>
      </p:sp>
      <p:sp>
        <p:nvSpPr>
          <p:cNvPr id="57346" name="Rectangle 3">
            <a:extLst>
              <a:ext uri="{FF2B5EF4-FFF2-40B4-BE49-F238E27FC236}">
                <a16:creationId xmlns:a16="http://schemas.microsoft.com/office/drawing/2014/main" id="{FC74C183-73E7-433E-B44B-AE297348A816}"/>
              </a:ext>
            </a:extLst>
          </p:cNvPr>
          <p:cNvSpPr>
            <a:spLocks noGrp="1" noChangeArrowheads="1"/>
          </p:cNvSpPr>
          <p:nvPr>
            <p:ph idx="1"/>
          </p:nvPr>
        </p:nvSpPr>
        <p:spPr>
          <a:xfrm>
            <a:off x="79513" y="904461"/>
            <a:ext cx="8607287" cy="5411933"/>
          </a:xfrm>
        </p:spPr>
        <p:txBody>
          <a:bodyPr>
            <a:normAutofit lnSpcReduction="10000"/>
          </a:bodyPr>
          <a:lstStyle/>
          <a:p>
            <a:r>
              <a:rPr lang="en-US" altLang="en-US" sz="2800" dirty="0">
                <a:latin typeface="Times New Roman" panose="02020603050405020304" pitchFamily="18" charset="0"/>
                <a:cs typeface="Times New Roman" panose="02020603050405020304" pitchFamily="18" charset="0"/>
              </a:rPr>
              <a:t>Growing in popularity as </a:t>
            </a:r>
            <a:r>
              <a:rPr lang="en-US" altLang="en-US" sz="2800" b="1" dirty="0">
                <a:latin typeface="Times New Roman" panose="02020603050405020304" pitchFamily="18" charset="0"/>
                <a:cs typeface="Times New Roman" panose="02020603050405020304" pitchFamily="18" charset="0"/>
              </a:rPr>
              <a:t>numbers of threads increase, </a:t>
            </a:r>
            <a:r>
              <a:rPr lang="en-US" altLang="en-US" sz="2800" b="1" dirty="0">
                <a:solidFill>
                  <a:srgbClr val="FF0000"/>
                </a:solidFill>
                <a:latin typeface="Times New Roman" panose="02020603050405020304" pitchFamily="18" charset="0"/>
                <a:cs typeface="Times New Roman" panose="02020603050405020304" pitchFamily="18" charset="0"/>
              </a:rPr>
              <a:t>program correctness more difficult with explicit threads</a:t>
            </a:r>
          </a:p>
          <a:p>
            <a:r>
              <a:rPr lang="en-US" sz="2800" dirty="0"/>
              <a:t>The solution of these problems is to transfer the creation and management of threading from application developers to compilers and run-time libraries.</a:t>
            </a:r>
          </a:p>
          <a:p>
            <a:r>
              <a:rPr lang="en-US" sz="2800" dirty="0"/>
              <a:t>This strategy, termed </a:t>
            </a:r>
            <a:r>
              <a:rPr lang="en-US" sz="2800" dirty="0">
                <a:solidFill>
                  <a:srgbClr val="FF0000"/>
                </a:solidFill>
                <a:highlight>
                  <a:srgbClr val="FFFF00"/>
                </a:highlight>
              </a:rPr>
              <a:t>implicit threading. </a:t>
            </a:r>
          </a:p>
          <a:p>
            <a:r>
              <a:rPr lang="en-US" sz="2800" dirty="0"/>
              <a:t>The advantage of this way is that </a:t>
            </a:r>
            <a:r>
              <a:rPr lang="en-US" sz="2800" dirty="0">
                <a:solidFill>
                  <a:schemeClr val="accent5"/>
                </a:solidFill>
              </a:rPr>
              <a:t>developers</a:t>
            </a:r>
            <a:r>
              <a:rPr lang="en-US" sz="2800" dirty="0"/>
              <a:t> </a:t>
            </a:r>
            <a:r>
              <a:rPr lang="en-US" sz="2800" dirty="0">
                <a:solidFill>
                  <a:schemeClr val="tx1"/>
                </a:solidFill>
              </a:rPr>
              <a:t>only </a:t>
            </a:r>
            <a:r>
              <a:rPr lang="en-US" sz="2800" dirty="0">
                <a:solidFill>
                  <a:schemeClr val="accent5"/>
                </a:solidFill>
              </a:rPr>
              <a:t>need</a:t>
            </a:r>
            <a:r>
              <a:rPr lang="en-US" sz="2800" dirty="0">
                <a:solidFill>
                  <a:schemeClr val="tx1"/>
                </a:solidFill>
              </a:rPr>
              <a:t> </a:t>
            </a:r>
            <a:r>
              <a:rPr lang="en-US" sz="2800" dirty="0">
                <a:solidFill>
                  <a:srgbClr val="FF0000"/>
                </a:solidFill>
              </a:rPr>
              <a:t>to identify parallel tasks, and the libraries determine </a:t>
            </a:r>
            <a:r>
              <a:rPr lang="en-US" sz="2800" dirty="0"/>
              <a:t>the specific details of thread creation and management.</a:t>
            </a:r>
            <a:endParaRPr lang="en-US" altLang="en-US" sz="2800" dirty="0"/>
          </a:p>
        </p:txBody>
      </p:sp>
      <p:sp>
        <p:nvSpPr>
          <p:cNvPr id="2" name="Date Placeholder 1">
            <a:extLst>
              <a:ext uri="{FF2B5EF4-FFF2-40B4-BE49-F238E27FC236}">
                <a16:creationId xmlns:a16="http://schemas.microsoft.com/office/drawing/2014/main" id="{D8E776C9-25A1-BF20-1B4C-5204FC12A45E}"/>
              </a:ext>
            </a:extLst>
          </p:cNvPr>
          <p:cNvSpPr>
            <a:spLocks noGrp="1"/>
          </p:cNvSpPr>
          <p:nvPr>
            <p:ph type="dt" sz="half" idx="10"/>
          </p:nvPr>
        </p:nvSpPr>
        <p:spPr/>
        <p:txBody>
          <a:bodyPr/>
          <a:lstStyle/>
          <a:p>
            <a:fld id="{D8F57348-42EA-451B-AFAA-B6269980B7B9}" type="datetime1">
              <a:rPr lang="en-US" smtClean="0"/>
              <a:t>4/13/2024</a:t>
            </a:fld>
            <a:endParaRPr lang="en-US" dirty="0"/>
          </a:p>
        </p:txBody>
      </p:sp>
      <p:sp>
        <p:nvSpPr>
          <p:cNvPr id="3" name="Footer Placeholder 2">
            <a:extLst>
              <a:ext uri="{FF2B5EF4-FFF2-40B4-BE49-F238E27FC236}">
                <a16:creationId xmlns:a16="http://schemas.microsoft.com/office/drawing/2014/main" id="{8B6DBB85-45AF-3D23-BA1F-DD2E9F8754A9}"/>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C25CB315-6406-A55A-90FE-AA655DC28F78}"/>
              </a:ext>
            </a:extLst>
          </p:cNvPr>
          <p:cNvSpPr>
            <a:spLocks noGrp="1"/>
          </p:cNvSpPr>
          <p:nvPr>
            <p:ph type="sldNum" sz="quarter" idx="12"/>
          </p:nvPr>
        </p:nvSpPr>
        <p:spPr/>
        <p:txBody>
          <a:bodyPr/>
          <a:lstStyle/>
          <a:p>
            <a:fld id="{48F63A3B-78C7-47BE-AE5E-E10140E04643}" type="slidenum">
              <a:rPr lang="en-US" smtClean="0"/>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BAB1C-0682-242B-8747-F6BD63DA371F}"/>
              </a:ext>
            </a:extLst>
          </p:cNvPr>
          <p:cNvSpPr>
            <a:spLocks noGrp="1"/>
          </p:cNvSpPr>
          <p:nvPr>
            <p:ph type="title"/>
          </p:nvPr>
        </p:nvSpPr>
        <p:spPr>
          <a:xfrm>
            <a:off x="609599" y="609600"/>
            <a:ext cx="6347713" cy="752061"/>
          </a:xfrm>
        </p:spPr>
        <p:txBody>
          <a:bodyPr/>
          <a:lstStyle/>
          <a:p>
            <a:r>
              <a:rPr lang="en-US" altLang="en-US" dirty="0">
                <a:solidFill>
                  <a:schemeClr val="accent5"/>
                </a:solidFill>
              </a:rPr>
              <a:t>Implicit Threading</a:t>
            </a:r>
            <a:endParaRPr lang="en-US" dirty="0"/>
          </a:p>
        </p:txBody>
      </p:sp>
      <p:sp>
        <p:nvSpPr>
          <p:cNvPr id="3" name="Content Placeholder 2">
            <a:extLst>
              <a:ext uri="{FF2B5EF4-FFF2-40B4-BE49-F238E27FC236}">
                <a16:creationId xmlns:a16="http://schemas.microsoft.com/office/drawing/2014/main" id="{CBC280F1-F0D2-3DEF-9DA1-4DF3017BAD91}"/>
              </a:ext>
            </a:extLst>
          </p:cNvPr>
          <p:cNvSpPr>
            <a:spLocks noGrp="1"/>
          </p:cNvSpPr>
          <p:nvPr>
            <p:ph idx="1"/>
          </p:nvPr>
        </p:nvSpPr>
        <p:spPr>
          <a:xfrm>
            <a:off x="609599" y="1560444"/>
            <a:ext cx="6347714" cy="4480920"/>
          </a:xfrm>
        </p:spPr>
        <p:txBody>
          <a:bodyPr>
            <a:normAutofit/>
          </a:bodyPr>
          <a:lstStyle/>
          <a:p>
            <a:r>
              <a:rPr lang="en-US" altLang="en-US" sz="2800" dirty="0"/>
              <a:t>Five methods explored</a:t>
            </a:r>
          </a:p>
          <a:p>
            <a:pPr marL="800100" lvl="1" indent="-342900">
              <a:buFont typeface="+mj-lt"/>
              <a:buAutoNum type="arabicPeriod"/>
            </a:pPr>
            <a:r>
              <a:rPr lang="en-US" altLang="en-US" sz="2400" dirty="0"/>
              <a:t>Thread Pools</a:t>
            </a:r>
          </a:p>
          <a:p>
            <a:pPr marL="800100" lvl="1" indent="-342900">
              <a:buFont typeface="+mj-lt"/>
              <a:buAutoNum type="arabicPeriod"/>
            </a:pPr>
            <a:r>
              <a:rPr lang="en-US" altLang="en-US" sz="2400" dirty="0"/>
              <a:t>Fork-Join</a:t>
            </a:r>
          </a:p>
          <a:p>
            <a:pPr marL="800100" lvl="1" indent="-342900">
              <a:buFont typeface="+mj-lt"/>
              <a:buAutoNum type="arabicPeriod"/>
            </a:pPr>
            <a:r>
              <a:rPr lang="en-US" altLang="en-US" sz="2400" dirty="0"/>
              <a:t>OpenMP</a:t>
            </a:r>
          </a:p>
          <a:p>
            <a:pPr marL="800100" lvl="1" indent="-342900">
              <a:buFont typeface="+mj-lt"/>
              <a:buAutoNum type="arabicPeriod"/>
            </a:pPr>
            <a:r>
              <a:rPr lang="en-US" altLang="en-US" sz="2400" dirty="0"/>
              <a:t>Grand Central Dispatch</a:t>
            </a:r>
          </a:p>
          <a:p>
            <a:pPr marL="800100" lvl="1" indent="-342900">
              <a:buFont typeface="+mj-lt"/>
              <a:buAutoNum type="arabicPeriod"/>
            </a:pPr>
            <a:r>
              <a:rPr lang="en-US" altLang="en-US" sz="2400" dirty="0"/>
              <a:t>Intel Threading Building Blocks</a:t>
            </a:r>
          </a:p>
          <a:p>
            <a:endParaRPr lang="en-US" sz="2800" dirty="0"/>
          </a:p>
        </p:txBody>
      </p:sp>
      <p:sp>
        <p:nvSpPr>
          <p:cNvPr id="4" name="Date Placeholder 3">
            <a:extLst>
              <a:ext uri="{FF2B5EF4-FFF2-40B4-BE49-F238E27FC236}">
                <a16:creationId xmlns:a16="http://schemas.microsoft.com/office/drawing/2014/main" id="{2EAA3F6D-34D6-D906-886B-4DCEFC557D81}"/>
              </a:ext>
            </a:extLst>
          </p:cNvPr>
          <p:cNvSpPr>
            <a:spLocks noGrp="1"/>
          </p:cNvSpPr>
          <p:nvPr>
            <p:ph type="dt" sz="half" idx="10"/>
          </p:nvPr>
        </p:nvSpPr>
        <p:spPr/>
        <p:txBody>
          <a:bodyPr/>
          <a:lstStyle/>
          <a:p>
            <a:fld id="{45534AF9-2E76-4329-9448-5C8720124BC8}" type="datetime1">
              <a:rPr lang="en-US" smtClean="0"/>
              <a:t>4/13/2024</a:t>
            </a:fld>
            <a:endParaRPr lang="en-US" dirty="0"/>
          </a:p>
        </p:txBody>
      </p:sp>
      <p:sp>
        <p:nvSpPr>
          <p:cNvPr id="5" name="Footer Placeholder 4">
            <a:extLst>
              <a:ext uri="{FF2B5EF4-FFF2-40B4-BE49-F238E27FC236}">
                <a16:creationId xmlns:a16="http://schemas.microsoft.com/office/drawing/2014/main" id="{E05D064C-74AB-A3B0-FB7C-C192BA42A88E}"/>
              </a:ext>
            </a:extLst>
          </p:cNvPr>
          <p:cNvSpPr>
            <a:spLocks noGrp="1"/>
          </p:cNvSpPr>
          <p:nvPr>
            <p:ph type="ftr" sz="quarter" idx="11"/>
          </p:nvPr>
        </p:nvSpPr>
        <p:spPr/>
        <p:txBody>
          <a:bodyPr/>
          <a:lstStyle/>
          <a:p>
            <a:r>
              <a:rPr lang="en-US"/>
              <a:t>updated by atef obeidat</a:t>
            </a:r>
            <a:endParaRPr lang="en-US" dirty="0"/>
          </a:p>
        </p:txBody>
      </p:sp>
      <p:sp>
        <p:nvSpPr>
          <p:cNvPr id="6" name="Slide Number Placeholder 5">
            <a:extLst>
              <a:ext uri="{FF2B5EF4-FFF2-40B4-BE49-F238E27FC236}">
                <a16:creationId xmlns:a16="http://schemas.microsoft.com/office/drawing/2014/main" id="{0FA20248-C77A-AD01-7D14-ADAE6AEE2BDC}"/>
              </a:ext>
            </a:extLst>
          </p:cNvPr>
          <p:cNvSpPr>
            <a:spLocks noGrp="1"/>
          </p:cNvSpPr>
          <p:nvPr>
            <p:ph type="sldNum" sz="quarter" idx="12"/>
          </p:nvPr>
        </p:nvSpPr>
        <p:spPr/>
        <p:txBody>
          <a:bodyPr/>
          <a:lstStyle/>
          <a:p>
            <a:fld id="{48F63A3B-78C7-47BE-AE5E-E10140E04643}" type="slidenum">
              <a:rPr lang="en-US" smtClean="0"/>
              <a:t>29</a:t>
            </a:fld>
            <a:endParaRPr lang="en-US" dirty="0"/>
          </a:p>
        </p:txBody>
      </p:sp>
    </p:spTree>
    <p:extLst>
      <p:ext uri="{BB962C8B-B14F-4D97-AF65-F5344CB8AC3E}">
        <p14:creationId xmlns:p14="http://schemas.microsoft.com/office/powerpoint/2010/main" val="3888903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07548F8-7BBB-488A-9C64-FEFB3E119578}"/>
              </a:ext>
            </a:extLst>
          </p:cNvPr>
          <p:cNvSpPr>
            <a:spLocks noGrp="1" noChangeArrowheads="1"/>
          </p:cNvSpPr>
          <p:nvPr>
            <p:ph type="title"/>
          </p:nvPr>
        </p:nvSpPr>
        <p:spPr>
          <a:xfrm>
            <a:off x="457200" y="216130"/>
            <a:ext cx="8229600" cy="576262"/>
          </a:xfrm>
        </p:spPr>
        <p:txBody>
          <a:bodyPr>
            <a:normAutofit fontScale="90000"/>
          </a:bodyPr>
          <a:lstStyle/>
          <a:p>
            <a:pPr eaLnBrk="1" hangingPunct="1"/>
            <a:r>
              <a:rPr lang="en-US" altLang="en-US" dirty="0"/>
              <a:t>1.Thread Pools</a:t>
            </a:r>
          </a:p>
        </p:txBody>
      </p:sp>
      <p:sp>
        <p:nvSpPr>
          <p:cNvPr id="59394" name="Rectangle 3">
            <a:extLst>
              <a:ext uri="{FF2B5EF4-FFF2-40B4-BE49-F238E27FC236}">
                <a16:creationId xmlns:a16="http://schemas.microsoft.com/office/drawing/2014/main" id="{1DAB4466-FF5C-42A6-98D5-F594A5A1782B}"/>
              </a:ext>
            </a:extLst>
          </p:cNvPr>
          <p:cNvSpPr>
            <a:spLocks noGrp="1" noChangeArrowheads="1"/>
          </p:cNvSpPr>
          <p:nvPr>
            <p:ph idx="1"/>
          </p:nvPr>
        </p:nvSpPr>
        <p:spPr>
          <a:xfrm>
            <a:off x="457201" y="928468"/>
            <a:ext cx="8489852" cy="5472332"/>
          </a:xfrm>
        </p:spPr>
        <p:txBody>
          <a:bodyPr>
            <a:normAutofit/>
          </a:bodyPr>
          <a:lstStyle/>
          <a:p>
            <a:r>
              <a:rPr lang="en-US" altLang="en-US" sz="2400" dirty="0"/>
              <a:t>Create a number of threads in a </a:t>
            </a:r>
            <a:r>
              <a:rPr lang="en-US" altLang="en-US" sz="2400" dirty="0">
                <a:solidFill>
                  <a:srgbClr val="FF0000"/>
                </a:solidFill>
              </a:rPr>
              <a:t>pool</a:t>
            </a:r>
            <a:r>
              <a:rPr lang="en-US" altLang="en-US" sz="2400" dirty="0"/>
              <a:t> where they await work</a:t>
            </a:r>
          </a:p>
          <a:p>
            <a:r>
              <a:rPr lang="en-US" altLang="en-US" sz="2400" dirty="0"/>
              <a:t>Advantages:</a:t>
            </a:r>
          </a:p>
          <a:p>
            <a:pPr lvl="1"/>
            <a:r>
              <a:rPr lang="en-US" altLang="en-US" sz="2000" dirty="0"/>
              <a:t>Usually </a:t>
            </a:r>
            <a:r>
              <a:rPr lang="en-US" altLang="en-US" sz="2000" dirty="0">
                <a:solidFill>
                  <a:srgbClr val="FF0000"/>
                </a:solidFill>
              </a:rPr>
              <a:t>slightly faster to service </a:t>
            </a:r>
            <a:r>
              <a:rPr lang="en-US" altLang="en-US" sz="2000" dirty="0"/>
              <a:t>a request with an existing thread than create a new thread</a:t>
            </a:r>
          </a:p>
          <a:p>
            <a:pPr lvl="1"/>
            <a:r>
              <a:rPr lang="en-US" altLang="en-US" sz="2000" dirty="0"/>
              <a:t>Allows the </a:t>
            </a:r>
            <a:r>
              <a:rPr lang="en-US" altLang="en-US" sz="2000" dirty="0">
                <a:solidFill>
                  <a:srgbClr val="FF0000"/>
                </a:solidFill>
              </a:rPr>
              <a:t>number of threads </a:t>
            </a:r>
            <a:r>
              <a:rPr lang="en-US" altLang="en-US" sz="2000" dirty="0"/>
              <a:t>in the application(s) </a:t>
            </a:r>
            <a:r>
              <a:rPr lang="en-US" altLang="en-US" sz="2000" dirty="0">
                <a:solidFill>
                  <a:srgbClr val="FF0000"/>
                </a:solidFill>
              </a:rPr>
              <a:t>to be bound</a:t>
            </a:r>
            <a:r>
              <a:rPr lang="en-US" altLang="en-US" sz="2000" dirty="0"/>
              <a:t> to the size of the pool</a:t>
            </a:r>
          </a:p>
          <a:p>
            <a:pPr lvl="1"/>
            <a:r>
              <a:rPr lang="en-US" altLang="en-US" sz="2000" dirty="0"/>
              <a:t>Separating </a:t>
            </a:r>
            <a:r>
              <a:rPr lang="en-US" altLang="en-US" sz="2000" dirty="0">
                <a:solidFill>
                  <a:schemeClr val="accent5"/>
                </a:solidFill>
                <a:highlight>
                  <a:srgbClr val="FFFF00"/>
                </a:highlight>
              </a:rPr>
              <a:t>task to </a:t>
            </a:r>
            <a:r>
              <a:rPr lang="en-US" altLang="en-US" sz="2000" dirty="0"/>
              <a:t>be performed from </a:t>
            </a:r>
            <a:r>
              <a:rPr lang="en-US" altLang="en-US" sz="2000" dirty="0">
                <a:solidFill>
                  <a:schemeClr val="accent5"/>
                </a:solidFill>
                <a:highlight>
                  <a:srgbClr val="FFFF00"/>
                </a:highlight>
              </a:rPr>
              <a:t>mechanism of creating task </a:t>
            </a:r>
            <a:r>
              <a:rPr lang="en-US" altLang="en-US" sz="2000" dirty="0"/>
              <a:t>allows different strategies for running task. </a:t>
            </a:r>
          </a:p>
          <a:p>
            <a:pPr lvl="2"/>
            <a:r>
              <a:rPr lang="en-US" sz="1800" dirty="0"/>
              <a:t>For example, the task could be scheduled to execute after a time delay or to execute periodically.</a:t>
            </a:r>
            <a:r>
              <a:rPr lang="ar-JO" sz="1800" b="0" i="0" dirty="0">
                <a:solidFill>
                  <a:srgbClr val="000000"/>
                </a:solidFill>
                <a:effectLst/>
                <a:latin typeface="Roboto"/>
              </a:rPr>
              <a:t> يمكن جدولة المهمة للتنفيذ بعد تأخير زمني أو تنفيذها بشكل دوري</a:t>
            </a:r>
            <a:endParaRPr lang="en-US" altLang="en-US" sz="1800" dirty="0">
              <a:solidFill>
                <a:srgbClr val="FF0000"/>
              </a:solidFill>
            </a:endParaRPr>
          </a:p>
          <a:p>
            <a:r>
              <a:rPr lang="en-US" altLang="en-US" sz="2400" dirty="0">
                <a:solidFill>
                  <a:srgbClr val="FF0000"/>
                </a:solidFill>
              </a:rPr>
              <a:t> </a:t>
            </a:r>
            <a:endParaRPr lang="en-US" altLang="en-US" sz="2400" dirty="0"/>
          </a:p>
        </p:txBody>
      </p:sp>
      <p:sp>
        <p:nvSpPr>
          <p:cNvPr id="2" name="Date Placeholder 1">
            <a:extLst>
              <a:ext uri="{FF2B5EF4-FFF2-40B4-BE49-F238E27FC236}">
                <a16:creationId xmlns:a16="http://schemas.microsoft.com/office/drawing/2014/main" id="{6B6ED8BB-0599-5FC3-AF22-5AF90B1B3965}"/>
              </a:ext>
            </a:extLst>
          </p:cNvPr>
          <p:cNvSpPr>
            <a:spLocks noGrp="1"/>
          </p:cNvSpPr>
          <p:nvPr>
            <p:ph type="dt" sz="half" idx="10"/>
          </p:nvPr>
        </p:nvSpPr>
        <p:spPr/>
        <p:txBody>
          <a:bodyPr/>
          <a:lstStyle/>
          <a:p>
            <a:fld id="{C54F9045-019A-47D4-BFDF-3DBFEBFD3253}" type="datetime1">
              <a:rPr lang="en-US" smtClean="0"/>
              <a:t>4/13/2024</a:t>
            </a:fld>
            <a:endParaRPr lang="en-US" dirty="0"/>
          </a:p>
        </p:txBody>
      </p:sp>
      <p:sp>
        <p:nvSpPr>
          <p:cNvPr id="3" name="Footer Placeholder 2">
            <a:extLst>
              <a:ext uri="{FF2B5EF4-FFF2-40B4-BE49-F238E27FC236}">
                <a16:creationId xmlns:a16="http://schemas.microsoft.com/office/drawing/2014/main" id="{035E524C-A280-83D4-59F3-16453295F4D4}"/>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BAF98219-F2E3-51EC-89ED-71026D8FB994}"/>
              </a:ext>
            </a:extLst>
          </p:cNvPr>
          <p:cNvSpPr>
            <a:spLocks noGrp="1"/>
          </p:cNvSpPr>
          <p:nvPr>
            <p:ph type="sldNum" sz="quarter" idx="12"/>
          </p:nvPr>
        </p:nvSpPr>
        <p:spPr/>
        <p:txBody>
          <a:bodyPr/>
          <a:lstStyle/>
          <a:p>
            <a:fld id="{48F63A3B-78C7-47BE-AE5E-E10140E04643}" type="slidenum">
              <a:rPr lang="en-US" smtClean="0"/>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07548F8-7BBB-488A-9C64-FEFB3E119578}"/>
              </a:ext>
            </a:extLst>
          </p:cNvPr>
          <p:cNvSpPr>
            <a:spLocks noGrp="1" noChangeArrowheads="1"/>
          </p:cNvSpPr>
          <p:nvPr>
            <p:ph type="title"/>
          </p:nvPr>
        </p:nvSpPr>
        <p:spPr>
          <a:xfrm>
            <a:off x="457200" y="216130"/>
            <a:ext cx="8229600" cy="576262"/>
          </a:xfrm>
        </p:spPr>
        <p:txBody>
          <a:bodyPr>
            <a:noAutofit/>
          </a:bodyPr>
          <a:lstStyle/>
          <a:p>
            <a:pPr eaLnBrk="1" hangingPunct="1"/>
            <a:r>
              <a:rPr lang="en-US" altLang="en-US" dirty="0">
                <a:solidFill>
                  <a:schemeClr val="accent5"/>
                </a:solidFill>
              </a:rPr>
              <a:t>1.Thread Pools</a:t>
            </a:r>
          </a:p>
        </p:txBody>
      </p:sp>
      <p:sp>
        <p:nvSpPr>
          <p:cNvPr id="59394" name="Rectangle 3">
            <a:extLst>
              <a:ext uri="{FF2B5EF4-FFF2-40B4-BE49-F238E27FC236}">
                <a16:creationId xmlns:a16="http://schemas.microsoft.com/office/drawing/2014/main" id="{1DAB4466-FF5C-42A6-98D5-F594A5A1782B}"/>
              </a:ext>
            </a:extLst>
          </p:cNvPr>
          <p:cNvSpPr>
            <a:spLocks noGrp="1" noChangeArrowheads="1"/>
          </p:cNvSpPr>
          <p:nvPr>
            <p:ph idx="1"/>
          </p:nvPr>
        </p:nvSpPr>
        <p:spPr>
          <a:xfrm>
            <a:off x="457201" y="928468"/>
            <a:ext cx="8489852" cy="5472332"/>
          </a:xfrm>
        </p:spPr>
        <p:txBody>
          <a:bodyPr>
            <a:normAutofit/>
          </a:bodyPr>
          <a:lstStyle/>
          <a:p>
            <a:r>
              <a:rPr lang="en-US" altLang="en-US" sz="3600" dirty="0"/>
              <a:t> </a:t>
            </a:r>
            <a:r>
              <a:rPr lang="en-US" sz="3600" b="0" i="0" dirty="0">
                <a:solidFill>
                  <a:srgbClr val="000000"/>
                </a:solidFill>
                <a:effectLst/>
                <a:latin typeface="Roboto"/>
              </a:rPr>
              <a:t> </a:t>
            </a:r>
            <a:r>
              <a:rPr lang="en-US" altLang="en-US" sz="3600" dirty="0">
                <a:solidFill>
                  <a:srgbClr val="FF0000"/>
                </a:solidFill>
              </a:rPr>
              <a:t>Windows API supports thread pools</a:t>
            </a:r>
            <a:r>
              <a:rPr lang="en-US" altLang="en-US" sz="3600" dirty="0"/>
              <a:t>:</a:t>
            </a:r>
          </a:p>
        </p:txBody>
      </p:sp>
      <p:sp>
        <p:nvSpPr>
          <p:cNvPr id="2" name="Date Placeholder 1">
            <a:extLst>
              <a:ext uri="{FF2B5EF4-FFF2-40B4-BE49-F238E27FC236}">
                <a16:creationId xmlns:a16="http://schemas.microsoft.com/office/drawing/2014/main" id="{6B6ED8BB-0599-5FC3-AF22-5AF90B1B3965}"/>
              </a:ext>
            </a:extLst>
          </p:cNvPr>
          <p:cNvSpPr>
            <a:spLocks noGrp="1"/>
          </p:cNvSpPr>
          <p:nvPr>
            <p:ph type="dt" sz="half" idx="10"/>
          </p:nvPr>
        </p:nvSpPr>
        <p:spPr/>
        <p:txBody>
          <a:bodyPr/>
          <a:lstStyle/>
          <a:p>
            <a:fld id="{C54F9045-019A-47D4-BFDF-3DBFEBFD3253}" type="datetime1">
              <a:rPr lang="en-US" smtClean="0"/>
              <a:t>4/13/2024</a:t>
            </a:fld>
            <a:endParaRPr lang="en-US" dirty="0"/>
          </a:p>
        </p:txBody>
      </p:sp>
      <p:sp>
        <p:nvSpPr>
          <p:cNvPr id="3" name="Footer Placeholder 2">
            <a:extLst>
              <a:ext uri="{FF2B5EF4-FFF2-40B4-BE49-F238E27FC236}">
                <a16:creationId xmlns:a16="http://schemas.microsoft.com/office/drawing/2014/main" id="{035E524C-A280-83D4-59F3-16453295F4D4}"/>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BAF98219-F2E3-51EC-89ED-71026D8FB994}"/>
              </a:ext>
            </a:extLst>
          </p:cNvPr>
          <p:cNvSpPr>
            <a:spLocks noGrp="1"/>
          </p:cNvSpPr>
          <p:nvPr>
            <p:ph type="sldNum" sz="quarter" idx="12"/>
          </p:nvPr>
        </p:nvSpPr>
        <p:spPr/>
        <p:txBody>
          <a:bodyPr/>
          <a:lstStyle/>
          <a:p>
            <a:fld id="{48F63A3B-78C7-47BE-AE5E-E10140E04643}" type="slidenum">
              <a:rPr lang="en-US" smtClean="0"/>
              <a:t>31</a:t>
            </a:fld>
            <a:endParaRPr lang="en-US" dirty="0"/>
          </a:p>
        </p:txBody>
      </p:sp>
      <p:pic>
        <p:nvPicPr>
          <p:cNvPr id="59395" name="Picture 1" descr="Screen Shot 2012-12-04 at 9.17.42 PM.png">
            <a:extLst>
              <a:ext uri="{FF2B5EF4-FFF2-40B4-BE49-F238E27FC236}">
                <a16:creationId xmlns:a16="http://schemas.microsoft.com/office/drawing/2014/main" id="{D64E1B78-20BD-4FED-BCFF-952D9F2161A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6947" y="2397418"/>
            <a:ext cx="9039596" cy="2063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374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A2B30332-8F67-4C2C-9E06-797B76E5E283}"/>
              </a:ext>
            </a:extLst>
          </p:cNvPr>
          <p:cNvSpPr>
            <a:spLocks noGrp="1"/>
          </p:cNvSpPr>
          <p:nvPr>
            <p:ph type="title"/>
          </p:nvPr>
        </p:nvSpPr>
        <p:spPr/>
        <p:txBody>
          <a:bodyPr/>
          <a:lstStyle/>
          <a:p>
            <a:r>
              <a:rPr lang="en-US" altLang="en-US"/>
              <a:t>Java Thread Pools</a:t>
            </a:r>
          </a:p>
        </p:txBody>
      </p:sp>
      <p:sp>
        <p:nvSpPr>
          <p:cNvPr id="61442" name="Content Placeholder 2">
            <a:extLst>
              <a:ext uri="{FF2B5EF4-FFF2-40B4-BE49-F238E27FC236}">
                <a16:creationId xmlns:a16="http://schemas.microsoft.com/office/drawing/2014/main" id="{0F2BF71E-EE06-4CCF-82F8-A416029CCF08}"/>
              </a:ext>
            </a:extLst>
          </p:cNvPr>
          <p:cNvSpPr>
            <a:spLocks noGrp="1"/>
          </p:cNvSpPr>
          <p:nvPr>
            <p:ph idx="1"/>
          </p:nvPr>
        </p:nvSpPr>
        <p:spPr/>
        <p:txBody>
          <a:bodyPr/>
          <a:lstStyle/>
          <a:p>
            <a:r>
              <a:rPr lang="en-US" altLang="en-US"/>
              <a:t>Three factory methods for creating thread pools in Executors class:</a:t>
            </a:r>
          </a:p>
        </p:txBody>
      </p:sp>
      <p:sp>
        <p:nvSpPr>
          <p:cNvPr id="3" name="Date Placeholder 2">
            <a:extLst>
              <a:ext uri="{FF2B5EF4-FFF2-40B4-BE49-F238E27FC236}">
                <a16:creationId xmlns:a16="http://schemas.microsoft.com/office/drawing/2014/main" id="{22EB0CDA-B376-64B8-ECBA-74A60FE58D76}"/>
              </a:ext>
            </a:extLst>
          </p:cNvPr>
          <p:cNvSpPr>
            <a:spLocks noGrp="1"/>
          </p:cNvSpPr>
          <p:nvPr>
            <p:ph type="dt" sz="half" idx="10"/>
          </p:nvPr>
        </p:nvSpPr>
        <p:spPr/>
        <p:txBody>
          <a:bodyPr/>
          <a:lstStyle/>
          <a:p>
            <a:fld id="{8F0303FD-172B-4F8F-9ED9-9212273678C3}" type="datetime1">
              <a:rPr lang="en-US" smtClean="0"/>
              <a:t>4/13/2024</a:t>
            </a:fld>
            <a:endParaRPr lang="en-US" dirty="0"/>
          </a:p>
        </p:txBody>
      </p:sp>
      <p:sp>
        <p:nvSpPr>
          <p:cNvPr id="4" name="Footer Placeholder 3">
            <a:extLst>
              <a:ext uri="{FF2B5EF4-FFF2-40B4-BE49-F238E27FC236}">
                <a16:creationId xmlns:a16="http://schemas.microsoft.com/office/drawing/2014/main" id="{D4AFF3DC-B09F-C543-93D7-199F1B578940}"/>
              </a:ext>
            </a:extLst>
          </p:cNvPr>
          <p:cNvSpPr>
            <a:spLocks noGrp="1"/>
          </p:cNvSpPr>
          <p:nvPr>
            <p:ph type="ftr" sz="quarter" idx="11"/>
          </p:nvPr>
        </p:nvSpPr>
        <p:spPr/>
        <p:txBody>
          <a:bodyPr/>
          <a:lstStyle/>
          <a:p>
            <a:r>
              <a:rPr lang="en-US"/>
              <a:t>updated by atef obeidat</a:t>
            </a:r>
            <a:endParaRPr lang="en-US" dirty="0"/>
          </a:p>
        </p:txBody>
      </p:sp>
      <p:sp>
        <p:nvSpPr>
          <p:cNvPr id="5" name="Slide Number Placeholder 4">
            <a:extLst>
              <a:ext uri="{FF2B5EF4-FFF2-40B4-BE49-F238E27FC236}">
                <a16:creationId xmlns:a16="http://schemas.microsoft.com/office/drawing/2014/main" id="{13E4A15C-588E-2625-0A90-FDDB77ED74E8}"/>
              </a:ext>
            </a:extLst>
          </p:cNvPr>
          <p:cNvSpPr>
            <a:spLocks noGrp="1"/>
          </p:cNvSpPr>
          <p:nvPr>
            <p:ph type="sldNum" sz="quarter" idx="12"/>
          </p:nvPr>
        </p:nvSpPr>
        <p:spPr/>
        <p:txBody>
          <a:bodyPr/>
          <a:lstStyle/>
          <a:p>
            <a:fld id="{48F63A3B-78C7-47BE-AE5E-E10140E04643}" type="slidenum">
              <a:rPr lang="en-US" smtClean="0"/>
              <a:t>32</a:t>
            </a:fld>
            <a:endParaRPr lang="en-US" dirty="0"/>
          </a:p>
        </p:txBody>
      </p:sp>
      <p:pic>
        <p:nvPicPr>
          <p:cNvPr id="61443" name="Picture 3">
            <a:extLst>
              <a:ext uri="{FF2B5EF4-FFF2-40B4-BE49-F238E27FC236}">
                <a16:creationId xmlns:a16="http://schemas.microsoft.com/office/drawing/2014/main" id="{1E44F790-96C5-4253-A283-43ACB4803D7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62050" y="1636713"/>
            <a:ext cx="7372350" cy="2344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47261" y="4384382"/>
            <a:ext cx="7155321" cy="954107"/>
          </a:xfrm>
          <a:prstGeom prst="rect">
            <a:avLst/>
          </a:prstGeom>
        </p:spPr>
        <p:txBody>
          <a:bodyPr wrap="square">
            <a:spAutoFit/>
          </a:bodyPr>
          <a:lstStyle/>
          <a:p>
            <a:r>
              <a:rPr lang="en-US" sz="2800" dirty="0">
                <a:solidFill>
                  <a:srgbClr val="FF0000"/>
                </a:solidFill>
                <a:highlight>
                  <a:srgbClr val="FFFF00"/>
                </a:highlight>
                <a:latin typeface="Helvetica Neue"/>
              </a:rPr>
              <a:t>Note</a:t>
            </a:r>
            <a:r>
              <a:rPr lang="en-US" sz="2800" dirty="0">
                <a:solidFill>
                  <a:srgbClr val="FF0000"/>
                </a:solidFill>
                <a:latin typeface="Helvetica Neue"/>
              </a:rPr>
              <a:t>: Cached thread pools will continue to create more and more threads in extreme</a:t>
            </a:r>
            <a:endParaRPr lang="en-US" sz="2800" dirty="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96B7209D-1875-45AD-B783-C40EB738F2C7}"/>
              </a:ext>
            </a:extLst>
          </p:cNvPr>
          <p:cNvSpPr>
            <a:spLocks noGrp="1"/>
          </p:cNvSpPr>
          <p:nvPr>
            <p:ph type="title"/>
          </p:nvPr>
        </p:nvSpPr>
        <p:spPr>
          <a:xfrm>
            <a:off x="499442" y="245655"/>
            <a:ext cx="7886700" cy="758197"/>
          </a:xfrm>
        </p:spPr>
        <p:txBody>
          <a:bodyPr/>
          <a:lstStyle/>
          <a:p>
            <a:r>
              <a:rPr lang="en-US" altLang="en-US" dirty="0">
                <a:solidFill>
                  <a:schemeClr val="accent5"/>
                </a:solidFill>
                <a:highlight>
                  <a:srgbClr val="FFFF00"/>
                </a:highlight>
              </a:rPr>
              <a:t>2. Fork-Join Parallelism</a:t>
            </a:r>
          </a:p>
        </p:txBody>
      </p:sp>
      <p:sp>
        <p:nvSpPr>
          <p:cNvPr id="63490" name="Content Placeholder 2">
            <a:extLst>
              <a:ext uri="{FF2B5EF4-FFF2-40B4-BE49-F238E27FC236}">
                <a16:creationId xmlns:a16="http://schemas.microsoft.com/office/drawing/2014/main" id="{BD5D55A5-3CD4-45C3-AEDE-1B3CAE796BA9}"/>
              </a:ext>
            </a:extLst>
          </p:cNvPr>
          <p:cNvSpPr>
            <a:spLocks noGrp="1"/>
          </p:cNvSpPr>
          <p:nvPr>
            <p:ph idx="1"/>
          </p:nvPr>
        </p:nvSpPr>
        <p:spPr>
          <a:xfrm>
            <a:off x="173551" y="1402253"/>
            <a:ext cx="8796898" cy="4954098"/>
          </a:xfrm>
        </p:spPr>
        <p:txBody>
          <a:bodyPr/>
          <a:lstStyle/>
          <a:p>
            <a:r>
              <a:rPr lang="en-US" sz="2400" dirty="0"/>
              <a:t>The  main parent thread creates (forks) one or more child threads and then waits for the children to terminate and join with it, at which point it can retrieve and combine their results.</a:t>
            </a:r>
          </a:p>
          <a:p>
            <a:r>
              <a:rPr lang="en-US" sz="2400" dirty="0"/>
              <a:t>This synchronous model is often characterized as explicit thread creation, </a:t>
            </a:r>
            <a:r>
              <a:rPr lang="en-US" sz="2400" dirty="0">
                <a:solidFill>
                  <a:srgbClr val="FF0000"/>
                </a:solidFill>
              </a:rPr>
              <a:t>but it is also an excellent candidate for implicit threading.</a:t>
            </a:r>
          </a:p>
          <a:p>
            <a:pPr lvl="1"/>
            <a:r>
              <a:rPr lang="en-US" sz="2400" dirty="0"/>
              <a:t> In the latter situation, threads are not constructed directly during the fork stage; </a:t>
            </a:r>
            <a:r>
              <a:rPr lang="en-US" sz="2400" dirty="0">
                <a:solidFill>
                  <a:srgbClr val="FF0000"/>
                </a:solidFill>
              </a:rPr>
              <a:t>rather, parallel tasks are designated</a:t>
            </a:r>
            <a:r>
              <a:rPr lang="en-US" sz="2400" dirty="0"/>
              <a:t>.</a:t>
            </a:r>
          </a:p>
          <a:p>
            <a:r>
              <a:rPr lang="en-US" sz="2400" dirty="0">
                <a:solidFill>
                  <a:srgbClr val="0070C0"/>
                </a:solidFill>
              </a:rPr>
              <a:t> </a:t>
            </a:r>
            <a:endParaRPr lang="en-US" altLang="en-US" sz="2400" dirty="0">
              <a:solidFill>
                <a:srgbClr val="0070C0"/>
              </a:solidFill>
            </a:endParaRPr>
          </a:p>
        </p:txBody>
      </p:sp>
      <p:sp>
        <p:nvSpPr>
          <p:cNvPr id="2" name="Date Placeholder 1">
            <a:extLst>
              <a:ext uri="{FF2B5EF4-FFF2-40B4-BE49-F238E27FC236}">
                <a16:creationId xmlns:a16="http://schemas.microsoft.com/office/drawing/2014/main" id="{D4CFA49A-D661-354D-B0C8-D9DF33A3C320}"/>
              </a:ext>
            </a:extLst>
          </p:cNvPr>
          <p:cNvSpPr>
            <a:spLocks noGrp="1"/>
          </p:cNvSpPr>
          <p:nvPr>
            <p:ph type="dt" sz="half" idx="10"/>
          </p:nvPr>
        </p:nvSpPr>
        <p:spPr/>
        <p:txBody>
          <a:bodyPr/>
          <a:lstStyle/>
          <a:p>
            <a:fld id="{8719D112-2A78-4DB7-A3B8-2499008E45C6}" type="datetime1">
              <a:rPr lang="en-US" smtClean="0"/>
              <a:t>4/13/2024</a:t>
            </a:fld>
            <a:endParaRPr lang="en-US" dirty="0"/>
          </a:p>
        </p:txBody>
      </p:sp>
      <p:sp>
        <p:nvSpPr>
          <p:cNvPr id="3" name="Footer Placeholder 2">
            <a:extLst>
              <a:ext uri="{FF2B5EF4-FFF2-40B4-BE49-F238E27FC236}">
                <a16:creationId xmlns:a16="http://schemas.microsoft.com/office/drawing/2014/main" id="{5FD3B22C-F728-2E59-FFCE-A76FBE60F62D}"/>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9896E466-CBCB-7E63-8956-98B36FB1EB3D}"/>
              </a:ext>
            </a:extLst>
          </p:cNvPr>
          <p:cNvSpPr>
            <a:spLocks noGrp="1"/>
          </p:cNvSpPr>
          <p:nvPr>
            <p:ph type="sldNum" sz="quarter" idx="12"/>
          </p:nvPr>
        </p:nvSpPr>
        <p:spPr/>
        <p:txBody>
          <a:bodyPr/>
          <a:lstStyle/>
          <a:p>
            <a:fld id="{48F63A3B-78C7-47BE-AE5E-E10140E04643}" type="slidenum">
              <a:rPr lang="en-US" smtClean="0"/>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96B7209D-1875-45AD-B783-C40EB738F2C7}"/>
              </a:ext>
            </a:extLst>
          </p:cNvPr>
          <p:cNvSpPr>
            <a:spLocks noGrp="1"/>
          </p:cNvSpPr>
          <p:nvPr>
            <p:ph type="title"/>
          </p:nvPr>
        </p:nvSpPr>
        <p:spPr/>
        <p:txBody>
          <a:bodyPr/>
          <a:lstStyle/>
          <a:p>
            <a:r>
              <a:rPr lang="en-US" altLang="en-US" dirty="0"/>
              <a:t> Fork-Join Parallelism</a:t>
            </a:r>
          </a:p>
        </p:txBody>
      </p:sp>
      <p:sp>
        <p:nvSpPr>
          <p:cNvPr id="63490" name="Content Placeholder 2">
            <a:extLst>
              <a:ext uri="{FF2B5EF4-FFF2-40B4-BE49-F238E27FC236}">
                <a16:creationId xmlns:a16="http://schemas.microsoft.com/office/drawing/2014/main" id="{BD5D55A5-3CD4-45C3-AEDE-1B3CAE796BA9}"/>
              </a:ext>
            </a:extLst>
          </p:cNvPr>
          <p:cNvSpPr>
            <a:spLocks noGrp="1"/>
          </p:cNvSpPr>
          <p:nvPr>
            <p:ph idx="1"/>
          </p:nvPr>
        </p:nvSpPr>
        <p:spPr/>
        <p:txBody>
          <a:bodyPr/>
          <a:lstStyle/>
          <a:p>
            <a:r>
              <a:rPr lang="en-US" altLang="en-US" dirty="0">
                <a:solidFill>
                  <a:srgbClr val="0070C0"/>
                </a:solidFill>
              </a:rPr>
              <a:t>Multiple threads (tasks) are </a:t>
            </a:r>
            <a:r>
              <a:rPr lang="en-US" altLang="en-US" b="1" dirty="0">
                <a:solidFill>
                  <a:srgbClr val="0070C0"/>
                </a:solidFill>
              </a:rPr>
              <a:t>forked</a:t>
            </a:r>
            <a:r>
              <a:rPr lang="en-US" altLang="en-US" dirty="0">
                <a:solidFill>
                  <a:srgbClr val="0070C0"/>
                </a:solidFill>
              </a:rPr>
              <a:t>, and then </a:t>
            </a:r>
            <a:r>
              <a:rPr lang="en-US" altLang="en-US" b="1" dirty="0">
                <a:solidFill>
                  <a:srgbClr val="0070C0"/>
                </a:solidFill>
              </a:rPr>
              <a:t>joined</a:t>
            </a:r>
            <a:r>
              <a:rPr lang="en-US" altLang="en-US" dirty="0">
                <a:solidFill>
                  <a:srgbClr val="0070C0"/>
                </a:solidFill>
              </a:rPr>
              <a:t>.</a:t>
            </a:r>
          </a:p>
          <a:p>
            <a:r>
              <a:rPr lang="en-US" sz="1800" dirty="0"/>
              <a:t>A library manages the number of threads that are created and is also responsible for assigning tasks to threads. </a:t>
            </a:r>
          </a:p>
          <a:p>
            <a:endParaRPr lang="en-US" altLang="en-US" dirty="0"/>
          </a:p>
        </p:txBody>
      </p:sp>
      <p:sp>
        <p:nvSpPr>
          <p:cNvPr id="2" name="Date Placeholder 1">
            <a:extLst>
              <a:ext uri="{FF2B5EF4-FFF2-40B4-BE49-F238E27FC236}">
                <a16:creationId xmlns:a16="http://schemas.microsoft.com/office/drawing/2014/main" id="{AEF1DA58-D99B-0A41-2234-29E0B5969AD1}"/>
              </a:ext>
            </a:extLst>
          </p:cNvPr>
          <p:cNvSpPr>
            <a:spLocks noGrp="1"/>
          </p:cNvSpPr>
          <p:nvPr>
            <p:ph type="dt" sz="half" idx="10"/>
          </p:nvPr>
        </p:nvSpPr>
        <p:spPr/>
        <p:txBody>
          <a:bodyPr/>
          <a:lstStyle/>
          <a:p>
            <a:fld id="{3280C493-C2C8-419C-B61A-2DA09F03EF14}" type="datetime1">
              <a:rPr lang="en-US" smtClean="0"/>
              <a:t>4/13/2024</a:t>
            </a:fld>
            <a:endParaRPr lang="en-US" dirty="0"/>
          </a:p>
        </p:txBody>
      </p:sp>
      <p:sp>
        <p:nvSpPr>
          <p:cNvPr id="3" name="Footer Placeholder 2">
            <a:extLst>
              <a:ext uri="{FF2B5EF4-FFF2-40B4-BE49-F238E27FC236}">
                <a16:creationId xmlns:a16="http://schemas.microsoft.com/office/drawing/2014/main" id="{83EEEFDA-F06E-FC30-74A7-2EFAB02227AB}"/>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F49376A8-53E3-B2C9-A4C3-6C3EC54D7B22}"/>
              </a:ext>
            </a:extLst>
          </p:cNvPr>
          <p:cNvSpPr>
            <a:spLocks noGrp="1"/>
          </p:cNvSpPr>
          <p:nvPr>
            <p:ph type="sldNum" sz="quarter" idx="12"/>
          </p:nvPr>
        </p:nvSpPr>
        <p:spPr/>
        <p:txBody>
          <a:bodyPr/>
          <a:lstStyle/>
          <a:p>
            <a:fld id="{48F63A3B-78C7-47BE-AE5E-E10140E04643}" type="slidenum">
              <a:rPr lang="en-US" smtClean="0"/>
              <a:t>34</a:t>
            </a:fld>
            <a:endParaRPr lang="en-US" dirty="0"/>
          </a:p>
        </p:txBody>
      </p:sp>
      <p:pic>
        <p:nvPicPr>
          <p:cNvPr id="63491" name="Picture 1">
            <a:extLst>
              <a:ext uri="{FF2B5EF4-FFF2-40B4-BE49-F238E27FC236}">
                <a16:creationId xmlns:a16="http://schemas.microsoft.com/office/drawing/2014/main" id="{D71E8547-BE08-417E-B714-75D03F5D5A9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2565" y="3882059"/>
            <a:ext cx="6774748"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99475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a:extLst>
              <a:ext uri="{FF2B5EF4-FFF2-40B4-BE49-F238E27FC236}">
                <a16:creationId xmlns:a16="http://schemas.microsoft.com/office/drawing/2014/main" id="{6D90200C-7483-4971-837A-517771B6E313}"/>
              </a:ext>
            </a:extLst>
          </p:cNvPr>
          <p:cNvSpPr>
            <a:spLocks noGrp="1"/>
          </p:cNvSpPr>
          <p:nvPr>
            <p:ph type="title"/>
          </p:nvPr>
        </p:nvSpPr>
        <p:spPr/>
        <p:txBody>
          <a:bodyPr/>
          <a:lstStyle/>
          <a:p>
            <a:r>
              <a:rPr lang="en-US" altLang="en-US"/>
              <a:t>Fork-Join Parallelism in Java</a:t>
            </a:r>
          </a:p>
        </p:txBody>
      </p:sp>
      <p:sp>
        <p:nvSpPr>
          <p:cNvPr id="68610" name="Content Placeholder 2">
            <a:extLst>
              <a:ext uri="{FF2B5EF4-FFF2-40B4-BE49-F238E27FC236}">
                <a16:creationId xmlns:a16="http://schemas.microsoft.com/office/drawing/2014/main" id="{4C19F5FD-397F-47D2-8792-EE6E18E2B803}"/>
              </a:ext>
            </a:extLst>
          </p:cNvPr>
          <p:cNvSpPr>
            <a:spLocks noGrp="1"/>
          </p:cNvSpPr>
          <p:nvPr>
            <p:ph idx="1"/>
          </p:nvPr>
        </p:nvSpPr>
        <p:spPr>
          <a:xfrm>
            <a:off x="806450" y="1233488"/>
            <a:ext cx="7712399" cy="2110276"/>
          </a:xfrm>
        </p:spPr>
        <p:txBody>
          <a:bodyPr>
            <a:normAutofit/>
          </a:bodyPr>
          <a:lstStyle/>
          <a:p>
            <a:r>
              <a:rPr lang="en-US" altLang="en-US" dirty="0"/>
              <a:t>The </a:t>
            </a:r>
            <a:r>
              <a:rPr lang="en-US" altLang="en-US" b="1" dirty="0" err="1">
                <a:solidFill>
                  <a:srgbClr val="FF0000"/>
                </a:solidFill>
                <a:latin typeface="Courier New" panose="02070309020205020404" pitchFamily="49" charset="0"/>
              </a:rPr>
              <a:t>ForkJoinTask</a:t>
            </a:r>
            <a:r>
              <a:rPr lang="en-US" altLang="en-US" dirty="0"/>
              <a:t> is an abstract base class</a:t>
            </a:r>
          </a:p>
          <a:p>
            <a:pPr lvl="1"/>
            <a:r>
              <a:rPr lang="en-US" altLang="en-US" b="1" dirty="0" err="1">
                <a:latin typeface="Courier New" panose="02070309020205020404" pitchFamily="49" charset="0"/>
              </a:rPr>
              <a:t>RecursiveTask</a:t>
            </a:r>
            <a:r>
              <a:rPr lang="en-US" altLang="en-US" dirty="0"/>
              <a:t> and </a:t>
            </a:r>
            <a:r>
              <a:rPr lang="en-US" altLang="en-US" b="1" dirty="0" err="1">
                <a:latin typeface="Courier New" panose="02070309020205020404" pitchFamily="49" charset="0"/>
              </a:rPr>
              <a:t>RecursiveAction</a:t>
            </a:r>
            <a:r>
              <a:rPr lang="en-US" altLang="en-US" dirty="0"/>
              <a:t> classes extend </a:t>
            </a:r>
            <a:r>
              <a:rPr lang="en-US" altLang="en-US" b="1" dirty="0" err="1">
                <a:latin typeface="Courier New" panose="02070309020205020404" pitchFamily="49" charset="0"/>
              </a:rPr>
              <a:t>ForkJoinTask</a:t>
            </a:r>
            <a:endParaRPr lang="en-US" altLang="en-US" b="1" dirty="0">
              <a:latin typeface="Courier New" panose="02070309020205020404" pitchFamily="49" charset="0"/>
            </a:endParaRPr>
          </a:p>
          <a:p>
            <a:r>
              <a:rPr lang="en-US" altLang="en-US" b="1" dirty="0" err="1">
                <a:solidFill>
                  <a:srgbClr val="FF0000"/>
                </a:solidFill>
                <a:latin typeface="Courier New" panose="02070309020205020404" pitchFamily="49" charset="0"/>
              </a:rPr>
              <a:t>RecursiveTask</a:t>
            </a:r>
            <a:r>
              <a:rPr lang="en-US" altLang="en-US" dirty="0"/>
              <a:t> returns a result (via the return value from the </a:t>
            </a:r>
            <a:r>
              <a:rPr lang="en-US" altLang="en-US" b="1" dirty="0">
                <a:latin typeface="Courier New" panose="02070309020205020404" pitchFamily="49" charset="0"/>
              </a:rPr>
              <a:t>compute() </a:t>
            </a:r>
            <a:r>
              <a:rPr lang="en-US" altLang="en-US" dirty="0"/>
              <a:t>method) </a:t>
            </a:r>
          </a:p>
          <a:p>
            <a:r>
              <a:rPr lang="en-US" altLang="en-US" b="1" dirty="0" err="1">
                <a:solidFill>
                  <a:srgbClr val="FF0000"/>
                </a:solidFill>
                <a:latin typeface="Courier New" panose="02070309020205020404" pitchFamily="49" charset="0"/>
              </a:rPr>
              <a:t>RecursiveAction</a:t>
            </a:r>
            <a:r>
              <a:rPr lang="en-US" altLang="en-US" dirty="0"/>
              <a:t> does not return a result</a:t>
            </a:r>
            <a:endParaRPr lang="en-US" altLang="en-US" b="1" dirty="0">
              <a:latin typeface="Courier New" panose="02070309020205020404" pitchFamily="49" charset="0"/>
            </a:endParaRPr>
          </a:p>
          <a:p>
            <a:endParaRPr lang="en-US" altLang="en-US" b="1" dirty="0">
              <a:latin typeface="Courier New" panose="02070309020205020404" pitchFamily="49" charset="0"/>
            </a:endParaRPr>
          </a:p>
        </p:txBody>
      </p:sp>
      <p:sp>
        <p:nvSpPr>
          <p:cNvPr id="2" name="Date Placeholder 1">
            <a:extLst>
              <a:ext uri="{FF2B5EF4-FFF2-40B4-BE49-F238E27FC236}">
                <a16:creationId xmlns:a16="http://schemas.microsoft.com/office/drawing/2014/main" id="{2ACCDDD0-B75A-825C-F295-8D787789184D}"/>
              </a:ext>
            </a:extLst>
          </p:cNvPr>
          <p:cNvSpPr>
            <a:spLocks noGrp="1"/>
          </p:cNvSpPr>
          <p:nvPr>
            <p:ph type="dt" sz="half" idx="10"/>
          </p:nvPr>
        </p:nvSpPr>
        <p:spPr/>
        <p:txBody>
          <a:bodyPr/>
          <a:lstStyle/>
          <a:p>
            <a:fld id="{BDCF0F26-5E3F-46E9-BC30-EE5B7B367BCC}" type="datetime1">
              <a:rPr lang="en-US" smtClean="0"/>
              <a:t>4/13/2024</a:t>
            </a:fld>
            <a:endParaRPr lang="en-US" dirty="0"/>
          </a:p>
        </p:txBody>
      </p:sp>
      <p:sp>
        <p:nvSpPr>
          <p:cNvPr id="3" name="Footer Placeholder 2">
            <a:extLst>
              <a:ext uri="{FF2B5EF4-FFF2-40B4-BE49-F238E27FC236}">
                <a16:creationId xmlns:a16="http://schemas.microsoft.com/office/drawing/2014/main" id="{8512A98B-E7B7-F318-C669-ED82FE7943A9}"/>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4144E132-FB25-99EA-EE19-4F8FCA99AFF0}"/>
              </a:ext>
            </a:extLst>
          </p:cNvPr>
          <p:cNvSpPr>
            <a:spLocks noGrp="1"/>
          </p:cNvSpPr>
          <p:nvPr>
            <p:ph type="sldNum" sz="quarter" idx="12"/>
          </p:nvPr>
        </p:nvSpPr>
        <p:spPr/>
        <p:txBody>
          <a:bodyPr/>
          <a:lstStyle/>
          <a:p>
            <a:fld id="{48F63A3B-78C7-47BE-AE5E-E10140E04643}" type="slidenum">
              <a:rPr lang="en-US" smtClean="0"/>
              <a:t>35</a:t>
            </a:fld>
            <a:endParaRPr lang="en-US" dirty="0"/>
          </a:p>
        </p:txBody>
      </p:sp>
      <p:pic>
        <p:nvPicPr>
          <p:cNvPr id="68611" name="Picture 1">
            <a:extLst>
              <a:ext uri="{FF2B5EF4-FFF2-40B4-BE49-F238E27FC236}">
                <a16:creationId xmlns:a16="http://schemas.microsoft.com/office/drawing/2014/main" id="{16F28A26-C981-42C8-8117-EA6AF2BD5D0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03037" y="3514236"/>
            <a:ext cx="495935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a:extLst>
              <a:ext uri="{FF2B5EF4-FFF2-40B4-BE49-F238E27FC236}">
                <a16:creationId xmlns:a16="http://schemas.microsoft.com/office/drawing/2014/main" id="{43D13F5A-2734-49DF-BFE4-5DB6E05449A6}"/>
              </a:ext>
            </a:extLst>
          </p:cNvPr>
          <p:cNvSpPr>
            <a:spLocks noGrp="1"/>
          </p:cNvSpPr>
          <p:nvPr>
            <p:ph type="title"/>
          </p:nvPr>
        </p:nvSpPr>
        <p:spPr/>
        <p:txBody>
          <a:bodyPr/>
          <a:lstStyle/>
          <a:p>
            <a:r>
              <a:rPr lang="en-US" altLang="en-US"/>
              <a:t>Fork-Join Parallelism in Java</a:t>
            </a:r>
          </a:p>
        </p:txBody>
      </p:sp>
      <p:sp>
        <p:nvSpPr>
          <p:cNvPr id="2" name="Date Placeholder 1">
            <a:extLst>
              <a:ext uri="{FF2B5EF4-FFF2-40B4-BE49-F238E27FC236}">
                <a16:creationId xmlns:a16="http://schemas.microsoft.com/office/drawing/2014/main" id="{B0E4895E-29D7-D03F-82A9-EEE3A391E989}"/>
              </a:ext>
            </a:extLst>
          </p:cNvPr>
          <p:cNvSpPr>
            <a:spLocks noGrp="1"/>
          </p:cNvSpPr>
          <p:nvPr>
            <p:ph type="dt" sz="half" idx="10"/>
          </p:nvPr>
        </p:nvSpPr>
        <p:spPr/>
        <p:txBody>
          <a:bodyPr/>
          <a:lstStyle/>
          <a:p>
            <a:fld id="{40F539B5-C79F-42B3-BFC2-3B5B16F3ABFB}" type="datetime1">
              <a:rPr lang="en-US" smtClean="0"/>
              <a:t>4/13/2024</a:t>
            </a:fld>
            <a:endParaRPr lang="en-US" dirty="0"/>
          </a:p>
        </p:txBody>
      </p:sp>
      <p:sp>
        <p:nvSpPr>
          <p:cNvPr id="3" name="Footer Placeholder 2">
            <a:extLst>
              <a:ext uri="{FF2B5EF4-FFF2-40B4-BE49-F238E27FC236}">
                <a16:creationId xmlns:a16="http://schemas.microsoft.com/office/drawing/2014/main" id="{C1B0CCFA-A9A7-A4F2-F007-17241BC14ACC}"/>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8AFA441F-0315-84BA-77CC-A69EE293B306}"/>
              </a:ext>
            </a:extLst>
          </p:cNvPr>
          <p:cNvSpPr>
            <a:spLocks noGrp="1"/>
          </p:cNvSpPr>
          <p:nvPr>
            <p:ph type="sldNum" sz="quarter" idx="12"/>
          </p:nvPr>
        </p:nvSpPr>
        <p:spPr/>
        <p:txBody>
          <a:bodyPr/>
          <a:lstStyle/>
          <a:p>
            <a:fld id="{48F63A3B-78C7-47BE-AE5E-E10140E04643}" type="slidenum">
              <a:rPr lang="en-US" smtClean="0"/>
              <a:t>36</a:t>
            </a:fld>
            <a:endParaRPr lang="en-US" dirty="0"/>
          </a:p>
        </p:txBody>
      </p:sp>
      <p:pic>
        <p:nvPicPr>
          <p:cNvPr id="66562" name="Picture 2">
            <a:extLst>
              <a:ext uri="{FF2B5EF4-FFF2-40B4-BE49-F238E27FC236}">
                <a16:creationId xmlns:a16="http://schemas.microsoft.com/office/drawing/2014/main" id="{6CF0E748-8FC9-47F3-864F-F2C39472AF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784210"/>
            <a:ext cx="7845340" cy="2303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6F54C6C-2B76-4241-AFCA-7EC2E9B1DDDE}"/>
              </a:ext>
            </a:extLst>
          </p:cNvPr>
          <p:cNvSpPr txBox="1"/>
          <p:nvPr/>
        </p:nvSpPr>
        <p:spPr>
          <a:xfrm>
            <a:off x="337626" y="1339899"/>
            <a:ext cx="7017332" cy="2308324"/>
          </a:xfrm>
          <a:prstGeom prst="rect">
            <a:avLst/>
          </a:prstGeom>
          <a:noFill/>
        </p:spPr>
        <p:txBody>
          <a:bodyPr wrap="square">
            <a:spAutoFit/>
          </a:bodyPr>
          <a:lstStyle/>
          <a:p>
            <a:r>
              <a:rPr lang="en-US" sz="2400" dirty="0">
                <a:latin typeface="Aparajita" panose="020B0502040204020203" pitchFamily="18" charset="0"/>
                <a:cs typeface="Aparajita" panose="020B0502040204020203" pitchFamily="18" charset="0"/>
              </a:rPr>
              <a:t>In Version 1.7 of the API Java introduced a new thread pool— the </a:t>
            </a:r>
            <a:r>
              <a:rPr lang="en-US" sz="2400" dirty="0" err="1">
                <a:latin typeface="Aparajita" panose="020B0502040204020203" pitchFamily="18" charset="0"/>
                <a:cs typeface="Aparajita" panose="020B0502040204020203" pitchFamily="18" charset="0"/>
              </a:rPr>
              <a:t>ForkJoinPool</a:t>
            </a:r>
            <a:r>
              <a:rPr lang="en-US" sz="2400" dirty="0">
                <a:latin typeface="Aparajita" panose="020B0502040204020203" pitchFamily="18" charset="0"/>
                <a:cs typeface="Aparajita" panose="020B0502040204020203" pitchFamily="18" charset="0"/>
              </a:rPr>
              <a:t>— that can be assigned tasks that inherit the abstract base class </a:t>
            </a:r>
            <a:r>
              <a:rPr lang="en-US" sz="2400" dirty="0" err="1">
                <a:latin typeface="Aparajita" panose="020B0502040204020203" pitchFamily="18" charset="0"/>
                <a:cs typeface="Aparajita" panose="020B0502040204020203" pitchFamily="18" charset="0"/>
              </a:rPr>
              <a:t>ForkJoinTask</a:t>
            </a:r>
            <a:r>
              <a:rPr lang="en-US" sz="2400" dirty="0">
                <a:latin typeface="Aparajita" panose="020B0502040204020203" pitchFamily="18" charset="0"/>
                <a:cs typeface="Aparajita" panose="020B0502040204020203" pitchFamily="18" charset="0"/>
              </a:rPr>
              <a:t> (which for now we will assume is the </a:t>
            </a:r>
            <a:r>
              <a:rPr lang="en-US" sz="2400" dirty="0" err="1">
                <a:latin typeface="Aparajita" panose="020B0502040204020203" pitchFamily="18" charset="0"/>
                <a:cs typeface="Aparajita" panose="020B0502040204020203" pitchFamily="18" charset="0"/>
              </a:rPr>
              <a:t>SumTask</a:t>
            </a:r>
            <a:r>
              <a:rPr lang="en-US" sz="2400" dirty="0">
                <a:latin typeface="Aparajita" panose="020B0502040204020203" pitchFamily="18" charset="0"/>
                <a:cs typeface="Aparajita" panose="020B0502040204020203" pitchFamily="18" charset="0"/>
              </a:rPr>
              <a:t> class). </a:t>
            </a:r>
          </a:p>
          <a:p>
            <a:pPr marL="342900" indent="-342900">
              <a:buFont typeface="Arial" panose="020B0604020202020204" pitchFamily="34" charset="0"/>
              <a:buChar char="•"/>
            </a:pPr>
            <a:r>
              <a:rPr lang="en-US" sz="2400" dirty="0">
                <a:latin typeface="Aparajita" panose="020B0502040204020203" pitchFamily="18" charset="0"/>
                <a:cs typeface="Aparajita" panose="020B0502040204020203" pitchFamily="18" charset="0"/>
              </a:rPr>
              <a:t>The following creates a </a:t>
            </a:r>
            <a:r>
              <a:rPr lang="en-US" sz="2400" dirty="0" err="1">
                <a:latin typeface="Aparajita" panose="020B0502040204020203" pitchFamily="18" charset="0"/>
                <a:cs typeface="Aparajita" panose="020B0502040204020203" pitchFamily="18" charset="0"/>
              </a:rPr>
              <a:t>ForkJoinPool</a:t>
            </a:r>
            <a:r>
              <a:rPr lang="en-US" sz="2400" dirty="0">
                <a:latin typeface="Aparajita" panose="020B0502040204020203" pitchFamily="18" charset="0"/>
                <a:cs typeface="Aparajita" panose="020B0502040204020203" pitchFamily="18" charset="0"/>
              </a:rPr>
              <a:t> object and submits the initial task via its invoke() method: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544669B9-2DEA-421A-8382-2BC0EEE0BDF8}"/>
              </a:ext>
            </a:extLst>
          </p:cNvPr>
          <p:cNvSpPr>
            <a:spLocks noGrp="1" noChangeArrowheads="1"/>
          </p:cNvSpPr>
          <p:nvPr>
            <p:ph type="title"/>
          </p:nvPr>
        </p:nvSpPr>
        <p:spPr>
          <a:xfrm>
            <a:off x="457200" y="203430"/>
            <a:ext cx="8229600" cy="576262"/>
          </a:xfrm>
        </p:spPr>
        <p:txBody>
          <a:bodyPr>
            <a:normAutofit fontScale="90000"/>
          </a:bodyPr>
          <a:lstStyle/>
          <a:p>
            <a:pPr eaLnBrk="1" hangingPunct="1"/>
            <a:r>
              <a:rPr lang="en-US" altLang="en-US" dirty="0"/>
              <a:t>3.OpenMP</a:t>
            </a:r>
            <a:r>
              <a:rPr lang="en-US" b="0" dirty="0"/>
              <a:t> (Open Multi-Processing)</a:t>
            </a:r>
            <a:endParaRPr lang="en-US" altLang="en-US" dirty="0"/>
          </a:p>
        </p:txBody>
      </p:sp>
      <p:sp>
        <p:nvSpPr>
          <p:cNvPr id="69634" name="Rectangle 3">
            <a:extLst>
              <a:ext uri="{FF2B5EF4-FFF2-40B4-BE49-F238E27FC236}">
                <a16:creationId xmlns:a16="http://schemas.microsoft.com/office/drawing/2014/main" id="{14946A5B-F4DA-4E2D-9FE7-9A6C90AECB1C}"/>
              </a:ext>
            </a:extLst>
          </p:cNvPr>
          <p:cNvSpPr>
            <a:spLocks noGrp="1" noChangeArrowheads="1"/>
          </p:cNvSpPr>
          <p:nvPr>
            <p:ph idx="1"/>
          </p:nvPr>
        </p:nvSpPr>
        <p:spPr>
          <a:xfrm>
            <a:off x="377688" y="1013792"/>
            <a:ext cx="3989526" cy="4456734"/>
          </a:xfrm>
        </p:spPr>
        <p:txBody>
          <a:bodyPr>
            <a:normAutofit/>
          </a:bodyPr>
          <a:lstStyle/>
          <a:p>
            <a:r>
              <a:rPr lang="en-US" altLang="en-US" dirty="0"/>
              <a:t>Set of </a:t>
            </a:r>
            <a:r>
              <a:rPr lang="en-US" altLang="en-US" b="1" u="sng" dirty="0">
                <a:solidFill>
                  <a:srgbClr val="FF0000"/>
                </a:solidFill>
              </a:rPr>
              <a:t>compiler directives </a:t>
            </a:r>
            <a:r>
              <a:rPr lang="en-US" altLang="en-US" dirty="0"/>
              <a:t>and an API for C, C++, FORTRAN </a:t>
            </a:r>
          </a:p>
          <a:p>
            <a:r>
              <a:rPr lang="en-US" altLang="en-US" dirty="0"/>
              <a:t>Provides support for </a:t>
            </a:r>
            <a:r>
              <a:rPr lang="en-US" altLang="en-US" dirty="0">
                <a:solidFill>
                  <a:srgbClr val="FF0000"/>
                </a:solidFill>
              </a:rPr>
              <a:t>parallel programming</a:t>
            </a:r>
            <a:r>
              <a:rPr lang="en-US" altLang="en-US" dirty="0"/>
              <a:t> in shared-memory environments</a:t>
            </a:r>
          </a:p>
          <a:p>
            <a:r>
              <a:rPr lang="en-US" altLang="en-US" dirty="0"/>
              <a:t>Identifies </a:t>
            </a:r>
            <a:r>
              <a:rPr lang="en-US" altLang="en-US" b="1" dirty="0">
                <a:solidFill>
                  <a:srgbClr val="006699"/>
                </a:solidFill>
                <a:latin typeface="+mj-lt"/>
              </a:rPr>
              <a:t>parallel regions </a:t>
            </a:r>
            <a:r>
              <a:rPr lang="en-US" altLang="en-US" dirty="0"/>
              <a:t>– blocks of code that can run in parallel</a:t>
            </a:r>
          </a:p>
          <a:p>
            <a:pPr>
              <a:buFont typeface="Monotype Sorts" pitchFamily="-84" charset="2"/>
              <a:buNone/>
            </a:pPr>
            <a:r>
              <a:rPr lang="en-US" altLang="en-US" b="1" dirty="0">
                <a:latin typeface="Courier New" panose="02070309020205020404" pitchFamily="49" charset="0"/>
              </a:rPr>
              <a:t>#</a:t>
            </a:r>
            <a:r>
              <a:rPr lang="en-US" altLang="en-US" b="1" dirty="0">
                <a:solidFill>
                  <a:srgbClr val="FF0000"/>
                </a:solidFill>
                <a:latin typeface="Courier New" panose="02070309020205020404" pitchFamily="49" charset="0"/>
              </a:rPr>
              <a:t>pragma</a:t>
            </a:r>
            <a:r>
              <a:rPr lang="en-US" altLang="en-US" b="1" dirty="0">
                <a:latin typeface="Courier New" panose="02070309020205020404" pitchFamily="49" charset="0"/>
              </a:rPr>
              <a:t> </a:t>
            </a:r>
            <a:r>
              <a:rPr lang="en-US" altLang="en-US" b="1" u="sng" dirty="0" err="1">
                <a:latin typeface="Courier New" panose="02070309020205020404" pitchFamily="49" charset="0"/>
              </a:rPr>
              <a:t>omp</a:t>
            </a:r>
            <a:r>
              <a:rPr lang="en-US" altLang="en-US" b="1" dirty="0">
                <a:latin typeface="Courier New" panose="02070309020205020404" pitchFamily="49" charset="0"/>
              </a:rPr>
              <a:t> parallel </a:t>
            </a:r>
          </a:p>
          <a:p>
            <a:pPr>
              <a:buFont typeface="Monotype Sorts" pitchFamily="-84" charset="2"/>
              <a:buNone/>
            </a:pPr>
            <a:r>
              <a:rPr lang="en-US" altLang="en-US" dirty="0">
                <a:solidFill>
                  <a:srgbClr val="C00000"/>
                </a:solidFill>
              </a:rPr>
              <a:t>Create as many threads as there are cores!</a:t>
            </a:r>
          </a:p>
        </p:txBody>
      </p:sp>
      <p:sp>
        <p:nvSpPr>
          <p:cNvPr id="2" name="Date Placeholder 1">
            <a:extLst>
              <a:ext uri="{FF2B5EF4-FFF2-40B4-BE49-F238E27FC236}">
                <a16:creationId xmlns:a16="http://schemas.microsoft.com/office/drawing/2014/main" id="{DAE8E790-3D90-4BD8-424F-077A23E4F671}"/>
              </a:ext>
            </a:extLst>
          </p:cNvPr>
          <p:cNvSpPr>
            <a:spLocks noGrp="1"/>
          </p:cNvSpPr>
          <p:nvPr>
            <p:ph type="dt" sz="half" idx="10"/>
          </p:nvPr>
        </p:nvSpPr>
        <p:spPr/>
        <p:txBody>
          <a:bodyPr/>
          <a:lstStyle/>
          <a:p>
            <a:fld id="{ABD8BBB4-6ED4-4EDF-BA1C-7296FFE6762E}" type="datetime1">
              <a:rPr lang="en-US" smtClean="0"/>
              <a:t>4/13/2024</a:t>
            </a:fld>
            <a:endParaRPr lang="en-US" dirty="0"/>
          </a:p>
        </p:txBody>
      </p:sp>
      <p:sp>
        <p:nvSpPr>
          <p:cNvPr id="3" name="Footer Placeholder 2">
            <a:extLst>
              <a:ext uri="{FF2B5EF4-FFF2-40B4-BE49-F238E27FC236}">
                <a16:creationId xmlns:a16="http://schemas.microsoft.com/office/drawing/2014/main" id="{155E9DD9-7B95-3BF9-D964-202A7A721C7B}"/>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4BC1F01B-DB11-DB21-BEF3-5C1D9A9A500E}"/>
              </a:ext>
            </a:extLst>
          </p:cNvPr>
          <p:cNvSpPr>
            <a:spLocks noGrp="1"/>
          </p:cNvSpPr>
          <p:nvPr>
            <p:ph type="sldNum" sz="quarter" idx="12"/>
          </p:nvPr>
        </p:nvSpPr>
        <p:spPr/>
        <p:txBody>
          <a:bodyPr/>
          <a:lstStyle/>
          <a:p>
            <a:fld id="{48F63A3B-78C7-47BE-AE5E-E10140E04643}" type="slidenum">
              <a:rPr lang="en-US" smtClean="0"/>
              <a:t>37</a:t>
            </a:fld>
            <a:endParaRPr lang="en-US" dirty="0"/>
          </a:p>
        </p:txBody>
      </p:sp>
      <p:pic>
        <p:nvPicPr>
          <p:cNvPr id="69635" name="Picture 2">
            <a:extLst>
              <a:ext uri="{FF2B5EF4-FFF2-40B4-BE49-F238E27FC236}">
                <a16:creationId xmlns:a16="http://schemas.microsoft.com/office/drawing/2014/main" id="{55ABC929-CE13-4509-98E6-61C837534BD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8500" y="1473200"/>
            <a:ext cx="4089400"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979CC573-0BA9-4E42-AA0D-66DAEE958F05}"/>
              </a:ext>
            </a:extLst>
          </p:cNvPr>
          <p:cNvSpPr>
            <a:spLocks noGrp="1"/>
          </p:cNvSpPr>
          <p:nvPr>
            <p:ph type="title"/>
          </p:nvPr>
        </p:nvSpPr>
        <p:spPr/>
        <p:txBody>
          <a:bodyPr/>
          <a:lstStyle/>
          <a:p>
            <a:r>
              <a:rPr lang="en-US" b="0" dirty="0"/>
              <a:t>(Open Multi-Processing)</a:t>
            </a:r>
            <a:endParaRPr lang="en-US" altLang="en-US" dirty="0"/>
          </a:p>
        </p:txBody>
      </p:sp>
      <p:sp>
        <p:nvSpPr>
          <p:cNvPr id="71682" name="Content Placeholder 2">
            <a:extLst>
              <a:ext uri="{FF2B5EF4-FFF2-40B4-BE49-F238E27FC236}">
                <a16:creationId xmlns:a16="http://schemas.microsoft.com/office/drawing/2014/main" id="{4A81212D-9FC8-4D36-B7BD-612B854211D1}"/>
              </a:ext>
            </a:extLst>
          </p:cNvPr>
          <p:cNvSpPr>
            <a:spLocks noGrp="1"/>
          </p:cNvSpPr>
          <p:nvPr>
            <p:ph idx="1"/>
          </p:nvPr>
        </p:nvSpPr>
        <p:spPr>
          <a:xfrm>
            <a:off x="806450" y="810116"/>
            <a:ext cx="7727950" cy="4954098"/>
          </a:xfrm>
        </p:spPr>
        <p:txBody>
          <a:bodyPr>
            <a:normAutofit/>
          </a:bodyPr>
          <a:lstStyle/>
          <a:p>
            <a:endParaRPr lang="en-US" altLang="en-US" dirty="0"/>
          </a:p>
          <a:p>
            <a:r>
              <a:rPr lang="en-US" dirty="0"/>
              <a:t>When OpenMP encounters the directive</a:t>
            </a:r>
          </a:p>
          <a:p>
            <a:pPr marL="0" indent="0">
              <a:buNone/>
            </a:pPr>
            <a:r>
              <a:rPr lang="en-US" dirty="0">
                <a:solidFill>
                  <a:srgbClr val="FF0000"/>
                </a:solidFill>
              </a:rPr>
              <a:t>                                               #pragma </a:t>
            </a:r>
            <a:r>
              <a:rPr lang="en-US" dirty="0" err="1">
                <a:solidFill>
                  <a:srgbClr val="FF0000"/>
                </a:solidFill>
              </a:rPr>
              <a:t>omp</a:t>
            </a:r>
            <a:r>
              <a:rPr lang="en-US" dirty="0">
                <a:solidFill>
                  <a:srgbClr val="FF0000"/>
                </a:solidFill>
              </a:rPr>
              <a:t> parallel </a:t>
            </a:r>
          </a:p>
          <a:p>
            <a:r>
              <a:rPr lang="en-US" dirty="0"/>
              <a:t>it creates as many threads as there are processing cores in the system.</a:t>
            </a:r>
          </a:p>
          <a:p>
            <a:r>
              <a:rPr lang="en-US" dirty="0"/>
              <a:t> Thus, for a d</a:t>
            </a:r>
            <a:r>
              <a:rPr lang="en-US" dirty="0">
                <a:solidFill>
                  <a:srgbClr val="C00000"/>
                </a:solidFill>
              </a:rPr>
              <a:t>ual-core system</a:t>
            </a:r>
            <a:r>
              <a:rPr lang="en-US" dirty="0"/>
              <a:t>, </a:t>
            </a:r>
            <a:r>
              <a:rPr lang="en-US" dirty="0">
                <a:solidFill>
                  <a:srgbClr val="C00000"/>
                </a:solidFill>
              </a:rPr>
              <a:t>two threads are created</a:t>
            </a:r>
            <a:r>
              <a:rPr lang="en-US" dirty="0"/>
              <a:t>; for a quad-core system, four are created; and so forth. </a:t>
            </a:r>
          </a:p>
          <a:p>
            <a:r>
              <a:rPr lang="en-US" dirty="0"/>
              <a:t>All the threads then simultaneously execute the parallel region. As each thread exits the parallel region, it is terminated.</a:t>
            </a:r>
            <a:endParaRPr lang="en-US" altLang="en-US" dirty="0"/>
          </a:p>
          <a:p>
            <a:r>
              <a:rPr lang="en-US" dirty="0"/>
              <a:t> </a:t>
            </a:r>
            <a:endParaRPr lang="en-US" altLang="en-US" dirty="0"/>
          </a:p>
        </p:txBody>
      </p:sp>
      <p:sp>
        <p:nvSpPr>
          <p:cNvPr id="2" name="Date Placeholder 1">
            <a:extLst>
              <a:ext uri="{FF2B5EF4-FFF2-40B4-BE49-F238E27FC236}">
                <a16:creationId xmlns:a16="http://schemas.microsoft.com/office/drawing/2014/main" id="{D0F730FD-1C69-F443-8135-C03DE01755B1}"/>
              </a:ext>
            </a:extLst>
          </p:cNvPr>
          <p:cNvSpPr>
            <a:spLocks noGrp="1"/>
          </p:cNvSpPr>
          <p:nvPr>
            <p:ph type="dt" sz="half" idx="10"/>
          </p:nvPr>
        </p:nvSpPr>
        <p:spPr/>
        <p:txBody>
          <a:bodyPr/>
          <a:lstStyle/>
          <a:p>
            <a:fld id="{A0E228A9-44A0-48B2-8EFE-5404AF92F9E9}" type="datetime1">
              <a:rPr lang="en-US" smtClean="0"/>
              <a:t>4/13/2024</a:t>
            </a:fld>
            <a:endParaRPr lang="en-US" dirty="0"/>
          </a:p>
        </p:txBody>
      </p:sp>
      <p:sp>
        <p:nvSpPr>
          <p:cNvPr id="3" name="Footer Placeholder 2">
            <a:extLst>
              <a:ext uri="{FF2B5EF4-FFF2-40B4-BE49-F238E27FC236}">
                <a16:creationId xmlns:a16="http://schemas.microsoft.com/office/drawing/2014/main" id="{A1DE724D-B885-CB3A-3E5B-430435FC8ABC}"/>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E96B6592-143C-33C4-FF3A-CCB29A7262F5}"/>
              </a:ext>
            </a:extLst>
          </p:cNvPr>
          <p:cNvSpPr>
            <a:spLocks noGrp="1"/>
          </p:cNvSpPr>
          <p:nvPr>
            <p:ph type="sldNum" sz="quarter" idx="12"/>
          </p:nvPr>
        </p:nvSpPr>
        <p:spPr/>
        <p:txBody>
          <a:bodyPr/>
          <a:lstStyle/>
          <a:p>
            <a:fld id="{48F63A3B-78C7-47BE-AE5E-E10140E04643}" type="slidenum">
              <a:rPr lang="en-US" smtClean="0"/>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979CC573-0BA9-4E42-AA0D-66DAEE958F05}"/>
              </a:ext>
            </a:extLst>
          </p:cNvPr>
          <p:cNvSpPr>
            <a:spLocks noGrp="1"/>
          </p:cNvSpPr>
          <p:nvPr>
            <p:ph type="title"/>
          </p:nvPr>
        </p:nvSpPr>
        <p:spPr/>
        <p:txBody>
          <a:bodyPr/>
          <a:lstStyle/>
          <a:p>
            <a:r>
              <a:rPr lang="en-US" b="0" dirty="0"/>
              <a:t>(#</a:t>
            </a:r>
            <a:r>
              <a:rPr lang="en-US" b="0" dirty="0" err="1"/>
              <a:t>progma</a:t>
            </a:r>
            <a:r>
              <a:rPr lang="en-US" b="0" dirty="0"/>
              <a:t> OMP parallel for)</a:t>
            </a:r>
            <a:endParaRPr lang="en-US" altLang="en-US" dirty="0"/>
          </a:p>
        </p:txBody>
      </p:sp>
      <p:sp>
        <p:nvSpPr>
          <p:cNvPr id="71682" name="Content Placeholder 2">
            <a:extLst>
              <a:ext uri="{FF2B5EF4-FFF2-40B4-BE49-F238E27FC236}">
                <a16:creationId xmlns:a16="http://schemas.microsoft.com/office/drawing/2014/main" id="{4A81212D-9FC8-4D36-B7BD-612B854211D1}"/>
              </a:ext>
            </a:extLst>
          </p:cNvPr>
          <p:cNvSpPr>
            <a:spLocks noGrp="1"/>
          </p:cNvSpPr>
          <p:nvPr>
            <p:ph idx="1"/>
          </p:nvPr>
        </p:nvSpPr>
        <p:spPr>
          <a:xfrm>
            <a:off x="457200" y="810116"/>
            <a:ext cx="8229600" cy="4954098"/>
          </a:xfrm>
        </p:spPr>
        <p:txBody>
          <a:bodyPr>
            <a:normAutofit/>
          </a:bodyPr>
          <a:lstStyle/>
          <a:p>
            <a:endParaRPr lang="en-US" altLang="en-US" dirty="0">
              <a:latin typeface="Arial" panose="020B0604020202020204" pitchFamily="34" charset="0"/>
              <a:cs typeface="Arial" panose="020B0604020202020204" pitchFamily="34" charset="0"/>
            </a:endParaRPr>
          </a:p>
          <a:p>
            <a:r>
              <a:rPr lang="en-US" b="1" dirty="0">
                <a:solidFill>
                  <a:srgbClr val="FF0000"/>
                </a:solidFill>
                <a:latin typeface="Arial" panose="020B0604020202020204" pitchFamily="34" charset="0"/>
                <a:cs typeface="Arial" panose="020B0604020202020204" pitchFamily="34" charset="0"/>
              </a:rPr>
              <a:t>OpenMP</a:t>
            </a:r>
            <a:r>
              <a:rPr lang="en-US" dirty="0">
                <a:latin typeface="Arial" panose="020B0604020202020204" pitchFamily="34" charset="0"/>
                <a:cs typeface="Arial" panose="020B0604020202020204" pitchFamily="34" charset="0"/>
              </a:rPr>
              <a:t> </a:t>
            </a:r>
            <a:r>
              <a:rPr lang="en-US" u="sng" dirty="0">
                <a:solidFill>
                  <a:srgbClr val="FF0000"/>
                </a:solidFill>
                <a:latin typeface="Arial" panose="020B0604020202020204" pitchFamily="34" charset="0"/>
                <a:cs typeface="Arial" panose="020B0604020202020204" pitchFamily="34" charset="0"/>
              </a:rPr>
              <a:t>provides several additional directives </a:t>
            </a:r>
            <a:r>
              <a:rPr lang="en-US" dirty="0">
                <a:latin typeface="Arial" panose="020B0604020202020204" pitchFamily="34" charset="0"/>
                <a:cs typeface="Arial" panose="020B0604020202020204" pitchFamily="34" charset="0"/>
              </a:rPr>
              <a:t>for running code regions in parallel, including parallelizing loops. </a:t>
            </a:r>
          </a:p>
          <a:p>
            <a:r>
              <a:rPr lang="en-US" dirty="0">
                <a:solidFill>
                  <a:srgbClr val="FF0000"/>
                </a:solidFill>
                <a:latin typeface="Arial" panose="020B0604020202020204" pitchFamily="34" charset="0"/>
                <a:cs typeface="Arial" panose="020B0604020202020204" pitchFamily="34" charset="0"/>
              </a:rPr>
              <a:t>For example</a:t>
            </a:r>
            <a:r>
              <a:rPr lang="en-US" dirty="0">
                <a:latin typeface="Arial" panose="020B0604020202020204" pitchFamily="34" charset="0"/>
                <a:cs typeface="Arial" panose="020B0604020202020204" pitchFamily="34" charset="0"/>
              </a:rPr>
              <a:t>, assume we have two arrays, a and b, of size N. We wish to sum their contents and place the results in array c. We can have this task run in parallel by using the following code segment, which contains the compiler directive for parallelizing for loops:</a:t>
            </a:r>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Run the for loop in parallel</a:t>
            </a:r>
            <a:r>
              <a:rPr lang="ar-JO" altLang="en-US" dirty="0">
                <a:latin typeface="Arial" panose="020B0604020202020204" pitchFamily="34" charset="0"/>
                <a:cs typeface="Arial" panose="020B0604020202020204" pitchFamily="34" charset="0"/>
              </a:rPr>
              <a:t> </a:t>
            </a:r>
            <a:r>
              <a:rPr lang="ar-JO" altLang="en-US" dirty="0">
                <a:solidFill>
                  <a:srgbClr val="FF0000"/>
                </a:solidFill>
                <a:latin typeface="Arial" panose="020B0604020202020204" pitchFamily="34" charset="0"/>
                <a:cs typeface="Arial" panose="020B0604020202020204" pitchFamily="34" charset="0"/>
              </a:rPr>
              <a:t>تجزئ الدوران حسب عدد المعالجات</a:t>
            </a:r>
            <a:endParaRPr lang="en-US" altLang="en-US" dirty="0">
              <a:solidFill>
                <a:srgbClr val="FF0000"/>
              </a:solidFill>
              <a:latin typeface="Arial" panose="020B0604020202020204" pitchFamily="34" charset="0"/>
              <a:cs typeface="Arial" panose="020B0604020202020204" pitchFamily="34" charset="0"/>
            </a:endParaRPr>
          </a:p>
        </p:txBody>
      </p:sp>
      <p:sp>
        <p:nvSpPr>
          <p:cNvPr id="2" name="Date Placeholder 1">
            <a:extLst>
              <a:ext uri="{FF2B5EF4-FFF2-40B4-BE49-F238E27FC236}">
                <a16:creationId xmlns:a16="http://schemas.microsoft.com/office/drawing/2014/main" id="{C12D64D8-A680-4CFD-79B9-7B88964068E0}"/>
              </a:ext>
            </a:extLst>
          </p:cNvPr>
          <p:cNvSpPr>
            <a:spLocks noGrp="1"/>
          </p:cNvSpPr>
          <p:nvPr>
            <p:ph type="dt" sz="half" idx="10"/>
          </p:nvPr>
        </p:nvSpPr>
        <p:spPr/>
        <p:txBody>
          <a:bodyPr/>
          <a:lstStyle/>
          <a:p>
            <a:fld id="{EF8F84A6-CB0A-4290-8395-E6B885E745D8}" type="datetime1">
              <a:rPr lang="en-US" smtClean="0"/>
              <a:t>4/13/2024</a:t>
            </a:fld>
            <a:endParaRPr lang="en-US" dirty="0"/>
          </a:p>
        </p:txBody>
      </p:sp>
      <p:sp>
        <p:nvSpPr>
          <p:cNvPr id="3" name="Footer Placeholder 2">
            <a:extLst>
              <a:ext uri="{FF2B5EF4-FFF2-40B4-BE49-F238E27FC236}">
                <a16:creationId xmlns:a16="http://schemas.microsoft.com/office/drawing/2014/main" id="{1F72D975-9521-FCB2-B0A5-A849618F98CF}"/>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C395B347-9A0B-1A3A-09E8-E6ED87337B77}"/>
              </a:ext>
            </a:extLst>
          </p:cNvPr>
          <p:cNvSpPr>
            <a:spLocks noGrp="1"/>
          </p:cNvSpPr>
          <p:nvPr>
            <p:ph type="sldNum" sz="quarter" idx="12"/>
          </p:nvPr>
        </p:nvSpPr>
        <p:spPr/>
        <p:txBody>
          <a:bodyPr/>
          <a:lstStyle/>
          <a:p>
            <a:fld id="{48F63A3B-78C7-47BE-AE5E-E10140E04643}" type="slidenum">
              <a:rPr lang="en-US" smtClean="0"/>
              <a:t>39</a:t>
            </a:fld>
            <a:endParaRPr lang="en-US" dirty="0"/>
          </a:p>
        </p:txBody>
      </p:sp>
      <p:pic>
        <p:nvPicPr>
          <p:cNvPr id="71683" name="Picture 3">
            <a:extLst>
              <a:ext uri="{FF2B5EF4-FFF2-40B4-BE49-F238E27FC236}">
                <a16:creationId xmlns:a16="http://schemas.microsoft.com/office/drawing/2014/main" id="{E15DDD23-9A4F-4651-BEEF-EB8F9B70340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39388" y="3558953"/>
            <a:ext cx="4865223"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CC85C3E7-32E0-4CFF-9823-4B63FB0455C7}"/>
              </a:ext>
            </a:extLst>
          </p:cNvPr>
          <p:cNvSpPr txBox="1"/>
          <p:nvPr/>
        </p:nvSpPr>
        <p:spPr>
          <a:xfrm>
            <a:off x="661182" y="5028119"/>
            <a:ext cx="8229600" cy="1200329"/>
          </a:xfrm>
          <a:prstGeom prst="rect">
            <a:avLst/>
          </a:prstGeom>
          <a:noFill/>
        </p:spPr>
        <p:txBody>
          <a:bodyPr wrap="square">
            <a:spAutoFit/>
          </a:bodyPr>
          <a:lstStyle/>
          <a:p>
            <a:pPr marL="285750" indent="-285750">
              <a:buFont typeface="Arial" panose="020B0604020202020204" pitchFamily="34" charset="0"/>
              <a:buChar char="•"/>
            </a:pPr>
            <a:r>
              <a:rPr lang="en-US" i="1" dirty="0">
                <a:solidFill>
                  <a:srgbClr val="C00000"/>
                </a:solidFill>
              </a:rPr>
              <a:t>OpenMP divides the work contained in the for loop among the threads it has created in response to the directive</a:t>
            </a:r>
          </a:p>
          <a:p>
            <a:pPr marL="285750" indent="-285750">
              <a:buFont typeface="Arial" panose="020B0604020202020204" pitchFamily="34" charset="0"/>
              <a:buChar char="•"/>
            </a:pPr>
            <a:endParaRPr lang="en-US" dirty="0"/>
          </a:p>
          <a:p>
            <a:pPr algn="ctr"/>
            <a:r>
              <a:rPr lang="en-US" b="1" dirty="0">
                <a:solidFill>
                  <a:srgbClr val="FF0000"/>
                </a:solidFill>
              </a:rPr>
              <a:t>#pragma </a:t>
            </a:r>
            <a:r>
              <a:rPr lang="en-US" b="1" dirty="0" err="1">
                <a:solidFill>
                  <a:srgbClr val="FF0000"/>
                </a:solidFill>
              </a:rPr>
              <a:t>omp</a:t>
            </a:r>
            <a:r>
              <a:rPr lang="en-US" b="1" dirty="0">
                <a:solidFill>
                  <a:srgbClr val="FF0000"/>
                </a:solidFill>
              </a:rPr>
              <a:t> parallel for</a:t>
            </a:r>
          </a:p>
        </p:txBody>
      </p:sp>
    </p:spTree>
    <p:extLst>
      <p:ext uri="{BB962C8B-B14F-4D97-AF65-F5344CB8AC3E}">
        <p14:creationId xmlns:p14="http://schemas.microsoft.com/office/powerpoint/2010/main" val="36071455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63EDC882-8B59-4594-B276-CFAD243CC5B6}"/>
              </a:ext>
            </a:extLst>
          </p:cNvPr>
          <p:cNvSpPr>
            <a:spLocks noGrp="1" noChangeArrowheads="1"/>
          </p:cNvSpPr>
          <p:nvPr>
            <p:ph type="title"/>
          </p:nvPr>
        </p:nvSpPr>
        <p:spPr>
          <a:xfrm>
            <a:off x="457200" y="212761"/>
            <a:ext cx="8229600" cy="576262"/>
          </a:xfrm>
        </p:spPr>
        <p:txBody>
          <a:bodyPr>
            <a:normAutofit fontScale="90000"/>
          </a:bodyPr>
          <a:lstStyle/>
          <a:p>
            <a:pPr eaLnBrk="1" hangingPunct="1"/>
            <a:r>
              <a:rPr lang="en-US" dirty="0"/>
              <a:t>4.5.4 </a:t>
            </a:r>
            <a:r>
              <a:rPr lang="en-US" altLang="en-US" dirty="0"/>
              <a:t>Grand Central Dispatch</a:t>
            </a:r>
          </a:p>
        </p:txBody>
      </p:sp>
      <p:sp>
        <p:nvSpPr>
          <p:cNvPr id="72706" name="Rectangle 3">
            <a:extLst>
              <a:ext uri="{FF2B5EF4-FFF2-40B4-BE49-F238E27FC236}">
                <a16:creationId xmlns:a16="http://schemas.microsoft.com/office/drawing/2014/main" id="{E0F26652-E0BE-449C-A693-21DA9E1C2DCF}"/>
              </a:ext>
            </a:extLst>
          </p:cNvPr>
          <p:cNvSpPr>
            <a:spLocks noGrp="1" noChangeArrowheads="1"/>
          </p:cNvSpPr>
          <p:nvPr>
            <p:ph idx="1"/>
          </p:nvPr>
        </p:nvSpPr>
        <p:spPr>
          <a:xfrm>
            <a:off x="821093" y="1187450"/>
            <a:ext cx="7753740" cy="4478338"/>
          </a:xfrm>
        </p:spPr>
        <p:txBody>
          <a:bodyPr>
            <a:normAutofit/>
          </a:bodyPr>
          <a:lstStyle/>
          <a:p>
            <a:r>
              <a:rPr lang="en-US" altLang="en-US" dirty="0">
                <a:solidFill>
                  <a:srgbClr val="FF0000"/>
                </a:solidFill>
              </a:rPr>
              <a:t>Apple</a:t>
            </a:r>
            <a:r>
              <a:rPr lang="en-US" altLang="en-US" dirty="0"/>
              <a:t> technology for macOS and iOS operating systems</a:t>
            </a:r>
          </a:p>
          <a:p>
            <a:r>
              <a:rPr lang="en-US" altLang="en-US" dirty="0"/>
              <a:t>Extensions to C, C++ and Objective-C languages, API, and run-time library</a:t>
            </a:r>
          </a:p>
          <a:p>
            <a:r>
              <a:rPr lang="en-US" altLang="en-US" b="1" dirty="0">
                <a:solidFill>
                  <a:srgbClr val="C00000"/>
                </a:solidFill>
              </a:rPr>
              <a:t>Allows identification of parallel sections</a:t>
            </a:r>
          </a:p>
          <a:p>
            <a:r>
              <a:rPr lang="en-US" altLang="en-US" dirty="0"/>
              <a:t>Manages most of the details of threading</a:t>
            </a:r>
          </a:p>
          <a:p>
            <a:r>
              <a:rPr lang="en-US" altLang="en-US" dirty="0"/>
              <a:t>Block is in </a:t>
            </a:r>
            <a:r>
              <a:rPr lang="en-US" altLang="en-US" sz="2800" dirty="0">
                <a:solidFill>
                  <a:srgbClr val="FF0000"/>
                </a:solidFill>
              </a:rPr>
              <a:t>“^{ }” :</a:t>
            </a:r>
            <a:r>
              <a:rPr lang="en-US" altLang="en-US" dirty="0"/>
              <a:t/>
            </a:r>
            <a:br>
              <a:rPr lang="en-US" altLang="en-US" dirty="0"/>
            </a:br>
            <a:r>
              <a:rPr lang="en-US" altLang="en-US" dirty="0"/>
              <a:t/>
            </a:r>
            <a:br>
              <a:rPr lang="en-US" altLang="en-US" dirty="0"/>
            </a:br>
            <a:r>
              <a:rPr lang="en-US" altLang="en-US" b="1" dirty="0">
                <a:solidFill>
                  <a:srgbClr val="C00000"/>
                </a:solidFill>
              </a:rPr>
              <a:t> </a:t>
            </a:r>
            <a:r>
              <a:rPr lang="ro-RO" altLang="en-US" b="1" dirty="0">
                <a:solidFill>
                  <a:srgbClr val="C00000"/>
                </a:solidFill>
                <a:latin typeface="Courier New" panose="02070309020205020404" pitchFamily="49" charset="0"/>
              </a:rPr>
              <a:t>ˆ{ printf("I am a block"); } </a:t>
            </a:r>
            <a:br>
              <a:rPr lang="ro-RO" altLang="en-US" b="1" dirty="0">
                <a:solidFill>
                  <a:srgbClr val="C00000"/>
                </a:solidFill>
                <a:latin typeface="Courier New" panose="02070309020205020404" pitchFamily="49" charset="0"/>
              </a:rPr>
            </a:br>
            <a:endParaRPr lang="en-US" altLang="en-US" b="1" dirty="0">
              <a:solidFill>
                <a:srgbClr val="C00000"/>
              </a:solidFill>
            </a:endParaRPr>
          </a:p>
          <a:p>
            <a:r>
              <a:rPr lang="en-US" altLang="en-US" b="1" dirty="0">
                <a:solidFill>
                  <a:srgbClr val="C00000"/>
                </a:solidFill>
              </a:rPr>
              <a:t>Blocks placed in dispatch queue</a:t>
            </a:r>
          </a:p>
          <a:p>
            <a:pPr lvl="1"/>
            <a:r>
              <a:rPr lang="en-US" altLang="en-US" b="1" dirty="0">
                <a:solidFill>
                  <a:srgbClr val="C00000"/>
                </a:solidFill>
              </a:rPr>
              <a:t>Assigned to available thread in thread pool when removed from queue</a:t>
            </a:r>
          </a:p>
        </p:txBody>
      </p:sp>
      <p:sp>
        <p:nvSpPr>
          <p:cNvPr id="2" name="Date Placeholder 1">
            <a:extLst>
              <a:ext uri="{FF2B5EF4-FFF2-40B4-BE49-F238E27FC236}">
                <a16:creationId xmlns:a16="http://schemas.microsoft.com/office/drawing/2014/main" id="{895F7B92-912D-AB5D-21EB-9DCA3C6AC9D2}"/>
              </a:ext>
            </a:extLst>
          </p:cNvPr>
          <p:cNvSpPr>
            <a:spLocks noGrp="1"/>
          </p:cNvSpPr>
          <p:nvPr>
            <p:ph type="dt" sz="half" idx="10"/>
          </p:nvPr>
        </p:nvSpPr>
        <p:spPr/>
        <p:txBody>
          <a:bodyPr/>
          <a:lstStyle/>
          <a:p>
            <a:fld id="{EE4671E4-9650-4C0F-8A05-8667D671991A}" type="datetime1">
              <a:rPr lang="en-US" smtClean="0"/>
              <a:t>4/13/2024</a:t>
            </a:fld>
            <a:endParaRPr lang="en-US" dirty="0"/>
          </a:p>
        </p:txBody>
      </p:sp>
      <p:sp>
        <p:nvSpPr>
          <p:cNvPr id="3" name="Footer Placeholder 2">
            <a:extLst>
              <a:ext uri="{FF2B5EF4-FFF2-40B4-BE49-F238E27FC236}">
                <a16:creationId xmlns:a16="http://schemas.microsoft.com/office/drawing/2014/main" id="{FC04B7CB-DD3E-BE84-6E2F-641668317FAD}"/>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5AF973E4-2BCF-86AA-00DB-074C3782D1D1}"/>
              </a:ext>
            </a:extLst>
          </p:cNvPr>
          <p:cNvSpPr>
            <a:spLocks noGrp="1"/>
          </p:cNvSpPr>
          <p:nvPr>
            <p:ph type="sldNum" sz="quarter" idx="12"/>
          </p:nvPr>
        </p:nvSpPr>
        <p:spPr/>
        <p:txBody>
          <a:bodyPr/>
          <a:lstStyle/>
          <a:p>
            <a:fld id="{48F63A3B-78C7-47BE-AE5E-E10140E04643}" type="slidenum">
              <a:rPr lang="en-US" smtClean="0"/>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7B806D4C-6940-4E14-B304-1F7CFEF60321}"/>
              </a:ext>
            </a:extLst>
          </p:cNvPr>
          <p:cNvSpPr>
            <a:spLocks noGrp="1" noChangeArrowheads="1"/>
          </p:cNvSpPr>
          <p:nvPr>
            <p:ph type="title"/>
          </p:nvPr>
        </p:nvSpPr>
        <p:spPr>
          <a:xfrm>
            <a:off x="457200" y="213537"/>
            <a:ext cx="8229600" cy="576262"/>
          </a:xfrm>
        </p:spPr>
        <p:txBody>
          <a:bodyPr>
            <a:normAutofit fontScale="90000"/>
          </a:bodyPr>
          <a:lstStyle/>
          <a:p>
            <a:pPr eaLnBrk="1" hangingPunct="1"/>
            <a:r>
              <a:rPr lang="en-US" altLang="en-US" dirty="0"/>
              <a:t>Grand Central Dispatch</a:t>
            </a:r>
          </a:p>
        </p:txBody>
      </p:sp>
      <p:sp>
        <p:nvSpPr>
          <p:cNvPr id="74754" name="Rectangle 3">
            <a:extLst>
              <a:ext uri="{FF2B5EF4-FFF2-40B4-BE49-F238E27FC236}">
                <a16:creationId xmlns:a16="http://schemas.microsoft.com/office/drawing/2014/main" id="{2AF9024C-9C3C-4274-AB7B-7B0D8B7AC52F}"/>
              </a:ext>
            </a:extLst>
          </p:cNvPr>
          <p:cNvSpPr>
            <a:spLocks noGrp="1" noChangeArrowheads="1"/>
          </p:cNvSpPr>
          <p:nvPr>
            <p:ph idx="1"/>
          </p:nvPr>
        </p:nvSpPr>
        <p:spPr>
          <a:xfrm>
            <a:off x="821092" y="1203325"/>
            <a:ext cx="7688426" cy="4478338"/>
          </a:xfrm>
        </p:spPr>
        <p:txBody>
          <a:bodyPr/>
          <a:lstStyle/>
          <a:p>
            <a:r>
              <a:rPr lang="en-US" altLang="en-US" dirty="0"/>
              <a:t>Two types of dispatch queues:</a:t>
            </a:r>
          </a:p>
          <a:p>
            <a:pPr lvl="1"/>
            <a:r>
              <a:rPr lang="en-US" altLang="en-US" b="1" dirty="0"/>
              <a:t>serial</a:t>
            </a:r>
            <a:r>
              <a:rPr lang="en-US" altLang="en-US" dirty="0"/>
              <a:t> – blocks removed in FIFO order, queue is per process, called </a:t>
            </a:r>
            <a:r>
              <a:rPr lang="en-US" altLang="en-US" b="1" dirty="0">
                <a:solidFill>
                  <a:srgbClr val="006699"/>
                </a:solidFill>
                <a:latin typeface="+mj-lt"/>
              </a:rPr>
              <a:t>main queue</a:t>
            </a:r>
          </a:p>
          <a:p>
            <a:pPr lvl="2"/>
            <a:r>
              <a:rPr lang="en-US" altLang="en-US" dirty="0"/>
              <a:t>Programmers can create additional serial queues within program</a:t>
            </a:r>
          </a:p>
          <a:p>
            <a:pPr lvl="1"/>
            <a:r>
              <a:rPr lang="en-US" altLang="en-US" b="1" dirty="0"/>
              <a:t>concurrent</a:t>
            </a:r>
            <a:r>
              <a:rPr lang="en-US" altLang="en-US" dirty="0"/>
              <a:t> – removed in FIFO order but several may be removed at a time</a:t>
            </a:r>
          </a:p>
          <a:p>
            <a:pPr lvl="2"/>
            <a:r>
              <a:rPr lang="en-US" altLang="en-US" dirty="0">
                <a:solidFill>
                  <a:srgbClr val="FF0000"/>
                </a:solidFill>
              </a:rPr>
              <a:t>Four system wide queues </a:t>
            </a:r>
            <a:r>
              <a:rPr lang="en-US" altLang="en-US" dirty="0"/>
              <a:t>divided by quality of service:</a:t>
            </a:r>
          </a:p>
          <a:p>
            <a:pPr lvl="2">
              <a:buFont typeface="Courier New" panose="02070309020205020404" pitchFamily="49" charset="0"/>
              <a:buChar char="o"/>
            </a:pPr>
            <a:r>
              <a:rPr lang="en-US" altLang="en-US" dirty="0">
                <a:latin typeface="Courier New" panose="02070309020205020404" pitchFamily="49" charset="0"/>
              </a:rPr>
              <a:t>QOS_CLASS_USER_INTERACTIVE</a:t>
            </a:r>
          </a:p>
          <a:p>
            <a:pPr lvl="2">
              <a:buFont typeface="Courier New" panose="02070309020205020404" pitchFamily="49" charset="0"/>
              <a:buChar char="o"/>
            </a:pPr>
            <a:r>
              <a:rPr lang="en-US" altLang="en-US" dirty="0">
                <a:latin typeface="Courier New" panose="02070309020205020404" pitchFamily="49" charset="0"/>
              </a:rPr>
              <a:t>QOS_CLASS_USER_INITIATED</a:t>
            </a:r>
          </a:p>
          <a:p>
            <a:pPr lvl="2">
              <a:buFont typeface="Courier New" panose="02070309020205020404" pitchFamily="49" charset="0"/>
              <a:buChar char="o"/>
            </a:pPr>
            <a:r>
              <a:rPr lang="en-US" altLang="en-US" dirty="0">
                <a:latin typeface="Courier New" panose="02070309020205020404" pitchFamily="49" charset="0"/>
              </a:rPr>
              <a:t>QOS_CLASS_USER_UTILITY</a:t>
            </a:r>
          </a:p>
          <a:p>
            <a:pPr lvl="2">
              <a:buFont typeface="Courier New" panose="02070309020205020404" pitchFamily="49" charset="0"/>
              <a:buChar char="o"/>
            </a:pPr>
            <a:r>
              <a:rPr lang="en-US" altLang="en-US" dirty="0">
                <a:latin typeface="Courier New" panose="02070309020205020404" pitchFamily="49" charset="0"/>
              </a:rPr>
              <a:t>QOS_CLASS_USER_BACKGROUND</a:t>
            </a:r>
          </a:p>
          <a:p>
            <a:pPr lvl="2"/>
            <a:endParaRPr lang="en-US" altLang="en-US" dirty="0"/>
          </a:p>
          <a:p>
            <a:pPr lvl="2"/>
            <a:endParaRPr lang="en-US" altLang="en-US" dirty="0"/>
          </a:p>
          <a:p>
            <a:pPr lvl="2"/>
            <a:endParaRPr lang="en-US" altLang="en-US" dirty="0"/>
          </a:p>
          <a:p>
            <a:endParaRPr lang="en-US" altLang="en-US" dirty="0"/>
          </a:p>
        </p:txBody>
      </p:sp>
      <p:sp>
        <p:nvSpPr>
          <p:cNvPr id="2" name="Date Placeholder 1">
            <a:extLst>
              <a:ext uri="{FF2B5EF4-FFF2-40B4-BE49-F238E27FC236}">
                <a16:creationId xmlns:a16="http://schemas.microsoft.com/office/drawing/2014/main" id="{3B311407-0551-6598-2B85-EFC4BE7D8971}"/>
              </a:ext>
            </a:extLst>
          </p:cNvPr>
          <p:cNvSpPr>
            <a:spLocks noGrp="1"/>
          </p:cNvSpPr>
          <p:nvPr>
            <p:ph type="dt" sz="half" idx="10"/>
          </p:nvPr>
        </p:nvSpPr>
        <p:spPr/>
        <p:txBody>
          <a:bodyPr/>
          <a:lstStyle/>
          <a:p>
            <a:fld id="{CC2E6061-262B-4779-81A6-279F0903E321}" type="datetime1">
              <a:rPr lang="en-US" smtClean="0"/>
              <a:t>4/13/2024</a:t>
            </a:fld>
            <a:endParaRPr lang="en-US" dirty="0"/>
          </a:p>
        </p:txBody>
      </p:sp>
      <p:sp>
        <p:nvSpPr>
          <p:cNvPr id="3" name="Footer Placeholder 2">
            <a:extLst>
              <a:ext uri="{FF2B5EF4-FFF2-40B4-BE49-F238E27FC236}">
                <a16:creationId xmlns:a16="http://schemas.microsoft.com/office/drawing/2014/main" id="{85213994-638E-B9C6-AE03-F07099BA9AE3}"/>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8352B5D7-AD40-B73B-0C36-3EEC80661514}"/>
              </a:ext>
            </a:extLst>
          </p:cNvPr>
          <p:cNvSpPr>
            <a:spLocks noGrp="1"/>
          </p:cNvSpPr>
          <p:nvPr>
            <p:ph type="sldNum" sz="quarter" idx="12"/>
          </p:nvPr>
        </p:nvSpPr>
        <p:spPr/>
        <p:txBody>
          <a:bodyPr/>
          <a:lstStyle/>
          <a:p>
            <a:fld id="{48F63A3B-78C7-47BE-AE5E-E10140E04643}" type="slidenum">
              <a:rPr lang="en-US" smtClean="0"/>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a:extLst>
              <a:ext uri="{FF2B5EF4-FFF2-40B4-BE49-F238E27FC236}">
                <a16:creationId xmlns:a16="http://schemas.microsoft.com/office/drawing/2014/main" id="{2E8FE8F8-6247-440E-8AD2-9125A529DFF0}"/>
              </a:ext>
            </a:extLst>
          </p:cNvPr>
          <p:cNvSpPr>
            <a:spLocks noGrp="1"/>
          </p:cNvSpPr>
          <p:nvPr>
            <p:ph type="title"/>
          </p:nvPr>
        </p:nvSpPr>
        <p:spPr>
          <a:xfrm>
            <a:off x="457200" y="205860"/>
            <a:ext cx="8229600" cy="576262"/>
          </a:xfrm>
        </p:spPr>
        <p:txBody>
          <a:bodyPr>
            <a:normAutofit fontScale="90000"/>
          </a:bodyPr>
          <a:lstStyle/>
          <a:p>
            <a:r>
              <a:rPr lang="en-US" altLang="en-US" dirty="0"/>
              <a:t>Grand Central Dispatch</a:t>
            </a:r>
          </a:p>
        </p:txBody>
      </p:sp>
      <p:sp>
        <p:nvSpPr>
          <p:cNvPr id="76802" name="Content Placeholder 2">
            <a:extLst>
              <a:ext uri="{FF2B5EF4-FFF2-40B4-BE49-F238E27FC236}">
                <a16:creationId xmlns:a16="http://schemas.microsoft.com/office/drawing/2014/main" id="{961FCAB4-6A2F-4741-AEC6-56E10DDEC19E}"/>
              </a:ext>
            </a:extLst>
          </p:cNvPr>
          <p:cNvSpPr>
            <a:spLocks noGrp="1"/>
          </p:cNvSpPr>
          <p:nvPr>
            <p:ph idx="1"/>
          </p:nvPr>
        </p:nvSpPr>
        <p:spPr/>
        <p:txBody>
          <a:bodyPr/>
          <a:lstStyle/>
          <a:p>
            <a:r>
              <a:rPr lang="en-US" altLang="en-US" dirty="0"/>
              <a:t>For </a:t>
            </a:r>
            <a:r>
              <a:rPr lang="en-US" altLang="en-US" b="1" dirty="0">
                <a:solidFill>
                  <a:srgbClr val="C00000"/>
                </a:solidFill>
              </a:rPr>
              <a:t>the </a:t>
            </a:r>
            <a:r>
              <a:rPr lang="en-US" altLang="en-US" sz="2000" b="1" dirty="0">
                <a:solidFill>
                  <a:srgbClr val="C00000"/>
                </a:solidFill>
              </a:rPr>
              <a:t>Swift</a:t>
            </a:r>
            <a:r>
              <a:rPr lang="en-US" altLang="en-US" b="1" dirty="0">
                <a:solidFill>
                  <a:srgbClr val="C00000"/>
                </a:solidFill>
              </a:rPr>
              <a:t> language a task </a:t>
            </a:r>
            <a:r>
              <a:rPr lang="en-US" altLang="en-US" dirty="0"/>
              <a:t>is defined as a </a:t>
            </a:r>
            <a:r>
              <a:rPr lang="en-US" altLang="en-US" b="1" dirty="0">
                <a:solidFill>
                  <a:srgbClr val="FF0000"/>
                </a:solidFill>
              </a:rPr>
              <a:t>closure</a:t>
            </a:r>
            <a:r>
              <a:rPr lang="en-US" altLang="en-US" dirty="0"/>
              <a:t> – similar to a block, minus the caret</a:t>
            </a:r>
          </a:p>
          <a:p>
            <a:r>
              <a:rPr lang="en-US" altLang="en-US" dirty="0"/>
              <a:t>Closures are submitted to the queue using the</a:t>
            </a:r>
            <a:r>
              <a:rPr lang="ar-SA" altLang="en-US" dirty="0"/>
              <a:t>يتم إرسال عمليات الإغلاق إلى قائمة الانتظار باستخدام</a:t>
            </a:r>
            <a:r>
              <a:rPr lang="en-US" altLang="en-US" dirty="0"/>
              <a:t> </a:t>
            </a:r>
            <a:r>
              <a:rPr lang="en-US" altLang="en-US" dirty="0" err="1">
                <a:solidFill>
                  <a:srgbClr val="C00000"/>
                </a:solidFill>
                <a:latin typeface="Courier New" panose="02070309020205020404" pitchFamily="49" charset="0"/>
              </a:rPr>
              <a:t>dispatch_async</a:t>
            </a:r>
            <a:r>
              <a:rPr lang="en-US" altLang="en-US" dirty="0">
                <a:latin typeface="Courier New" panose="02070309020205020404" pitchFamily="49" charset="0"/>
              </a:rPr>
              <a:t>() </a:t>
            </a:r>
            <a:r>
              <a:rPr lang="en-US" altLang="en-US" dirty="0"/>
              <a:t>function:</a:t>
            </a:r>
            <a:br>
              <a:rPr lang="en-US" altLang="en-US" dirty="0"/>
            </a:br>
            <a:r>
              <a:rPr lang="en-US" altLang="en-US" dirty="0"/>
              <a:t/>
            </a:r>
            <a:br>
              <a:rPr lang="en-US" altLang="en-US" dirty="0"/>
            </a:br>
            <a:r>
              <a:rPr lang="en-US" altLang="en-US" dirty="0"/>
              <a:t> </a:t>
            </a:r>
          </a:p>
        </p:txBody>
      </p:sp>
      <p:sp>
        <p:nvSpPr>
          <p:cNvPr id="2" name="Date Placeholder 1">
            <a:extLst>
              <a:ext uri="{FF2B5EF4-FFF2-40B4-BE49-F238E27FC236}">
                <a16:creationId xmlns:a16="http://schemas.microsoft.com/office/drawing/2014/main" id="{A80AB1A4-85AB-B6DB-B483-E6A28CB97824}"/>
              </a:ext>
            </a:extLst>
          </p:cNvPr>
          <p:cNvSpPr>
            <a:spLocks noGrp="1"/>
          </p:cNvSpPr>
          <p:nvPr>
            <p:ph type="dt" sz="half" idx="10"/>
          </p:nvPr>
        </p:nvSpPr>
        <p:spPr/>
        <p:txBody>
          <a:bodyPr/>
          <a:lstStyle/>
          <a:p>
            <a:fld id="{EBE85B12-7287-467D-96A4-333C453AA236}" type="datetime1">
              <a:rPr lang="en-US" smtClean="0"/>
              <a:t>4/13/2024</a:t>
            </a:fld>
            <a:endParaRPr lang="en-US" dirty="0"/>
          </a:p>
        </p:txBody>
      </p:sp>
      <p:sp>
        <p:nvSpPr>
          <p:cNvPr id="3" name="Footer Placeholder 2">
            <a:extLst>
              <a:ext uri="{FF2B5EF4-FFF2-40B4-BE49-F238E27FC236}">
                <a16:creationId xmlns:a16="http://schemas.microsoft.com/office/drawing/2014/main" id="{9C6886E6-2312-2BFC-832C-975B7B248BEA}"/>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9CCBCE2E-99A1-6440-2A04-3CB8BA411D24}"/>
              </a:ext>
            </a:extLst>
          </p:cNvPr>
          <p:cNvSpPr>
            <a:spLocks noGrp="1"/>
          </p:cNvSpPr>
          <p:nvPr>
            <p:ph type="sldNum" sz="quarter" idx="12"/>
          </p:nvPr>
        </p:nvSpPr>
        <p:spPr/>
        <p:txBody>
          <a:bodyPr/>
          <a:lstStyle/>
          <a:p>
            <a:fld id="{48F63A3B-78C7-47BE-AE5E-E10140E04643}" type="slidenum">
              <a:rPr lang="en-US" smtClean="0"/>
              <a:t>42</a:t>
            </a:fld>
            <a:endParaRPr lang="en-US" dirty="0"/>
          </a:p>
        </p:txBody>
      </p:sp>
      <p:pic>
        <p:nvPicPr>
          <p:cNvPr id="76803" name="Picture 3">
            <a:extLst>
              <a:ext uri="{FF2B5EF4-FFF2-40B4-BE49-F238E27FC236}">
                <a16:creationId xmlns:a16="http://schemas.microsoft.com/office/drawing/2014/main" id="{BEE0DB06-C5D5-4AB5-BD45-46DF14ED434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8522" y="3912981"/>
            <a:ext cx="5892800"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3E06E839-D948-468F-B190-B5CDABBDE26F}"/>
              </a:ext>
            </a:extLst>
          </p:cNvPr>
          <p:cNvSpPr>
            <a:spLocks noGrp="1"/>
          </p:cNvSpPr>
          <p:nvPr>
            <p:ph type="title"/>
          </p:nvPr>
        </p:nvSpPr>
        <p:spPr>
          <a:xfrm>
            <a:off x="958850" y="233853"/>
            <a:ext cx="7727950" cy="576262"/>
          </a:xfrm>
        </p:spPr>
        <p:txBody>
          <a:bodyPr/>
          <a:lstStyle/>
          <a:p>
            <a:r>
              <a:rPr lang="en-US" altLang="en-US" sz="2800" dirty="0">
                <a:solidFill>
                  <a:srgbClr val="FF0000"/>
                </a:solidFill>
              </a:rPr>
              <a:t>5.Intel Threading Building Blocks (TBB)</a:t>
            </a:r>
          </a:p>
        </p:txBody>
      </p:sp>
      <p:sp>
        <p:nvSpPr>
          <p:cNvPr id="77826" name="Content Placeholder 2">
            <a:extLst>
              <a:ext uri="{FF2B5EF4-FFF2-40B4-BE49-F238E27FC236}">
                <a16:creationId xmlns:a16="http://schemas.microsoft.com/office/drawing/2014/main" id="{4B964262-47E7-4DB6-A63C-554FF6EAF1F5}"/>
              </a:ext>
            </a:extLst>
          </p:cNvPr>
          <p:cNvSpPr>
            <a:spLocks noGrp="1"/>
          </p:cNvSpPr>
          <p:nvPr>
            <p:ph idx="1"/>
          </p:nvPr>
        </p:nvSpPr>
        <p:spPr>
          <a:xfrm>
            <a:off x="393896" y="938066"/>
            <a:ext cx="8581292" cy="5468422"/>
          </a:xfrm>
        </p:spPr>
        <p:txBody>
          <a:bodyPr>
            <a:normAutofit lnSpcReduction="10000"/>
          </a:bodyPr>
          <a:lstStyle/>
          <a:p>
            <a:r>
              <a:rPr lang="en-US" dirty="0"/>
              <a:t>Intel threading building blocks (TBB) is a template library that supports designing parallel applications in C++. </a:t>
            </a:r>
          </a:p>
          <a:p>
            <a:r>
              <a:rPr lang="en-US" dirty="0"/>
              <a:t>As this is a library, it </a:t>
            </a:r>
            <a:r>
              <a:rPr lang="en-US" dirty="0">
                <a:solidFill>
                  <a:srgbClr val="FF0000"/>
                </a:solidFill>
              </a:rPr>
              <a:t>requires no special compiler or language support</a:t>
            </a:r>
            <a:r>
              <a:rPr lang="en-US" dirty="0"/>
              <a:t>.</a:t>
            </a:r>
          </a:p>
          <a:p>
            <a:r>
              <a:rPr lang="en-US" dirty="0"/>
              <a:t> </a:t>
            </a:r>
            <a:r>
              <a:rPr lang="en-US" dirty="0">
                <a:solidFill>
                  <a:srgbClr val="FF0000"/>
                </a:solidFill>
              </a:rPr>
              <a:t>Developers specify tasks that can run in parallel, and the TBB task scheduler maps these tasks onto underlying threads. </a:t>
            </a:r>
          </a:p>
          <a:p>
            <a:r>
              <a:rPr lang="en-US" dirty="0"/>
              <a:t>Furthermore, </a:t>
            </a:r>
            <a:r>
              <a:rPr lang="en-US" dirty="0">
                <a:solidFill>
                  <a:srgbClr val="FF0000"/>
                </a:solidFill>
              </a:rPr>
              <a:t>the task scheduler provides load balancing </a:t>
            </a:r>
            <a:r>
              <a:rPr lang="en-US" dirty="0"/>
              <a:t>and is cache aware, meaning that it will give precedence to tasks that likely have their data stored in cache memory and thus will execute more quickly.</a:t>
            </a:r>
            <a:r>
              <a:rPr lang="ar-SA" dirty="0">
                <a:effectLst/>
                <a:latin typeface="Segoe UI Web (Arabic)"/>
              </a:rPr>
              <a:t> مما يعني أنه سيعطي الأسبقية للمهام التي من المحتمل أن تكون بياناتها مخزنة في ذاكرة التخزين المؤقت </a:t>
            </a:r>
            <a:endParaRPr lang="en-US" dirty="0"/>
          </a:p>
          <a:p>
            <a:r>
              <a:rPr lang="en-US" dirty="0"/>
              <a:t> TBB provides  a </a:t>
            </a:r>
            <a:r>
              <a:rPr lang="en-US" dirty="0">
                <a:solidFill>
                  <a:srgbClr val="FF0000"/>
                </a:solidFill>
              </a:rPr>
              <a:t>rich set of features:</a:t>
            </a:r>
          </a:p>
          <a:p>
            <a:pPr lvl="1"/>
            <a:r>
              <a:rPr lang="en-US" dirty="0">
                <a:solidFill>
                  <a:srgbClr val="FF0000"/>
                </a:solidFill>
              </a:rPr>
              <a:t>templates</a:t>
            </a:r>
            <a:r>
              <a:rPr lang="en-US" dirty="0"/>
              <a:t> for parallel loop structures,</a:t>
            </a:r>
          </a:p>
          <a:p>
            <a:pPr lvl="1"/>
            <a:r>
              <a:rPr lang="en-US" dirty="0">
                <a:solidFill>
                  <a:srgbClr val="FF0000"/>
                </a:solidFill>
              </a:rPr>
              <a:t>atomic</a:t>
            </a:r>
            <a:r>
              <a:rPr lang="en-US" dirty="0"/>
              <a:t> operations, </a:t>
            </a:r>
          </a:p>
          <a:p>
            <a:pPr lvl="1"/>
            <a:r>
              <a:rPr lang="en-US" dirty="0">
                <a:solidFill>
                  <a:srgbClr val="FF0000"/>
                </a:solidFill>
              </a:rPr>
              <a:t>mutual exclusion </a:t>
            </a:r>
            <a:r>
              <a:rPr lang="en-US" dirty="0"/>
              <a:t>locking.</a:t>
            </a:r>
          </a:p>
          <a:p>
            <a:pPr lvl="1"/>
            <a:r>
              <a:rPr lang="en-US" dirty="0">
                <a:solidFill>
                  <a:srgbClr val="FF0000"/>
                </a:solidFill>
              </a:rPr>
              <a:t>concurrent data structures</a:t>
            </a:r>
            <a:r>
              <a:rPr lang="en-US" dirty="0"/>
              <a:t>, </a:t>
            </a:r>
          </a:p>
          <a:p>
            <a:pPr lvl="2"/>
            <a:r>
              <a:rPr lang="en-US" dirty="0"/>
              <a:t>including a hash map, queue, and vector, which can serve as equivalent thread-safe versions of the C++ standard template library data structures.</a:t>
            </a:r>
            <a:endParaRPr lang="en-US" altLang="en-US" dirty="0"/>
          </a:p>
        </p:txBody>
      </p:sp>
      <p:sp>
        <p:nvSpPr>
          <p:cNvPr id="2" name="Date Placeholder 1">
            <a:extLst>
              <a:ext uri="{FF2B5EF4-FFF2-40B4-BE49-F238E27FC236}">
                <a16:creationId xmlns:a16="http://schemas.microsoft.com/office/drawing/2014/main" id="{9C55EEB9-42E5-15BE-2575-2D4EC4C18B84}"/>
              </a:ext>
            </a:extLst>
          </p:cNvPr>
          <p:cNvSpPr>
            <a:spLocks noGrp="1"/>
          </p:cNvSpPr>
          <p:nvPr>
            <p:ph type="dt" sz="half" idx="10"/>
          </p:nvPr>
        </p:nvSpPr>
        <p:spPr/>
        <p:txBody>
          <a:bodyPr/>
          <a:lstStyle/>
          <a:p>
            <a:fld id="{9FC0FAD4-0B1E-4E71-B733-1EA7737B9143}" type="datetime1">
              <a:rPr lang="en-US" smtClean="0"/>
              <a:t>4/13/2024</a:t>
            </a:fld>
            <a:endParaRPr lang="en-US" dirty="0"/>
          </a:p>
        </p:txBody>
      </p:sp>
      <p:sp>
        <p:nvSpPr>
          <p:cNvPr id="3" name="Footer Placeholder 2">
            <a:extLst>
              <a:ext uri="{FF2B5EF4-FFF2-40B4-BE49-F238E27FC236}">
                <a16:creationId xmlns:a16="http://schemas.microsoft.com/office/drawing/2014/main" id="{06349A30-E9BE-2869-C4D1-61B7BF6BB0D2}"/>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DEFAC781-4255-DF22-37D4-85B66D298B40}"/>
              </a:ext>
            </a:extLst>
          </p:cNvPr>
          <p:cNvSpPr>
            <a:spLocks noGrp="1"/>
          </p:cNvSpPr>
          <p:nvPr>
            <p:ph type="sldNum" sz="quarter" idx="12"/>
          </p:nvPr>
        </p:nvSpPr>
        <p:spPr/>
        <p:txBody>
          <a:bodyPr/>
          <a:lstStyle/>
          <a:p>
            <a:fld id="{48F63A3B-78C7-47BE-AE5E-E10140E04643}" type="slidenum">
              <a:rPr lang="en-US" smtClean="0"/>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3E06E839-D948-468F-B190-B5CDABBDE26F}"/>
              </a:ext>
            </a:extLst>
          </p:cNvPr>
          <p:cNvSpPr>
            <a:spLocks noGrp="1"/>
          </p:cNvSpPr>
          <p:nvPr>
            <p:ph type="title"/>
          </p:nvPr>
        </p:nvSpPr>
        <p:spPr>
          <a:xfrm>
            <a:off x="958850" y="219786"/>
            <a:ext cx="7727950" cy="576262"/>
          </a:xfrm>
        </p:spPr>
        <p:txBody>
          <a:bodyPr/>
          <a:lstStyle/>
          <a:p>
            <a:r>
              <a:rPr lang="en-US" altLang="en-US" sz="2800" dirty="0">
                <a:solidFill>
                  <a:srgbClr val="FF0000"/>
                </a:solidFill>
              </a:rPr>
              <a:t>5.Intel Threading Building Blocks (TBB)</a:t>
            </a:r>
          </a:p>
        </p:txBody>
      </p:sp>
      <p:sp>
        <p:nvSpPr>
          <p:cNvPr id="77826" name="Content Placeholder 2">
            <a:extLst>
              <a:ext uri="{FF2B5EF4-FFF2-40B4-BE49-F238E27FC236}">
                <a16:creationId xmlns:a16="http://schemas.microsoft.com/office/drawing/2014/main" id="{4B964262-47E7-4DB6-A63C-554FF6EAF1F5}"/>
              </a:ext>
            </a:extLst>
          </p:cNvPr>
          <p:cNvSpPr>
            <a:spLocks noGrp="1"/>
          </p:cNvSpPr>
          <p:nvPr>
            <p:ph idx="1"/>
          </p:nvPr>
        </p:nvSpPr>
        <p:spPr>
          <a:xfrm>
            <a:off x="478302" y="942535"/>
            <a:ext cx="8056098" cy="4807611"/>
          </a:xfrm>
        </p:spPr>
        <p:txBody>
          <a:bodyPr>
            <a:normAutofit/>
          </a:bodyPr>
          <a:lstStyle/>
          <a:p>
            <a:r>
              <a:rPr lang="en-US" dirty="0"/>
              <a:t>Let’s use parallel for loops as an example. </a:t>
            </a:r>
          </a:p>
          <a:p>
            <a:r>
              <a:rPr lang="en-US" dirty="0"/>
              <a:t>Initially, assume there is a function named </a:t>
            </a:r>
            <a:r>
              <a:rPr lang="en-US" dirty="0">
                <a:solidFill>
                  <a:srgbClr val="FF0000"/>
                </a:solidFill>
              </a:rPr>
              <a:t>apply(float value) </a:t>
            </a:r>
            <a:r>
              <a:rPr lang="en-US" dirty="0"/>
              <a:t>that performs an operation on the parameter value.</a:t>
            </a:r>
          </a:p>
          <a:p>
            <a:r>
              <a:rPr lang="en-US" dirty="0"/>
              <a:t> If we had an </a:t>
            </a:r>
            <a:r>
              <a:rPr lang="en-US" dirty="0">
                <a:solidFill>
                  <a:srgbClr val="FF0000"/>
                </a:solidFill>
              </a:rPr>
              <a:t>array v </a:t>
            </a:r>
            <a:r>
              <a:rPr lang="en-US" dirty="0"/>
              <a:t>of size n containing float values, we could use the following serial for loop to pass each value in v to the apply() function: </a:t>
            </a:r>
          </a:p>
          <a:p>
            <a:r>
              <a:rPr lang="en-US" altLang="en-US" dirty="0"/>
              <a:t>A serial version of a simple for loop</a:t>
            </a:r>
          </a:p>
          <a:p>
            <a:endParaRPr lang="en-US" altLang="en-US" dirty="0"/>
          </a:p>
          <a:p>
            <a:endParaRPr lang="en-US" altLang="en-US" dirty="0"/>
          </a:p>
          <a:p>
            <a:endParaRPr lang="en-US" altLang="en-US" dirty="0"/>
          </a:p>
          <a:p>
            <a:r>
              <a:rPr lang="en-US" altLang="en-US" dirty="0"/>
              <a:t>The same for loop written using TBB with </a:t>
            </a:r>
            <a:r>
              <a:rPr lang="en-US" altLang="en-US" b="1" dirty="0" err="1">
                <a:solidFill>
                  <a:srgbClr val="FF0000"/>
                </a:solidFill>
                <a:latin typeface="Courier New" panose="02070309020205020404" pitchFamily="49" charset="0"/>
              </a:rPr>
              <a:t>parallel_for</a:t>
            </a:r>
            <a:r>
              <a:rPr lang="en-US" altLang="en-US" dirty="0">
                <a:solidFill>
                  <a:srgbClr val="FF0000"/>
                </a:solidFill>
              </a:rPr>
              <a:t> </a:t>
            </a:r>
            <a:r>
              <a:rPr lang="en-US" altLang="en-US" dirty="0"/>
              <a:t>statement:</a:t>
            </a:r>
          </a:p>
          <a:p>
            <a:pPr marL="0" indent="0" algn="ctr">
              <a:buNone/>
            </a:pPr>
            <a:r>
              <a:rPr lang="en-US" sz="2000" b="1" dirty="0">
                <a:solidFill>
                  <a:srgbClr val="FF0000"/>
                </a:solidFill>
              </a:rPr>
              <a:t>parallel for (range body </a:t>
            </a:r>
            <a:r>
              <a:rPr lang="en-US" b="1" dirty="0"/>
              <a:t>)</a:t>
            </a:r>
            <a:endParaRPr lang="en-US" altLang="en-US" b="1" dirty="0"/>
          </a:p>
        </p:txBody>
      </p:sp>
      <p:sp>
        <p:nvSpPr>
          <p:cNvPr id="2" name="Date Placeholder 1">
            <a:extLst>
              <a:ext uri="{FF2B5EF4-FFF2-40B4-BE49-F238E27FC236}">
                <a16:creationId xmlns:a16="http://schemas.microsoft.com/office/drawing/2014/main" id="{4DC62BA5-0397-A88B-66E5-2B676104DA2B}"/>
              </a:ext>
            </a:extLst>
          </p:cNvPr>
          <p:cNvSpPr>
            <a:spLocks noGrp="1"/>
          </p:cNvSpPr>
          <p:nvPr>
            <p:ph type="dt" sz="half" idx="10"/>
          </p:nvPr>
        </p:nvSpPr>
        <p:spPr/>
        <p:txBody>
          <a:bodyPr/>
          <a:lstStyle/>
          <a:p>
            <a:fld id="{E94AFF52-120F-4D47-9873-C07F554F1156}" type="datetime1">
              <a:rPr lang="en-US" smtClean="0"/>
              <a:t>4/13/2024</a:t>
            </a:fld>
            <a:endParaRPr lang="en-US" dirty="0"/>
          </a:p>
        </p:txBody>
      </p:sp>
      <p:sp>
        <p:nvSpPr>
          <p:cNvPr id="3" name="Footer Placeholder 2">
            <a:extLst>
              <a:ext uri="{FF2B5EF4-FFF2-40B4-BE49-F238E27FC236}">
                <a16:creationId xmlns:a16="http://schemas.microsoft.com/office/drawing/2014/main" id="{208A6561-C73A-0814-E6F9-75FDDD7081B9}"/>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4E91AB6D-5EF3-15CE-66D7-6CA7FBBD1391}"/>
              </a:ext>
            </a:extLst>
          </p:cNvPr>
          <p:cNvSpPr>
            <a:spLocks noGrp="1"/>
          </p:cNvSpPr>
          <p:nvPr>
            <p:ph type="sldNum" sz="quarter" idx="12"/>
          </p:nvPr>
        </p:nvSpPr>
        <p:spPr/>
        <p:txBody>
          <a:bodyPr/>
          <a:lstStyle/>
          <a:p>
            <a:fld id="{48F63A3B-78C7-47BE-AE5E-E10140E04643}" type="slidenum">
              <a:rPr lang="en-US" smtClean="0"/>
              <a:t>44</a:t>
            </a:fld>
            <a:endParaRPr lang="en-US" dirty="0"/>
          </a:p>
        </p:txBody>
      </p:sp>
      <p:pic>
        <p:nvPicPr>
          <p:cNvPr id="77827" name="Picture 3">
            <a:extLst>
              <a:ext uri="{FF2B5EF4-FFF2-40B4-BE49-F238E27FC236}">
                <a16:creationId xmlns:a16="http://schemas.microsoft.com/office/drawing/2014/main" id="{0AECC45F-AE48-41B9-BBCF-8CA2461C9E3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34797" y="3016030"/>
            <a:ext cx="37211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28" name="Picture 4">
            <a:extLst>
              <a:ext uri="{FF2B5EF4-FFF2-40B4-BE49-F238E27FC236}">
                <a16:creationId xmlns:a16="http://schemas.microsoft.com/office/drawing/2014/main" id="{113B8E9B-4CDB-4160-8253-D3DEBB20D7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33156" y="5142545"/>
            <a:ext cx="7732542" cy="9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59584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DF46B-F369-4260-8042-8EE33D20182C}"/>
              </a:ext>
            </a:extLst>
          </p:cNvPr>
          <p:cNvSpPr>
            <a:spLocks noGrp="1"/>
          </p:cNvSpPr>
          <p:nvPr>
            <p:ph type="title"/>
          </p:nvPr>
        </p:nvSpPr>
        <p:spPr/>
        <p:txBody>
          <a:bodyPr/>
          <a:lstStyle/>
          <a:p>
            <a:r>
              <a:rPr lang="en-US" dirty="0">
                <a:solidFill>
                  <a:srgbClr val="FF0000"/>
                </a:solidFill>
              </a:rPr>
              <a:t>TBB</a:t>
            </a:r>
          </a:p>
        </p:txBody>
      </p:sp>
      <p:sp>
        <p:nvSpPr>
          <p:cNvPr id="3" name="Content Placeholder 2">
            <a:extLst>
              <a:ext uri="{FF2B5EF4-FFF2-40B4-BE49-F238E27FC236}">
                <a16:creationId xmlns:a16="http://schemas.microsoft.com/office/drawing/2014/main" id="{96308F9C-9CB5-483A-9954-EECEBCEA7FDB}"/>
              </a:ext>
            </a:extLst>
          </p:cNvPr>
          <p:cNvSpPr>
            <a:spLocks noGrp="1"/>
          </p:cNvSpPr>
          <p:nvPr>
            <p:ph idx="1"/>
          </p:nvPr>
        </p:nvSpPr>
        <p:spPr>
          <a:xfrm>
            <a:off x="457201" y="1233488"/>
            <a:ext cx="8578848" cy="4530725"/>
          </a:xfrm>
        </p:spPr>
        <p:txBody>
          <a:bodyPr>
            <a:normAutofit fontScale="92500" lnSpcReduction="10000"/>
          </a:bodyPr>
          <a:lstStyle/>
          <a:p>
            <a:r>
              <a:rPr lang="en-US" sz="2400" dirty="0"/>
              <a:t>The </a:t>
            </a:r>
            <a:r>
              <a:rPr lang="en-US" sz="2400" dirty="0">
                <a:solidFill>
                  <a:srgbClr val="FF0000"/>
                </a:solidFill>
              </a:rPr>
              <a:t>TBB</a:t>
            </a:r>
            <a:r>
              <a:rPr lang="en-US" sz="2400" dirty="0"/>
              <a:t> library will </a:t>
            </a:r>
            <a:r>
              <a:rPr lang="en-US" sz="2400" dirty="0">
                <a:solidFill>
                  <a:srgbClr val="C00000"/>
                </a:solidFill>
              </a:rPr>
              <a:t>divide the loop </a:t>
            </a:r>
            <a:r>
              <a:rPr lang="en-US" sz="2400" dirty="0"/>
              <a:t>iterations into separate </a:t>
            </a:r>
            <a:r>
              <a:rPr lang="en-US" sz="2400" dirty="0">
                <a:solidFill>
                  <a:srgbClr val="C00000"/>
                </a:solidFill>
              </a:rPr>
              <a:t>“chunks</a:t>
            </a:r>
            <a:r>
              <a:rPr lang="en-US" sz="2400" dirty="0"/>
              <a:t>” and </a:t>
            </a:r>
            <a:r>
              <a:rPr lang="en-US" sz="2400" dirty="0">
                <a:solidFill>
                  <a:srgbClr val="FF0000"/>
                </a:solidFill>
              </a:rPr>
              <a:t>create</a:t>
            </a:r>
            <a:r>
              <a:rPr lang="en-US" sz="2400" dirty="0"/>
              <a:t> a number of tasks that operate on those chunks.</a:t>
            </a:r>
          </a:p>
          <a:p>
            <a:r>
              <a:rPr lang="en-US" sz="2400" dirty="0"/>
              <a:t>TBB will also </a:t>
            </a:r>
            <a:r>
              <a:rPr lang="en-US" sz="2400" dirty="0">
                <a:solidFill>
                  <a:srgbClr val="C00000"/>
                </a:solidFill>
              </a:rPr>
              <a:t>create a number of threads </a:t>
            </a:r>
            <a:r>
              <a:rPr lang="en-US" sz="2400" dirty="0"/>
              <a:t>and assign tasks to available threads. </a:t>
            </a:r>
            <a:r>
              <a:rPr lang="en-US" sz="2400" dirty="0">
                <a:solidFill>
                  <a:srgbClr val="FF0000"/>
                </a:solidFill>
              </a:rPr>
              <a:t>This is quite similar to the fork-join library in Java. </a:t>
            </a:r>
          </a:p>
          <a:p>
            <a:r>
              <a:rPr lang="en-US" sz="2400" dirty="0"/>
              <a:t>The </a:t>
            </a:r>
            <a:r>
              <a:rPr lang="en-US" sz="2400" dirty="0">
                <a:solidFill>
                  <a:srgbClr val="FF0000"/>
                </a:solidFill>
              </a:rPr>
              <a:t>advantage</a:t>
            </a:r>
            <a:r>
              <a:rPr lang="en-US" sz="2400" dirty="0"/>
              <a:t> of this approach is that </a:t>
            </a:r>
            <a:r>
              <a:rPr lang="en-US" sz="2400" dirty="0">
                <a:solidFill>
                  <a:srgbClr val="FF0000"/>
                </a:solidFill>
              </a:rPr>
              <a:t>it requires only that developers identify what operations can run in parallel </a:t>
            </a:r>
            <a:r>
              <a:rPr lang="en-US" sz="2400" dirty="0"/>
              <a:t>(by specifying a parallel for loop), and the library manages the details involved in dividing the work into separate tasks that run in parallel. </a:t>
            </a:r>
          </a:p>
          <a:p>
            <a:r>
              <a:rPr lang="en-US" sz="2400" dirty="0"/>
              <a:t>Intel TBB has </a:t>
            </a:r>
            <a:r>
              <a:rPr lang="en-US" sz="2400" dirty="0">
                <a:solidFill>
                  <a:srgbClr val="FF0000"/>
                </a:solidFill>
              </a:rPr>
              <a:t>both</a:t>
            </a:r>
            <a:r>
              <a:rPr lang="en-US" sz="2400" dirty="0"/>
              <a:t> commercial and open-source versions that run on </a:t>
            </a:r>
            <a:r>
              <a:rPr lang="en-US" sz="2400" dirty="0">
                <a:solidFill>
                  <a:srgbClr val="FF0000"/>
                </a:solidFill>
              </a:rPr>
              <a:t>Windows, Linux, and macOS</a:t>
            </a:r>
            <a:r>
              <a:rPr lang="en-US" sz="2400" dirty="0"/>
              <a:t>. </a:t>
            </a:r>
          </a:p>
        </p:txBody>
      </p:sp>
      <p:sp>
        <p:nvSpPr>
          <p:cNvPr id="4" name="Date Placeholder 3">
            <a:extLst>
              <a:ext uri="{FF2B5EF4-FFF2-40B4-BE49-F238E27FC236}">
                <a16:creationId xmlns:a16="http://schemas.microsoft.com/office/drawing/2014/main" id="{F9ACF2F0-EFD0-4FC6-9D45-E9EDCFF4E00A}"/>
              </a:ext>
            </a:extLst>
          </p:cNvPr>
          <p:cNvSpPr>
            <a:spLocks noGrp="1"/>
          </p:cNvSpPr>
          <p:nvPr>
            <p:ph type="dt" sz="half" idx="10"/>
          </p:nvPr>
        </p:nvSpPr>
        <p:spPr/>
        <p:txBody>
          <a:bodyPr/>
          <a:lstStyle/>
          <a:p>
            <a:fld id="{C943590F-6F2A-4133-BE91-B41F09AFB8DE}" type="datetime1">
              <a:rPr lang="en-US" smtClean="0"/>
              <a:t>4/13/2024</a:t>
            </a:fld>
            <a:endParaRPr lang="en-US" dirty="0"/>
          </a:p>
        </p:txBody>
      </p:sp>
      <p:sp>
        <p:nvSpPr>
          <p:cNvPr id="5" name="Footer Placeholder 4">
            <a:extLst>
              <a:ext uri="{FF2B5EF4-FFF2-40B4-BE49-F238E27FC236}">
                <a16:creationId xmlns:a16="http://schemas.microsoft.com/office/drawing/2014/main" id="{CCB45A96-E864-D87D-252A-B9AA0F7EC5BA}"/>
              </a:ext>
            </a:extLst>
          </p:cNvPr>
          <p:cNvSpPr>
            <a:spLocks noGrp="1"/>
          </p:cNvSpPr>
          <p:nvPr>
            <p:ph type="ftr" sz="quarter" idx="11"/>
          </p:nvPr>
        </p:nvSpPr>
        <p:spPr/>
        <p:txBody>
          <a:bodyPr/>
          <a:lstStyle/>
          <a:p>
            <a:r>
              <a:rPr lang="en-US"/>
              <a:t>updated by atef obeidat</a:t>
            </a:r>
            <a:endParaRPr lang="en-US" dirty="0"/>
          </a:p>
        </p:txBody>
      </p:sp>
      <p:sp>
        <p:nvSpPr>
          <p:cNvPr id="6" name="Slide Number Placeholder 5">
            <a:extLst>
              <a:ext uri="{FF2B5EF4-FFF2-40B4-BE49-F238E27FC236}">
                <a16:creationId xmlns:a16="http://schemas.microsoft.com/office/drawing/2014/main" id="{E360216F-EBFF-22D4-0C61-8EAD72B21A0F}"/>
              </a:ext>
            </a:extLst>
          </p:cNvPr>
          <p:cNvSpPr>
            <a:spLocks noGrp="1"/>
          </p:cNvSpPr>
          <p:nvPr>
            <p:ph type="sldNum" sz="quarter" idx="12"/>
          </p:nvPr>
        </p:nvSpPr>
        <p:spPr/>
        <p:txBody>
          <a:bodyPr/>
          <a:lstStyle/>
          <a:p>
            <a:fld id="{48F63A3B-78C7-47BE-AE5E-E10140E04643}" type="slidenum">
              <a:rPr lang="en-US" smtClean="0"/>
              <a:t>45</a:t>
            </a:fld>
            <a:endParaRPr lang="en-US" dirty="0"/>
          </a:p>
        </p:txBody>
      </p:sp>
    </p:spTree>
    <p:extLst>
      <p:ext uri="{BB962C8B-B14F-4D97-AF65-F5344CB8AC3E}">
        <p14:creationId xmlns:p14="http://schemas.microsoft.com/office/powerpoint/2010/main" val="21637504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8F5BE787-1C90-443B-BF35-EC074EF99B44}"/>
              </a:ext>
            </a:extLst>
          </p:cNvPr>
          <p:cNvSpPr>
            <a:spLocks noGrp="1" noChangeArrowheads="1"/>
          </p:cNvSpPr>
          <p:nvPr>
            <p:ph type="title"/>
          </p:nvPr>
        </p:nvSpPr>
        <p:spPr>
          <a:xfrm>
            <a:off x="457200" y="216130"/>
            <a:ext cx="8229600" cy="576262"/>
          </a:xfrm>
        </p:spPr>
        <p:txBody>
          <a:bodyPr>
            <a:normAutofit fontScale="90000"/>
          </a:bodyPr>
          <a:lstStyle/>
          <a:p>
            <a:pPr eaLnBrk="1" hangingPunct="1"/>
            <a:r>
              <a:rPr lang="en-US" altLang="en-US" dirty="0">
                <a:solidFill>
                  <a:srgbClr val="FF0000"/>
                </a:solidFill>
              </a:rPr>
              <a:t>Threading Issues</a:t>
            </a:r>
          </a:p>
        </p:txBody>
      </p:sp>
      <p:sp>
        <p:nvSpPr>
          <p:cNvPr id="78850" name="Rectangle 3">
            <a:extLst>
              <a:ext uri="{FF2B5EF4-FFF2-40B4-BE49-F238E27FC236}">
                <a16:creationId xmlns:a16="http://schemas.microsoft.com/office/drawing/2014/main" id="{6F51DC46-1491-4D2A-B267-43A725F220C9}"/>
              </a:ext>
            </a:extLst>
          </p:cNvPr>
          <p:cNvSpPr>
            <a:spLocks noGrp="1" noChangeArrowheads="1"/>
          </p:cNvSpPr>
          <p:nvPr>
            <p:ph idx="1"/>
          </p:nvPr>
        </p:nvSpPr>
        <p:spPr>
          <a:xfrm>
            <a:off x="811762" y="1143000"/>
            <a:ext cx="7440645" cy="4483100"/>
          </a:xfrm>
        </p:spPr>
        <p:txBody>
          <a:bodyPr/>
          <a:lstStyle/>
          <a:p>
            <a:pPr>
              <a:buFont typeface="+mj-lt"/>
              <a:buAutoNum type="arabicPeriod"/>
            </a:pPr>
            <a:r>
              <a:rPr lang="en-US" altLang="en-US" dirty="0"/>
              <a:t>Semantics of </a:t>
            </a:r>
            <a:r>
              <a:rPr lang="en-US" altLang="en-US" b="1" dirty="0"/>
              <a:t>fork()</a:t>
            </a:r>
            <a:r>
              <a:rPr lang="en-US" altLang="en-US" dirty="0"/>
              <a:t> and </a:t>
            </a:r>
            <a:r>
              <a:rPr lang="en-US" altLang="en-US" b="1" dirty="0"/>
              <a:t>exec()</a:t>
            </a:r>
            <a:r>
              <a:rPr lang="en-US" altLang="en-US" dirty="0"/>
              <a:t> system calls</a:t>
            </a:r>
            <a:endParaRPr lang="en-US" altLang="en-US" sz="800" dirty="0"/>
          </a:p>
          <a:p>
            <a:pPr>
              <a:buFont typeface="+mj-lt"/>
              <a:buAutoNum type="arabicPeriod"/>
            </a:pPr>
            <a:r>
              <a:rPr lang="en-US" altLang="en-US" dirty="0"/>
              <a:t>Signal handling</a:t>
            </a:r>
          </a:p>
          <a:p>
            <a:pPr lvl="1"/>
            <a:r>
              <a:rPr lang="en-US" altLang="en-US" dirty="0"/>
              <a:t>Synchronous and asynchronous</a:t>
            </a:r>
            <a:endParaRPr lang="en-US" altLang="en-US" sz="800" dirty="0"/>
          </a:p>
          <a:p>
            <a:pPr>
              <a:buFont typeface="+mj-lt"/>
              <a:buAutoNum type="arabicPeriod"/>
            </a:pPr>
            <a:r>
              <a:rPr lang="en-US" altLang="en-US" dirty="0"/>
              <a:t>Thread cancellation of target thread</a:t>
            </a:r>
          </a:p>
          <a:p>
            <a:pPr lvl="1"/>
            <a:r>
              <a:rPr lang="en-US" altLang="en-US" dirty="0"/>
              <a:t>Asynchronous or deferred</a:t>
            </a:r>
            <a:endParaRPr lang="en-US" altLang="en-US" sz="800" dirty="0"/>
          </a:p>
          <a:p>
            <a:pPr>
              <a:buFont typeface="+mj-lt"/>
              <a:buAutoNum type="arabicPeriod"/>
            </a:pPr>
            <a:r>
              <a:rPr lang="en-US" altLang="en-US" dirty="0"/>
              <a:t>Thread-local storage</a:t>
            </a:r>
          </a:p>
          <a:p>
            <a:pPr>
              <a:buFont typeface="+mj-lt"/>
              <a:buAutoNum type="arabicPeriod"/>
            </a:pPr>
            <a:r>
              <a:rPr lang="en-US" altLang="en-US" dirty="0"/>
              <a:t>Scheduler Activations</a:t>
            </a:r>
          </a:p>
          <a:p>
            <a:endParaRPr lang="en-US" altLang="en-US" sz="800" dirty="0"/>
          </a:p>
          <a:p>
            <a:pPr lvl="1">
              <a:buFont typeface="Monotype Sorts" pitchFamily="-84" charset="2"/>
              <a:buNone/>
            </a:pPr>
            <a:endParaRPr lang="en-US" altLang="en-US" sz="800" dirty="0"/>
          </a:p>
        </p:txBody>
      </p:sp>
      <p:sp>
        <p:nvSpPr>
          <p:cNvPr id="2" name="Date Placeholder 1">
            <a:extLst>
              <a:ext uri="{FF2B5EF4-FFF2-40B4-BE49-F238E27FC236}">
                <a16:creationId xmlns:a16="http://schemas.microsoft.com/office/drawing/2014/main" id="{9DA369AD-E302-0A5A-22FD-18F2FE4DD7E0}"/>
              </a:ext>
            </a:extLst>
          </p:cNvPr>
          <p:cNvSpPr>
            <a:spLocks noGrp="1"/>
          </p:cNvSpPr>
          <p:nvPr>
            <p:ph type="dt" sz="half" idx="10"/>
          </p:nvPr>
        </p:nvSpPr>
        <p:spPr/>
        <p:txBody>
          <a:bodyPr/>
          <a:lstStyle/>
          <a:p>
            <a:fld id="{7308EDD5-43D8-4298-8DB3-B8D5CB08DCB7}" type="datetime1">
              <a:rPr lang="en-US" smtClean="0"/>
              <a:t>4/13/2024</a:t>
            </a:fld>
            <a:endParaRPr lang="en-US" dirty="0"/>
          </a:p>
        </p:txBody>
      </p:sp>
      <p:sp>
        <p:nvSpPr>
          <p:cNvPr id="3" name="Footer Placeholder 2">
            <a:extLst>
              <a:ext uri="{FF2B5EF4-FFF2-40B4-BE49-F238E27FC236}">
                <a16:creationId xmlns:a16="http://schemas.microsoft.com/office/drawing/2014/main" id="{237ED1E2-4F1F-D414-8D83-9DAC46CD199C}"/>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01D178A8-56DF-DB25-EBB9-AF0F315A640E}"/>
              </a:ext>
            </a:extLst>
          </p:cNvPr>
          <p:cNvSpPr>
            <a:spLocks noGrp="1"/>
          </p:cNvSpPr>
          <p:nvPr>
            <p:ph type="sldNum" sz="quarter" idx="12"/>
          </p:nvPr>
        </p:nvSpPr>
        <p:spPr/>
        <p:txBody>
          <a:bodyPr/>
          <a:lstStyle/>
          <a:p>
            <a:fld id="{48F63A3B-78C7-47BE-AE5E-E10140E04643}" type="slidenum">
              <a:rPr lang="en-US" smtClean="0"/>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0A79867A-2E93-4EF0-B105-A26BB113E674}"/>
              </a:ext>
            </a:extLst>
          </p:cNvPr>
          <p:cNvSpPr>
            <a:spLocks noGrp="1" noChangeArrowheads="1"/>
          </p:cNvSpPr>
          <p:nvPr>
            <p:ph type="title"/>
          </p:nvPr>
        </p:nvSpPr>
        <p:spPr>
          <a:xfrm>
            <a:off x="1117600" y="204206"/>
            <a:ext cx="7569200" cy="576262"/>
          </a:xfrm>
        </p:spPr>
        <p:txBody>
          <a:bodyPr>
            <a:normAutofit fontScale="90000"/>
          </a:bodyPr>
          <a:lstStyle/>
          <a:p>
            <a:pPr eaLnBrk="1" hangingPunct="1"/>
            <a:r>
              <a:rPr lang="en-US" altLang="en-US" dirty="0"/>
              <a:t>Semantics of fork() and exec()</a:t>
            </a:r>
          </a:p>
        </p:txBody>
      </p:sp>
      <p:sp>
        <p:nvSpPr>
          <p:cNvPr id="80898" name="Rectangle 3">
            <a:extLst>
              <a:ext uri="{FF2B5EF4-FFF2-40B4-BE49-F238E27FC236}">
                <a16:creationId xmlns:a16="http://schemas.microsoft.com/office/drawing/2014/main" id="{A843C793-C155-4716-B3E2-61F8E72727FC}"/>
              </a:ext>
            </a:extLst>
          </p:cNvPr>
          <p:cNvSpPr>
            <a:spLocks noGrp="1" noChangeArrowheads="1"/>
          </p:cNvSpPr>
          <p:nvPr>
            <p:ph idx="1"/>
          </p:nvPr>
        </p:nvSpPr>
        <p:spPr>
          <a:xfrm>
            <a:off x="806449" y="1233488"/>
            <a:ext cx="7656415" cy="4530725"/>
          </a:xfrm>
        </p:spPr>
        <p:txBody>
          <a:bodyPr/>
          <a:lstStyle/>
          <a:p>
            <a:r>
              <a:rPr lang="en-US" altLang="en-US"/>
              <a:t>Does </a:t>
            </a:r>
            <a:r>
              <a:rPr lang="en-US" altLang="en-US" b="1">
                <a:latin typeface="Courier New" panose="02070309020205020404" pitchFamily="49" charset="0"/>
              </a:rPr>
              <a:t>fork()</a:t>
            </a:r>
            <a:r>
              <a:rPr lang="en-US" altLang="en-US"/>
              <a:t>duplicate only the calling thread or all threads?</a:t>
            </a:r>
          </a:p>
          <a:p>
            <a:pPr lvl="1"/>
            <a:r>
              <a:rPr lang="en-US" altLang="en-US"/>
              <a:t>Some UNIXes have two versions of fork</a:t>
            </a:r>
          </a:p>
          <a:p>
            <a:r>
              <a:rPr lang="en-US" altLang="en-US" b="1">
                <a:latin typeface="Courier New" panose="02070309020205020404" pitchFamily="49" charset="0"/>
              </a:rPr>
              <a:t>exec() </a:t>
            </a:r>
            <a:r>
              <a:rPr lang="en-US" altLang="en-US"/>
              <a:t>usually works as normal – replace the running process including all threads</a:t>
            </a:r>
          </a:p>
          <a:p>
            <a:pPr lvl="1"/>
            <a:endParaRPr lang="en-US" altLang="en-US"/>
          </a:p>
        </p:txBody>
      </p:sp>
      <p:sp>
        <p:nvSpPr>
          <p:cNvPr id="2" name="Date Placeholder 1">
            <a:extLst>
              <a:ext uri="{FF2B5EF4-FFF2-40B4-BE49-F238E27FC236}">
                <a16:creationId xmlns:a16="http://schemas.microsoft.com/office/drawing/2014/main" id="{B0736BE5-630C-3A30-E096-E33508F141FB}"/>
              </a:ext>
            </a:extLst>
          </p:cNvPr>
          <p:cNvSpPr>
            <a:spLocks noGrp="1"/>
          </p:cNvSpPr>
          <p:nvPr>
            <p:ph type="dt" sz="half" idx="10"/>
          </p:nvPr>
        </p:nvSpPr>
        <p:spPr/>
        <p:txBody>
          <a:bodyPr/>
          <a:lstStyle/>
          <a:p>
            <a:fld id="{326A8C91-F47A-4691-88BF-B3C582DA9044}" type="datetime1">
              <a:rPr lang="en-US" smtClean="0"/>
              <a:t>4/13/2024</a:t>
            </a:fld>
            <a:endParaRPr lang="en-US" dirty="0"/>
          </a:p>
        </p:txBody>
      </p:sp>
      <p:sp>
        <p:nvSpPr>
          <p:cNvPr id="3" name="Footer Placeholder 2">
            <a:extLst>
              <a:ext uri="{FF2B5EF4-FFF2-40B4-BE49-F238E27FC236}">
                <a16:creationId xmlns:a16="http://schemas.microsoft.com/office/drawing/2014/main" id="{3DAFA439-4C24-2E4B-2781-7D09E8AB1761}"/>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3279A063-6F51-8ACE-9943-91B2A41C17FE}"/>
              </a:ext>
            </a:extLst>
          </p:cNvPr>
          <p:cNvSpPr>
            <a:spLocks noGrp="1"/>
          </p:cNvSpPr>
          <p:nvPr>
            <p:ph type="sldNum" sz="quarter" idx="12"/>
          </p:nvPr>
        </p:nvSpPr>
        <p:spPr/>
        <p:txBody>
          <a:bodyPr/>
          <a:lstStyle/>
          <a:p>
            <a:fld id="{48F63A3B-78C7-47BE-AE5E-E10140E04643}" type="slidenum">
              <a:rPr lang="en-US" smtClean="0"/>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E38D4671-065E-48FB-994B-D2E5E93EB171}"/>
              </a:ext>
            </a:extLst>
          </p:cNvPr>
          <p:cNvSpPr>
            <a:spLocks noGrp="1" noChangeArrowheads="1"/>
          </p:cNvSpPr>
          <p:nvPr>
            <p:ph type="title"/>
          </p:nvPr>
        </p:nvSpPr>
        <p:spPr>
          <a:xfrm>
            <a:off x="1168400" y="226237"/>
            <a:ext cx="7518400" cy="576262"/>
          </a:xfrm>
        </p:spPr>
        <p:txBody>
          <a:bodyPr>
            <a:normAutofit fontScale="90000"/>
          </a:bodyPr>
          <a:lstStyle/>
          <a:p>
            <a:pPr eaLnBrk="1" hangingPunct="1"/>
            <a:r>
              <a:rPr lang="en-US" altLang="en-US" dirty="0"/>
              <a:t>Signal Handling</a:t>
            </a:r>
          </a:p>
        </p:txBody>
      </p:sp>
      <p:sp>
        <p:nvSpPr>
          <p:cNvPr id="37891" name="Rectangle 3">
            <a:extLst>
              <a:ext uri="{FF2B5EF4-FFF2-40B4-BE49-F238E27FC236}">
                <a16:creationId xmlns:a16="http://schemas.microsoft.com/office/drawing/2014/main" id="{74752EA8-B31F-42FC-AC88-93660F763299}"/>
              </a:ext>
            </a:extLst>
          </p:cNvPr>
          <p:cNvSpPr>
            <a:spLocks noGrp="1" noChangeArrowheads="1"/>
          </p:cNvSpPr>
          <p:nvPr>
            <p:ph idx="1"/>
          </p:nvPr>
        </p:nvSpPr>
        <p:spPr>
          <a:xfrm>
            <a:off x="817756" y="1164839"/>
            <a:ext cx="7719753" cy="5156200"/>
          </a:xfrm>
        </p:spPr>
        <p:txBody>
          <a:bodyPr>
            <a:normAutofit/>
          </a:bodyPr>
          <a:lstStyle/>
          <a:p>
            <a:pPr>
              <a:defRPr/>
            </a:pPr>
            <a:r>
              <a:rPr lang="en-US" b="1" dirty="0">
                <a:solidFill>
                  <a:srgbClr val="006699"/>
                </a:solidFill>
                <a:latin typeface="+mj-lt"/>
              </a:rPr>
              <a:t>Signals</a:t>
            </a:r>
            <a:r>
              <a:rPr lang="en-US" b="1" dirty="0">
                <a:solidFill>
                  <a:srgbClr val="3366FF"/>
                </a:solidFill>
                <a:ea typeface="ＭＳ Ｐゴシック" charset="0"/>
                <a:cs typeface="ＭＳ Ｐゴシック" charset="0"/>
              </a:rPr>
              <a:t> </a:t>
            </a:r>
            <a:r>
              <a:rPr lang="en-US" dirty="0">
                <a:ea typeface="ＭＳ Ｐゴシック" charset="0"/>
                <a:cs typeface="ＭＳ Ｐゴシック" charset="0"/>
              </a:rPr>
              <a:t>are used in UNIX systems to notify a process that a particular event has occurred.</a:t>
            </a:r>
          </a:p>
          <a:p>
            <a:pPr>
              <a:defRPr/>
            </a:pPr>
            <a:r>
              <a:rPr lang="en-US" dirty="0">
                <a:ea typeface="ＭＳ Ｐゴシック" charset="0"/>
                <a:cs typeface="ＭＳ Ｐゴシック" charset="0"/>
              </a:rPr>
              <a:t>A </a:t>
            </a:r>
            <a:r>
              <a:rPr lang="en-US" b="1" dirty="0">
                <a:solidFill>
                  <a:srgbClr val="006699"/>
                </a:solidFill>
                <a:latin typeface="+mj-lt"/>
              </a:rPr>
              <a:t>signal handler </a:t>
            </a:r>
            <a:r>
              <a:rPr lang="en-US" dirty="0">
                <a:ea typeface="ＭＳ Ｐゴシック" charset="0"/>
                <a:cs typeface="ＭＳ Ｐゴシック" charset="0"/>
              </a:rPr>
              <a:t>is used to process signals</a:t>
            </a:r>
          </a:p>
          <a:p>
            <a:pPr marL="798989" lvl="1" indent="-342265">
              <a:buFont typeface="Webdings" charset="0"/>
              <a:buAutoNum type="arabicPeriod"/>
              <a:defRPr/>
            </a:pPr>
            <a:r>
              <a:rPr lang="en-US" dirty="0">
                <a:ea typeface="ＭＳ Ｐゴシック" charset="0"/>
              </a:rPr>
              <a:t>Signal is generated by particular event</a:t>
            </a:r>
          </a:p>
          <a:p>
            <a:pPr marL="798989" lvl="1" indent="-342265">
              <a:buFont typeface="Webdings" charset="0"/>
              <a:buAutoNum type="arabicPeriod"/>
              <a:defRPr/>
            </a:pPr>
            <a:r>
              <a:rPr lang="en-US" dirty="0">
                <a:ea typeface="ＭＳ Ｐゴシック" charset="0"/>
              </a:rPr>
              <a:t>Signal is delivered to a process</a:t>
            </a:r>
          </a:p>
          <a:p>
            <a:pPr marL="798989" lvl="1" indent="-342265">
              <a:buFont typeface="Webdings" charset="0"/>
              <a:buAutoNum type="arabicPeriod"/>
              <a:defRPr/>
            </a:pPr>
            <a:r>
              <a:rPr lang="en-US" dirty="0">
                <a:ea typeface="ＭＳ Ｐゴシック" charset="0"/>
              </a:rPr>
              <a:t>Signal is handled by one of two signal handlers:</a:t>
            </a:r>
          </a:p>
          <a:p>
            <a:pPr marL="1142366" lvl="2" indent="-342265">
              <a:buFont typeface="Webdings" charset="0"/>
              <a:buAutoNum type="arabicPeriod"/>
              <a:defRPr/>
            </a:pPr>
            <a:r>
              <a:rPr lang="en-US" dirty="0">
                <a:ea typeface="ＭＳ Ｐゴシック" charset="0"/>
              </a:rPr>
              <a:t>default</a:t>
            </a:r>
          </a:p>
          <a:p>
            <a:pPr marL="1142366" lvl="2" indent="-342265">
              <a:buFont typeface="Webdings" charset="0"/>
              <a:buAutoNum type="arabicPeriod"/>
              <a:defRPr/>
            </a:pPr>
            <a:r>
              <a:rPr lang="en-US" dirty="0">
                <a:ea typeface="ＭＳ Ｐゴシック" charset="0"/>
              </a:rPr>
              <a:t>user-defined</a:t>
            </a:r>
          </a:p>
          <a:p>
            <a:pPr>
              <a:defRPr/>
            </a:pPr>
            <a:r>
              <a:rPr lang="en-US" dirty="0">
                <a:ea typeface="ＭＳ Ｐゴシック" charset="0"/>
                <a:cs typeface="ＭＳ Ｐゴシック" charset="0"/>
              </a:rPr>
              <a:t>Every signal has </a:t>
            </a:r>
            <a:r>
              <a:rPr lang="en-US" b="1" dirty="0">
                <a:solidFill>
                  <a:srgbClr val="006699"/>
                </a:solidFill>
                <a:latin typeface="+mj-lt"/>
              </a:rPr>
              <a:t>default handler</a:t>
            </a:r>
            <a:r>
              <a:rPr lang="en-US" b="1" dirty="0">
                <a:solidFill>
                  <a:srgbClr val="3366FF"/>
                </a:solidFill>
                <a:ea typeface="ＭＳ Ｐゴシック" charset="0"/>
                <a:cs typeface="ＭＳ Ｐゴシック" charset="0"/>
              </a:rPr>
              <a:t> </a:t>
            </a:r>
            <a:r>
              <a:rPr lang="en-US" dirty="0">
                <a:ea typeface="ＭＳ Ｐゴシック" charset="0"/>
                <a:cs typeface="ＭＳ Ｐゴシック" charset="0"/>
              </a:rPr>
              <a:t>that kernel runs when handling signal</a:t>
            </a:r>
          </a:p>
          <a:p>
            <a:pPr marL="780098" lvl="1" indent="-380048">
              <a:defRPr/>
            </a:pPr>
            <a:r>
              <a:rPr lang="en-US" b="1" dirty="0">
                <a:solidFill>
                  <a:srgbClr val="006699"/>
                </a:solidFill>
                <a:latin typeface="+mj-lt"/>
              </a:rPr>
              <a:t>User-defined signal handler </a:t>
            </a:r>
            <a:r>
              <a:rPr lang="en-US" dirty="0">
                <a:ea typeface="ＭＳ Ｐゴシック" charset="0"/>
                <a:cs typeface="ＭＳ Ｐゴシック" charset="0"/>
              </a:rPr>
              <a:t>can override default</a:t>
            </a:r>
          </a:p>
          <a:p>
            <a:pPr marL="780098" lvl="1" indent="-380048">
              <a:defRPr/>
            </a:pPr>
            <a:r>
              <a:rPr lang="en-US" dirty="0">
                <a:ea typeface="ＭＳ Ｐゴシック" charset="0"/>
                <a:cs typeface="ＭＳ Ｐゴシック" charset="0"/>
              </a:rPr>
              <a:t>For single-threaded, signal delivered to process</a:t>
            </a:r>
          </a:p>
        </p:txBody>
      </p:sp>
      <p:sp>
        <p:nvSpPr>
          <p:cNvPr id="2" name="Date Placeholder 1">
            <a:extLst>
              <a:ext uri="{FF2B5EF4-FFF2-40B4-BE49-F238E27FC236}">
                <a16:creationId xmlns:a16="http://schemas.microsoft.com/office/drawing/2014/main" id="{0756F852-80A0-A948-3710-71B5D9467C92}"/>
              </a:ext>
            </a:extLst>
          </p:cNvPr>
          <p:cNvSpPr>
            <a:spLocks noGrp="1"/>
          </p:cNvSpPr>
          <p:nvPr>
            <p:ph type="dt" sz="half" idx="10"/>
          </p:nvPr>
        </p:nvSpPr>
        <p:spPr/>
        <p:txBody>
          <a:bodyPr/>
          <a:lstStyle/>
          <a:p>
            <a:fld id="{7382A25A-2B58-4B3F-8CF5-6E7A3A51E741}" type="datetime1">
              <a:rPr lang="en-US" smtClean="0"/>
              <a:t>4/13/2024</a:t>
            </a:fld>
            <a:endParaRPr lang="en-US" dirty="0"/>
          </a:p>
        </p:txBody>
      </p:sp>
      <p:sp>
        <p:nvSpPr>
          <p:cNvPr id="3" name="Footer Placeholder 2">
            <a:extLst>
              <a:ext uri="{FF2B5EF4-FFF2-40B4-BE49-F238E27FC236}">
                <a16:creationId xmlns:a16="http://schemas.microsoft.com/office/drawing/2014/main" id="{9202E1E2-B9F9-7617-A5FF-F638F3E6011C}"/>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D932EFB6-5B1D-74AF-25B6-90B34DA3E247}"/>
              </a:ext>
            </a:extLst>
          </p:cNvPr>
          <p:cNvSpPr>
            <a:spLocks noGrp="1"/>
          </p:cNvSpPr>
          <p:nvPr>
            <p:ph type="sldNum" sz="quarter" idx="12"/>
          </p:nvPr>
        </p:nvSpPr>
        <p:spPr/>
        <p:txBody>
          <a:bodyPr/>
          <a:lstStyle/>
          <a:p>
            <a:fld id="{48F63A3B-78C7-47BE-AE5E-E10140E04643}" type="slidenum">
              <a:rPr lang="en-US" smtClean="0"/>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6878F364-9781-4DC9-A9A3-9DD34E5E617D}"/>
              </a:ext>
            </a:extLst>
          </p:cNvPr>
          <p:cNvSpPr>
            <a:spLocks noGrp="1" noChangeArrowheads="1"/>
          </p:cNvSpPr>
          <p:nvPr>
            <p:ph type="title"/>
          </p:nvPr>
        </p:nvSpPr>
        <p:spPr>
          <a:xfrm>
            <a:off x="1168400" y="226237"/>
            <a:ext cx="7518400" cy="576262"/>
          </a:xfrm>
        </p:spPr>
        <p:txBody>
          <a:bodyPr>
            <a:normAutofit fontScale="90000"/>
          </a:bodyPr>
          <a:lstStyle/>
          <a:p>
            <a:pPr eaLnBrk="1" hangingPunct="1"/>
            <a:r>
              <a:rPr lang="en-US" altLang="en-US" dirty="0"/>
              <a:t>Signal Handling (Cont.)</a:t>
            </a:r>
          </a:p>
        </p:txBody>
      </p:sp>
      <p:sp>
        <p:nvSpPr>
          <p:cNvPr id="37891" name="Rectangle 3">
            <a:extLst>
              <a:ext uri="{FF2B5EF4-FFF2-40B4-BE49-F238E27FC236}">
                <a16:creationId xmlns:a16="http://schemas.microsoft.com/office/drawing/2014/main" id="{709391F2-8D47-4F0C-960D-BFD5F96C0D9C}"/>
              </a:ext>
            </a:extLst>
          </p:cNvPr>
          <p:cNvSpPr>
            <a:spLocks noGrp="1" noChangeArrowheads="1"/>
          </p:cNvSpPr>
          <p:nvPr>
            <p:ph idx="1"/>
          </p:nvPr>
        </p:nvSpPr>
        <p:spPr>
          <a:xfrm>
            <a:off x="827087" y="1146175"/>
            <a:ext cx="7691761" cy="5156200"/>
          </a:xfrm>
        </p:spPr>
        <p:txBody>
          <a:bodyPr/>
          <a:lstStyle/>
          <a:p>
            <a:pPr>
              <a:defRPr/>
            </a:pPr>
            <a:r>
              <a:rPr lang="en-US" dirty="0">
                <a:ea typeface="ＭＳ Ｐゴシック" charset="0"/>
                <a:cs typeface="ＭＳ Ｐゴシック" charset="0"/>
              </a:rPr>
              <a:t>Where should a signal be delivered for multi-threaded? </a:t>
            </a:r>
          </a:p>
          <a:p>
            <a:pPr lvl="1">
              <a:defRPr/>
            </a:pPr>
            <a:r>
              <a:rPr lang="en-US" dirty="0">
                <a:ea typeface="ＭＳ Ｐゴシック" charset="0"/>
              </a:rPr>
              <a:t>Deliver the signal to the thread to which the signal applies</a:t>
            </a:r>
            <a:r>
              <a:rPr lang="ar-JO" dirty="0">
                <a:ea typeface="ＭＳ Ｐゴシック" charset="0"/>
              </a:rPr>
              <a:t>قم بتوصيل الإشارة إلى البرنامج الفرعي الذي تنطبق عليه الإشارة</a:t>
            </a:r>
            <a:endParaRPr lang="en-US" dirty="0">
              <a:ea typeface="ＭＳ Ｐゴシック" charset="0"/>
            </a:endParaRPr>
          </a:p>
          <a:p>
            <a:pPr lvl="1">
              <a:defRPr/>
            </a:pPr>
            <a:r>
              <a:rPr lang="en-US" dirty="0">
                <a:ea typeface="ＭＳ Ｐゴシック" charset="0"/>
              </a:rPr>
              <a:t>Deliver the signal to every thread in the process</a:t>
            </a:r>
            <a:r>
              <a:rPr lang="ar-JO" dirty="0">
                <a:ea typeface="ＭＳ Ｐゴシック" charset="0"/>
              </a:rPr>
              <a:t>قم بتوصيل الإشارة إلى كل برنامج فرعي في بالبرنامج</a:t>
            </a:r>
            <a:endParaRPr lang="en-US" dirty="0">
              <a:ea typeface="ＭＳ Ｐゴシック" charset="0"/>
            </a:endParaRPr>
          </a:p>
          <a:p>
            <a:pPr lvl="1">
              <a:defRPr/>
            </a:pPr>
            <a:r>
              <a:rPr lang="en-US" dirty="0">
                <a:ea typeface="ＭＳ Ｐゴシック" charset="0"/>
              </a:rPr>
              <a:t>Deliver the signal to certain threads in the process</a:t>
            </a:r>
            <a:r>
              <a:rPr lang="ar-JO" dirty="0">
                <a:ea typeface="ＭＳ Ｐゴシック" charset="0"/>
              </a:rPr>
              <a:t>قم بتوصيل الإشارة إلى برامج فرعيه معينة في العملية</a:t>
            </a:r>
            <a:endParaRPr lang="en-US" dirty="0">
              <a:ea typeface="ＭＳ Ｐゴシック" charset="0"/>
            </a:endParaRPr>
          </a:p>
          <a:p>
            <a:pPr lvl="1">
              <a:defRPr/>
            </a:pPr>
            <a:r>
              <a:rPr lang="en-US" dirty="0">
                <a:ea typeface="ＭＳ Ｐゴシック" charset="0"/>
              </a:rPr>
              <a:t>Assign a specific thread to receive all signals for the process</a:t>
            </a:r>
            <a:r>
              <a:rPr lang="ar-JO" dirty="0">
                <a:ea typeface="ＭＳ Ｐゴシック" charset="0"/>
              </a:rPr>
              <a:t>قم بتعيين برنامج فرعي معين لتلقي جميع الإشارات للعملية</a:t>
            </a:r>
            <a:endParaRPr lang="en-US" dirty="0">
              <a:ea typeface="ＭＳ Ｐゴシック" charset="0"/>
            </a:endParaRPr>
          </a:p>
        </p:txBody>
      </p:sp>
      <p:sp>
        <p:nvSpPr>
          <p:cNvPr id="2" name="Date Placeholder 1">
            <a:extLst>
              <a:ext uri="{FF2B5EF4-FFF2-40B4-BE49-F238E27FC236}">
                <a16:creationId xmlns:a16="http://schemas.microsoft.com/office/drawing/2014/main" id="{7A323837-2EAB-4A1C-DFC8-DC9BBE36D0A3}"/>
              </a:ext>
            </a:extLst>
          </p:cNvPr>
          <p:cNvSpPr>
            <a:spLocks noGrp="1"/>
          </p:cNvSpPr>
          <p:nvPr>
            <p:ph type="dt" sz="half" idx="10"/>
          </p:nvPr>
        </p:nvSpPr>
        <p:spPr/>
        <p:txBody>
          <a:bodyPr/>
          <a:lstStyle/>
          <a:p>
            <a:fld id="{ADDD5964-D48C-49B2-B580-DB6EC6857490}" type="datetime1">
              <a:rPr lang="en-US" smtClean="0"/>
              <a:t>4/13/2024</a:t>
            </a:fld>
            <a:endParaRPr lang="en-US" dirty="0"/>
          </a:p>
        </p:txBody>
      </p:sp>
      <p:sp>
        <p:nvSpPr>
          <p:cNvPr id="3" name="Footer Placeholder 2">
            <a:extLst>
              <a:ext uri="{FF2B5EF4-FFF2-40B4-BE49-F238E27FC236}">
                <a16:creationId xmlns:a16="http://schemas.microsoft.com/office/drawing/2014/main" id="{99FA43AA-56DC-E386-12CB-7D92BCAE95F9}"/>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01F61E69-6FDE-DE91-5C30-D86F6FD35D23}"/>
              </a:ext>
            </a:extLst>
          </p:cNvPr>
          <p:cNvSpPr>
            <a:spLocks noGrp="1"/>
          </p:cNvSpPr>
          <p:nvPr>
            <p:ph type="sldNum" sz="quarter" idx="12"/>
          </p:nvPr>
        </p:nvSpPr>
        <p:spPr/>
        <p:txBody>
          <a:bodyPr/>
          <a:lstStyle/>
          <a:p>
            <a:fld id="{48F63A3B-78C7-47BE-AE5E-E10140E04643}" type="slidenum">
              <a:rPr lang="en-US" smtClean="0"/>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5A4A892A-809A-4516-AB08-9E20E9A5771C}"/>
              </a:ext>
            </a:extLst>
          </p:cNvPr>
          <p:cNvSpPr>
            <a:spLocks noGrp="1" noChangeArrowheads="1"/>
          </p:cNvSpPr>
          <p:nvPr>
            <p:ph type="title"/>
          </p:nvPr>
        </p:nvSpPr>
        <p:spPr>
          <a:xfrm>
            <a:off x="1081088" y="226237"/>
            <a:ext cx="7605712" cy="576262"/>
          </a:xfrm>
        </p:spPr>
        <p:txBody>
          <a:bodyPr>
            <a:normAutofit fontScale="90000"/>
          </a:bodyPr>
          <a:lstStyle/>
          <a:p>
            <a:pPr eaLnBrk="1" hangingPunct="1"/>
            <a:r>
              <a:rPr lang="en-US" altLang="en-US" dirty="0"/>
              <a:t>Thread Cancellation</a:t>
            </a:r>
          </a:p>
        </p:txBody>
      </p:sp>
      <p:sp>
        <p:nvSpPr>
          <p:cNvPr id="87042" name="Rectangle 3">
            <a:extLst>
              <a:ext uri="{FF2B5EF4-FFF2-40B4-BE49-F238E27FC236}">
                <a16:creationId xmlns:a16="http://schemas.microsoft.com/office/drawing/2014/main" id="{E0ACA4C6-47F5-415C-B47D-5700AEF12E9D}"/>
              </a:ext>
            </a:extLst>
          </p:cNvPr>
          <p:cNvSpPr>
            <a:spLocks noGrp="1" noChangeArrowheads="1"/>
          </p:cNvSpPr>
          <p:nvPr>
            <p:ph idx="1"/>
          </p:nvPr>
        </p:nvSpPr>
        <p:spPr>
          <a:xfrm>
            <a:off x="821094" y="1146175"/>
            <a:ext cx="7672031" cy="4430713"/>
          </a:xfrm>
        </p:spPr>
        <p:txBody>
          <a:bodyPr/>
          <a:lstStyle/>
          <a:p>
            <a:r>
              <a:rPr lang="en-US" altLang="en-US" dirty="0"/>
              <a:t>Terminating a thread before it has finished</a:t>
            </a:r>
          </a:p>
          <a:p>
            <a:r>
              <a:rPr lang="en-US" altLang="en-US" dirty="0"/>
              <a:t>Thread to be canceled is </a:t>
            </a:r>
            <a:r>
              <a:rPr lang="en-US" altLang="en-US" b="1" dirty="0">
                <a:solidFill>
                  <a:srgbClr val="006699"/>
                </a:solidFill>
                <a:latin typeface="+mj-lt"/>
              </a:rPr>
              <a:t>target thread</a:t>
            </a:r>
          </a:p>
          <a:p>
            <a:r>
              <a:rPr lang="en-US" altLang="en-US" dirty="0"/>
              <a:t>Two general approaches:</a:t>
            </a:r>
          </a:p>
          <a:p>
            <a:pPr lvl="1"/>
            <a:r>
              <a:rPr lang="en-US" altLang="en-US" b="1" dirty="0"/>
              <a:t>Asynchronous cancellation</a:t>
            </a:r>
            <a:r>
              <a:rPr lang="en-US" altLang="en-US" dirty="0"/>
              <a:t> terminates the target thread immediately</a:t>
            </a:r>
          </a:p>
          <a:p>
            <a:pPr lvl="1"/>
            <a:r>
              <a:rPr lang="en-US" altLang="en-US" b="1" dirty="0"/>
              <a:t>Deferred cancellation</a:t>
            </a:r>
            <a:r>
              <a:rPr lang="en-US" altLang="en-US" dirty="0"/>
              <a:t> allows the target thread to periodically check if it should be cancelled</a:t>
            </a:r>
          </a:p>
          <a:p>
            <a:r>
              <a:rPr lang="en-US" altLang="en-US" dirty="0" err="1"/>
              <a:t>Pthread</a:t>
            </a:r>
            <a:r>
              <a:rPr lang="en-US" altLang="en-US" dirty="0"/>
              <a:t> code to create and cancel a thread:</a:t>
            </a:r>
          </a:p>
          <a:p>
            <a:pPr>
              <a:buFont typeface="Monotype Sorts" pitchFamily="-84" charset="2"/>
              <a:buNone/>
            </a:pPr>
            <a:endParaRPr lang="en-US" altLang="en-US" dirty="0"/>
          </a:p>
          <a:p>
            <a:pPr lvl="1"/>
            <a:endParaRPr lang="en-US" altLang="en-US" dirty="0"/>
          </a:p>
        </p:txBody>
      </p:sp>
      <p:sp>
        <p:nvSpPr>
          <p:cNvPr id="2" name="Date Placeholder 1">
            <a:extLst>
              <a:ext uri="{FF2B5EF4-FFF2-40B4-BE49-F238E27FC236}">
                <a16:creationId xmlns:a16="http://schemas.microsoft.com/office/drawing/2014/main" id="{C9051B2E-EEC8-C091-72D1-87781B62B1D5}"/>
              </a:ext>
            </a:extLst>
          </p:cNvPr>
          <p:cNvSpPr>
            <a:spLocks noGrp="1"/>
          </p:cNvSpPr>
          <p:nvPr>
            <p:ph type="dt" sz="half" idx="10"/>
          </p:nvPr>
        </p:nvSpPr>
        <p:spPr/>
        <p:txBody>
          <a:bodyPr/>
          <a:lstStyle/>
          <a:p>
            <a:fld id="{9E88BD3B-359C-4753-B089-2DCE73123059}" type="datetime1">
              <a:rPr lang="en-US" smtClean="0"/>
              <a:t>4/13/2024</a:t>
            </a:fld>
            <a:endParaRPr lang="en-US" dirty="0"/>
          </a:p>
        </p:txBody>
      </p:sp>
      <p:sp>
        <p:nvSpPr>
          <p:cNvPr id="3" name="Footer Placeholder 2">
            <a:extLst>
              <a:ext uri="{FF2B5EF4-FFF2-40B4-BE49-F238E27FC236}">
                <a16:creationId xmlns:a16="http://schemas.microsoft.com/office/drawing/2014/main" id="{1DA2A532-743E-ED40-2B4C-9E63BC8C050E}"/>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3A595660-6229-EAAB-FA44-A0A4557789E7}"/>
              </a:ext>
            </a:extLst>
          </p:cNvPr>
          <p:cNvSpPr>
            <a:spLocks noGrp="1"/>
          </p:cNvSpPr>
          <p:nvPr>
            <p:ph type="sldNum" sz="quarter" idx="12"/>
          </p:nvPr>
        </p:nvSpPr>
        <p:spPr/>
        <p:txBody>
          <a:bodyPr/>
          <a:lstStyle/>
          <a:p>
            <a:fld id="{48F63A3B-78C7-47BE-AE5E-E10140E04643}" type="slidenum">
              <a:rPr lang="en-US" smtClean="0"/>
              <a:t>50</a:t>
            </a:fld>
            <a:endParaRPr lang="en-US" dirty="0"/>
          </a:p>
        </p:txBody>
      </p:sp>
      <p:pic>
        <p:nvPicPr>
          <p:cNvPr id="87043" name="Picture 1">
            <a:extLst>
              <a:ext uri="{FF2B5EF4-FFF2-40B4-BE49-F238E27FC236}">
                <a16:creationId xmlns:a16="http://schemas.microsoft.com/office/drawing/2014/main" id="{C3014C15-8D5D-4EBD-B07F-81007A227B9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68575" y="4022725"/>
            <a:ext cx="3948113"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46D4A08B-A3B9-409D-9FF5-9A70E4A504FA}"/>
              </a:ext>
            </a:extLst>
          </p:cNvPr>
          <p:cNvSpPr>
            <a:spLocks noGrp="1" noChangeArrowheads="1"/>
          </p:cNvSpPr>
          <p:nvPr>
            <p:ph type="title"/>
          </p:nvPr>
        </p:nvSpPr>
        <p:spPr>
          <a:xfrm>
            <a:off x="1081088" y="222868"/>
            <a:ext cx="7605712" cy="576262"/>
          </a:xfrm>
        </p:spPr>
        <p:txBody>
          <a:bodyPr>
            <a:normAutofit fontScale="90000"/>
          </a:bodyPr>
          <a:lstStyle/>
          <a:p>
            <a:pPr eaLnBrk="1" hangingPunct="1"/>
            <a:r>
              <a:rPr lang="en-US" altLang="en-US" dirty="0"/>
              <a:t>Thread Cancellation (Cont.)</a:t>
            </a:r>
          </a:p>
        </p:txBody>
      </p:sp>
      <p:sp>
        <p:nvSpPr>
          <p:cNvPr id="37891" name="Rectangle 3">
            <a:extLst>
              <a:ext uri="{FF2B5EF4-FFF2-40B4-BE49-F238E27FC236}">
                <a16:creationId xmlns:a16="http://schemas.microsoft.com/office/drawing/2014/main" id="{7D8769D7-C343-444C-A0E2-10A79AC9E5B6}"/>
              </a:ext>
            </a:extLst>
          </p:cNvPr>
          <p:cNvSpPr>
            <a:spLocks noGrp="1" noChangeArrowheads="1"/>
          </p:cNvSpPr>
          <p:nvPr>
            <p:ph idx="1"/>
          </p:nvPr>
        </p:nvSpPr>
        <p:spPr>
          <a:xfrm>
            <a:off x="839755" y="1057275"/>
            <a:ext cx="7735078" cy="4962525"/>
          </a:xfrm>
        </p:spPr>
        <p:txBody>
          <a:bodyPr>
            <a:normAutofit/>
          </a:bodyPr>
          <a:lstStyle/>
          <a:p>
            <a:pPr>
              <a:defRPr/>
            </a:pPr>
            <a:r>
              <a:rPr lang="en-US" altLang="en-US" dirty="0">
                <a:cs typeface="ＭＳ Ｐゴシック" charset="-128"/>
              </a:rPr>
              <a:t>Invoking thread cancellation requests cancellation, but actual cancellation depends on thread state</a:t>
            </a:r>
          </a:p>
          <a:p>
            <a:pPr>
              <a:defRPr/>
            </a:pPr>
            <a:endParaRPr lang="en-US" altLang="en-US" dirty="0">
              <a:cs typeface="ＭＳ Ｐゴシック" charset="-128"/>
            </a:endParaRPr>
          </a:p>
          <a:p>
            <a:pPr>
              <a:defRPr/>
            </a:pPr>
            <a:endParaRPr lang="en-US" altLang="en-US" dirty="0">
              <a:cs typeface="ＭＳ Ｐゴシック" charset="-128"/>
            </a:endParaRPr>
          </a:p>
          <a:p>
            <a:pPr marL="0" indent="0">
              <a:buFont typeface="Monotype Sorts" pitchFamily="-84" charset="2"/>
              <a:buNone/>
              <a:defRPr/>
            </a:pPr>
            <a:endParaRPr lang="en-US" altLang="en-US" dirty="0">
              <a:cs typeface="ＭＳ Ｐゴシック" charset="-128"/>
            </a:endParaRPr>
          </a:p>
          <a:p>
            <a:pPr marL="0" indent="0">
              <a:buFont typeface="Monotype Sorts" pitchFamily="-84" charset="2"/>
              <a:buNone/>
              <a:defRPr/>
            </a:pPr>
            <a:endParaRPr lang="en-US" altLang="en-US" dirty="0">
              <a:cs typeface="ＭＳ Ｐゴシック" charset="-128"/>
            </a:endParaRPr>
          </a:p>
          <a:p>
            <a:pPr>
              <a:defRPr/>
            </a:pPr>
            <a:r>
              <a:rPr lang="en-US" altLang="en-US" dirty="0">
                <a:cs typeface="ＭＳ Ｐゴシック" charset="-128"/>
              </a:rPr>
              <a:t>If thread has cancellation disabled, cancellation remains pending until thread enables it</a:t>
            </a:r>
          </a:p>
          <a:p>
            <a:pPr>
              <a:defRPr/>
            </a:pPr>
            <a:r>
              <a:rPr lang="en-US" altLang="en-US" dirty="0">
                <a:cs typeface="ＭＳ Ｐゴシック" charset="-128"/>
              </a:rPr>
              <a:t>Default type is deferred</a:t>
            </a:r>
          </a:p>
          <a:p>
            <a:pPr lvl="1">
              <a:defRPr/>
            </a:pPr>
            <a:r>
              <a:rPr lang="en-US" altLang="en-US" dirty="0"/>
              <a:t>Cancellation only occurs when thread reaches </a:t>
            </a:r>
            <a:r>
              <a:rPr lang="en-US" altLang="en-US" b="1" dirty="0">
                <a:solidFill>
                  <a:srgbClr val="006699"/>
                </a:solidFill>
                <a:latin typeface="+mj-lt"/>
              </a:rPr>
              <a:t>cancellation point</a:t>
            </a:r>
          </a:p>
          <a:p>
            <a:pPr lvl="2">
              <a:defRPr/>
            </a:pPr>
            <a:r>
              <a:rPr lang="en-US" altLang="en-US" dirty="0"/>
              <a:t>i.e., </a:t>
            </a:r>
            <a:r>
              <a:rPr lang="en-US" altLang="en-US" b="1" dirty="0" err="1">
                <a:latin typeface="Courier New" pitchFamily="49" charset="0"/>
                <a:cs typeface="Courier New" pitchFamily="49" charset="0"/>
              </a:rPr>
              <a:t>pthread_testcancel</a:t>
            </a:r>
            <a:r>
              <a:rPr lang="en-US" altLang="en-US" b="1" dirty="0">
                <a:latin typeface="Courier New" pitchFamily="49" charset="0"/>
                <a:cs typeface="Courier New" pitchFamily="49" charset="0"/>
              </a:rPr>
              <a:t>()</a:t>
            </a:r>
          </a:p>
          <a:p>
            <a:pPr lvl="2">
              <a:defRPr/>
            </a:pPr>
            <a:r>
              <a:rPr lang="en-US" altLang="en-US" dirty="0"/>
              <a:t>Then </a:t>
            </a:r>
            <a:r>
              <a:rPr lang="en-US" altLang="en-US" b="1" dirty="0">
                <a:solidFill>
                  <a:srgbClr val="006699"/>
                </a:solidFill>
                <a:latin typeface="+mj-lt"/>
              </a:rPr>
              <a:t>cleanup handler </a:t>
            </a:r>
            <a:r>
              <a:rPr lang="en-US" altLang="en-US" dirty="0"/>
              <a:t>is invoked</a:t>
            </a:r>
          </a:p>
          <a:p>
            <a:pPr>
              <a:defRPr/>
            </a:pPr>
            <a:r>
              <a:rPr lang="en-US" altLang="en-US" dirty="0">
                <a:cs typeface="ＭＳ Ｐゴシック" charset="-128"/>
              </a:rPr>
              <a:t>On Linux systems, thread cancellation is handled through signals</a:t>
            </a:r>
          </a:p>
        </p:txBody>
      </p:sp>
      <p:sp>
        <p:nvSpPr>
          <p:cNvPr id="2" name="Date Placeholder 1">
            <a:extLst>
              <a:ext uri="{FF2B5EF4-FFF2-40B4-BE49-F238E27FC236}">
                <a16:creationId xmlns:a16="http://schemas.microsoft.com/office/drawing/2014/main" id="{8B35A496-7054-688A-36E6-BDAB2EEE01F3}"/>
              </a:ext>
            </a:extLst>
          </p:cNvPr>
          <p:cNvSpPr>
            <a:spLocks noGrp="1"/>
          </p:cNvSpPr>
          <p:nvPr>
            <p:ph type="dt" sz="half" idx="10"/>
          </p:nvPr>
        </p:nvSpPr>
        <p:spPr/>
        <p:txBody>
          <a:bodyPr/>
          <a:lstStyle/>
          <a:p>
            <a:fld id="{66AD9FEF-C019-4F24-B39F-A684B400AFEA}" type="datetime1">
              <a:rPr lang="en-US" smtClean="0"/>
              <a:t>4/13/2024</a:t>
            </a:fld>
            <a:endParaRPr lang="en-US" dirty="0"/>
          </a:p>
        </p:txBody>
      </p:sp>
      <p:sp>
        <p:nvSpPr>
          <p:cNvPr id="3" name="Footer Placeholder 2">
            <a:extLst>
              <a:ext uri="{FF2B5EF4-FFF2-40B4-BE49-F238E27FC236}">
                <a16:creationId xmlns:a16="http://schemas.microsoft.com/office/drawing/2014/main" id="{138BB787-3B71-C295-5DD6-A7433F1C1D9D}"/>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911217A5-5A23-AB75-6A08-FA98E167F9E3}"/>
              </a:ext>
            </a:extLst>
          </p:cNvPr>
          <p:cNvSpPr>
            <a:spLocks noGrp="1"/>
          </p:cNvSpPr>
          <p:nvPr>
            <p:ph type="sldNum" sz="quarter" idx="12"/>
          </p:nvPr>
        </p:nvSpPr>
        <p:spPr/>
        <p:txBody>
          <a:bodyPr/>
          <a:lstStyle/>
          <a:p>
            <a:fld id="{48F63A3B-78C7-47BE-AE5E-E10140E04643}" type="slidenum">
              <a:rPr lang="en-US" smtClean="0"/>
              <a:t>51</a:t>
            </a:fld>
            <a:endParaRPr lang="en-US" dirty="0"/>
          </a:p>
        </p:txBody>
      </p:sp>
      <p:pic>
        <p:nvPicPr>
          <p:cNvPr id="89091" name="Picture 1">
            <a:extLst>
              <a:ext uri="{FF2B5EF4-FFF2-40B4-BE49-F238E27FC236}">
                <a16:creationId xmlns:a16="http://schemas.microsoft.com/office/drawing/2014/main" id="{45A1D62A-4B0A-490B-8A95-06E0D48B950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84388" y="1963738"/>
            <a:ext cx="5100637"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0D1FBD27-2B69-44A9-A404-9835E77807CA}"/>
              </a:ext>
            </a:extLst>
          </p:cNvPr>
          <p:cNvSpPr>
            <a:spLocks noGrp="1"/>
          </p:cNvSpPr>
          <p:nvPr>
            <p:ph type="title"/>
          </p:nvPr>
        </p:nvSpPr>
        <p:spPr/>
        <p:txBody>
          <a:bodyPr/>
          <a:lstStyle/>
          <a:p>
            <a:r>
              <a:rPr lang="en-US" altLang="en-US" dirty="0"/>
              <a:t>Thread Cancellation in Java</a:t>
            </a:r>
          </a:p>
        </p:txBody>
      </p:sp>
      <p:sp>
        <p:nvSpPr>
          <p:cNvPr id="91138" name="Content Placeholder 2">
            <a:extLst>
              <a:ext uri="{FF2B5EF4-FFF2-40B4-BE49-F238E27FC236}">
                <a16:creationId xmlns:a16="http://schemas.microsoft.com/office/drawing/2014/main" id="{75BEED4D-A616-43F0-AE72-2D49BC1B7C8C}"/>
              </a:ext>
            </a:extLst>
          </p:cNvPr>
          <p:cNvSpPr>
            <a:spLocks noGrp="1"/>
          </p:cNvSpPr>
          <p:nvPr>
            <p:ph idx="1"/>
          </p:nvPr>
        </p:nvSpPr>
        <p:spPr>
          <a:xfrm>
            <a:off x="609599" y="1361662"/>
            <a:ext cx="7818784" cy="4679702"/>
          </a:xfrm>
        </p:spPr>
        <p:txBody>
          <a:bodyPr>
            <a:normAutofit/>
          </a:bodyPr>
          <a:lstStyle/>
          <a:p>
            <a:r>
              <a:rPr lang="en-US" altLang="en-US" dirty="0"/>
              <a:t>Deferred cancellation uses the </a:t>
            </a:r>
            <a:r>
              <a:rPr lang="en-US" altLang="en-US" b="1" dirty="0">
                <a:latin typeface="Courier New" panose="02070309020205020404" pitchFamily="49" charset="0"/>
              </a:rPr>
              <a:t>interrupt()</a:t>
            </a:r>
            <a:r>
              <a:rPr lang="en-US" altLang="en-US" dirty="0"/>
              <a:t> method, which sets the interrupted status of a thread.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r>
              <a:rPr lang="en-US" altLang="en-US" dirty="0"/>
              <a:t>A thread can then check to see if it has been interrupted:</a:t>
            </a:r>
          </a:p>
        </p:txBody>
      </p:sp>
      <p:sp>
        <p:nvSpPr>
          <p:cNvPr id="2" name="Date Placeholder 1">
            <a:extLst>
              <a:ext uri="{FF2B5EF4-FFF2-40B4-BE49-F238E27FC236}">
                <a16:creationId xmlns:a16="http://schemas.microsoft.com/office/drawing/2014/main" id="{6E88DC11-0585-37B9-43FD-77ADC0C015D6}"/>
              </a:ext>
            </a:extLst>
          </p:cNvPr>
          <p:cNvSpPr>
            <a:spLocks noGrp="1"/>
          </p:cNvSpPr>
          <p:nvPr>
            <p:ph type="dt" sz="half" idx="10"/>
          </p:nvPr>
        </p:nvSpPr>
        <p:spPr/>
        <p:txBody>
          <a:bodyPr/>
          <a:lstStyle/>
          <a:p>
            <a:fld id="{4DFBCD7D-47A1-4EF8-934C-8AE85A6E99F1}" type="datetime1">
              <a:rPr lang="en-US" smtClean="0"/>
              <a:t>4/13/2024</a:t>
            </a:fld>
            <a:endParaRPr lang="en-US" dirty="0"/>
          </a:p>
        </p:txBody>
      </p:sp>
      <p:sp>
        <p:nvSpPr>
          <p:cNvPr id="3" name="Footer Placeholder 2">
            <a:extLst>
              <a:ext uri="{FF2B5EF4-FFF2-40B4-BE49-F238E27FC236}">
                <a16:creationId xmlns:a16="http://schemas.microsoft.com/office/drawing/2014/main" id="{F3D51BF1-3868-3506-668F-53D074827333}"/>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647A85F1-95E2-2540-C604-2394C504BFD7}"/>
              </a:ext>
            </a:extLst>
          </p:cNvPr>
          <p:cNvSpPr>
            <a:spLocks noGrp="1"/>
          </p:cNvSpPr>
          <p:nvPr>
            <p:ph type="sldNum" sz="quarter" idx="12"/>
          </p:nvPr>
        </p:nvSpPr>
        <p:spPr/>
        <p:txBody>
          <a:bodyPr/>
          <a:lstStyle/>
          <a:p>
            <a:fld id="{48F63A3B-78C7-47BE-AE5E-E10140E04643}" type="slidenum">
              <a:rPr lang="en-US" smtClean="0"/>
              <a:t>52</a:t>
            </a:fld>
            <a:endParaRPr lang="en-US" dirty="0"/>
          </a:p>
        </p:txBody>
      </p:sp>
      <p:pic>
        <p:nvPicPr>
          <p:cNvPr id="91139" name="Picture 3">
            <a:extLst>
              <a:ext uri="{FF2B5EF4-FFF2-40B4-BE49-F238E27FC236}">
                <a16:creationId xmlns:a16="http://schemas.microsoft.com/office/drawing/2014/main" id="{A5B25D66-7EE8-4C02-9916-79984531C3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14799" y="1967605"/>
            <a:ext cx="5715000" cy="180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0" name="Picture 4">
            <a:extLst>
              <a:ext uri="{FF2B5EF4-FFF2-40B4-BE49-F238E27FC236}">
                <a16:creationId xmlns:a16="http://schemas.microsoft.com/office/drawing/2014/main" id="{B3E1EED7-AF5C-4949-B412-6DA9E936294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17688" y="4195763"/>
            <a:ext cx="5664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2580DFDB-6ABD-4948-952F-076F0CA2C577}"/>
              </a:ext>
            </a:extLst>
          </p:cNvPr>
          <p:cNvSpPr>
            <a:spLocks noGrp="1" noChangeArrowheads="1"/>
          </p:cNvSpPr>
          <p:nvPr>
            <p:ph type="title"/>
          </p:nvPr>
        </p:nvSpPr>
        <p:spPr>
          <a:xfrm>
            <a:off x="457200" y="213537"/>
            <a:ext cx="8229600" cy="576262"/>
          </a:xfrm>
        </p:spPr>
        <p:txBody>
          <a:bodyPr>
            <a:normAutofit fontScale="90000"/>
          </a:bodyPr>
          <a:lstStyle/>
          <a:p>
            <a:pPr eaLnBrk="1" hangingPunct="1"/>
            <a:r>
              <a:rPr lang="en-US" altLang="en-US" dirty="0">
                <a:solidFill>
                  <a:srgbClr val="FF0000"/>
                </a:solidFill>
              </a:rPr>
              <a:t>Thread-Local Storage</a:t>
            </a:r>
          </a:p>
        </p:txBody>
      </p:sp>
      <p:sp>
        <p:nvSpPr>
          <p:cNvPr id="92162" name="Rectangle 3">
            <a:extLst>
              <a:ext uri="{FF2B5EF4-FFF2-40B4-BE49-F238E27FC236}">
                <a16:creationId xmlns:a16="http://schemas.microsoft.com/office/drawing/2014/main" id="{1C7EAF96-DD82-4FEA-A725-EF91F94C0DC7}"/>
              </a:ext>
            </a:extLst>
          </p:cNvPr>
          <p:cNvSpPr>
            <a:spLocks noGrp="1" noChangeArrowheads="1"/>
          </p:cNvSpPr>
          <p:nvPr>
            <p:ph idx="1"/>
          </p:nvPr>
        </p:nvSpPr>
        <p:spPr>
          <a:xfrm>
            <a:off x="806449" y="1233488"/>
            <a:ext cx="7768383" cy="4478337"/>
          </a:xfrm>
        </p:spPr>
        <p:txBody>
          <a:bodyPr>
            <a:normAutofit/>
          </a:bodyPr>
          <a:lstStyle/>
          <a:p>
            <a:r>
              <a:rPr lang="en-US" altLang="en-US" b="1" dirty="0">
                <a:solidFill>
                  <a:srgbClr val="006699"/>
                </a:solidFill>
                <a:latin typeface="+mj-lt"/>
              </a:rPr>
              <a:t>Thread-local storage</a:t>
            </a:r>
            <a:r>
              <a:rPr lang="en-US" altLang="en-US" b="1" dirty="0">
                <a:solidFill>
                  <a:srgbClr val="3366FF"/>
                </a:solidFill>
              </a:rPr>
              <a:t> </a:t>
            </a:r>
            <a:r>
              <a:rPr lang="en-US" altLang="en-US" dirty="0"/>
              <a:t>(</a:t>
            </a:r>
            <a:r>
              <a:rPr lang="en-US" altLang="en-US" b="1" dirty="0">
                <a:solidFill>
                  <a:srgbClr val="006699"/>
                </a:solidFill>
                <a:latin typeface="+mj-lt"/>
              </a:rPr>
              <a:t>TLS</a:t>
            </a:r>
            <a:r>
              <a:rPr lang="en-US" altLang="en-US" dirty="0"/>
              <a:t>) </a:t>
            </a:r>
            <a:r>
              <a:rPr lang="en-US" altLang="en-US" dirty="0">
                <a:solidFill>
                  <a:srgbClr val="C00000"/>
                </a:solidFill>
              </a:rPr>
              <a:t>allows each thread to have its </a:t>
            </a:r>
            <a:r>
              <a:rPr lang="en-US" altLang="en-US" dirty="0"/>
              <a:t>own copy of data</a:t>
            </a:r>
          </a:p>
          <a:p>
            <a:r>
              <a:rPr lang="en-US" altLang="en-US" dirty="0"/>
              <a:t>Useful when you do not have control over the thread creation process (i.e., when using a thread pool)</a:t>
            </a:r>
          </a:p>
          <a:p>
            <a:r>
              <a:rPr lang="en-US" altLang="en-US" dirty="0"/>
              <a:t>Different from local variables</a:t>
            </a:r>
          </a:p>
          <a:p>
            <a:pPr lvl="1"/>
            <a:r>
              <a:rPr lang="en-US" altLang="en-US" dirty="0"/>
              <a:t>Local variables visible only during single function invocation</a:t>
            </a:r>
          </a:p>
          <a:p>
            <a:pPr lvl="1"/>
            <a:r>
              <a:rPr lang="en-US" altLang="en-US" dirty="0"/>
              <a:t>TLS visible across function invocations</a:t>
            </a:r>
            <a:r>
              <a:rPr lang="ar-JO" altLang="en-US" dirty="0"/>
              <a:t>استدعاءات</a:t>
            </a:r>
            <a:endParaRPr lang="en-US" altLang="en-US" dirty="0"/>
          </a:p>
          <a:p>
            <a:r>
              <a:rPr lang="en-US" altLang="en-US" dirty="0"/>
              <a:t>Similar to </a:t>
            </a:r>
            <a:r>
              <a:rPr lang="en-US" altLang="en-US" b="1" dirty="0">
                <a:latin typeface="Courier New" panose="02070309020205020404" pitchFamily="49" charset="0"/>
              </a:rPr>
              <a:t>static</a:t>
            </a:r>
            <a:r>
              <a:rPr lang="en-US" altLang="en-US" dirty="0"/>
              <a:t> data</a:t>
            </a:r>
          </a:p>
          <a:p>
            <a:pPr lvl="1"/>
            <a:r>
              <a:rPr lang="en-US" altLang="en-US" dirty="0"/>
              <a:t>TLS is unique to each thread</a:t>
            </a:r>
          </a:p>
        </p:txBody>
      </p:sp>
      <p:sp>
        <p:nvSpPr>
          <p:cNvPr id="2" name="Date Placeholder 1">
            <a:extLst>
              <a:ext uri="{FF2B5EF4-FFF2-40B4-BE49-F238E27FC236}">
                <a16:creationId xmlns:a16="http://schemas.microsoft.com/office/drawing/2014/main" id="{055316CB-23BC-3F84-468F-6A00708F5656}"/>
              </a:ext>
            </a:extLst>
          </p:cNvPr>
          <p:cNvSpPr>
            <a:spLocks noGrp="1"/>
          </p:cNvSpPr>
          <p:nvPr>
            <p:ph type="dt" sz="half" idx="10"/>
          </p:nvPr>
        </p:nvSpPr>
        <p:spPr/>
        <p:txBody>
          <a:bodyPr/>
          <a:lstStyle/>
          <a:p>
            <a:fld id="{BCB7BC27-F7EB-4644-AB11-7BD4149A7E66}" type="datetime1">
              <a:rPr lang="en-US" smtClean="0"/>
              <a:t>4/13/2024</a:t>
            </a:fld>
            <a:endParaRPr lang="en-US" dirty="0"/>
          </a:p>
        </p:txBody>
      </p:sp>
      <p:sp>
        <p:nvSpPr>
          <p:cNvPr id="3" name="Footer Placeholder 2">
            <a:extLst>
              <a:ext uri="{FF2B5EF4-FFF2-40B4-BE49-F238E27FC236}">
                <a16:creationId xmlns:a16="http://schemas.microsoft.com/office/drawing/2014/main" id="{57DF0135-0D89-52AB-6954-AD4FA5B9D923}"/>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762BCA36-2324-6B42-4C60-843F398B8161}"/>
              </a:ext>
            </a:extLst>
          </p:cNvPr>
          <p:cNvSpPr>
            <a:spLocks noGrp="1"/>
          </p:cNvSpPr>
          <p:nvPr>
            <p:ph type="sldNum" sz="quarter" idx="12"/>
          </p:nvPr>
        </p:nvSpPr>
        <p:spPr/>
        <p:txBody>
          <a:bodyPr/>
          <a:lstStyle/>
          <a:p>
            <a:fld id="{48F63A3B-78C7-47BE-AE5E-E10140E04643}" type="slidenum">
              <a:rPr lang="en-US" smtClean="0"/>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65E82D8D-F606-4BB6-910E-3E1D7A764C24}"/>
              </a:ext>
            </a:extLst>
          </p:cNvPr>
          <p:cNvSpPr>
            <a:spLocks noGrp="1" noChangeArrowheads="1"/>
          </p:cNvSpPr>
          <p:nvPr>
            <p:ph type="title"/>
          </p:nvPr>
        </p:nvSpPr>
        <p:spPr>
          <a:xfrm>
            <a:off x="1160463" y="228830"/>
            <a:ext cx="7526337" cy="576262"/>
          </a:xfrm>
        </p:spPr>
        <p:txBody>
          <a:bodyPr>
            <a:normAutofit fontScale="90000"/>
          </a:bodyPr>
          <a:lstStyle/>
          <a:p>
            <a:pPr eaLnBrk="1" hangingPunct="1"/>
            <a:r>
              <a:rPr lang="en-US" altLang="en-US" dirty="0"/>
              <a:t>Scheduler Activations</a:t>
            </a:r>
          </a:p>
        </p:txBody>
      </p:sp>
      <p:sp>
        <p:nvSpPr>
          <p:cNvPr id="94210" name="Rectangle 3">
            <a:extLst>
              <a:ext uri="{FF2B5EF4-FFF2-40B4-BE49-F238E27FC236}">
                <a16:creationId xmlns:a16="http://schemas.microsoft.com/office/drawing/2014/main" id="{A8495397-A30B-4D32-9963-DA7E646999AA}"/>
              </a:ext>
            </a:extLst>
          </p:cNvPr>
          <p:cNvSpPr>
            <a:spLocks noGrp="1" noChangeArrowheads="1"/>
          </p:cNvSpPr>
          <p:nvPr>
            <p:ph idx="1"/>
          </p:nvPr>
        </p:nvSpPr>
        <p:spPr>
          <a:xfrm>
            <a:off x="806450" y="1017588"/>
            <a:ext cx="5316538" cy="4964112"/>
          </a:xfrm>
        </p:spPr>
        <p:txBody>
          <a:bodyPr>
            <a:normAutofit lnSpcReduction="10000"/>
          </a:bodyPr>
          <a:lstStyle/>
          <a:p>
            <a:r>
              <a:rPr lang="en-US" altLang="en-US" dirty="0"/>
              <a:t>Both M:M and Two-level models require communication to maintain the appropriate number of kernel threads allocated to the application</a:t>
            </a:r>
          </a:p>
          <a:p>
            <a:r>
              <a:rPr lang="en-US" altLang="en-US" dirty="0"/>
              <a:t>Typically use an intermediate data structure between user and kernel threads – </a:t>
            </a:r>
            <a:r>
              <a:rPr lang="en-US" altLang="en-US" b="1" dirty="0">
                <a:solidFill>
                  <a:srgbClr val="006699"/>
                </a:solidFill>
                <a:latin typeface="+mj-lt"/>
              </a:rPr>
              <a:t>lightweight</a:t>
            </a:r>
            <a:r>
              <a:rPr lang="en-US" altLang="en-US" b="1" dirty="0">
                <a:solidFill>
                  <a:srgbClr val="3366FF"/>
                </a:solidFill>
              </a:rPr>
              <a:t> </a:t>
            </a:r>
            <a:r>
              <a:rPr lang="en-US" altLang="en-US" b="1" dirty="0">
                <a:solidFill>
                  <a:srgbClr val="006699"/>
                </a:solidFill>
                <a:latin typeface="+mj-lt"/>
              </a:rPr>
              <a:t>process</a:t>
            </a:r>
            <a:r>
              <a:rPr lang="en-US" altLang="en-US" b="1" dirty="0">
                <a:solidFill>
                  <a:srgbClr val="3366FF"/>
                </a:solidFill>
              </a:rPr>
              <a:t> </a:t>
            </a:r>
            <a:r>
              <a:rPr lang="en-US" altLang="en-US" dirty="0"/>
              <a:t>(</a:t>
            </a:r>
            <a:r>
              <a:rPr lang="en-US" altLang="en-US" b="1" dirty="0">
                <a:solidFill>
                  <a:srgbClr val="006699"/>
                </a:solidFill>
                <a:latin typeface="+mj-lt"/>
              </a:rPr>
              <a:t>LWP</a:t>
            </a:r>
            <a:r>
              <a:rPr lang="en-US" altLang="en-US" dirty="0"/>
              <a:t>)</a:t>
            </a:r>
          </a:p>
          <a:p>
            <a:pPr lvl="1"/>
            <a:r>
              <a:rPr lang="en-US" altLang="en-US" dirty="0"/>
              <a:t>Appears to be a virtual processor on which process can schedule user thread to run</a:t>
            </a:r>
          </a:p>
          <a:p>
            <a:pPr lvl="1"/>
            <a:r>
              <a:rPr lang="en-US" altLang="en-US" dirty="0"/>
              <a:t>Each LWP attached to kernel thread</a:t>
            </a:r>
          </a:p>
          <a:p>
            <a:pPr lvl="1"/>
            <a:r>
              <a:rPr lang="en-US" altLang="en-US" dirty="0"/>
              <a:t>How many LWPs to create?</a:t>
            </a:r>
          </a:p>
          <a:p>
            <a:r>
              <a:rPr lang="en-US" altLang="en-US" dirty="0"/>
              <a:t>Scheduler activations provide </a:t>
            </a:r>
            <a:r>
              <a:rPr lang="en-US" altLang="en-US" b="1" dirty="0">
                <a:solidFill>
                  <a:srgbClr val="006699"/>
                </a:solidFill>
                <a:latin typeface="+mj-lt"/>
              </a:rPr>
              <a:t>upcalls</a:t>
            </a:r>
            <a:r>
              <a:rPr lang="en-US" altLang="en-US" dirty="0">
                <a:solidFill>
                  <a:srgbClr val="3366FF"/>
                </a:solidFill>
              </a:rPr>
              <a:t> </a:t>
            </a:r>
            <a:r>
              <a:rPr lang="en-US" altLang="en-US" dirty="0"/>
              <a:t>- a communication mechanism from the kernel to the </a:t>
            </a:r>
            <a:r>
              <a:rPr lang="en-US" altLang="en-US" b="1" dirty="0">
                <a:solidFill>
                  <a:srgbClr val="006699"/>
                </a:solidFill>
                <a:latin typeface="+mj-lt"/>
              </a:rPr>
              <a:t>upcall</a:t>
            </a:r>
            <a:r>
              <a:rPr lang="en-US" altLang="en-US" b="1" dirty="0">
                <a:solidFill>
                  <a:srgbClr val="3366FF"/>
                </a:solidFill>
              </a:rPr>
              <a:t> </a:t>
            </a:r>
            <a:r>
              <a:rPr lang="en-US" altLang="en-US" b="1" dirty="0">
                <a:solidFill>
                  <a:srgbClr val="006699"/>
                </a:solidFill>
                <a:latin typeface="+mj-lt"/>
              </a:rPr>
              <a:t>handler</a:t>
            </a:r>
            <a:r>
              <a:rPr lang="en-US" altLang="en-US" b="1" dirty="0">
                <a:solidFill>
                  <a:srgbClr val="3366FF"/>
                </a:solidFill>
              </a:rPr>
              <a:t> </a:t>
            </a:r>
            <a:r>
              <a:rPr lang="en-US" altLang="en-US" dirty="0"/>
              <a:t>in the thread library</a:t>
            </a:r>
          </a:p>
          <a:p>
            <a:r>
              <a:rPr lang="en-US" altLang="en-US" dirty="0"/>
              <a:t>This communication allows an application to maintain the correct number kernel threads</a:t>
            </a:r>
          </a:p>
        </p:txBody>
      </p:sp>
      <p:sp>
        <p:nvSpPr>
          <p:cNvPr id="2" name="Date Placeholder 1">
            <a:extLst>
              <a:ext uri="{FF2B5EF4-FFF2-40B4-BE49-F238E27FC236}">
                <a16:creationId xmlns:a16="http://schemas.microsoft.com/office/drawing/2014/main" id="{1C1D53F9-A6F0-714C-9639-4733436DFDDD}"/>
              </a:ext>
            </a:extLst>
          </p:cNvPr>
          <p:cNvSpPr>
            <a:spLocks noGrp="1"/>
          </p:cNvSpPr>
          <p:nvPr>
            <p:ph type="dt" sz="half" idx="10"/>
          </p:nvPr>
        </p:nvSpPr>
        <p:spPr/>
        <p:txBody>
          <a:bodyPr/>
          <a:lstStyle/>
          <a:p>
            <a:fld id="{E3FEF817-B036-4098-87B5-1920EF146DDA}" type="datetime1">
              <a:rPr lang="en-US" smtClean="0"/>
              <a:t>4/13/2024</a:t>
            </a:fld>
            <a:endParaRPr lang="en-US" dirty="0"/>
          </a:p>
        </p:txBody>
      </p:sp>
      <p:sp>
        <p:nvSpPr>
          <p:cNvPr id="3" name="Footer Placeholder 2">
            <a:extLst>
              <a:ext uri="{FF2B5EF4-FFF2-40B4-BE49-F238E27FC236}">
                <a16:creationId xmlns:a16="http://schemas.microsoft.com/office/drawing/2014/main" id="{E13F4882-D9EE-6992-25FC-896898A6219B}"/>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431916A5-3639-1420-5260-A0CCED0F2BEB}"/>
              </a:ext>
            </a:extLst>
          </p:cNvPr>
          <p:cNvSpPr>
            <a:spLocks noGrp="1"/>
          </p:cNvSpPr>
          <p:nvPr>
            <p:ph type="sldNum" sz="quarter" idx="12"/>
          </p:nvPr>
        </p:nvSpPr>
        <p:spPr/>
        <p:txBody>
          <a:bodyPr/>
          <a:lstStyle/>
          <a:p>
            <a:fld id="{48F63A3B-78C7-47BE-AE5E-E10140E04643}" type="slidenum">
              <a:rPr lang="en-US" smtClean="0"/>
              <a:t>54</a:t>
            </a:fld>
            <a:endParaRPr lang="en-US" dirty="0"/>
          </a:p>
        </p:txBody>
      </p:sp>
      <p:pic>
        <p:nvPicPr>
          <p:cNvPr id="94211" name="Picture 1">
            <a:extLst>
              <a:ext uri="{FF2B5EF4-FFF2-40B4-BE49-F238E27FC236}">
                <a16:creationId xmlns:a16="http://schemas.microsoft.com/office/drawing/2014/main" id="{7DC26CCE-1C29-4F40-8E4C-6E7777036F8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56363" y="2416175"/>
            <a:ext cx="2352675" cy="216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70B038-E831-1D00-6FA7-7E8858C83F83}"/>
              </a:ext>
            </a:extLst>
          </p:cNvPr>
          <p:cNvSpPr>
            <a:spLocks noGrp="1"/>
          </p:cNvSpPr>
          <p:nvPr>
            <p:ph type="dt" sz="half" idx="10"/>
          </p:nvPr>
        </p:nvSpPr>
        <p:spPr/>
        <p:txBody>
          <a:bodyPr/>
          <a:lstStyle/>
          <a:p>
            <a:fld id="{FC8BBB0E-5390-4D37-932E-27D71BA50D13}" type="datetime1">
              <a:rPr lang="en-US" smtClean="0"/>
              <a:t>4/13/2024</a:t>
            </a:fld>
            <a:endParaRPr lang="en-US" dirty="0"/>
          </a:p>
        </p:txBody>
      </p:sp>
      <p:sp>
        <p:nvSpPr>
          <p:cNvPr id="3" name="Footer Placeholder 2">
            <a:extLst>
              <a:ext uri="{FF2B5EF4-FFF2-40B4-BE49-F238E27FC236}">
                <a16:creationId xmlns:a16="http://schemas.microsoft.com/office/drawing/2014/main" id="{3704E087-00C8-6053-4C1C-BF95BEE3D1A3}"/>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EF75D4B2-FD59-5D5A-A927-3A0BEA2399BE}"/>
              </a:ext>
            </a:extLst>
          </p:cNvPr>
          <p:cNvSpPr>
            <a:spLocks noGrp="1"/>
          </p:cNvSpPr>
          <p:nvPr>
            <p:ph type="sldNum" sz="quarter" idx="12"/>
          </p:nvPr>
        </p:nvSpPr>
        <p:spPr/>
        <p:txBody>
          <a:bodyPr/>
          <a:lstStyle/>
          <a:p>
            <a:fld id="{48F63A3B-78C7-47BE-AE5E-E10140E04643}" type="slidenum">
              <a:rPr lang="en-US" smtClean="0"/>
              <a:t>55</a:t>
            </a:fld>
            <a:endParaRPr lang="en-US" dirty="0"/>
          </a:p>
        </p:txBody>
      </p:sp>
      <p:sp>
        <p:nvSpPr>
          <p:cNvPr id="96257" name="Rectangle 2">
            <a:extLst>
              <a:ext uri="{FF2B5EF4-FFF2-40B4-BE49-F238E27FC236}">
                <a16:creationId xmlns:a16="http://schemas.microsoft.com/office/drawing/2014/main" id="{1BE107B7-66B8-4C35-8B17-BBEE9D169FDE}"/>
              </a:ext>
            </a:extLst>
          </p:cNvPr>
          <p:cNvSpPr>
            <a:spLocks noGrp="1" noChangeArrowheads="1"/>
          </p:cNvSpPr>
          <p:nvPr>
            <p:ph type="title" idx="4294967295"/>
          </p:nvPr>
        </p:nvSpPr>
        <p:spPr>
          <a:xfrm>
            <a:off x="1470025" y="228600"/>
            <a:ext cx="7673975" cy="576263"/>
          </a:xfrm>
        </p:spPr>
        <p:txBody>
          <a:bodyPr>
            <a:normAutofit fontScale="90000"/>
          </a:bodyPr>
          <a:lstStyle/>
          <a:p>
            <a:pPr eaLnBrk="1" hangingPunct="1"/>
            <a:r>
              <a:rPr lang="en-US" altLang="en-US" dirty="0"/>
              <a:t>Operating System Examples</a:t>
            </a:r>
          </a:p>
        </p:txBody>
      </p:sp>
      <p:sp>
        <p:nvSpPr>
          <p:cNvPr id="96258" name="Rectangle 3">
            <a:extLst>
              <a:ext uri="{FF2B5EF4-FFF2-40B4-BE49-F238E27FC236}">
                <a16:creationId xmlns:a16="http://schemas.microsoft.com/office/drawing/2014/main" id="{62E93B1B-E3ED-4356-9357-11040365D033}"/>
              </a:ext>
            </a:extLst>
          </p:cNvPr>
          <p:cNvSpPr>
            <a:spLocks noGrp="1" noChangeArrowheads="1"/>
          </p:cNvSpPr>
          <p:nvPr>
            <p:ph type="body" idx="4294967295"/>
          </p:nvPr>
        </p:nvSpPr>
        <p:spPr>
          <a:xfrm>
            <a:off x="0" y="1233488"/>
            <a:ext cx="7469188" cy="4492625"/>
          </a:xfrm>
        </p:spPr>
        <p:txBody>
          <a:bodyPr/>
          <a:lstStyle/>
          <a:p>
            <a:r>
              <a:rPr lang="en-US" altLang="en-US"/>
              <a:t>Windows Threads</a:t>
            </a:r>
          </a:p>
          <a:p>
            <a:r>
              <a:rPr lang="en-US" altLang="en-US"/>
              <a:t>Linux Threads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119AA1B0-0B6B-4557-94CD-C696EC502A49}"/>
              </a:ext>
            </a:extLst>
          </p:cNvPr>
          <p:cNvSpPr>
            <a:spLocks noGrp="1" noChangeArrowheads="1"/>
          </p:cNvSpPr>
          <p:nvPr>
            <p:ph type="title"/>
          </p:nvPr>
        </p:nvSpPr>
        <p:spPr>
          <a:xfrm>
            <a:off x="457200" y="230641"/>
            <a:ext cx="8229600" cy="576262"/>
          </a:xfrm>
        </p:spPr>
        <p:txBody>
          <a:bodyPr>
            <a:normAutofit fontScale="90000"/>
          </a:bodyPr>
          <a:lstStyle/>
          <a:p>
            <a:pPr eaLnBrk="1" hangingPunct="1"/>
            <a:r>
              <a:rPr lang="en-US" altLang="en-US" dirty="0"/>
              <a:t>Windows Threads</a:t>
            </a:r>
          </a:p>
        </p:txBody>
      </p:sp>
      <p:sp>
        <p:nvSpPr>
          <p:cNvPr id="98306" name="Rectangle 3">
            <a:extLst>
              <a:ext uri="{FF2B5EF4-FFF2-40B4-BE49-F238E27FC236}">
                <a16:creationId xmlns:a16="http://schemas.microsoft.com/office/drawing/2014/main" id="{9A0C3CF5-1789-4524-A426-288D68408004}"/>
              </a:ext>
            </a:extLst>
          </p:cNvPr>
          <p:cNvSpPr>
            <a:spLocks noGrp="1" noChangeArrowheads="1"/>
          </p:cNvSpPr>
          <p:nvPr>
            <p:ph idx="1"/>
          </p:nvPr>
        </p:nvSpPr>
        <p:spPr>
          <a:xfrm>
            <a:off x="821095" y="1130300"/>
            <a:ext cx="7763068" cy="5141913"/>
          </a:xfrm>
        </p:spPr>
        <p:txBody>
          <a:bodyPr/>
          <a:lstStyle/>
          <a:p>
            <a:r>
              <a:rPr lang="en-US" altLang="en-US" dirty="0"/>
              <a:t>Windows API – primary API for Windows applications</a:t>
            </a:r>
          </a:p>
          <a:p>
            <a:r>
              <a:rPr lang="en-US" altLang="en-US" dirty="0"/>
              <a:t>Implements the one-to-one mapping, kernel-level</a:t>
            </a:r>
          </a:p>
          <a:p>
            <a:r>
              <a:rPr lang="en-US" altLang="en-US" dirty="0"/>
              <a:t>Each thread contains</a:t>
            </a:r>
          </a:p>
          <a:p>
            <a:pPr lvl="1"/>
            <a:r>
              <a:rPr lang="en-US" altLang="en-US" dirty="0"/>
              <a:t>A thread id</a:t>
            </a:r>
          </a:p>
          <a:p>
            <a:pPr lvl="1"/>
            <a:r>
              <a:rPr lang="en-US" altLang="en-US" dirty="0"/>
              <a:t>Register set representing state of processor</a:t>
            </a:r>
          </a:p>
          <a:p>
            <a:pPr lvl="1"/>
            <a:r>
              <a:rPr lang="en-US" altLang="en-US" dirty="0"/>
              <a:t>Separate user and kernel stacks for when thread runs in user mode or kernel mode</a:t>
            </a:r>
          </a:p>
          <a:p>
            <a:pPr lvl="1"/>
            <a:r>
              <a:rPr lang="en-US" altLang="en-US" dirty="0"/>
              <a:t>Private data storage area used by run-time libraries and dynamic link libraries (DLLs)</a:t>
            </a:r>
          </a:p>
          <a:p>
            <a:r>
              <a:rPr lang="en-US" altLang="en-US" dirty="0"/>
              <a:t>The register set, stacks, and private storage area are known as the </a:t>
            </a:r>
            <a:r>
              <a:rPr lang="en-US" altLang="en-US" b="1" dirty="0">
                <a:solidFill>
                  <a:srgbClr val="006699"/>
                </a:solidFill>
                <a:latin typeface="+mj-lt"/>
              </a:rPr>
              <a:t>context</a:t>
            </a:r>
            <a:r>
              <a:rPr lang="en-US" altLang="en-US" dirty="0">
                <a:solidFill>
                  <a:srgbClr val="3366FF"/>
                </a:solidFill>
              </a:rPr>
              <a:t> </a:t>
            </a:r>
            <a:r>
              <a:rPr lang="en-US" altLang="en-US" dirty="0"/>
              <a:t>of the thread</a:t>
            </a:r>
          </a:p>
          <a:p>
            <a:pPr>
              <a:buFont typeface="Monotype Sorts" pitchFamily="-84" charset="2"/>
              <a:buNone/>
            </a:pPr>
            <a:endParaRPr lang="en-US" altLang="en-US" dirty="0"/>
          </a:p>
        </p:txBody>
      </p:sp>
      <p:sp>
        <p:nvSpPr>
          <p:cNvPr id="2" name="Date Placeholder 1">
            <a:extLst>
              <a:ext uri="{FF2B5EF4-FFF2-40B4-BE49-F238E27FC236}">
                <a16:creationId xmlns:a16="http://schemas.microsoft.com/office/drawing/2014/main" id="{C10AB666-DC94-714F-A1EF-93741738EF0E}"/>
              </a:ext>
            </a:extLst>
          </p:cNvPr>
          <p:cNvSpPr>
            <a:spLocks noGrp="1"/>
          </p:cNvSpPr>
          <p:nvPr>
            <p:ph type="dt" sz="half" idx="10"/>
          </p:nvPr>
        </p:nvSpPr>
        <p:spPr/>
        <p:txBody>
          <a:bodyPr/>
          <a:lstStyle/>
          <a:p>
            <a:fld id="{41E9BDEB-A24A-4A4B-AAEA-D11D348BE10A}" type="datetime1">
              <a:rPr lang="en-US" smtClean="0"/>
              <a:t>4/13/2024</a:t>
            </a:fld>
            <a:endParaRPr lang="en-US" dirty="0"/>
          </a:p>
        </p:txBody>
      </p:sp>
      <p:sp>
        <p:nvSpPr>
          <p:cNvPr id="3" name="Footer Placeholder 2">
            <a:extLst>
              <a:ext uri="{FF2B5EF4-FFF2-40B4-BE49-F238E27FC236}">
                <a16:creationId xmlns:a16="http://schemas.microsoft.com/office/drawing/2014/main" id="{0706962E-2B48-A5B7-6B32-085D6F8F1462}"/>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0CB2B514-0403-52A2-053A-503F2A91F1B8}"/>
              </a:ext>
            </a:extLst>
          </p:cNvPr>
          <p:cNvSpPr>
            <a:spLocks noGrp="1"/>
          </p:cNvSpPr>
          <p:nvPr>
            <p:ph type="sldNum" sz="quarter" idx="12"/>
          </p:nvPr>
        </p:nvSpPr>
        <p:spPr/>
        <p:txBody>
          <a:bodyPr/>
          <a:lstStyle/>
          <a:p>
            <a:fld id="{48F63A3B-78C7-47BE-AE5E-E10140E04643}" type="slidenum">
              <a:rPr lang="en-US" smtClean="0"/>
              <a:t>56</a:t>
            </a:fld>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706217A8-F3F8-485D-B043-6CC2F9CD5B47}"/>
              </a:ext>
            </a:extLst>
          </p:cNvPr>
          <p:cNvSpPr>
            <a:spLocks noGrp="1" noChangeArrowheads="1"/>
          </p:cNvSpPr>
          <p:nvPr>
            <p:ph type="title"/>
          </p:nvPr>
        </p:nvSpPr>
        <p:spPr>
          <a:xfrm>
            <a:off x="457200" y="230647"/>
            <a:ext cx="8229600" cy="576262"/>
          </a:xfrm>
        </p:spPr>
        <p:txBody>
          <a:bodyPr>
            <a:normAutofit fontScale="90000"/>
          </a:bodyPr>
          <a:lstStyle/>
          <a:p>
            <a:pPr eaLnBrk="1" hangingPunct="1"/>
            <a:r>
              <a:rPr lang="en-US" altLang="en-US" dirty="0"/>
              <a:t>Windows Threads (Cont.)</a:t>
            </a:r>
          </a:p>
        </p:txBody>
      </p:sp>
      <p:sp>
        <p:nvSpPr>
          <p:cNvPr id="100354" name="Rectangle 3">
            <a:extLst>
              <a:ext uri="{FF2B5EF4-FFF2-40B4-BE49-F238E27FC236}">
                <a16:creationId xmlns:a16="http://schemas.microsoft.com/office/drawing/2014/main" id="{80C93C6D-5B8E-43FC-AA4D-622881817ABB}"/>
              </a:ext>
            </a:extLst>
          </p:cNvPr>
          <p:cNvSpPr>
            <a:spLocks noGrp="1" noChangeArrowheads="1"/>
          </p:cNvSpPr>
          <p:nvPr>
            <p:ph idx="1"/>
          </p:nvPr>
        </p:nvSpPr>
        <p:spPr>
          <a:xfrm>
            <a:off x="827088" y="1206500"/>
            <a:ext cx="7701092" cy="5141913"/>
          </a:xfrm>
        </p:spPr>
        <p:txBody>
          <a:bodyPr/>
          <a:lstStyle/>
          <a:p>
            <a:r>
              <a:rPr lang="en-US" altLang="en-US" dirty="0"/>
              <a:t>The primary data structures of a thread include:</a:t>
            </a:r>
          </a:p>
          <a:p>
            <a:pPr lvl="1"/>
            <a:r>
              <a:rPr lang="en-US" altLang="en-US" dirty="0"/>
              <a:t>ETHREAD (executive thread block) – includes pointer to process to which thread belongs and to KTHREAD, in kernel space</a:t>
            </a:r>
          </a:p>
          <a:p>
            <a:pPr lvl="1"/>
            <a:r>
              <a:rPr lang="en-US" altLang="en-US" dirty="0"/>
              <a:t>KTHREAD (kernel thread block) – scheduling and synchronization info, kernel-mode stack, pointer to </a:t>
            </a:r>
            <a:r>
              <a:rPr lang="en-US" altLang="en-US" dirty="0">
                <a:solidFill>
                  <a:srgbClr val="FF0000"/>
                </a:solidFill>
              </a:rPr>
              <a:t>TEB</a:t>
            </a:r>
            <a:r>
              <a:rPr lang="en-US" altLang="en-US" dirty="0"/>
              <a:t>, in kernel space</a:t>
            </a:r>
          </a:p>
          <a:p>
            <a:pPr lvl="1"/>
            <a:r>
              <a:rPr lang="en-US" altLang="en-US" dirty="0">
                <a:solidFill>
                  <a:srgbClr val="FF0000"/>
                </a:solidFill>
              </a:rPr>
              <a:t>TEB (thread environment block</a:t>
            </a:r>
            <a:r>
              <a:rPr lang="en-US" altLang="en-US" dirty="0"/>
              <a:t>) – thread id, user-mode stack, thread-local storage, in user space</a:t>
            </a:r>
          </a:p>
          <a:p>
            <a:pPr>
              <a:buFont typeface="Monotype Sorts" pitchFamily="-84" charset="2"/>
              <a:buNone/>
            </a:pPr>
            <a:endParaRPr lang="en-US" altLang="en-US" dirty="0"/>
          </a:p>
        </p:txBody>
      </p:sp>
      <p:sp>
        <p:nvSpPr>
          <p:cNvPr id="2" name="Date Placeholder 1">
            <a:extLst>
              <a:ext uri="{FF2B5EF4-FFF2-40B4-BE49-F238E27FC236}">
                <a16:creationId xmlns:a16="http://schemas.microsoft.com/office/drawing/2014/main" id="{099667FF-3DFD-FD37-BD27-E9B1EB961D5B}"/>
              </a:ext>
            </a:extLst>
          </p:cNvPr>
          <p:cNvSpPr>
            <a:spLocks noGrp="1"/>
          </p:cNvSpPr>
          <p:nvPr>
            <p:ph type="dt" sz="half" idx="10"/>
          </p:nvPr>
        </p:nvSpPr>
        <p:spPr/>
        <p:txBody>
          <a:bodyPr/>
          <a:lstStyle/>
          <a:p>
            <a:fld id="{0E448B54-F09A-4F46-B969-AAF4CDE30263}" type="datetime1">
              <a:rPr lang="en-US" smtClean="0"/>
              <a:t>4/13/2024</a:t>
            </a:fld>
            <a:endParaRPr lang="en-US" dirty="0"/>
          </a:p>
        </p:txBody>
      </p:sp>
      <p:sp>
        <p:nvSpPr>
          <p:cNvPr id="3" name="Footer Placeholder 2">
            <a:extLst>
              <a:ext uri="{FF2B5EF4-FFF2-40B4-BE49-F238E27FC236}">
                <a16:creationId xmlns:a16="http://schemas.microsoft.com/office/drawing/2014/main" id="{8414FC71-72B7-B423-A967-1A8F1468A4D0}"/>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5462FF1D-5C6A-2F99-4A8C-E4A03FFC5C8A}"/>
              </a:ext>
            </a:extLst>
          </p:cNvPr>
          <p:cNvSpPr>
            <a:spLocks noGrp="1"/>
          </p:cNvSpPr>
          <p:nvPr>
            <p:ph type="sldNum" sz="quarter" idx="12"/>
          </p:nvPr>
        </p:nvSpPr>
        <p:spPr/>
        <p:txBody>
          <a:bodyPr/>
          <a:lstStyle/>
          <a:p>
            <a:fld id="{48F63A3B-78C7-47BE-AE5E-E10140E04643}" type="slidenum">
              <a:rPr lang="en-US" smtClean="0"/>
              <a:t>57</a:t>
            </a:fld>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3BE6AC-EC02-FD04-6E95-CCD1FBCC9904}"/>
              </a:ext>
            </a:extLst>
          </p:cNvPr>
          <p:cNvSpPr>
            <a:spLocks noGrp="1"/>
          </p:cNvSpPr>
          <p:nvPr>
            <p:ph type="dt" sz="half" idx="10"/>
          </p:nvPr>
        </p:nvSpPr>
        <p:spPr/>
        <p:txBody>
          <a:bodyPr/>
          <a:lstStyle/>
          <a:p>
            <a:fld id="{117A093E-983D-4A0E-967E-1DB99382AFF3}" type="datetime1">
              <a:rPr lang="en-US" smtClean="0"/>
              <a:t>4/13/2024</a:t>
            </a:fld>
            <a:endParaRPr lang="en-US" dirty="0"/>
          </a:p>
        </p:txBody>
      </p:sp>
      <p:sp>
        <p:nvSpPr>
          <p:cNvPr id="3" name="Footer Placeholder 2">
            <a:extLst>
              <a:ext uri="{FF2B5EF4-FFF2-40B4-BE49-F238E27FC236}">
                <a16:creationId xmlns:a16="http://schemas.microsoft.com/office/drawing/2014/main" id="{4CB6ED29-AA6D-C93F-0856-81E9A766AD16}"/>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816EAFD3-40A7-7F07-2116-BE371B7A465B}"/>
              </a:ext>
            </a:extLst>
          </p:cNvPr>
          <p:cNvSpPr>
            <a:spLocks noGrp="1"/>
          </p:cNvSpPr>
          <p:nvPr>
            <p:ph type="sldNum" sz="quarter" idx="12"/>
          </p:nvPr>
        </p:nvSpPr>
        <p:spPr/>
        <p:txBody>
          <a:bodyPr/>
          <a:lstStyle/>
          <a:p>
            <a:fld id="{48F63A3B-78C7-47BE-AE5E-E10140E04643}" type="slidenum">
              <a:rPr lang="en-US" smtClean="0"/>
              <a:t>58</a:t>
            </a:fld>
            <a:endParaRPr lang="en-US" dirty="0"/>
          </a:p>
        </p:txBody>
      </p:sp>
      <p:sp>
        <p:nvSpPr>
          <p:cNvPr id="102401" name="Title 1">
            <a:extLst>
              <a:ext uri="{FF2B5EF4-FFF2-40B4-BE49-F238E27FC236}">
                <a16:creationId xmlns:a16="http://schemas.microsoft.com/office/drawing/2014/main" id="{58ED7928-B775-4E93-B427-ECD5DC52C874}"/>
              </a:ext>
            </a:extLst>
          </p:cNvPr>
          <p:cNvSpPr>
            <a:spLocks noGrp="1"/>
          </p:cNvSpPr>
          <p:nvPr>
            <p:ph type="title" idx="4294967295"/>
          </p:nvPr>
        </p:nvSpPr>
        <p:spPr>
          <a:xfrm>
            <a:off x="1450975" y="228600"/>
            <a:ext cx="7693025" cy="576263"/>
          </a:xfrm>
        </p:spPr>
        <p:txBody>
          <a:bodyPr>
            <a:normAutofit fontScale="90000"/>
          </a:bodyPr>
          <a:lstStyle/>
          <a:p>
            <a:pPr eaLnBrk="1" hangingPunct="1"/>
            <a:r>
              <a:rPr lang="en-US" altLang="en-US" dirty="0"/>
              <a:t>Windows Threads Data Structures</a:t>
            </a:r>
          </a:p>
        </p:txBody>
      </p:sp>
      <p:pic>
        <p:nvPicPr>
          <p:cNvPr id="102402" name="Picture 1">
            <a:extLst>
              <a:ext uri="{FF2B5EF4-FFF2-40B4-BE49-F238E27FC236}">
                <a16:creationId xmlns:a16="http://schemas.microsoft.com/office/drawing/2014/main" id="{484A094D-1D6D-4AEC-B6E2-DD851672B4D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78100" y="1498600"/>
            <a:ext cx="4306888" cy="415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A83B2EB4-BA9F-4468-9748-66079CAC4F8E}"/>
              </a:ext>
            </a:extLst>
          </p:cNvPr>
          <p:cNvSpPr>
            <a:spLocks noGrp="1" noChangeArrowheads="1"/>
          </p:cNvSpPr>
          <p:nvPr>
            <p:ph type="title"/>
          </p:nvPr>
        </p:nvSpPr>
        <p:spPr>
          <a:xfrm>
            <a:off x="457200" y="225461"/>
            <a:ext cx="8229600" cy="576262"/>
          </a:xfrm>
        </p:spPr>
        <p:txBody>
          <a:bodyPr>
            <a:normAutofit fontScale="90000"/>
          </a:bodyPr>
          <a:lstStyle/>
          <a:p>
            <a:pPr eaLnBrk="1" hangingPunct="1"/>
            <a:r>
              <a:rPr lang="en-US" altLang="en-US" dirty="0"/>
              <a:t>Linux Threads</a:t>
            </a:r>
          </a:p>
        </p:txBody>
      </p:sp>
      <p:sp>
        <p:nvSpPr>
          <p:cNvPr id="44035" name="Rectangle 3">
            <a:extLst>
              <a:ext uri="{FF2B5EF4-FFF2-40B4-BE49-F238E27FC236}">
                <a16:creationId xmlns:a16="http://schemas.microsoft.com/office/drawing/2014/main" id="{89CC8EC9-347D-4989-9EE5-6AE0B546CD3A}"/>
              </a:ext>
            </a:extLst>
          </p:cNvPr>
          <p:cNvSpPr>
            <a:spLocks noGrp="1" noChangeArrowheads="1"/>
          </p:cNvSpPr>
          <p:nvPr>
            <p:ph idx="1"/>
          </p:nvPr>
        </p:nvSpPr>
        <p:spPr>
          <a:xfrm>
            <a:off x="877888" y="1092200"/>
            <a:ext cx="7594308" cy="4495800"/>
          </a:xfrm>
        </p:spPr>
        <p:txBody>
          <a:bodyPr>
            <a:normAutofit/>
          </a:bodyPr>
          <a:lstStyle/>
          <a:p>
            <a:pPr>
              <a:defRPr/>
            </a:pPr>
            <a:r>
              <a:rPr lang="en-US" altLang="en-US" dirty="0">
                <a:cs typeface="ＭＳ Ｐゴシック" charset="-128"/>
              </a:rPr>
              <a:t>Linux refers to them as </a:t>
            </a:r>
            <a:r>
              <a:rPr lang="en-US" altLang="en-US" b="1" i="1" dirty="0">
                <a:cs typeface="ＭＳ Ｐゴシック" charset="-128"/>
              </a:rPr>
              <a:t>tasks</a:t>
            </a:r>
            <a:r>
              <a:rPr lang="en-US" altLang="en-US" dirty="0">
                <a:cs typeface="ＭＳ Ｐゴシック" charset="-128"/>
              </a:rPr>
              <a:t> rather than </a:t>
            </a:r>
            <a:r>
              <a:rPr lang="en-US" altLang="en-US" b="1" i="1" dirty="0">
                <a:cs typeface="ＭＳ Ｐゴシック" charset="-128"/>
              </a:rPr>
              <a:t>threads</a:t>
            </a:r>
            <a:endParaRPr lang="en-US" altLang="en-US" dirty="0">
              <a:cs typeface="ＭＳ Ｐゴシック" charset="-128"/>
            </a:endParaRPr>
          </a:p>
          <a:p>
            <a:pPr>
              <a:defRPr/>
            </a:pPr>
            <a:r>
              <a:rPr lang="en-US" altLang="en-US" dirty="0">
                <a:cs typeface="ＭＳ Ｐゴシック" charset="-128"/>
              </a:rPr>
              <a:t>Thread creation is done through </a:t>
            </a:r>
            <a:r>
              <a:rPr lang="en-US" altLang="en-US" b="1" dirty="0">
                <a:latin typeface="Courier New" pitchFamily="49" charset="0"/>
                <a:cs typeface="Courier New" pitchFamily="49" charset="0"/>
              </a:rPr>
              <a:t>clone()</a:t>
            </a:r>
            <a:r>
              <a:rPr lang="en-US" altLang="en-US" dirty="0">
                <a:latin typeface="Courier New" pitchFamily="49" charset="0"/>
                <a:cs typeface="Courier New" pitchFamily="49" charset="0"/>
              </a:rPr>
              <a:t> </a:t>
            </a:r>
            <a:r>
              <a:rPr lang="en-US" altLang="en-US" dirty="0">
                <a:cs typeface="ＭＳ Ｐゴシック" charset="-128"/>
              </a:rPr>
              <a:t>system call</a:t>
            </a:r>
          </a:p>
          <a:p>
            <a:pPr>
              <a:defRPr/>
            </a:pPr>
            <a:r>
              <a:rPr lang="en-US" altLang="en-US" b="1" dirty="0">
                <a:latin typeface="Courier New" pitchFamily="49" charset="0"/>
                <a:cs typeface="Courier New" pitchFamily="49" charset="0"/>
              </a:rPr>
              <a:t>clone() </a:t>
            </a:r>
            <a:r>
              <a:rPr lang="en-US" altLang="en-US" dirty="0">
                <a:cs typeface="ＭＳ Ｐゴシック" charset="-128"/>
              </a:rPr>
              <a:t>allows a child task to share the address space of the parent task (process)</a:t>
            </a:r>
          </a:p>
          <a:p>
            <a:pPr lvl="1">
              <a:defRPr/>
            </a:pPr>
            <a:r>
              <a:rPr lang="en-US" altLang="en-US" dirty="0"/>
              <a:t>Flags control behavior</a:t>
            </a:r>
          </a:p>
          <a:p>
            <a:pPr lvl="1">
              <a:defRPr/>
            </a:pPr>
            <a:endParaRPr lang="en-US" altLang="en-US" dirty="0"/>
          </a:p>
          <a:p>
            <a:pPr lvl="1">
              <a:defRPr/>
            </a:pPr>
            <a:endParaRPr lang="en-US" altLang="en-US" dirty="0"/>
          </a:p>
          <a:p>
            <a:pPr lvl="1">
              <a:defRPr/>
            </a:pPr>
            <a:endParaRPr lang="en-US" altLang="en-US" dirty="0"/>
          </a:p>
          <a:p>
            <a:pPr marL="457200" lvl="1" indent="0">
              <a:buFont typeface="Monotype Sorts" pitchFamily="-84" charset="2"/>
              <a:buNone/>
              <a:defRPr/>
            </a:pPr>
            <a:endParaRPr lang="en-US" altLang="en-US" dirty="0"/>
          </a:p>
          <a:p>
            <a:pPr>
              <a:buFont typeface="Monotype Sorts" pitchFamily="-84" charset="2"/>
              <a:buNone/>
              <a:defRPr/>
            </a:pPr>
            <a:endParaRPr lang="en-US" altLang="en-US" dirty="0">
              <a:latin typeface="Courier New" pitchFamily="49" charset="0"/>
              <a:cs typeface="Courier New" pitchFamily="49" charset="0"/>
            </a:endParaRPr>
          </a:p>
          <a:p>
            <a:pPr>
              <a:defRPr/>
            </a:pPr>
            <a:r>
              <a:rPr lang="en-US" altLang="en-US" b="1" dirty="0" err="1">
                <a:latin typeface="Courier New" pitchFamily="49" charset="0"/>
                <a:cs typeface="Courier New" pitchFamily="49" charset="0"/>
              </a:rPr>
              <a:t>struct</a:t>
            </a:r>
            <a:r>
              <a:rPr lang="en-US" altLang="en-US" b="1" dirty="0">
                <a:latin typeface="Courier New" pitchFamily="49" charset="0"/>
                <a:cs typeface="Courier New" pitchFamily="49" charset="0"/>
              </a:rPr>
              <a:t> </a:t>
            </a:r>
            <a:r>
              <a:rPr lang="en-US" altLang="en-US" b="1" dirty="0" err="1">
                <a:latin typeface="Courier New" pitchFamily="49" charset="0"/>
                <a:cs typeface="Courier New" pitchFamily="49" charset="0"/>
              </a:rPr>
              <a:t>task_struct</a:t>
            </a:r>
            <a:r>
              <a:rPr lang="en-US" altLang="en-US" b="1" dirty="0">
                <a:latin typeface="Courier New" pitchFamily="49" charset="0"/>
                <a:cs typeface="Courier New" pitchFamily="49" charset="0"/>
              </a:rPr>
              <a:t> </a:t>
            </a:r>
            <a:r>
              <a:rPr lang="en-US" altLang="en-US" dirty="0">
                <a:cs typeface="Courier New" pitchFamily="49" charset="0"/>
              </a:rPr>
              <a:t>points to process data structures (shared or unique)</a:t>
            </a:r>
            <a:endParaRPr lang="en-US" altLang="en-US" dirty="0">
              <a:latin typeface="Courier New" pitchFamily="49" charset="0"/>
              <a:cs typeface="Courier New" pitchFamily="49" charset="0"/>
            </a:endParaRPr>
          </a:p>
          <a:p>
            <a:pPr>
              <a:defRPr/>
            </a:pPr>
            <a:endParaRPr lang="en-US" altLang="en-US" dirty="0">
              <a:cs typeface="ＭＳ Ｐゴシック" charset="-128"/>
            </a:endParaRPr>
          </a:p>
        </p:txBody>
      </p:sp>
      <p:sp>
        <p:nvSpPr>
          <p:cNvPr id="2" name="Date Placeholder 1">
            <a:extLst>
              <a:ext uri="{FF2B5EF4-FFF2-40B4-BE49-F238E27FC236}">
                <a16:creationId xmlns:a16="http://schemas.microsoft.com/office/drawing/2014/main" id="{91DF2D63-7469-A135-B649-B2ED9B31C577}"/>
              </a:ext>
            </a:extLst>
          </p:cNvPr>
          <p:cNvSpPr>
            <a:spLocks noGrp="1"/>
          </p:cNvSpPr>
          <p:nvPr>
            <p:ph type="dt" sz="half" idx="10"/>
          </p:nvPr>
        </p:nvSpPr>
        <p:spPr/>
        <p:txBody>
          <a:bodyPr/>
          <a:lstStyle/>
          <a:p>
            <a:fld id="{3BE2CAFB-E8CA-421F-BC8B-E3282FCA6327}" type="datetime1">
              <a:rPr lang="en-US" smtClean="0"/>
              <a:t>4/13/2024</a:t>
            </a:fld>
            <a:endParaRPr lang="en-US" dirty="0"/>
          </a:p>
        </p:txBody>
      </p:sp>
      <p:sp>
        <p:nvSpPr>
          <p:cNvPr id="3" name="Footer Placeholder 2">
            <a:extLst>
              <a:ext uri="{FF2B5EF4-FFF2-40B4-BE49-F238E27FC236}">
                <a16:creationId xmlns:a16="http://schemas.microsoft.com/office/drawing/2014/main" id="{70A9ABC7-EBCC-FD5D-9AF8-DD420C008B12}"/>
              </a:ext>
            </a:extLst>
          </p:cNvPr>
          <p:cNvSpPr>
            <a:spLocks noGrp="1"/>
          </p:cNvSpPr>
          <p:nvPr>
            <p:ph type="ftr" sz="quarter" idx="11"/>
          </p:nvPr>
        </p:nvSpPr>
        <p:spPr/>
        <p:txBody>
          <a:bodyPr/>
          <a:lstStyle/>
          <a:p>
            <a:r>
              <a:rPr lang="en-US"/>
              <a:t>updated by atef obeidat</a:t>
            </a:r>
            <a:endParaRPr lang="en-US" dirty="0"/>
          </a:p>
        </p:txBody>
      </p:sp>
      <p:sp>
        <p:nvSpPr>
          <p:cNvPr id="4" name="Slide Number Placeholder 3">
            <a:extLst>
              <a:ext uri="{FF2B5EF4-FFF2-40B4-BE49-F238E27FC236}">
                <a16:creationId xmlns:a16="http://schemas.microsoft.com/office/drawing/2014/main" id="{065C03D9-22C7-4C5A-2E81-A724DDBE673E}"/>
              </a:ext>
            </a:extLst>
          </p:cNvPr>
          <p:cNvSpPr>
            <a:spLocks noGrp="1"/>
          </p:cNvSpPr>
          <p:nvPr>
            <p:ph type="sldNum" sz="quarter" idx="12"/>
          </p:nvPr>
        </p:nvSpPr>
        <p:spPr/>
        <p:txBody>
          <a:bodyPr/>
          <a:lstStyle/>
          <a:p>
            <a:fld id="{48F63A3B-78C7-47BE-AE5E-E10140E04643}" type="slidenum">
              <a:rPr lang="en-US" smtClean="0"/>
              <a:t>59</a:t>
            </a:fld>
            <a:endParaRPr lang="en-US" dirty="0"/>
          </a:p>
        </p:txBody>
      </p:sp>
      <p:pic>
        <p:nvPicPr>
          <p:cNvPr id="104451" name="Picture 1">
            <a:extLst>
              <a:ext uri="{FF2B5EF4-FFF2-40B4-BE49-F238E27FC236}">
                <a16:creationId xmlns:a16="http://schemas.microsoft.com/office/drawing/2014/main" id="{4A30D8FF-ECBB-4EF4-9DE7-A53BC09DF08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16200" y="3032125"/>
            <a:ext cx="3954463"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1A4E1028-A5C4-45A4-B6C0-DFAAAFA6FD84}"/>
              </a:ext>
            </a:extLst>
          </p:cNvPr>
          <p:cNvSpPr>
            <a:spLocks noGrp="1" noChangeArrowheads="1"/>
          </p:cNvSpPr>
          <p:nvPr>
            <p:ph type="ctrTitle"/>
          </p:nvPr>
        </p:nvSpPr>
        <p:spPr>
          <a:xfrm>
            <a:off x="685800" y="795338"/>
            <a:ext cx="7772400" cy="2127250"/>
          </a:xfrm>
        </p:spPr>
        <p:txBody>
          <a:bodyPr/>
          <a:lstStyle/>
          <a:p>
            <a:pPr eaLnBrk="1" hangingPunct="1"/>
            <a:r>
              <a:rPr lang="en-US" altLang="en-US"/>
              <a:t>End of Chapter 4</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7DFECE3E6D13047AA949BAD418AC523" ma:contentTypeVersion="15" ma:contentTypeDescription="Create a new document." ma:contentTypeScope="" ma:versionID="e0ab63ac9add98c8dd5a5e0ca9f016b4">
  <xsd:schema xmlns:xsd="http://www.w3.org/2001/XMLSchema" xmlns:xs="http://www.w3.org/2001/XMLSchema" xmlns:p="http://schemas.microsoft.com/office/2006/metadata/properties" xmlns:ns1="http://schemas.microsoft.com/sharepoint/v3" xmlns:ns2="904fd754-02b4-4b83-8de5-fcec4d9ad888" xmlns:ns3="30552f9c-0f0b-4b22-ae40-6a7e015281a6" targetNamespace="http://schemas.microsoft.com/office/2006/metadata/properties" ma:root="true" ma:fieldsID="5c712977036efd9496ddda25dcb403b5" ns1:_="" ns2:_="" ns3:_="">
    <xsd:import namespace="http://schemas.microsoft.com/sharepoint/v3"/>
    <xsd:import namespace="904fd754-02b4-4b83-8de5-fcec4d9ad888"/>
    <xsd:import namespace="30552f9c-0f0b-4b22-ae40-6a7e015281a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SearchProperties" minOccurs="0"/>
                <xsd:element ref="ns2: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4fd754-02b4-4b83-8de5-fcec4d9ad8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41946a75-722c-4855-9c1b-5ba14d757444"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0552f9c-0f0b-4b22-ae40-6a7e015281a6"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54e21243-f04a-4330-a28a-53a42626d6ce}" ma:internalName="TaxCatchAll" ma:showField="CatchAllData" ma:web="30552f9c-0f0b-4b22-ae40-6a7e015281a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04fd754-02b4-4b83-8de5-fcec4d9ad888">
      <Terms xmlns="http://schemas.microsoft.com/office/infopath/2007/PartnerControls"/>
    </lcf76f155ced4ddcb4097134ff3c332f>
    <TaxCatchAll xmlns="30552f9c-0f0b-4b22-ae40-6a7e015281a6"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3F90EE8-CFB9-4384-9687-B690D19A7A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04fd754-02b4-4b83-8de5-fcec4d9ad888"/>
    <ds:schemaRef ds:uri="30552f9c-0f0b-4b22-ae40-6a7e015281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D41F378-4298-4214-9E5B-31660CA50751}">
  <ds:schemaRefs>
    <ds:schemaRef ds:uri="http://schemas.microsoft.com/sharepoint/v3/contenttype/forms"/>
  </ds:schemaRefs>
</ds:datastoreItem>
</file>

<file path=customXml/itemProps3.xml><?xml version="1.0" encoding="utf-8"?>
<ds:datastoreItem xmlns:ds="http://schemas.openxmlformats.org/officeDocument/2006/customXml" ds:itemID="{38F330AD-B1F3-4422-9DE0-687BE157B147}">
  <ds:schemaRefs>
    <ds:schemaRef ds:uri="http://schemas.microsoft.com/office/2006/metadata/properties"/>
    <ds:schemaRef ds:uri="http://schemas.microsoft.com/office/infopath/2007/PartnerControls"/>
    <ds:schemaRef ds:uri="35ac72bb-6e66-44cc-83f8-5100c656d1f7"/>
    <ds:schemaRef ds:uri="e5b6be36-7386-47fb-8a9a-07470a3e7672"/>
    <ds:schemaRef ds:uri="904fd754-02b4-4b83-8de5-fcec4d9ad888"/>
    <ds:schemaRef ds:uri="30552f9c-0f0b-4b22-ae40-6a7e015281a6"/>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Facet</Template>
  <TotalTime>20401</TotalTime>
  <Words>3615</Words>
  <Application>Microsoft Office PowerPoint</Application>
  <PresentationFormat>On-screen Show (4:3)</PresentationFormat>
  <Paragraphs>572</Paragraphs>
  <Slides>60</Slides>
  <Notes>42</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60</vt:i4>
      </vt:variant>
    </vt:vector>
  </HeadingPairs>
  <TitlesOfParts>
    <vt:vector size="80" baseType="lpstr">
      <vt:lpstr>ＭＳ Ｐゴシック</vt:lpstr>
      <vt:lpstr>ＭＳ Ｐゴシック</vt:lpstr>
      <vt:lpstr>Aparajita</vt:lpstr>
      <vt:lpstr>-apple-system</vt:lpstr>
      <vt:lpstr>Arial</vt:lpstr>
      <vt:lpstr>Courier New</vt:lpstr>
      <vt:lpstr>Helvetica</vt:lpstr>
      <vt:lpstr>Helvetica Neue</vt:lpstr>
      <vt:lpstr>HelveticaNeueLTStd-BdEx</vt:lpstr>
      <vt:lpstr>Monotype Sorts</vt:lpstr>
      <vt:lpstr>Roboto</vt:lpstr>
      <vt:lpstr>Segoe UI Web (Arabic)</vt:lpstr>
      <vt:lpstr>Tahoma</vt:lpstr>
      <vt:lpstr>Times New Roman</vt:lpstr>
      <vt:lpstr>Trebuchet MS</vt:lpstr>
      <vt:lpstr>Verdana</vt:lpstr>
      <vt:lpstr>Webdings</vt:lpstr>
      <vt:lpstr>Wingdings</vt:lpstr>
      <vt:lpstr>Wingdings 3</vt:lpstr>
      <vt:lpstr>Facet</vt:lpstr>
      <vt:lpstr>Chapter 4:  Threads &amp; Concurrency </vt:lpstr>
      <vt:lpstr>Outline</vt:lpstr>
      <vt:lpstr>Objectives</vt:lpstr>
      <vt:lpstr>Motivation</vt:lpstr>
      <vt:lpstr>Single and Multithreaded Processes</vt:lpstr>
      <vt:lpstr>Multithreaded Server Architecture</vt:lpstr>
      <vt:lpstr>Benefits</vt:lpstr>
      <vt:lpstr>Multicore Programming</vt:lpstr>
      <vt:lpstr>Concurrency vs. Parallelism</vt:lpstr>
      <vt:lpstr>Multicore Programming</vt:lpstr>
      <vt:lpstr>Data and Task Parallelism</vt:lpstr>
      <vt:lpstr>Amdahl’s Law</vt:lpstr>
      <vt:lpstr>Amdahl’s Law</vt:lpstr>
      <vt:lpstr>Multithreading Models</vt:lpstr>
      <vt:lpstr>User Threads and Kernel Threads</vt:lpstr>
      <vt:lpstr>User and Kernel Threads</vt:lpstr>
      <vt:lpstr>Multithreading Models</vt:lpstr>
      <vt:lpstr>1.Many-to-One</vt:lpstr>
      <vt:lpstr>2.One-to-One</vt:lpstr>
      <vt:lpstr>3.Many-to-Many Model</vt:lpstr>
      <vt:lpstr>4.Two-level Model</vt:lpstr>
      <vt:lpstr>Thread Libraries</vt:lpstr>
      <vt:lpstr>Pthreads (POSIX THREAD)</vt:lpstr>
      <vt:lpstr>Java Threads</vt:lpstr>
      <vt:lpstr>Java Threads</vt:lpstr>
      <vt:lpstr>Java Executor Framework</vt:lpstr>
      <vt:lpstr>4.5 Implicit Threading</vt:lpstr>
      <vt:lpstr>Implicit Threading</vt:lpstr>
      <vt:lpstr>Implicit Threading</vt:lpstr>
      <vt:lpstr>1.Thread Pools</vt:lpstr>
      <vt:lpstr>1.Thread Pools</vt:lpstr>
      <vt:lpstr>Java Thread Pools</vt:lpstr>
      <vt:lpstr>2. Fork-Join Parallelism</vt:lpstr>
      <vt:lpstr> Fork-Join Parallelism</vt:lpstr>
      <vt:lpstr>Fork-Join Parallelism in Java</vt:lpstr>
      <vt:lpstr>Fork-Join Parallelism in Java</vt:lpstr>
      <vt:lpstr>3.OpenMP (Open Multi-Processing)</vt:lpstr>
      <vt:lpstr>(Open Multi-Processing)</vt:lpstr>
      <vt:lpstr>(#progma OMP parallel for)</vt:lpstr>
      <vt:lpstr>4.5.4 Grand Central Dispatch</vt:lpstr>
      <vt:lpstr>Grand Central Dispatch</vt:lpstr>
      <vt:lpstr>Grand Central Dispatch</vt:lpstr>
      <vt:lpstr>5.Intel Threading Building Blocks (TBB)</vt:lpstr>
      <vt:lpstr>5.Intel Threading Building Blocks (TBB)</vt:lpstr>
      <vt:lpstr>TBB</vt:lpstr>
      <vt:lpstr>Threading Issues</vt:lpstr>
      <vt:lpstr>Semantics of fork() and exec()</vt:lpstr>
      <vt:lpstr>Signal Handling</vt:lpstr>
      <vt:lpstr>Signal Handling (Cont.)</vt:lpstr>
      <vt:lpstr>Thread Cancellation</vt:lpstr>
      <vt:lpstr>Thread Cancellation (Cont.)</vt:lpstr>
      <vt:lpstr>Thread Cancellation in Java</vt:lpstr>
      <vt:lpstr>Thread-Local Storage</vt:lpstr>
      <vt:lpstr>Scheduler Activations</vt:lpstr>
      <vt:lpstr>Operating System Examples</vt:lpstr>
      <vt:lpstr>Windows Threads</vt:lpstr>
      <vt:lpstr>Windows Threads (Cont.)</vt:lpstr>
      <vt:lpstr>Windows Threads Data Structures</vt:lpstr>
      <vt:lpstr>Linux Threads</vt:lpstr>
      <vt:lpstr>End of Chapter 4</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mo</cp:lastModifiedBy>
  <cp:revision>284</cp:revision>
  <cp:lastPrinted>2013-09-10T17:57:57Z</cp:lastPrinted>
  <dcterms:created xsi:type="dcterms:W3CDTF">2011-01-13T23:43:38Z</dcterms:created>
  <dcterms:modified xsi:type="dcterms:W3CDTF">2024-04-12T22:46:06Z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0x01010017DFECE3E6D13047AA949BAD418AC523</vt:lpwstr>
  </property>
</Properties>
</file>
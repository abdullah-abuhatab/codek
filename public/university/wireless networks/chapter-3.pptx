
<file path=[Content_Types].xml><?xml version="1.0" encoding="utf-8"?>
<Types xmlns="http://schemas.openxmlformats.org/package/2006/content-types">
  <Override PartName="/customXml/itemProps3.xml" ContentType="application/vnd.openxmlformats-officedocument.customXmlProperties+xml"/>
  <Override PartName="/ppt/slides/slide6.xml" ContentType="application/vnd.openxmlformats-officedocument.presentationml.slide+xml"/>
  <Override PartName="/ppt/slideLayouts/slideLayout8.xml" ContentType="application/vnd.openxmlformats-officedocument.presentationml.slideLayout+xml"/>
  <Override PartName="/ppt/notesSlides/notesSlide2.xml" ContentType="application/vnd.openxmlformats-officedocument.presentationml.notesSlide+xml"/>
  <Override PartName="/customXml/itemProps1.xml" ContentType="application/vnd.openxmlformats-officedocument.customXmlProperties+xml"/>
  <Override PartName="/ppt/slideMasters/slideMaster1.xml" ContentType="application/vnd.openxmlformats-officedocument.presentationml.slideMaster+xml"/>
  <Override PartName="/ppt/slides/slide4.xml" ContentType="application/vnd.openxmlformats-officedocument.presentationml.slide+xml"/>
  <Override PartName="/ppt/slides/slide18.xml" ContentType="application/vnd.openxmlformats-officedocument.presentationml.slide+xml"/>
  <Override PartName="/ppt/slides/slide27.xml" ContentType="application/vnd.openxmlformats-officedocument.presentationml.slide+xml"/>
  <Override PartName="/ppt/slideLayouts/slideLayout4.xml" ContentType="application/vnd.openxmlformats-officedocument.presentationml.slideLayout+xml"/>
  <Override PartName="/ppt/slideLayouts/slideLayout6.xml" ContentType="application/vnd.openxmlformats-officedocument.presentationml.slideLayout+xml"/>
  <Override PartName="/ppt/theme/theme3.xml" ContentType="application/vnd.openxmlformats-officedocument.theme+xml"/>
  <Override PartName="/ppt/slides/slide2.xml" ContentType="application/vnd.openxmlformats-officedocument.presentationml.slide+xml"/>
  <Override PartName="/ppt/slides/slide16.xml" ContentType="application/vnd.openxmlformats-officedocument.presentationml.slide+xml"/>
  <Override PartName="/ppt/slides/slide25.xml" ContentType="application/vnd.openxmlformats-officedocument.presentationml.slide+xml"/>
  <Override PartName="/ppt/theme/theme1.xml" ContentType="application/vnd.openxmlformats-officedocument.theme+xml"/>
  <Override PartName="/ppt/slideLayouts/slideLayout2.xml" ContentType="application/vnd.openxmlformats-officedocument.presentationml.slideLayout+xml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22.xml" ContentType="application/vnd.openxmlformats-officedocument.presentationml.slide+xml"/>
  <Override PartName="/ppt/slides/slide23.xml" ContentType="application/vnd.openxmlformats-officedocument.presentationml.slide+xml"/>
  <Override PartName="/ppt/notesMasters/notesMaster1.xml" ContentType="application/vnd.openxmlformats-officedocument.presentationml.notesMaster+xml"/>
  <Override PartName="/ppt/slideLayouts/slideLayout1.xml" ContentType="application/vnd.openxmlformats-officedocument.presentationml.slideLayout+xml"/>
  <Override PartName="/docProps/app.xml" ContentType="application/vnd.openxmlformats-officedocument.extended-properties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tableStyles.xml" ContentType="application/vnd.openxmlformats-officedocument.presentationml.tableStyles+xml"/>
  <Override PartName="/ppt/slideLayouts/slideLayout11.xml" ContentType="application/vnd.openxmlformats-officedocument.presentationml.slideLayout+xml"/>
  <Override PartName="/docProps/custom.xml" ContentType="application/vnd.openxmlformats-officedocument.custom-properties+xml"/>
  <Override PartName="/ppt/slideLayouts/slideLayout10.xml" ContentType="application/vnd.openxmlformats-officedocument.presentationml.slideLayout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handoutMasters/handoutMaster1.xml" ContentType="application/vnd.openxmlformats-officedocument.presentationml.handoutMaster+xml"/>
  <Override PartName="/ppt/viewProps.xml" ContentType="application/vnd.openxmlformats-officedocument.presentationml.viewProps+xml"/>
  <Override PartName="/ppt/slideLayouts/slideLayout9.xml" ContentType="application/vnd.openxmlformats-officedocument.presentationml.slideLayout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docProps/core.xml" ContentType="application/vnd.openxmlformats-package.core-properties+xml"/>
  <Override PartName="/customXml/itemProps2.xml" ContentType="application/vnd.openxmlformats-officedocument.customXmlProperties+xml"/>
  <Override PartName="/ppt/slides/slide5.xml" ContentType="application/vnd.openxmlformats-officedocument.presentationml.slide+xml"/>
  <Override PartName="/ppt/slides/slide19.xml" ContentType="application/vnd.openxmlformats-officedocument.presentationml.slide+xml"/>
  <Override PartName="/ppt/slideLayouts/slideLayout7.xml" ContentType="application/vnd.openxmlformats-officedocument.presentationml.slideLayout+xml"/>
  <Default Extension="png" ContentType="image/png"/>
  <Override PartName="/ppt/notesSlides/notesSlide1.xml" ContentType="application/vnd.openxmlformats-officedocument.presentationml.notesSlide+xml"/>
  <Override PartName="/ppt/notesSlides/notesSlide3.xml" ContentType="application/vnd.openxmlformats-officedocument.presentationml.notesSlide+xml"/>
  <Override PartName="/ppt/slides/slide3.xml" ContentType="application/vnd.openxmlformats-officedocument.presentationml.slide+xml"/>
  <Override PartName="/ppt/slides/slide17.xml" ContentType="application/vnd.openxmlformats-officedocument.presentationml.slide+xml"/>
  <Override PartName="/ppt/slides/slide26.xml" ContentType="application/vnd.openxmlformats-officedocument.presentationml.slide+xml"/>
  <Override PartName="/ppt/presProps.xml" ContentType="application/vnd.openxmlformats-officedocument.presentationml.presProps+xml"/>
  <Override PartName="/ppt/slideLayouts/slideLayout5.xml" ContentType="application/vnd.openxmlformats-officedocument.presentationml.slideLayout+xml"/>
  <Override PartName="/ppt/theme/theme2.xml" ContentType="application/vnd.openxmlformats-officedocument.theme+xml"/>
  <Override PartName="/ppt/revisionInfo.xml" ContentType="application/vnd.ms-powerpoint.revisioninfo+xml"/>
  <Override PartName="/ppt/slides/slide1.xml" ContentType="application/vnd.openxmlformats-officedocument.presentationml.slide+xml"/>
  <Override PartName="/ppt/slides/slide15.xml" ContentType="application/vnd.openxmlformats-officedocument.presentationml.slide+xml"/>
  <Override PartName="/ppt/slides/slide24.xml" ContentType="application/vnd.openxmlformats-officedocument.presentationml.slide+xml"/>
  <Override PartName="/ppt/slideLayouts/slideLayout3.xml" ContentType="application/vnd.openxmlformats-officedocument.presentationml.slideLayout+xml"/>
  <Default Extension="jpeg" ContentType="image/jpeg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5" Type="http://schemas.openxmlformats.org/officeDocument/2006/relationships/custom-properties" Target="docProps/custom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autoCompressPictures="0">
  <p:sldMasterIdLst>
    <p:sldMasterId id="2147483672" r:id="rId4"/>
  </p:sldMasterIdLst>
  <p:notesMasterIdLst>
    <p:notesMasterId r:id="rId32"/>
  </p:notesMasterIdLst>
  <p:handoutMasterIdLst>
    <p:handoutMasterId r:id="rId33"/>
  </p:handoutMasterIdLst>
  <p:sldIdLst>
    <p:sldId id="260" r:id="rId5"/>
    <p:sldId id="266" r:id="rId6"/>
    <p:sldId id="267" r:id="rId7"/>
    <p:sldId id="268" r:id="rId8"/>
    <p:sldId id="270" r:id="rId9"/>
    <p:sldId id="271" r:id="rId10"/>
    <p:sldId id="272" r:id="rId11"/>
    <p:sldId id="273" r:id="rId12"/>
    <p:sldId id="274" r:id="rId13"/>
    <p:sldId id="275" r:id="rId14"/>
    <p:sldId id="276" r:id="rId15"/>
    <p:sldId id="277" r:id="rId16"/>
    <p:sldId id="278" r:id="rId17"/>
    <p:sldId id="279" r:id="rId18"/>
    <p:sldId id="280" r:id="rId19"/>
    <p:sldId id="281" r:id="rId20"/>
    <p:sldId id="282" r:id="rId21"/>
    <p:sldId id="283" r:id="rId22"/>
    <p:sldId id="284" r:id="rId23"/>
    <p:sldId id="285" r:id="rId24"/>
    <p:sldId id="286" r:id="rId25"/>
    <p:sldId id="289" r:id="rId26"/>
    <p:sldId id="290" r:id="rId27"/>
    <p:sldId id="291" r:id="rId28"/>
    <p:sldId id="292" r:id="rId29"/>
    <p:sldId id="293" r:id="rId30"/>
    <p:sldId id="287" r:id="rId31"/>
  </p:sldIdLst>
  <p:sldSz cx="12192000" cy="6858000"/>
  <p:notesSz cx="9926638" cy="6797675"/>
  <p:defaultTextStyle>
    <a:defPPr>
      <a:defRPr lang="ar-SA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 xmlns="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 xmlns="">
          <a:srgbClr val="FF0000"/>
        </p14:laserClr>
      </p:ext>
      <p:ext uri="{2FDB2607-1784-4EEB-B798-7EB5836EED8A}">
        <p14:showMediaCtrls xmlns:p14="http://schemas.microsoft.com/office/powerpoint/2010/main" xmlns="" val="1"/>
      </p:ext>
    </p:extLst>
  </p:showPr>
  <p:extLst>
    <p:ext uri="{E76CE94A-603C-4142-B9EB-6D1370010A27}">
      <p14:discardImageEditData xmlns:p14="http://schemas.microsoft.com/office/powerpoint/2010/main" xmlns="" val="0"/>
    </p:ext>
    <p:ext uri="{D31A062A-798A-4329-ABDD-BBA856620510}">
      <p14:defaultImageDpi xmlns:p14="http://schemas.microsoft.com/office/powerpoint/2010/main" xmlns="" val="32767"/>
    </p:ext>
    <p:ext uri="{FD5EFAAD-0ECE-453E-9831-46B23BE46B34}">
      <p15:chartTrackingRefBased xmlns:p15="http://schemas.microsoft.com/office/powerpoint/2012/main" xmlns="" val="1"/>
    </p:ext>
  </p:extLst>
</p:presentationPr>
</file>

<file path=ppt/revisionInfo.xml><?xml version="1.0" encoding="utf-8"?>
<p1510:revInfo xmlns:a="http://schemas.openxmlformats.org/drawingml/2006/main" xmlns:r="http://schemas.openxmlformats.org/officeDocument/2006/relationships" xmlns:p1510="http://schemas.microsoft.com/office/powerpoint/2015/10/main">
  <p1510:revLst>
    <p1510:client id="{35D18A91-63A0-4F07-BD27-4B47433E34DE}" v="54" dt="2018-08-30T16:50:33.176"/>
  </p1510:revLst>
</p1510:revInfo>
</file>

<file path=ppt/tableStyles.xml><?xml version="1.0" encoding="utf-8"?>
<a:tblStyleLst xmlns:a="http://schemas.openxmlformats.org/drawingml/2006/main" def="{5C22544A-7EE6-4342-B048-85BDC9FD1C3A}">
  <a:tblStyle styleId="{5C22544A-7EE6-4342-B048-85BDC9FD1C3A}" styleName="Medium Style 2 - Accent 1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1">
              <a:tint val="20000"/>
            </a:schemeClr>
          </a:solidFill>
        </a:fill>
      </a:tcStyle>
    </a:wholeTbl>
    <a:band1H>
      <a:tcStyle>
        <a:tcBdr/>
        <a:fill>
          <a:solidFill>
            <a:schemeClr val="accent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1"/>
          </a:solidFill>
        </a:fill>
      </a:tcStyle>
    </a:firstRow>
  </a:tblStyle>
  <a:tblStyle styleId="{7DF18680-E054-41AD-8BC1-D1AEF772440D}" styleName="Medium Style 2 - Accent 5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5">
              <a:tint val="20000"/>
            </a:schemeClr>
          </a:solidFill>
        </a:fill>
      </a:tcStyle>
    </a:wholeTbl>
    <a:band1H>
      <a:tcStyle>
        <a:tcBdr/>
        <a:fill>
          <a:solidFill>
            <a:schemeClr val="accent5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5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5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5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5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5"/>
          </a:solidFill>
        </a:fill>
      </a:tcStyle>
    </a:firstRow>
  </a:tblStyle>
  <a:tblStyle styleId="{93296810-A885-4BE3-A3E7-6D5BEEA58F35}" styleName="Medium Style 2 - Accent 6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6">
              <a:tint val="20000"/>
            </a:schemeClr>
          </a:solidFill>
        </a:fill>
      </a:tcStyle>
    </a:wholeTbl>
    <a:band1H>
      <a:tcStyle>
        <a:tcBdr/>
        <a:fill>
          <a:solidFill>
            <a:schemeClr val="accent6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6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6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6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6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6"/>
          </a:solidFill>
        </a:fill>
      </a:tcStyle>
    </a:firstRow>
  </a:tblStyle>
  <a:tblStyle styleId="{21E4AEA4-8DFA-4A89-87EB-49C32662AFE0}" styleName="Medium Style 2 - Accent 2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2">
              <a:tint val="20000"/>
            </a:schemeClr>
          </a:solidFill>
        </a:fill>
      </a:tcStyle>
    </a:wholeTbl>
    <a:band1H>
      <a:tcStyle>
        <a:tcBdr/>
        <a:fill>
          <a:solidFill>
            <a:schemeClr val="accent2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2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2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2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2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2"/>
          </a:solidFill>
        </a:fill>
      </a:tcStyle>
    </a:firstRow>
  </a:tblStyle>
  <a:tblStyle styleId="{F2DE63D5-997A-4646-A377-4702673A728D}" styleName="Light Style 2 - Accent 3">
    <a:wholeTbl>
      <a:tcTxStyle>
        <a:fontRef idx="minor">
          <a:scrgbClr r="0" g="0" b="0"/>
        </a:fontRef>
        <a:schemeClr val="tx1"/>
      </a:tcTxStyle>
      <a:tcStyle>
        <a:tcBdr>
          <a:left>
            <a:lnRef idx="1">
              <a:schemeClr val="accent3"/>
            </a:lnRef>
          </a:left>
          <a:right>
            <a:lnRef idx="1">
              <a:schemeClr val="accent3"/>
            </a:lnRef>
          </a:right>
          <a:top>
            <a:lnRef idx="1">
              <a:schemeClr val="accent3"/>
            </a:lnRef>
          </a:top>
          <a:bottom>
            <a:lnRef idx="1">
              <a:schemeClr val="accent3"/>
            </a:lnRef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noFill/>
        </a:fill>
      </a:tcStyle>
    </a:wholeTbl>
    <a:band1H>
      <a:tcStyle>
        <a:tcBdr>
          <a:top>
            <a:lnRef idx="1">
              <a:schemeClr val="accent3"/>
            </a:lnRef>
          </a:top>
          <a:bottom>
            <a:lnRef idx="1">
              <a:schemeClr val="accent3"/>
            </a:lnRef>
          </a:bottom>
        </a:tcBdr>
      </a:tcStyle>
    </a:band1H>
    <a:band1V>
      <a:tcStyle>
        <a:tcBdr>
          <a:left>
            <a:lnRef idx="1">
              <a:schemeClr val="accent3"/>
            </a:lnRef>
          </a:left>
          <a:right>
            <a:lnRef idx="1">
              <a:schemeClr val="accent3"/>
            </a:lnRef>
          </a:right>
        </a:tcBdr>
      </a:tcStyle>
    </a:band1V>
    <a:band2V>
      <a:tcStyle>
        <a:tcBdr>
          <a:left>
            <a:lnRef idx="1">
              <a:schemeClr val="accent3"/>
            </a:lnRef>
          </a:left>
          <a:right>
            <a:lnRef idx="1">
              <a:schemeClr val="accent3"/>
            </a:lnRef>
          </a:right>
        </a:tcBdr>
      </a:tcStyle>
    </a:band2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50800" cmpd="dbl">
              <a:solidFill>
                <a:schemeClr val="accent3"/>
              </a:solidFill>
            </a:ln>
          </a:top>
        </a:tcBdr>
      </a:tcStyle>
    </a:lastRow>
    <a:firstRow>
      <a:tcTxStyle b="on">
        <a:fontRef idx="minor">
          <a:scrgbClr r="0" g="0" b="0"/>
        </a:fontRef>
        <a:schemeClr val="bg1"/>
      </a:tcTxStyle>
      <a:tcStyle>
        <a:tcBdr/>
        <a:fillRef idx="1">
          <a:schemeClr val="accent3"/>
        </a:fillRef>
      </a:tcStyle>
    </a:firstRow>
  </a:tblStyle>
  <a:tblStyle styleId="{7E9639D4-E3E2-4D34-9284-5A2195B3D0D7}" styleName="Light Style 2">
    <a:wholeTbl>
      <a:tcTxStyle>
        <a:fontRef idx="minor">
          <a:scrgbClr r="0" g="0" b="0"/>
        </a:fontRef>
        <a:schemeClr val="tx1"/>
      </a:tcTxStyle>
      <a:tcStyle>
        <a:tcBdr>
          <a:left>
            <a:lnRef idx="1">
              <a:schemeClr val="tx1"/>
            </a:lnRef>
          </a:left>
          <a:right>
            <a:lnRef idx="1">
              <a:schemeClr val="tx1"/>
            </a:lnRef>
          </a:right>
          <a:top>
            <a:lnRef idx="1">
              <a:schemeClr val="tx1"/>
            </a:lnRef>
          </a:top>
          <a:bottom>
            <a:lnRef idx="1">
              <a:schemeClr val="tx1"/>
            </a:lnRef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noFill/>
        </a:fill>
      </a:tcStyle>
    </a:wholeTbl>
    <a:band1H>
      <a:tcStyle>
        <a:tcBdr>
          <a:top>
            <a:lnRef idx="1">
              <a:schemeClr val="tx1"/>
            </a:lnRef>
          </a:top>
          <a:bottom>
            <a:lnRef idx="1">
              <a:schemeClr val="tx1"/>
            </a:lnRef>
          </a:bottom>
        </a:tcBdr>
      </a:tcStyle>
    </a:band1H>
    <a:band1V>
      <a:tcStyle>
        <a:tcBdr>
          <a:left>
            <a:lnRef idx="1">
              <a:schemeClr val="tx1"/>
            </a:lnRef>
          </a:left>
          <a:right>
            <a:lnRef idx="1">
              <a:schemeClr val="tx1"/>
            </a:lnRef>
          </a:right>
        </a:tcBdr>
      </a:tcStyle>
    </a:band1V>
    <a:band2V>
      <a:tcStyle>
        <a:tcBdr>
          <a:left>
            <a:lnRef idx="1">
              <a:schemeClr val="tx1"/>
            </a:lnRef>
          </a:left>
          <a:right>
            <a:lnRef idx="1">
              <a:schemeClr val="tx1"/>
            </a:lnRef>
          </a:right>
        </a:tcBdr>
      </a:tcStyle>
    </a:band2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50800" cmpd="dbl">
              <a:solidFill>
                <a:schemeClr val="tx1"/>
              </a:solidFill>
            </a:ln>
          </a:top>
        </a:tcBdr>
      </a:tcStyle>
    </a:lastRow>
    <a:firstRow>
      <a:tcTxStyle b="on">
        <a:fontRef idx="minor">
          <a:scrgbClr r="0" g="0" b="0"/>
        </a:fontRef>
        <a:schemeClr val="bg1"/>
      </a:tcTxStyle>
      <a:tcStyle>
        <a:tcBdr/>
        <a:fillRef idx="1">
          <a:schemeClr val="tx1"/>
        </a:fillRef>
      </a:tcStyle>
    </a:firstRow>
  </a:tblStyle>
  <a:tblStyle styleId="{69012ECD-51FC-41F1-AA8D-1B2483CD663E}" styleName="Light Style 2 - Accent 1">
    <a:wholeTbl>
      <a:tcTxStyle>
        <a:fontRef idx="minor">
          <a:scrgbClr r="0" g="0" b="0"/>
        </a:fontRef>
        <a:schemeClr val="tx1"/>
      </a:tcTxStyle>
      <a:tcStyle>
        <a:tcBdr>
          <a:left>
            <a:lnRef idx="1">
              <a:schemeClr val="accent1"/>
            </a:lnRef>
          </a:left>
          <a:right>
            <a:lnRef idx="1">
              <a:schemeClr val="accent1"/>
            </a:lnRef>
          </a:right>
          <a:top>
            <a:lnRef idx="1">
              <a:schemeClr val="accent1"/>
            </a:lnRef>
          </a:top>
          <a:bottom>
            <a:lnRef idx="1">
              <a:schemeClr val="accent1"/>
            </a:lnRef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noFill/>
        </a:fill>
      </a:tcStyle>
    </a:wholeTbl>
    <a:band1H>
      <a:tcStyle>
        <a:tcBdr>
          <a:top>
            <a:lnRef idx="1">
              <a:schemeClr val="accent1"/>
            </a:lnRef>
          </a:top>
          <a:bottom>
            <a:lnRef idx="1">
              <a:schemeClr val="accent1"/>
            </a:lnRef>
          </a:bottom>
        </a:tcBdr>
      </a:tcStyle>
    </a:band1H>
    <a:band1V>
      <a:tcStyle>
        <a:tcBdr>
          <a:left>
            <a:lnRef idx="1">
              <a:schemeClr val="accent1"/>
            </a:lnRef>
          </a:left>
          <a:right>
            <a:lnRef idx="1">
              <a:schemeClr val="accent1"/>
            </a:lnRef>
          </a:right>
        </a:tcBdr>
      </a:tcStyle>
    </a:band1V>
    <a:band2V>
      <a:tcStyle>
        <a:tcBdr>
          <a:left>
            <a:lnRef idx="1">
              <a:schemeClr val="accent1"/>
            </a:lnRef>
          </a:left>
          <a:right>
            <a:lnRef idx="1">
              <a:schemeClr val="accent1"/>
            </a:lnRef>
          </a:right>
        </a:tcBdr>
      </a:tcStyle>
    </a:band2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50800" cmpd="dbl">
              <a:solidFill>
                <a:schemeClr val="accent1"/>
              </a:solidFill>
            </a:ln>
          </a:top>
        </a:tcBdr>
      </a:tcStyle>
    </a:lastRow>
    <a:firstRow>
      <a:tcTxStyle b="on">
        <a:fontRef idx="minor">
          <a:scrgbClr r="0" g="0" b="0"/>
        </a:fontRef>
        <a:schemeClr val="bg1"/>
      </a:tcTxStyle>
      <a:tcStyle>
        <a:tcBdr/>
        <a:fillRef idx="1">
          <a:schemeClr val="accent1"/>
        </a:fillRef>
      </a:tcStyle>
    </a:firstRow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 horzBarState="maximized">
    <p:restoredLeft sz="15000" autoAdjust="0"/>
    <p:restoredTop sz="94660"/>
  </p:normalViewPr>
  <p:slideViewPr>
    <p:cSldViewPr snapToGrid="0">
      <p:cViewPr varScale="1">
        <p:scale>
          <a:sx n="61" d="100"/>
          <a:sy n="61" d="100"/>
        </p:scale>
        <p:origin x="-96" y="-264"/>
      </p:cViewPr>
      <p:guideLst>
        <p:guide orient="horz" pos="2160"/>
        <p:guide pos="3840"/>
      </p:guideLst>
    </p:cSldViewPr>
  </p:slideViewPr>
  <p:notesTextViewPr>
    <p:cViewPr>
      <p:scale>
        <a:sx n="1" d="1"/>
        <a:sy n="1" d="1"/>
      </p:scale>
      <p:origin x="0" y="0"/>
    </p:cViewPr>
  </p:notesTextViewPr>
  <p:gridSpacing cx="73736200" cy="7373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4.xml"/><Relationship Id="rId13" Type="http://schemas.openxmlformats.org/officeDocument/2006/relationships/slide" Target="slides/slide9.xml"/><Relationship Id="rId18" Type="http://schemas.openxmlformats.org/officeDocument/2006/relationships/slide" Target="slides/slide14.xml"/><Relationship Id="rId26" Type="http://schemas.openxmlformats.org/officeDocument/2006/relationships/slide" Target="slides/slide22.xml"/><Relationship Id="rId3" Type="http://schemas.openxmlformats.org/officeDocument/2006/relationships/customXml" Target="../customXml/item3.xml"/><Relationship Id="rId21" Type="http://schemas.openxmlformats.org/officeDocument/2006/relationships/slide" Target="slides/slide17.xml"/><Relationship Id="rId34" Type="http://schemas.openxmlformats.org/officeDocument/2006/relationships/presProps" Target="presProps.xml"/><Relationship Id="rId7" Type="http://schemas.openxmlformats.org/officeDocument/2006/relationships/slide" Target="slides/slide3.xml"/><Relationship Id="rId12" Type="http://schemas.openxmlformats.org/officeDocument/2006/relationships/slide" Target="slides/slide8.xml"/><Relationship Id="rId17" Type="http://schemas.openxmlformats.org/officeDocument/2006/relationships/slide" Target="slides/slide13.xml"/><Relationship Id="rId25" Type="http://schemas.openxmlformats.org/officeDocument/2006/relationships/slide" Target="slides/slide21.xml"/><Relationship Id="rId33" Type="http://schemas.openxmlformats.org/officeDocument/2006/relationships/handoutMaster" Target="handoutMasters/handoutMaster1.xml"/><Relationship Id="rId2" Type="http://schemas.openxmlformats.org/officeDocument/2006/relationships/customXml" Target="../customXml/item2.xml"/><Relationship Id="rId16" Type="http://schemas.openxmlformats.org/officeDocument/2006/relationships/slide" Target="slides/slide12.xml"/><Relationship Id="rId20" Type="http://schemas.openxmlformats.org/officeDocument/2006/relationships/slide" Target="slides/slide16.xml"/><Relationship Id="rId29" Type="http://schemas.openxmlformats.org/officeDocument/2006/relationships/slide" Target="slides/slide25.xml"/><Relationship Id="rId1" Type="http://schemas.openxmlformats.org/officeDocument/2006/relationships/customXml" Target="../customXml/item1.xml"/><Relationship Id="rId6" Type="http://schemas.openxmlformats.org/officeDocument/2006/relationships/slide" Target="slides/slide2.xml"/><Relationship Id="rId11" Type="http://schemas.openxmlformats.org/officeDocument/2006/relationships/slide" Target="slides/slide7.xml"/><Relationship Id="rId24" Type="http://schemas.openxmlformats.org/officeDocument/2006/relationships/slide" Target="slides/slide20.xml"/><Relationship Id="rId32" Type="http://schemas.openxmlformats.org/officeDocument/2006/relationships/notesMaster" Target="notesMasters/notesMaster1.xml"/><Relationship Id="rId37" Type="http://schemas.openxmlformats.org/officeDocument/2006/relationships/tableStyles" Target="tableStyles.xml"/><Relationship Id="rId40" Type="http://schemas.microsoft.com/office/2015/10/relationships/revisionInfo" Target="revisionInfo.xml"/><Relationship Id="rId5" Type="http://schemas.openxmlformats.org/officeDocument/2006/relationships/slide" Target="slides/slide1.xml"/><Relationship Id="rId15" Type="http://schemas.openxmlformats.org/officeDocument/2006/relationships/slide" Target="slides/slide11.xml"/><Relationship Id="rId23" Type="http://schemas.openxmlformats.org/officeDocument/2006/relationships/slide" Target="slides/slide19.xml"/><Relationship Id="rId28" Type="http://schemas.openxmlformats.org/officeDocument/2006/relationships/slide" Target="slides/slide24.xml"/><Relationship Id="rId36" Type="http://schemas.openxmlformats.org/officeDocument/2006/relationships/theme" Target="theme/theme1.xml"/><Relationship Id="rId10" Type="http://schemas.openxmlformats.org/officeDocument/2006/relationships/slide" Target="slides/slide6.xml"/><Relationship Id="rId19" Type="http://schemas.openxmlformats.org/officeDocument/2006/relationships/slide" Target="slides/slide15.xml"/><Relationship Id="rId31" Type="http://schemas.openxmlformats.org/officeDocument/2006/relationships/slide" Target="slides/slide27.xml"/><Relationship Id="rId4" Type="http://schemas.openxmlformats.org/officeDocument/2006/relationships/slideMaster" Target="slideMasters/slideMaster1.xml"/><Relationship Id="rId9" Type="http://schemas.openxmlformats.org/officeDocument/2006/relationships/slide" Target="slides/slide5.xml"/><Relationship Id="rId14" Type="http://schemas.openxmlformats.org/officeDocument/2006/relationships/slide" Target="slides/slide10.xml"/><Relationship Id="rId22" Type="http://schemas.openxmlformats.org/officeDocument/2006/relationships/slide" Target="slides/slide18.xml"/><Relationship Id="rId27" Type="http://schemas.openxmlformats.org/officeDocument/2006/relationships/slide" Target="slides/slide23.xml"/><Relationship Id="rId30" Type="http://schemas.openxmlformats.org/officeDocument/2006/relationships/slide" Target="slides/slide26.xml"/><Relationship Id="rId35" Type="http://schemas.openxmlformats.org/officeDocument/2006/relationships/viewProps" Target="viewProps.xml"/></Relationships>
</file>

<file path=ppt/handoutMasters/_rels/handout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3.xml"/></Relationships>
</file>

<file path=ppt/handoutMasters/handoutMaster1.xml><?xml version="1.0" encoding="utf-8"?>
<p:handout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1"/>
            <a:ext cx="4301543" cy="341064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quarter" idx="1"/>
          </p:nvPr>
        </p:nvSpPr>
        <p:spPr>
          <a:xfrm>
            <a:off x="5622798" y="1"/>
            <a:ext cx="4301543" cy="341064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D65ACDAA-FFE7-471E-A9CF-3B193606E2C7}" type="datetimeFigureOut">
              <a:rPr lang="en-US" smtClean="0"/>
              <a:pPr/>
              <a:t>10/13/2023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2"/>
          </p:nvPr>
        </p:nvSpPr>
        <p:spPr>
          <a:xfrm>
            <a:off x="0" y="6456612"/>
            <a:ext cx="4301543" cy="341063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3"/>
          </p:nvPr>
        </p:nvSpPr>
        <p:spPr>
          <a:xfrm>
            <a:off x="5622798" y="6456612"/>
            <a:ext cx="4301543" cy="341063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5D0631E9-149E-4C5D-A820-2244B3669ED1}" type="slidenum">
              <a:rPr lang="en-US" smtClean="0"/>
              <a:pPr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xmlns="" val="4058794808"/>
      </p:ext>
    </p:extLst>
  </p:cSld>
  <p:clrMap bg1="lt1" tx1="dk1" bg2="lt2" tx2="dk2" accent1="accent1" accent2="accent2" accent3="accent3" accent4="accent4" accent5="accent5" accent6="accent6" hlink="hlink" folHlink="folHlink"/>
</p:handoutMaster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5624513" y="0"/>
            <a:ext cx="4302125" cy="339725"/>
          </a:xfrm>
          <a:prstGeom prst="rect">
            <a:avLst/>
          </a:prstGeom>
        </p:spPr>
        <p:txBody>
          <a:bodyPr vert="horz" lIns="91440" tIns="45720" rIns="91440" bIns="45720" rtlCol="1"/>
          <a:lstStyle>
            <a:lvl1pPr algn="r">
              <a:defRPr sz="1200"/>
            </a:lvl1pPr>
          </a:lstStyle>
          <a:p>
            <a:endParaRPr lang="ar-JO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1588" y="0"/>
            <a:ext cx="4302125" cy="339725"/>
          </a:xfrm>
          <a:prstGeom prst="rect">
            <a:avLst/>
          </a:prstGeom>
        </p:spPr>
        <p:txBody>
          <a:bodyPr vert="horz" lIns="91440" tIns="45720" rIns="91440" bIns="45720" rtlCol="1"/>
          <a:lstStyle>
            <a:lvl1pPr algn="l">
              <a:defRPr sz="1200"/>
            </a:lvl1pPr>
          </a:lstStyle>
          <a:p>
            <a:fld id="{5D26909C-08AE-4012-9C95-E3AEE8695490}" type="datetimeFigureOut">
              <a:rPr lang="ar-JO" smtClean="0"/>
              <a:pPr/>
              <a:t>29/03/1445</a:t>
            </a:fld>
            <a:endParaRPr lang="ar-JO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2697163" y="509588"/>
            <a:ext cx="4532312" cy="2549525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1" anchor="ctr"/>
          <a:lstStyle/>
          <a:p>
            <a:endParaRPr lang="ar-JO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992188" y="3228975"/>
            <a:ext cx="7942262" cy="3059113"/>
          </a:xfrm>
          <a:prstGeom prst="rect">
            <a:avLst/>
          </a:prstGeom>
        </p:spPr>
        <p:txBody>
          <a:bodyPr vert="horz" lIns="91440" tIns="45720" rIns="91440" bIns="45720" rtlCol="1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ar-JO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5624513" y="6456363"/>
            <a:ext cx="4302125" cy="339725"/>
          </a:xfrm>
          <a:prstGeom prst="rect">
            <a:avLst/>
          </a:prstGeom>
        </p:spPr>
        <p:txBody>
          <a:bodyPr vert="horz" lIns="91440" tIns="45720" rIns="91440" bIns="45720" rtlCol="1" anchor="b"/>
          <a:lstStyle>
            <a:lvl1pPr algn="r">
              <a:defRPr sz="1200"/>
            </a:lvl1pPr>
          </a:lstStyle>
          <a:p>
            <a:endParaRPr lang="ar-JO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1588" y="6456363"/>
            <a:ext cx="4302125" cy="339725"/>
          </a:xfrm>
          <a:prstGeom prst="rect">
            <a:avLst/>
          </a:prstGeom>
        </p:spPr>
        <p:txBody>
          <a:bodyPr vert="horz" lIns="91440" tIns="45720" rIns="91440" bIns="45720" rtlCol="1" anchor="b"/>
          <a:lstStyle>
            <a:lvl1pPr algn="l">
              <a:defRPr sz="1200"/>
            </a:lvl1pPr>
          </a:lstStyle>
          <a:p>
            <a:fld id="{624D19C5-8AA1-40AD-A3BB-77676C5C216E}" type="slidenum">
              <a:rPr lang="ar-JO" smtClean="0"/>
              <a:pPr/>
              <a:t>‹#›</a:t>
            </a:fld>
            <a:endParaRPr lang="ar-JO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notesStyle>
    <a:lvl1pPr marL="0" algn="r" defTabSz="914400" rtl="1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r" defTabSz="914400" rtl="1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r" defTabSz="914400" rtl="1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r" defTabSz="914400" rtl="1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r" defTabSz="914400" rtl="1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r" defTabSz="914400" rtl="1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r" defTabSz="914400" rtl="1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r" defTabSz="914400" rtl="1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r" defTabSz="914400" rtl="1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2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3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4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5.xml"/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6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7650" name="Rectangle 7"/>
          <p:cNvSpPr>
            <a:spLocks noGrp="1" noChangeArrowheads="1"/>
          </p:cNvSpPr>
          <p:nvPr>
            <p:ph type="sldNum" sz="quarter" idx="5"/>
          </p:nvPr>
        </p:nvSpPr>
        <p:spPr>
          <a:noFill/>
        </p:spPr>
        <p:txBody>
          <a:bodyPr/>
          <a:lstStyle/>
          <a:p>
            <a:fld id="{D5E12CC8-FC19-8646-BC0C-94F5FF0E20E1}" type="slidenum">
              <a:rPr lang="en-US"/>
              <a:pPr/>
              <a:t>22</a:t>
            </a:fld>
            <a:endParaRPr lang="en-US" dirty="0"/>
          </a:p>
        </p:txBody>
      </p:sp>
      <p:sp>
        <p:nvSpPr>
          <p:cNvPr id="27651" name="Rectangle 2"/>
          <p:cNvSpPr>
            <a:spLocks noGrp="1" noRot="1" noChangeAspect="1" noChangeArrowheads="1" noTextEdit="1"/>
          </p:cNvSpPr>
          <p:nvPr>
            <p:ph type="sldImg"/>
          </p:nvPr>
        </p:nvSpPr>
        <p:spPr>
          <a:ln/>
        </p:spPr>
      </p:sp>
      <p:sp>
        <p:nvSpPr>
          <p:cNvPr id="27652" name="Rectangle 3"/>
          <p:cNvSpPr>
            <a:spLocks noGrp="1" noChangeArrowheads="1"/>
          </p:cNvSpPr>
          <p:nvPr>
            <p:ph type="body" idx="1"/>
          </p:nvPr>
        </p:nvSpPr>
        <p:spPr>
          <a:noFill/>
          <a:ln/>
        </p:spPr>
        <p:txBody>
          <a:bodyPr/>
          <a:lstStyle/>
          <a:p>
            <a:r>
              <a:rPr lang="en-US" sz="1200" b="1" kern="1200" dirty="0" smtClean="0">
                <a:solidFill>
                  <a:schemeClr val="tx1"/>
                </a:solidFill>
                <a:latin typeface="Times New Roman" pitchFamily="-110" charset="0"/>
                <a:ea typeface="ＭＳ Ｐゴシック" pitchFamily="-110" charset="-128"/>
                <a:cs typeface="ＭＳ Ｐゴシック" pitchFamily="-110" charset="-128"/>
              </a:rPr>
              <a:t>Frequency, Spectrum, and Bandwidth</a:t>
            </a:r>
          </a:p>
          <a:p>
            <a:r>
              <a:rPr lang="en-US" sz="1200" kern="1200" dirty="0" smtClean="0">
                <a:solidFill>
                  <a:schemeClr val="tx1"/>
                </a:solidFill>
                <a:latin typeface="Times New Roman" pitchFamily="-110" charset="0"/>
                <a:ea typeface="ＭＳ Ｐゴシック" pitchFamily="-110" charset="-128"/>
                <a:cs typeface="ＭＳ Ｐゴシック" pitchFamily="-110" charset="-128"/>
              </a:rPr>
              <a:t>In this book, we are concerned with electromagnetic signals used as a means to transmit data. At point 3 in    Figure 1.5, a signal is generated by the transmitter and transmitted over a medium. The signal is a function of time, but it can also be expressed as a function of frequency; that is, the signal consists of components of different frequencies. It turns out that the </a:t>
            </a:r>
            <a:r>
              <a:rPr lang="en-US" sz="1200" b="1" kern="1200" dirty="0" smtClean="0">
                <a:solidFill>
                  <a:schemeClr val="tx1"/>
                </a:solidFill>
                <a:latin typeface="Times New Roman" pitchFamily="-110" charset="0"/>
                <a:ea typeface="ＭＳ Ｐゴシック" pitchFamily="-110" charset="-128"/>
                <a:cs typeface="ＭＳ Ｐゴシック" pitchFamily="-110" charset="-128"/>
              </a:rPr>
              <a:t>frequency domain</a:t>
            </a:r>
            <a:r>
              <a:rPr lang="en-US" sz="1200" kern="1200" dirty="0" smtClean="0">
                <a:solidFill>
                  <a:schemeClr val="tx1"/>
                </a:solidFill>
                <a:latin typeface="Times New Roman" pitchFamily="-110" charset="0"/>
                <a:ea typeface="ＭＳ Ｐゴシック" pitchFamily="-110" charset="-128"/>
                <a:cs typeface="ＭＳ Ｐゴシック" pitchFamily="-110" charset="-128"/>
              </a:rPr>
              <a:t> view of a signal is more important to an understanding of data transmission than a </a:t>
            </a:r>
            <a:r>
              <a:rPr lang="en-US" sz="1200" b="1" kern="1200" dirty="0" smtClean="0">
                <a:solidFill>
                  <a:schemeClr val="tx1"/>
                </a:solidFill>
                <a:latin typeface="Times New Roman" pitchFamily="-110" charset="0"/>
                <a:ea typeface="ＭＳ Ｐゴシック" pitchFamily="-110" charset="-128"/>
                <a:cs typeface="ＭＳ Ｐゴシック" pitchFamily="-110" charset="-128"/>
              </a:rPr>
              <a:t>time domain</a:t>
            </a:r>
            <a:r>
              <a:rPr lang="en-US" sz="1200" kern="1200" dirty="0" smtClean="0">
                <a:solidFill>
                  <a:schemeClr val="tx1"/>
                </a:solidFill>
                <a:latin typeface="Times New Roman" pitchFamily="-110" charset="0"/>
                <a:ea typeface="ＭＳ Ｐゴシック" pitchFamily="-110" charset="-128"/>
                <a:cs typeface="ＭＳ Ｐゴシック" pitchFamily="-110" charset="-128"/>
              </a:rPr>
              <a:t> view. Both views are introduced here.</a:t>
            </a:r>
          </a:p>
          <a:p>
            <a:r>
              <a:rPr lang="en-US" sz="1200" kern="1200" dirty="0" smtClean="0">
                <a:solidFill>
                  <a:schemeClr val="tx1"/>
                </a:solidFill>
                <a:latin typeface="Times New Roman" pitchFamily="-110" charset="0"/>
                <a:ea typeface="ＭＳ Ｐゴシック" pitchFamily="-110" charset="-128"/>
                <a:cs typeface="ＭＳ Ｐゴシック" pitchFamily="-110" charset="-128"/>
              </a:rPr>
              <a:t> </a:t>
            </a:r>
          </a:p>
          <a:p>
            <a:r>
              <a:rPr lang="en-US" sz="1200" b="1" i="1" kern="1200" cap="small" dirty="0" smtClean="0">
                <a:solidFill>
                  <a:schemeClr val="tx1"/>
                </a:solidFill>
                <a:latin typeface="Times New Roman" pitchFamily="-110" charset="0"/>
                <a:ea typeface="ＭＳ Ｐゴシック" pitchFamily="-110" charset="-128"/>
                <a:cs typeface="ＭＳ Ｐゴシック" pitchFamily="-110" charset="-128"/>
              </a:rPr>
              <a:t>Time Domain Concepts</a:t>
            </a:r>
          </a:p>
          <a:p>
            <a:r>
              <a:rPr lang="en-US" sz="1200" kern="1200" dirty="0" smtClean="0">
                <a:solidFill>
                  <a:schemeClr val="tx1"/>
                </a:solidFill>
                <a:latin typeface="Times New Roman" pitchFamily="-110" charset="0"/>
                <a:ea typeface="ＭＳ Ｐゴシック" pitchFamily="-110" charset="-128"/>
                <a:cs typeface="ＭＳ Ｐゴシック" pitchFamily="-110" charset="-128"/>
              </a:rPr>
              <a:t>	Viewed as a function of time, an electromagnetic signal can be either analog or digital. An </a:t>
            </a:r>
            <a:r>
              <a:rPr lang="en-US" sz="1200" b="1" kern="1200" dirty="0" smtClean="0">
                <a:solidFill>
                  <a:schemeClr val="tx1"/>
                </a:solidFill>
                <a:latin typeface="Times New Roman" pitchFamily="-110" charset="0"/>
                <a:ea typeface="ＭＳ Ｐゴシック" pitchFamily="-110" charset="-128"/>
                <a:cs typeface="ＭＳ Ｐゴシック" pitchFamily="-110" charset="-128"/>
              </a:rPr>
              <a:t>analog signal</a:t>
            </a:r>
            <a:r>
              <a:rPr lang="en-US" sz="1200" kern="1200" dirty="0" smtClean="0">
                <a:solidFill>
                  <a:schemeClr val="tx1"/>
                </a:solidFill>
                <a:latin typeface="Times New Roman" pitchFamily="-110" charset="0"/>
                <a:ea typeface="ＭＳ Ｐゴシック" pitchFamily="-110" charset="-128"/>
                <a:cs typeface="ＭＳ Ｐゴシック" pitchFamily="-110" charset="-128"/>
              </a:rPr>
              <a:t> is one in which the signal intensity varies in a smooth, or </a:t>
            </a:r>
            <a:r>
              <a:rPr lang="en-US" sz="1200" b="1" kern="1200" dirty="0" smtClean="0">
                <a:solidFill>
                  <a:schemeClr val="tx1"/>
                </a:solidFill>
                <a:latin typeface="Times New Roman" pitchFamily="-110" charset="0"/>
                <a:ea typeface="ＭＳ Ｐゴシック" pitchFamily="-110" charset="-128"/>
                <a:cs typeface="ＭＳ Ｐゴシック" pitchFamily="-110" charset="-128"/>
              </a:rPr>
              <a:t>continuous</a:t>
            </a:r>
            <a:r>
              <a:rPr lang="en-US" sz="1200" kern="1200" dirty="0" smtClean="0">
                <a:solidFill>
                  <a:schemeClr val="tx1"/>
                </a:solidFill>
                <a:latin typeface="Times New Roman" pitchFamily="-110" charset="0"/>
                <a:ea typeface="ＭＳ Ｐゴシック" pitchFamily="-110" charset="-128"/>
                <a:cs typeface="ＭＳ Ｐゴシック" pitchFamily="-110" charset="-128"/>
              </a:rPr>
              <a:t>, fashion over time. In other words, there are no breaks or discontinuities in the signal. A </a:t>
            </a:r>
            <a:r>
              <a:rPr lang="en-US" sz="1200" b="1" kern="1200" dirty="0" smtClean="0">
                <a:solidFill>
                  <a:schemeClr val="tx1"/>
                </a:solidFill>
                <a:latin typeface="Times New Roman" pitchFamily="-110" charset="0"/>
                <a:ea typeface="ＭＳ Ｐゴシック" pitchFamily="-110" charset="-128"/>
                <a:cs typeface="ＭＳ Ｐゴシック" pitchFamily="-110" charset="-128"/>
              </a:rPr>
              <a:t>digital signal</a:t>
            </a:r>
            <a:r>
              <a:rPr lang="en-US" sz="1200" kern="1200" dirty="0" smtClean="0">
                <a:solidFill>
                  <a:schemeClr val="tx1"/>
                </a:solidFill>
                <a:latin typeface="Times New Roman" pitchFamily="-110" charset="0"/>
                <a:ea typeface="ＭＳ Ｐゴシック" pitchFamily="-110" charset="-128"/>
                <a:cs typeface="ＭＳ Ｐゴシック" pitchFamily="-110" charset="-128"/>
              </a:rPr>
              <a:t> is one in which the signal intensity maintains a constant level for some period of time and then abruptly changes to another constant level, in a </a:t>
            </a:r>
            <a:r>
              <a:rPr lang="en-US" sz="1200" b="1" kern="1200" dirty="0" smtClean="0">
                <a:solidFill>
                  <a:schemeClr val="tx1"/>
                </a:solidFill>
                <a:latin typeface="Times New Roman" pitchFamily="-110" charset="0"/>
                <a:ea typeface="ＭＳ Ｐゴシック" pitchFamily="-110" charset="-128"/>
                <a:cs typeface="ＭＳ Ｐゴシック" pitchFamily="-110" charset="-128"/>
              </a:rPr>
              <a:t>discrete</a:t>
            </a:r>
            <a:r>
              <a:rPr lang="en-US" sz="1200" kern="1200" dirty="0" smtClean="0">
                <a:solidFill>
                  <a:schemeClr val="tx1"/>
                </a:solidFill>
                <a:latin typeface="Times New Roman" pitchFamily="-110" charset="0"/>
                <a:ea typeface="ＭＳ Ｐゴシック" pitchFamily="-110" charset="-128"/>
                <a:cs typeface="ＭＳ Ｐゴシック" pitchFamily="-110" charset="-128"/>
              </a:rPr>
              <a:t> fashion. Stalling DCC9e Figure 3.1 shows an example of each kind of signal. The analog signal might represent speech, and the digital signal might represent binary 1s and 0s.</a:t>
            </a:r>
          </a:p>
          <a:p>
            <a:r>
              <a:rPr lang="en-US" sz="1200" kern="1200" dirty="0" smtClean="0">
                <a:solidFill>
                  <a:schemeClr val="tx1"/>
                </a:solidFill>
                <a:latin typeface="Times New Roman" pitchFamily="-110" charset="0"/>
                <a:ea typeface="ＭＳ Ｐゴシック" pitchFamily="-110" charset="-128"/>
                <a:cs typeface="ＭＳ Ｐゴシック" pitchFamily="-110" charset="-128"/>
              </a:rPr>
              <a:t>	The simplest sort of signal is a </a:t>
            </a:r>
            <a:r>
              <a:rPr lang="en-US" sz="1200" b="1" kern="1200" dirty="0" smtClean="0">
                <a:solidFill>
                  <a:schemeClr val="tx1"/>
                </a:solidFill>
                <a:latin typeface="Times New Roman" pitchFamily="-110" charset="0"/>
                <a:ea typeface="ＭＳ Ｐゴシック" pitchFamily="-110" charset="-128"/>
                <a:cs typeface="ＭＳ Ｐゴシック" pitchFamily="-110" charset="-128"/>
              </a:rPr>
              <a:t>periodic signal</a:t>
            </a:r>
            <a:r>
              <a:rPr lang="en-US" sz="1200" kern="1200" dirty="0" smtClean="0">
                <a:solidFill>
                  <a:schemeClr val="tx1"/>
                </a:solidFill>
                <a:latin typeface="Times New Roman" pitchFamily="-110" charset="0"/>
                <a:ea typeface="ＭＳ Ｐゴシック" pitchFamily="-110" charset="-128"/>
                <a:cs typeface="ＭＳ Ｐゴシック" pitchFamily="-110" charset="-128"/>
              </a:rPr>
              <a:t>, in which the same signal pattern repeats over time. Stallings DDC9e Figure 3.2 shows an example of a periodic continuous signal (sine wave) and a periodic discrete signal (square wave). Mathematically, a signal </a:t>
            </a:r>
            <a:r>
              <a:rPr lang="en-US" sz="1200" i="1" kern="1200" dirty="0" smtClean="0">
                <a:solidFill>
                  <a:schemeClr val="tx1"/>
                </a:solidFill>
                <a:latin typeface="Times New Roman" pitchFamily="-110" charset="0"/>
                <a:ea typeface="ＭＳ Ｐゴシック" pitchFamily="-110" charset="-128"/>
                <a:cs typeface="ＭＳ Ｐゴシック" pitchFamily="-110" charset="-128"/>
              </a:rPr>
              <a:t>s</a:t>
            </a:r>
            <a:r>
              <a:rPr lang="en-US" sz="1200" kern="1200" dirty="0" smtClean="0">
                <a:solidFill>
                  <a:schemeClr val="tx1"/>
                </a:solidFill>
                <a:latin typeface="Times New Roman" pitchFamily="-110" charset="0"/>
                <a:ea typeface="ＭＳ Ｐゴシック" pitchFamily="-110" charset="-128"/>
                <a:cs typeface="ＭＳ Ｐゴシック" pitchFamily="-110" charset="-128"/>
              </a:rPr>
              <a:t>(</a:t>
            </a:r>
            <a:r>
              <a:rPr lang="en-US" sz="1200" i="1" kern="1200" dirty="0" smtClean="0">
                <a:solidFill>
                  <a:schemeClr val="tx1"/>
                </a:solidFill>
                <a:latin typeface="Times New Roman" pitchFamily="-110" charset="0"/>
                <a:ea typeface="ＭＳ Ｐゴシック" pitchFamily="-110" charset="-128"/>
                <a:cs typeface="ＭＳ Ｐゴシック" pitchFamily="-110" charset="-128"/>
              </a:rPr>
              <a:t>t</a:t>
            </a:r>
            <a:r>
              <a:rPr lang="en-US" sz="1200" kern="1200" dirty="0" smtClean="0">
                <a:solidFill>
                  <a:schemeClr val="tx1"/>
                </a:solidFill>
                <a:latin typeface="Times New Roman" pitchFamily="-110" charset="0"/>
                <a:ea typeface="ＭＳ Ｐゴシック" pitchFamily="-110" charset="-128"/>
                <a:cs typeface="ＭＳ Ｐゴシック" pitchFamily="-110" charset="-128"/>
              </a:rPr>
              <a:t>) is defined to be periodic if and only if</a:t>
            </a:r>
          </a:p>
          <a:p>
            <a:r>
              <a:rPr lang="en-US" sz="1200" kern="1200" dirty="0" smtClean="0">
                <a:solidFill>
                  <a:schemeClr val="tx1"/>
                </a:solidFill>
                <a:latin typeface="Times New Roman" pitchFamily="-110" charset="0"/>
                <a:ea typeface="ＭＳ Ｐゴシック" pitchFamily="-110" charset="-128"/>
                <a:cs typeface="ＭＳ Ｐゴシック" pitchFamily="-110" charset="-128"/>
              </a:rPr>
              <a:t> </a:t>
            </a:r>
          </a:p>
          <a:p>
            <a:r>
              <a:rPr lang="en-US" sz="1200" i="1" kern="1200" dirty="0" smtClean="0">
                <a:solidFill>
                  <a:schemeClr val="tx1"/>
                </a:solidFill>
                <a:latin typeface="Times New Roman" pitchFamily="-110" charset="0"/>
                <a:ea typeface="ＭＳ Ｐゴシック" pitchFamily="-110" charset="-128"/>
                <a:cs typeface="ＭＳ Ｐゴシック" pitchFamily="-110" charset="-128"/>
              </a:rPr>
              <a:t>s</a:t>
            </a:r>
            <a:r>
              <a:rPr lang="en-US" sz="1200" kern="1200" dirty="0" smtClean="0">
                <a:solidFill>
                  <a:schemeClr val="tx1"/>
                </a:solidFill>
                <a:latin typeface="Times New Roman" pitchFamily="-110" charset="0"/>
                <a:ea typeface="ＭＳ Ｐゴシック" pitchFamily="-110" charset="-128"/>
                <a:cs typeface="ＭＳ Ｐゴシック" pitchFamily="-110" charset="-128"/>
              </a:rPr>
              <a:t>(</a:t>
            </a:r>
            <a:r>
              <a:rPr lang="en-US" sz="1200" i="1" kern="1200" dirty="0" smtClean="0">
                <a:solidFill>
                  <a:schemeClr val="tx1"/>
                </a:solidFill>
                <a:latin typeface="Times New Roman" pitchFamily="-110" charset="0"/>
                <a:ea typeface="ＭＳ Ｐゴシック" pitchFamily="-110" charset="-128"/>
                <a:cs typeface="ＭＳ Ｐゴシック" pitchFamily="-110" charset="-128"/>
              </a:rPr>
              <a:t>t </a:t>
            </a:r>
            <a:r>
              <a:rPr lang="en-US" sz="1200" kern="1200" dirty="0" smtClean="0">
                <a:solidFill>
                  <a:schemeClr val="tx1"/>
                </a:solidFill>
                <a:latin typeface="Times New Roman" pitchFamily="-110" charset="0"/>
                <a:ea typeface="ＭＳ Ｐゴシック" pitchFamily="-110" charset="-128"/>
                <a:cs typeface="ＭＳ Ｐゴシック" pitchFamily="-110" charset="-128"/>
              </a:rPr>
              <a:t>+ </a:t>
            </a:r>
            <a:r>
              <a:rPr lang="en-US" sz="1200" i="1" kern="1200" dirty="0" smtClean="0">
                <a:solidFill>
                  <a:schemeClr val="tx1"/>
                </a:solidFill>
                <a:latin typeface="Times New Roman" pitchFamily="-110" charset="0"/>
                <a:ea typeface="ＭＳ Ｐゴシック" pitchFamily="-110" charset="-128"/>
                <a:cs typeface="ＭＳ Ｐゴシック" pitchFamily="-110" charset="-128"/>
              </a:rPr>
              <a:t>T</a:t>
            </a:r>
            <a:r>
              <a:rPr lang="en-US" sz="1200" kern="1200" dirty="0" smtClean="0">
                <a:solidFill>
                  <a:schemeClr val="tx1"/>
                </a:solidFill>
                <a:latin typeface="Times New Roman" pitchFamily="-110" charset="0"/>
                <a:ea typeface="ＭＳ Ｐゴシック" pitchFamily="-110" charset="-128"/>
                <a:cs typeface="ＭＳ Ｐゴシック" pitchFamily="-110" charset="-128"/>
              </a:rPr>
              <a:t>) = </a:t>
            </a:r>
            <a:r>
              <a:rPr lang="en-US" sz="1200" i="1" kern="1200" dirty="0" smtClean="0">
                <a:solidFill>
                  <a:schemeClr val="tx1"/>
                </a:solidFill>
                <a:latin typeface="Times New Roman" pitchFamily="-110" charset="0"/>
                <a:ea typeface="ＭＳ Ｐゴシック" pitchFamily="-110" charset="-128"/>
                <a:cs typeface="ＭＳ Ｐゴシック" pitchFamily="-110" charset="-128"/>
              </a:rPr>
              <a:t>s</a:t>
            </a:r>
            <a:r>
              <a:rPr lang="en-US" sz="1200" kern="1200" dirty="0" smtClean="0">
                <a:solidFill>
                  <a:schemeClr val="tx1"/>
                </a:solidFill>
                <a:latin typeface="Times New Roman" pitchFamily="-110" charset="0"/>
                <a:ea typeface="ＭＳ Ｐゴシック" pitchFamily="-110" charset="-128"/>
                <a:cs typeface="ＭＳ Ｐゴシック" pitchFamily="-110" charset="-128"/>
              </a:rPr>
              <a:t>(</a:t>
            </a:r>
            <a:r>
              <a:rPr lang="en-US" sz="1200" i="1" kern="1200" dirty="0" smtClean="0">
                <a:solidFill>
                  <a:schemeClr val="tx1"/>
                </a:solidFill>
                <a:latin typeface="Times New Roman" pitchFamily="-110" charset="0"/>
                <a:ea typeface="ＭＳ Ｐゴシック" pitchFamily="-110" charset="-128"/>
                <a:cs typeface="ＭＳ Ｐゴシック" pitchFamily="-110" charset="-128"/>
              </a:rPr>
              <a:t>t</a:t>
            </a:r>
            <a:r>
              <a:rPr lang="en-US" sz="1200" kern="1200" dirty="0" smtClean="0">
                <a:solidFill>
                  <a:schemeClr val="tx1"/>
                </a:solidFill>
                <a:latin typeface="Times New Roman" pitchFamily="-110" charset="0"/>
                <a:ea typeface="ＭＳ Ｐゴシック" pitchFamily="-110" charset="-128"/>
                <a:cs typeface="ＭＳ Ｐゴシック" pitchFamily="-110" charset="-128"/>
              </a:rPr>
              <a:t>)          –∞ &lt; </a:t>
            </a:r>
            <a:r>
              <a:rPr lang="en-US" sz="1200" i="1" kern="1200" dirty="0" smtClean="0">
                <a:solidFill>
                  <a:schemeClr val="tx1"/>
                </a:solidFill>
                <a:latin typeface="Times New Roman" pitchFamily="-110" charset="0"/>
                <a:ea typeface="ＭＳ Ｐゴシック" pitchFamily="-110" charset="-128"/>
                <a:cs typeface="ＭＳ Ｐゴシック" pitchFamily="-110" charset="-128"/>
              </a:rPr>
              <a:t>t</a:t>
            </a:r>
            <a:r>
              <a:rPr lang="en-US" sz="1200" kern="1200" dirty="0" smtClean="0">
                <a:solidFill>
                  <a:schemeClr val="tx1"/>
                </a:solidFill>
                <a:latin typeface="Times New Roman" pitchFamily="-110" charset="0"/>
                <a:ea typeface="ＭＳ Ｐゴシック" pitchFamily="-110" charset="-128"/>
                <a:cs typeface="ＭＳ Ｐゴシック" pitchFamily="-110" charset="-128"/>
              </a:rPr>
              <a:t> &lt; +∞</a:t>
            </a:r>
          </a:p>
          <a:p>
            <a:r>
              <a:rPr lang="en-US" sz="1200" kern="1200" dirty="0" smtClean="0">
                <a:solidFill>
                  <a:schemeClr val="tx1"/>
                </a:solidFill>
                <a:latin typeface="Times New Roman" pitchFamily="-110" charset="0"/>
                <a:ea typeface="ＭＳ Ｐゴシック" pitchFamily="-110" charset="-128"/>
                <a:cs typeface="ＭＳ Ｐゴシック" pitchFamily="-110" charset="-128"/>
              </a:rPr>
              <a:t> </a:t>
            </a:r>
          </a:p>
          <a:p>
            <a:r>
              <a:rPr lang="en-US" sz="1200" kern="1200" dirty="0" smtClean="0">
                <a:solidFill>
                  <a:schemeClr val="tx1"/>
                </a:solidFill>
                <a:latin typeface="Times New Roman" pitchFamily="-110" charset="0"/>
                <a:ea typeface="ＭＳ Ｐゴシック" pitchFamily="-110" charset="-128"/>
                <a:cs typeface="ＭＳ Ｐゴシック" pitchFamily="-110" charset="-128"/>
              </a:rPr>
              <a:t>where the constant </a:t>
            </a:r>
            <a:r>
              <a:rPr lang="en-US" sz="1200" i="1" kern="1200" dirty="0" smtClean="0">
                <a:solidFill>
                  <a:schemeClr val="tx1"/>
                </a:solidFill>
                <a:latin typeface="Times New Roman" pitchFamily="-110" charset="0"/>
                <a:ea typeface="ＭＳ Ｐゴシック" pitchFamily="-110" charset="-128"/>
                <a:cs typeface="ＭＳ Ｐゴシック" pitchFamily="-110" charset="-128"/>
              </a:rPr>
              <a:t>T</a:t>
            </a:r>
            <a:r>
              <a:rPr lang="en-US" sz="1200" kern="1200" dirty="0" smtClean="0">
                <a:solidFill>
                  <a:schemeClr val="tx1"/>
                </a:solidFill>
                <a:latin typeface="Times New Roman" pitchFamily="-110" charset="0"/>
                <a:ea typeface="ＭＳ Ｐゴシック" pitchFamily="-110" charset="-128"/>
                <a:cs typeface="ＭＳ Ｐゴシック" pitchFamily="-110" charset="-128"/>
              </a:rPr>
              <a:t> is the period of the signal (</a:t>
            </a:r>
            <a:r>
              <a:rPr lang="en-US" sz="1200" i="1" kern="1200" dirty="0" smtClean="0">
                <a:solidFill>
                  <a:schemeClr val="tx1"/>
                </a:solidFill>
                <a:latin typeface="Times New Roman" pitchFamily="-110" charset="0"/>
                <a:ea typeface="ＭＳ Ｐゴシック" pitchFamily="-110" charset="-128"/>
                <a:cs typeface="ＭＳ Ｐゴシック" pitchFamily="-110" charset="-128"/>
              </a:rPr>
              <a:t>T</a:t>
            </a:r>
            <a:r>
              <a:rPr lang="en-US" sz="1200" kern="1200" dirty="0" smtClean="0">
                <a:solidFill>
                  <a:schemeClr val="tx1"/>
                </a:solidFill>
                <a:latin typeface="Times New Roman" pitchFamily="-110" charset="0"/>
                <a:ea typeface="ＭＳ Ｐゴシック" pitchFamily="-110" charset="-128"/>
                <a:cs typeface="ＭＳ Ｐゴシック" pitchFamily="-110" charset="-128"/>
              </a:rPr>
              <a:t> is the smallest value that satisfies the equation). Otherwise, a signal is </a:t>
            </a:r>
            <a:r>
              <a:rPr lang="en-US" sz="1200" b="1" kern="1200" dirty="0" smtClean="0">
                <a:solidFill>
                  <a:schemeClr val="tx1"/>
                </a:solidFill>
                <a:latin typeface="Times New Roman" pitchFamily="-110" charset="0"/>
                <a:ea typeface="ＭＳ Ｐゴシック" pitchFamily="-110" charset="-128"/>
                <a:cs typeface="ＭＳ Ｐゴシック" pitchFamily="-110" charset="-128"/>
              </a:rPr>
              <a:t>aperiodic</a:t>
            </a:r>
            <a:r>
              <a:rPr lang="en-US" sz="1200" kern="1200" dirty="0" smtClean="0">
                <a:solidFill>
                  <a:schemeClr val="tx1"/>
                </a:solidFill>
                <a:latin typeface="Times New Roman" pitchFamily="-110" charset="0"/>
                <a:ea typeface="ＭＳ Ｐゴシック" pitchFamily="-110" charset="-128"/>
                <a:cs typeface="ＭＳ Ｐゴシック" pitchFamily="-110" charset="-128"/>
              </a:rPr>
              <a:t>.</a:t>
            </a:r>
          </a:p>
          <a:p>
            <a:r>
              <a:rPr lang="en-US" sz="1200" kern="1200" dirty="0" smtClean="0">
                <a:solidFill>
                  <a:schemeClr val="tx1"/>
                </a:solidFill>
                <a:latin typeface="Times New Roman" pitchFamily="-110" charset="0"/>
                <a:ea typeface="ＭＳ Ｐゴシック" pitchFamily="-110" charset="-128"/>
                <a:cs typeface="ＭＳ Ｐゴシック" pitchFamily="-110" charset="-128"/>
              </a:rPr>
              <a:t>	A mathematical definition: a signal </a:t>
            </a:r>
            <a:r>
              <a:rPr lang="en-US" sz="1200" i="1" kern="1200" dirty="0" smtClean="0">
                <a:solidFill>
                  <a:schemeClr val="tx1"/>
                </a:solidFill>
                <a:latin typeface="Times New Roman" pitchFamily="-110" charset="0"/>
                <a:ea typeface="ＭＳ Ｐゴシック" pitchFamily="-110" charset="-128"/>
                <a:cs typeface="ＭＳ Ｐゴシック" pitchFamily="-110" charset="-128"/>
              </a:rPr>
              <a:t>s</a:t>
            </a:r>
            <a:r>
              <a:rPr lang="en-US" sz="1200" kern="1200" dirty="0" smtClean="0">
                <a:solidFill>
                  <a:schemeClr val="tx1"/>
                </a:solidFill>
                <a:latin typeface="Times New Roman" pitchFamily="-110" charset="0"/>
                <a:ea typeface="ＭＳ Ｐゴシック" pitchFamily="-110" charset="-128"/>
                <a:cs typeface="ＭＳ Ｐゴシック" pitchFamily="-110" charset="-128"/>
              </a:rPr>
              <a:t>(</a:t>
            </a:r>
            <a:r>
              <a:rPr lang="en-US" sz="1200" i="1" kern="1200" dirty="0" smtClean="0">
                <a:solidFill>
                  <a:schemeClr val="tx1"/>
                </a:solidFill>
                <a:latin typeface="Times New Roman" pitchFamily="-110" charset="0"/>
                <a:ea typeface="ＭＳ Ｐゴシック" pitchFamily="-110" charset="-128"/>
                <a:cs typeface="ＭＳ Ｐゴシック" pitchFamily="-110" charset="-128"/>
              </a:rPr>
              <a:t>t</a:t>
            </a:r>
            <a:r>
              <a:rPr lang="en-US" sz="1200" kern="1200" dirty="0" smtClean="0">
                <a:solidFill>
                  <a:schemeClr val="tx1"/>
                </a:solidFill>
                <a:latin typeface="Times New Roman" pitchFamily="-110" charset="0"/>
                <a:ea typeface="ＭＳ Ｐゴシック" pitchFamily="-110" charset="-128"/>
                <a:cs typeface="ＭＳ Ｐゴシック" pitchFamily="-110" charset="-128"/>
              </a:rPr>
              <a:t>) is continuous if   for all </a:t>
            </a:r>
            <a:r>
              <a:rPr lang="en-US" sz="1200" i="1" kern="1200" dirty="0" smtClean="0">
                <a:solidFill>
                  <a:schemeClr val="tx1"/>
                </a:solidFill>
                <a:latin typeface="Times New Roman" pitchFamily="-110" charset="0"/>
                <a:ea typeface="ＭＳ Ｐゴシック" pitchFamily="-110" charset="-128"/>
                <a:cs typeface="ＭＳ Ｐゴシック" pitchFamily="-110" charset="-128"/>
              </a:rPr>
              <a:t>a</a:t>
            </a:r>
            <a:r>
              <a:rPr lang="en-US" sz="1200" kern="1200" dirty="0" smtClean="0">
                <a:solidFill>
                  <a:schemeClr val="tx1"/>
                </a:solidFill>
                <a:latin typeface="Times New Roman" pitchFamily="-110" charset="0"/>
                <a:ea typeface="ＭＳ Ｐゴシック" pitchFamily="-110" charset="-128"/>
                <a:cs typeface="ＭＳ Ｐゴシック" pitchFamily="-110" charset="-128"/>
              </a:rPr>
              <a:t>.</a:t>
            </a:r>
          </a:p>
          <a:p>
            <a:r>
              <a:rPr lang="en-US" sz="1200" kern="1200" dirty="0" smtClean="0">
                <a:solidFill>
                  <a:schemeClr val="tx1"/>
                </a:solidFill>
                <a:latin typeface="Times New Roman" pitchFamily="-110" charset="0"/>
                <a:ea typeface="ＭＳ Ｐゴシック" pitchFamily="-110" charset="-128"/>
                <a:cs typeface="ＭＳ Ｐゴシック" pitchFamily="-110" charset="-128"/>
              </a:rPr>
              <a:t>	This is an idealized definition. In fact, the transition from one voltage level to another will not be instantaneous, but there will be a small transition period. Nevertheless, an actual digital signal approximates closely the ideal model of constant voltage levels with instantaneous transitions.</a:t>
            </a:r>
          </a:p>
          <a:p>
            <a:endParaRPr lang="en-US" dirty="0">
              <a:latin typeface="Times" pitchFamily="-110" charset="0"/>
            </a:endParaRPr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0"/>
          </p:nvPr>
        </p:nvSpPr>
        <p:spPr/>
        <p:txBody>
          <a:bodyPr/>
          <a:lstStyle/>
          <a:p>
            <a:pPr>
              <a:defRPr/>
            </a:pPr>
            <a:r>
              <a:rPr lang="en-US" dirty="0" smtClean="0"/>
              <a:t>Data and Computer Communications, Ninth Edition by William Stallings, (c) Pearson Education - Prentice Hall, 2011</a:t>
            </a:r>
            <a:endParaRPr lang="en-US" dirty="0"/>
          </a:p>
        </p:txBody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9698" name="Rectangle 7"/>
          <p:cNvSpPr>
            <a:spLocks noGrp="1" noChangeArrowheads="1"/>
          </p:cNvSpPr>
          <p:nvPr>
            <p:ph type="sldNum" sz="quarter" idx="5"/>
          </p:nvPr>
        </p:nvSpPr>
        <p:spPr>
          <a:noFill/>
        </p:spPr>
        <p:txBody>
          <a:bodyPr/>
          <a:lstStyle/>
          <a:p>
            <a:fld id="{B2E30C6C-1958-8443-AD17-5E4371905345}" type="slidenum">
              <a:rPr lang="en-US"/>
              <a:pPr/>
              <a:t>23</a:t>
            </a:fld>
            <a:endParaRPr lang="en-US" dirty="0"/>
          </a:p>
        </p:txBody>
      </p:sp>
      <p:sp>
        <p:nvSpPr>
          <p:cNvPr id="29699" name="Rectangle 2"/>
          <p:cNvSpPr>
            <a:spLocks noGrp="1" noRot="1" noChangeAspect="1" noChangeArrowheads="1" noTextEdit="1"/>
          </p:cNvSpPr>
          <p:nvPr>
            <p:ph type="sldImg"/>
          </p:nvPr>
        </p:nvSpPr>
        <p:spPr>
          <a:ln/>
        </p:spPr>
      </p:sp>
      <p:sp>
        <p:nvSpPr>
          <p:cNvPr id="29700" name="Rectangle 3"/>
          <p:cNvSpPr>
            <a:spLocks noGrp="1" noChangeArrowheads="1"/>
          </p:cNvSpPr>
          <p:nvPr>
            <p:ph type="body" idx="1"/>
          </p:nvPr>
        </p:nvSpPr>
        <p:spPr>
          <a:noFill/>
          <a:ln/>
        </p:spPr>
        <p:txBody>
          <a:bodyPr/>
          <a:lstStyle/>
          <a:p>
            <a:r>
              <a:rPr lang="en-US" dirty="0" smtClean="0">
                <a:latin typeface="Times" pitchFamily="-110" charset="0"/>
              </a:rPr>
              <a:t>   Figure </a:t>
            </a:r>
            <a:r>
              <a:rPr lang="en-US" dirty="0">
                <a:latin typeface="Times" pitchFamily="-110" charset="0"/>
              </a:rPr>
              <a:t>3.1 shows an example of both analog or digital signals. The continuous signal might represent speech, and the discrete signal might represent binary 1s and 0s.</a:t>
            </a:r>
          </a:p>
          <a:p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0"/>
          </p:nvPr>
        </p:nvSpPr>
        <p:spPr/>
        <p:txBody>
          <a:bodyPr/>
          <a:lstStyle/>
          <a:p>
            <a:pPr>
              <a:defRPr/>
            </a:pPr>
            <a:r>
              <a:rPr lang="en-US" dirty="0" smtClean="0"/>
              <a:t>Data and Computer Communications, Ninth Edition by William Stallings, (c) Pearson Education - Prentice Hall, 2011</a:t>
            </a:r>
            <a:endParaRPr lang="en-US" dirty="0"/>
          </a:p>
        </p:txBody>
      </p:sp>
    </p:spTree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1746" name="Rectangle 7"/>
          <p:cNvSpPr>
            <a:spLocks noGrp="1" noChangeArrowheads="1"/>
          </p:cNvSpPr>
          <p:nvPr>
            <p:ph type="sldNum" sz="quarter" idx="5"/>
          </p:nvPr>
        </p:nvSpPr>
        <p:spPr>
          <a:noFill/>
        </p:spPr>
        <p:txBody>
          <a:bodyPr/>
          <a:lstStyle/>
          <a:p>
            <a:fld id="{52DBD95C-608B-D442-A9EC-C90BB583BF9D}" type="slidenum">
              <a:rPr lang="en-US"/>
              <a:pPr/>
              <a:t>24</a:t>
            </a:fld>
            <a:endParaRPr lang="en-US" dirty="0"/>
          </a:p>
        </p:txBody>
      </p:sp>
      <p:sp>
        <p:nvSpPr>
          <p:cNvPr id="31747" name="Rectangle 2"/>
          <p:cNvSpPr>
            <a:spLocks noGrp="1" noRot="1" noChangeAspect="1" noChangeArrowheads="1" noTextEdit="1"/>
          </p:cNvSpPr>
          <p:nvPr>
            <p:ph type="sldImg"/>
          </p:nvPr>
        </p:nvSpPr>
        <p:spPr>
          <a:ln/>
        </p:spPr>
      </p:sp>
      <p:sp>
        <p:nvSpPr>
          <p:cNvPr id="31748" name="Rectangle 3"/>
          <p:cNvSpPr>
            <a:spLocks noGrp="1" noChangeArrowheads="1"/>
          </p:cNvSpPr>
          <p:nvPr>
            <p:ph type="body" idx="1"/>
          </p:nvPr>
        </p:nvSpPr>
        <p:spPr>
          <a:noFill/>
          <a:ln/>
        </p:spPr>
        <p:txBody>
          <a:bodyPr/>
          <a:lstStyle/>
          <a:p>
            <a:r>
              <a:rPr lang="en-US" dirty="0">
                <a:latin typeface="Times" pitchFamily="-110" charset="0"/>
              </a:rPr>
              <a:t>In </a:t>
            </a:r>
            <a:r>
              <a:rPr lang="en-US" dirty="0" smtClean="0">
                <a:latin typeface="Times" pitchFamily="-110" charset="0"/>
              </a:rPr>
              <a:t>   Figure </a:t>
            </a:r>
            <a:r>
              <a:rPr lang="en-US" dirty="0">
                <a:latin typeface="Times" pitchFamily="-110" charset="0"/>
              </a:rPr>
              <a:t>3.2 a signal is generated by the transmitter and transmitted over a medium. The signal is a function of time, but it can also be expressed as a function of frequency; that is, the signal consists of components of different frequencies. It turns out that the </a:t>
            </a:r>
            <a:r>
              <a:rPr lang="en-US" b="1" dirty="0">
                <a:latin typeface="Times" pitchFamily="-110" charset="0"/>
              </a:rPr>
              <a:t>frequency domain</a:t>
            </a:r>
            <a:r>
              <a:rPr lang="en-US" dirty="0">
                <a:latin typeface="Times" pitchFamily="-110" charset="0"/>
              </a:rPr>
              <a:t> view of a signal is more important to an understanding of data transmission than a </a:t>
            </a:r>
            <a:r>
              <a:rPr lang="en-US" b="1" dirty="0">
                <a:latin typeface="Times" pitchFamily="-110" charset="0"/>
              </a:rPr>
              <a:t>time domain</a:t>
            </a:r>
            <a:r>
              <a:rPr lang="en-US" dirty="0">
                <a:latin typeface="Times" pitchFamily="-110" charset="0"/>
              </a:rPr>
              <a:t> view. Both views are introduced here.</a:t>
            </a:r>
          </a:p>
          <a:p>
            <a:endParaRPr lang="en-US" dirty="0">
              <a:latin typeface="Times" pitchFamily="-110" charset="0"/>
            </a:endParaRPr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0"/>
          </p:nvPr>
        </p:nvSpPr>
        <p:spPr/>
        <p:txBody>
          <a:bodyPr/>
          <a:lstStyle/>
          <a:p>
            <a:pPr>
              <a:defRPr/>
            </a:pPr>
            <a:r>
              <a:rPr lang="en-US" dirty="0" smtClean="0"/>
              <a:t>Data and Computer Communications, Ninth Edition by William Stallings, (c) Pearson Education - Prentice Hall, 2011</a:t>
            </a:r>
            <a:endParaRPr lang="en-US" dirty="0"/>
          </a:p>
        </p:txBody>
      </p:sp>
    </p:spTree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3794" name="Rectangle 7"/>
          <p:cNvSpPr>
            <a:spLocks noGrp="1" noChangeArrowheads="1"/>
          </p:cNvSpPr>
          <p:nvPr>
            <p:ph type="sldNum" sz="quarter" idx="5"/>
          </p:nvPr>
        </p:nvSpPr>
        <p:spPr>
          <a:noFill/>
        </p:spPr>
        <p:txBody>
          <a:bodyPr/>
          <a:lstStyle/>
          <a:p>
            <a:fld id="{B61217FC-1D02-2C4B-89CD-27C0E1866DC7}" type="slidenum">
              <a:rPr lang="en-US"/>
              <a:pPr/>
              <a:t>25</a:t>
            </a:fld>
            <a:endParaRPr lang="en-US" dirty="0"/>
          </a:p>
        </p:txBody>
      </p:sp>
      <p:sp>
        <p:nvSpPr>
          <p:cNvPr id="33795" name="Rectangle 2"/>
          <p:cNvSpPr>
            <a:spLocks noGrp="1" noRot="1" noChangeAspect="1" noChangeArrowheads="1" noTextEdit="1"/>
          </p:cNvSpPr>
          <p:nvPr>
            <p:ph type="sldImg"/>
          </p:nvPr>
        </p:nvSpPr>
        <p:spPr>
          <a:ln/>
        </p:spPr>
      </p:sp>
      <p:sp>
        <p:nvSpPr>
          <p:cNvPr id="33796" name="Rectangle 3"/>
          <p:cNvSpPr>
            <a:spLocks noGrp="1" noChangeArrowheads="1"/>
          </p:cNvSpPr>
          <p:nvPr>
            <p:ph type="body" idx="1"/>
          </p:nvPr>
        </p:nvSpPr>
        <p:spPr>
          <a:noFill/>
          <a:ln/>
        </p:spPr>
        <p:txBody>
          <a:bodyPr/>
          <a:lstStyle/>
          <a:p>
            <a:r>
              <a:rPr lang="en-US" sz="1200" kern="1200" dirty="0" smtClean="0">
                <a:solidFill>
                  <a:schemeClr val="tx1"/>
                </a:solidFill>
                <a:latin typeface="Times New Roman" pitchFamily="-110" charset="0"/>
                <a:ea typeface="ＭＳ Ｐゴシック" pitchFamily="-110" charset="-128"/>
                <a:cs typeface="ＭＳ Ｐゴシック" pitchFamily="-110" charset="-128"/>
              </a:rPr>
              <a:t>The sine wave is the fundamental periodic signal. A general sine wave can be represented by three parameters: peak amplitude (</a:t>
            </a:r>
            <a:r>
              <a:rPr lang="en-US" sz="1200" i="1" kern="1200" dirty="0" smtClean="0">
                <a:solidFill>
                  <a:schemeClr val="tx1"/>
                </a:solidFill>
                <a:latin typeface="Times New Roman" pitchFamily="-110" charset="0"/>
                <a:ea typeface="ＭＳ Ｐゴシック" pitchFamily="-110" charset="-128"/>
                <a:cs typeface="ＭＳ Ｐゴシック" pitchFamily="-110" charset="-128"/>
              </a:rPr>
              <a:t>A</a:t>
            </a:r>
            <a:r>
              <a:rPr lang="en-US" sz="1200" kern="1200" dirty="0" smtClean="0">
                <a:solidFill>
                  <a:schemeClr val="tx1"/>
                </a:solidFill>
                <a:latin typeface="Times New Roman" pitchFamily="-110" charset="0"/>
                <a:ea typeface="ＭＳ Ｐゴシック" pitchFamily="-110" charset="-128"/>
                <a:cs typeface="ＭＳ Ｐゴシック" pitchFamily="-110" charset="-128"/>
              </a:rPr>
              <a:t>), frequency (</a:t>
            </a:r>
            <a:r>
              <a:rPr lang="en-US" sz="1200" i="1" kern="1200" dirty="0" smtClean="0">
                <a:solidFill>
                  <a:schemeClr val="tx1"/>
                </a:solidFill>
                <a:latin typeface="Times New Roman" pitchFamily="-110" charset="0"/>
                <a:ea typeface="ＭＳ Ｐゴシック" pitchFamily="-110" charset="-128"/>
                <a:cs typeface="ＭＳ Ｐゴシック" pitchFamily="-110" charset="-128"/>
              </a:rPr>
              <a:t>f</a:t>
            </a:r>
            <a:r>
              <a:rPr lang="en-US" sz="1200" kern="1200" dirty="0" smtClean="0">
                <a:solidFill>
                  <a:schemeClr val="tx1"/>
                </a:solidFill>
                <a:latin typeface="Times New Roman" pitchFamily="-110" charset="0"/>
                <a:ea typeface="ＭＳ Ｐゴシック" pitchFamily="-110" charset="-128"/>
                <a:cs typeface="ＭＳ Ｐゴシック" pitchFamily="-110" charset="-128"/>
              </a:rPr>
              <a:t>), and phase (f). The </a:t>
            </a:r>
            <a:r>
              <a:rPr lang="en-US" sz="1200" b="1" kern="1200" dirty="0" smtClean="0">
                <a:solidFill>
                  <a:schemeClr val="tx1"/>
                </a:solidFill>
                <a:latin typeface="Times New Roman" pitchFamily="-110" charset="0"/>
                <a:ea typeface="ＭＳ Ｐゴシック" pitchFamily="-110" charset="-128"/>
                <a:cs typeface="ＭＳ Ｐゴシック" pitchFamily="-110" charset="-128"/>
              </a:rPr>
              <a:t>peak</a:t>
            </a:r>
            <a:r>
              <a:rPr lang="en-US" sz="1200" kern="1200" dirty="0" smtClean="0">
                <a:solidFill>
                  <a:schemeClr val="tx1"/>
                </a:solidFill>
                <a:latin typeface="Times New Roman" pitchFamily="-110" charset="0"/>
                <a:ea typeface="ＭＳ Ｐゴシック" pitchFamily="-110" charset="-128"/>
                <a:cs typeface="ＭＳ Ｐゴシック" pitchFamily="-110" charset="-128"/>
              </a:rPr>
              <a:t> </a:t>
            </a:r>
            <a:r>
              <a:rPr lang="en-US" sz="1200" b="1" kern="1200" dirty="0" smtClean="0">
                <a:solidFill>
                  <a:schemeClr val="tx1"/>
                </a:solidFill>
                <a:latin typeface="Times New Roman" pitchFamily="-110" charset="0"/>
                <a:ea typeface="ＭＳ Ｐゴシック" pitchFamily="-110" charset="-128"/>
                <a:cs typeface="ＭＳ Ｐゴシック" pitchFamily="-110" charset="-128"/>
              </a:rPr>
              <a:t>amplitude</a:t>
            </a:r>
            <a:r>
              <a:rPr lang="en-US" sz="1200" kern="1200" dirty="0" smtClean="0">
                <a:solidFill>
                  <a:schemeClr val="tx1"/>
                </a:solidFill>
                <a:latin typeface="Times New Roman" pitchFamily="-110" charset="0"/>
                <a:ea typeface="ＭＳ Ｐゴシック" pitchFamily="-110" charset="-128"/>
                <a:cs typeface="ＭＳ Ｐゴシック" pitchFamily="-110" charset="-128"/>
              </a:rPr>
              <a:t> is the maximum value or strength of the signal over time; typically, this value is measured in volts. The </a:t>
            </a:r>
            <a:r>
              <a:rPr lang="en-US" sz="1200" b="1" kern="1200" dirty="0" smtClean="0">
                <a:solidFill>
                  <a:schemeClr val="tx1"/>
                </a:solidFill>
                <a:latin typeface="Times New Roman" pitchFamily="-110" charset="0"/>
                <a:ea typeface="ＭＳ Ｐゴシック" pitchFamily="-110" charset="-128"/>
                <a:cs typeface="ＭＳ Ｐゴシック" pitchFamily="-110" charset="-128"/>
              </a:rPr>
              <a:t>frequency</a:t>
            </a:r>
            <a:r>
              <a:rPr lang="en-US" sz="1200" kern="1200" dirty="0" smtClean="0">
                <a:solidFill>
                  <a:schemeClr val="tx1"/>
                </a:solidFill>
                <a:latin typeface="Times New Roman" pitchFamily="-110" charset="0"/>
                <a:ea typeface="ＭＳ Ｐゴシック" pitchFamily="-110" charset="-128"/>
                <a:cs typeface="ＭＳ Ｐゴシック" pitchFamily="-110" charset="-128"/>
              </a:rPr>
              <a:t> is the rate [in cycles per second, or hertz (Hz)] at which the signal repeats. An equivalent parameter is the </a:t>
            </a:r>
            <a:r>
              <a:rPr lang="en-US" sz="1200" b="1" kern="1200" dirty="0" smtClean="0">
                <a:solidFill>
                  <a:schemeClr val="tx1"/>
                </a:solidFill>
                <a:latin typeface="Times New Roman" pitchFamily="-110" charset="0"/>
                <a:ea typeface="ＭＳ Ｐゴシック" pitchFamily="-110" charset="-128"/>
                <a:cs typeface="ＭＳ Ｐゴシック" pitchFamily="-110" charset="-128"/>
              </a:rPr>
              <a:t>period</a:t>
            </a:r>
            <a:r>
              <a:rPr lang="en-US" sz="1200" kern="1200" dirty="0" smtClean="0">
                <a:solidFill>
                  <a:schemeClr val="tx1"/>
                </a:solidFill>
                <a:latin typeface="Times New Roman" pitchFamily="-110" charset="0"/>
                <a:ea typeface="ＭＳ Ｐゴシック" pitchFamily="-110" charset="-128"/>
                <a:cs typeface="ＭＳ Ｐゴシック" pitchFamily="-110" charset="-128"/>
              </a:rPr>
              <a:t> (</a:t>
            </a:r>
            <a:r>
              <a:rPr lang="en-US" sz="1200" i="1" kern="1200" dirty="0" smtClean="0">
                <a:solidFill>
                  <a:schemeClr val="tx1"/>
                </a:solidFill>
                <a:latin typeface="Times New Roman" pitchFamily="-110" charset="0"/>
                <a:ea typeface="ＭＳ Ｐゴシック" pitchFamily="-110" charset="-128"/>
                <a:cs typeface="ＭＳ Ｐゴシック" pitchFamily="-110" charset="-128"/>
              </a:rPr>
              <a:t>T</a:t>
            </a:r>
            <a:r>
              <a:rPr lang="en-US" sz="1200" kern="1200" dirty="0" smtClean="0">
                <a:solidFill>
                  <a:schemeClr val="tx1"/>
                </a:solidFill>
                <a:latin typeface="Times New Roman" pitchFamily="-110" charset="0"/>
                <a:ea typeface="ＭＳ Ｐゴシック" pitchFamily="-110" charset="-128"/>
                <a:cs typeface="ＭＳ Ｐゴシック" pitchFamily="-110" charset="-128"/>
              </a:rPr>
              <a:t>) of a signal, which is the amount of time it takes for one repetition; therefore, </a:t>
            </a:r>
            <a:r>
              <a:rPr lang="en-US" sz="1200" i="1" kern="1200" dirty="0" smtClean="0">
                <a:solidFill>
                  <a:schemeClr val="tx1"/>
                </a:solidFill>
                <a:latin typeface="Times New Roman" pitchFamily="-110" charset="0"/>
                <a:ea typeface="ＭＳ Ｐゴシック" pitchFamily="-110" charset="-128"/>
                <a:cs typeface="ＭＳ Ｐゴシック" pitchFamily="-110" charset="-128"/>
              </a:rPr>
              <a:t>T</a:t>
            </a:r>
            <a:r>
              <a:rPr lang="en-US" sz="1200" kern="1200" dirty="0" smtClean="0">
                <a:solidFill>
                  <a:schemeClr val="tx1"/>
                </a:solidFill>
                <a:latin typeface="Times New Roman" pitchFamily="-110" charset="0"/>
                <a:ea typeface="ＭＳ Ｐゴシック" pitchFamily="-110" charset="-128"/>
                <a:cs typeface="ＭＳ Ｐゴシック" pitchFamily="-110" charset="-128"/>
              </a:rPr>
              <a:t> = 1/</a:t>
            </a:r>
            <a:r>
              <a:rPr lang="en-US" sz="1200" i="1" kern="1200" dirty="0" smtClean="0">
                <a:solidFill>
                  <a:schemeClr val="tx1"/>
                </a:solidFill>
                <a:latin typeface="Times New Roman" pitchFamily="-110" charset="0"/>
                <a:ea typeface="ＭＳ Ｐゴシック" pitchFamily="-110" charset="-128"/>
                <a:cs typeface="ＭＳ Ｐゴシック" pitchFamily="-110" charset="-128"/>
              </a:rPr>
              <a:t>f</a:t>
            </a:r>
            <a:r>
              <a:rPr lang="en-US" sz="1200" kern="1200" dirty="0" smtClean="0">
                <a:solidFill>
                  <a:schemeClr val="tx1"/>
                </a:solidFill>
                <a:latin typeface="Times New Roman" pitchFamily="-110" charset="0"/>
                <a:ea typeface="ＭＳ Ｐゴシック" pitchFamily="-110" charset="-128"/>
                <a:cs typeface="ＭＳ Ｐゴシック" pitchFamily="-110" charset="-128"/>
              </a:rPr>
              <a:t>. </a:t>
            </a:r>
            <a:r>
              <a:rPr lang="en-US" sz="1200" b="1" kern="1200" dirty="0" smtClean="0">
                <a:solidFill>
                  <a:schemeClr val="tx1"/>
                </a:solidFill>
                <a:latin typeface="Times New Roman" pitchFamily="-110" charset="0"/>
                <a:ea typeface="ＭＳ Ｐゴシック" pitchFamily="-110" charset="-128"/>
                <a:cs typeface="ＭＳ Ｐゴシック" pitchFamily="-110" charset="-128"/>
              </a:rPr>
              <a:t>Phase</a:t>
            </a:r>
            <a:r>
              <a:rPr lang="en-US" sz="1200" kern="1200" dirty="0" smtClean="0">
                <a:solidFill>
                  <a:schemeClr val="tx1"/>
                </a:solidFill>
                <a:latin typeface="Times New Roman" pitchFamily="-110" charset="0"/>
                <a:ea typeface="ＭＳ Ｐゴシック" pitchFamily="-110" charset="-128"/>
                <a:cs typeface="ＭＳ Ｐゴシック" pitchFamily="-110" charset="-128"/>
              </a:rPr>
              <a:t> is a measure of the relative position in time within a single period of a signal, as is illustrated subsequently. More formally, for a periodic signal </a:t>
            </a:r>
            <a:r>
              <a:rPr lang="en-US" sz="1200" i="1" kern="1200" dirty="0" smtClean="0">
                <a:solidFill>
                  <a:schemeClr val="tx1"/>
                </a:solidFill>
                <a:latin typeface="Times New Roman" pitchFamily="-110" charset="0"/>
                <a:ea typeface="ＭＳ Ｐゴシック" pitchFamily="-110" charset="-128"/>
                <a:cs typeface="ＭＳ Ｐゴシック" pitchFamily="-110" charset="-128"/>
              </a:rPr>
              <a:t>f</a:t>
            </a:r>
            <a:r>
              <a:rPr lang="en-US" sz="1200" kern="1200" dirty="0" smtClean="0">
                <a:solidFill>
                  <a:schemeClr val="tx1"/>
                </a:solidFill>
                <a:latin typeface="Times New Roman" pitchFamily="-110" charset="0"/>
                <a:ea typeface="ＭＳ Ｐゴシック" pitchFamily="-110" charset="-128"/>
                <a:cs typeface="ＭＳ Ｐゴシック" pitchFamily="-110" charset="-128"/>
              </a:rPr>
              <a:t>(</a:t>
            </a:r>
            <a:r>
              <a:rPr lang="en-US" sz="1200" i="1" kern="1200" dirty="0" smtClean="0">
                <a:solidFill>
                  <a:schemeClr val="tx1"/>
                </a:solidFill>
                <a:latin typeface="Times New Roman" pitchFamily="-110" charset="0"/>
                <a:ea typeface="ＭＳ Ｐゴシック" pitchFamily="-110" charset="-128"/>
                <a:cs typeface="ＭＳ Ｐゴシック" pitchFamily="-110" charset="-128"/>
              </a:rPr>
              <a:t>t</a:t>
            </a:r>
            <a:r>
              <a:rPr lang="en-US" sz="1200" kern="1200" dirty="0" smtClean="0">
                <a:solidFill>
                  <a:schemeClr val="tx1"/>
                </a:solidFill>
                <a:latin typeface="Times New Roman" pitchFamily="-110" charset="0"/>
                <a:ea typeface="ＭＳ Ｐゴシック" pitchFamily="-110" charset="-128"/>
                <a:cs typeface="ＭＳ Ｐゴシック" pitchFamily="-110" charset="-128"/>
              </a:rPr>
              <a:t>), phase is the fractional part </a:t>
            </a:r>
            <a:r>
              <a:rPr lang="en-US" sz="1200" i="1" kern="1200" dirty="0" smtClean="0">
                <a:solidFill>
                  <a:schemeClr val="tx1"/>
                </a:solidFill>
                <a:latin typeface="Times New Roman" pitchFamily="-110" charset="0"/>
                <a:ea typeface="ＭＳ Ｐゴシック" pitchFamily="-110" charset="-128"/>
                <a:cs typeface="ＭＳ Ｐゴシック" pitchFamily="-110" charset="-128"/>
              </a:rPr>
              <a:t>t</a:t>
            </a:r>
            <a:r>
              <a:rPr lang="en-US" sz="1200" kern="1200" dirty="0" smtClean="0">
                <a:solidFill>
                  <a:schemeClr val="tx1"/>
                </a:solidFill>
                <a:latin typeface="Times New Roman" pitchFamily="-110" charset="0"/>
                <a:ea typeface="ＭＳ Ｐゴシック" pitchFamily="-110" charset="-128"/>
                <a:cs typeface="ＭＳ Ｐゴシック" pitchFamily="-110" charset="-128"/>
              </a:rPr>
              <a:t>/</a:t>
            </a:r>
            <a:r>
              <a:rPr lang="en-US" sz="1200" i="1" kern="1200" dirty="0" smtClean="0">
                <a:solidFill>
                  <a:schemeClr val="tx1"/>
                </a:solidFill>
                <a:latin typeface="Times New Roman" pitchFamily="-110" charset="0"/>
                <a:ea typeface="ＭＳ Ｐゴシック" pitchFamily="-110" charset="-128"/>
                <a:cs typeface="ＭＳ Ｐゴシック" pitchFamily="-110" charset="-128"/>
              </a:rPr>
              <a:t>T</a:t>
            </a:r>
            <a:r>
              <a:rPr lang="en-US" sz="1200" kern="1200" dirty="0" smtClean="0">
                <a:solidFill>
                  <a:schemeClr val="tx1"/>
                </a:solidFill>
                <a:latin typeface="Times New Roman" pitchFamily="-110" charset="0"/>
                <a:ea typeface="ＭＳ Ｐゴシック" pitchFamily="-110" charset="-128"/>
                <a:cs typeface="ＭＳ Ｐゴシック" pitchFamily="-110" charset="-128"/>
              </a:rPr>
              <a:t> of the period </a:t>
            </a:r>
            <a:r>
              <a:rPr lang="en-US" sz="1200" i="1" kern="1200" dirty="0" smtClean="0">
                <a:solidFill>
                  <a:schemeClr val="tx1"/>
                </a:solidFill>
                <a:latin typeface="Times New Roman" pitchFamily="-110" charset="0"/>
                <a:ea typeface="ＭＳ Ｐゴシック" pitchFamily="-110" charset="-128"/>
                <a:cs typeface="ＭＳ Ｐゴシック" pitchFamily="-110" charset="-128"/>
              </a:rPr>
              <a:t>T</a:t>
            </a:r>
            <a:r>
              <a:rPr lang="en-US" sz="1200" kern="1200" dirty="0" smtClean="0">
                <a:solidFill>
                  <a:schemeClr val="tx1"/>
                </a:solidFill>
                <a:latin typeface="Times New Roman" pitchFamily="-110" charset="0"/>
                <a:ea typeface="ＭＳ Ｐゴシック" pitchFamily="-110" charset="-128"/>
                <a:cs typeface="ＭＳ Ｐゴシック" pitchFamily="-110" charset="-128"/>
              </a:rPr>
              <a:t> through which </a:t>
            </a:r>
            <a:r>
              <a:rPr lang="en-US" sz="1200" i="1" kern="1200" dirty="0" smtClean="0">
                <a:solidFill>
                  <a:schemeClr val="tx1"/>
                </a:solidFill>
                <a:latin typeface="Times New Roman" pitchFamily="-110" charset="0"/>
                <a:ea typeface="ＭＳ Ｐゴシック" pitchFamily="-110" charset="-128"/>
                <a:cs typeface="ＭＳ Ｐゴシック" pitchFamily="-110" charset="-128"/>
              </a:rPr>
              <a:t>t</a:t>
            </a:r>
            <a:r>
              <a:rPr lang="en-US" sz="1200" kern="1200" dirty="0" smtClean="0">
                <a:solidFill>
                  <a:schemeClr val="tx1"/>
                </a:solidFill>
                <a:latin typeface="Times New Roman" pitchFamily="-110" charset="0"/>
                <a:ea typeface="ＭＳ Ｐゴシック" pitchFamily="-110" charset="-128"/>
                <a:cs typeface="ＭＳ Ｐゴシック" pitchFamily="-110" charset="-128"/>
              </a:rPr>
              <a:t> has advanced relative to an arbitrary origin. The origin is usually taken as the last previous passage through zero from the negative to the positive direction.</a:t>
            </a:r>
          </a:p>
          <a:p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0"/>
          </p:nvPr>
        </p:nvSpPr>
        <p:spPr/>
        <p:txBody>
          <a:bodyPr/>
          <a:lstStyle/>
          <a:p>
            <a:pPr>
              <a:defRPr/>
            </a:pPr>
            <a:r>
              <a:rPr lang="en-US" dirty="0" smtClean="0"/>
              <a:t>Data and Computer Communications, Ninth Edition by William Stallings, (c) Pearson Education - Prentice Hall, 2011</a:t>
            </a:r>
            <a:endParaRPr lang="en-US" dirty="0"/>
          </a:p>
        </p:txBody>
      </p:sp>
    </p:spTree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5842" name="Rectangle 7"/>
          <p:cNvSpPr>
            <a:spLocks noGrp="1" noChangeArrowheads="1"/>
          </p:cNvSpPr>
          <p:nvPr>
            <p:ph type="sldNum" sz="quarter" idx="5"/>
          </p:nvPr>
        </p:nvSpPr>
        <p:spPr>
          <a:noFill/>
        </p:spPr>
        <p:txBody>
          <a:bodyPr/>
          <a:lstStyle/>
          <a:p>
            <a:fld id="{59C8E10E-A524-B745-B451-44C001E2B1E2}" type="slidenum">
              <a:rPr lang="en-US"/>
              <a:pPr/>
              <a:t>26</a:t>
            </a:fld>
            <a:endParaRPr lang="en-US" dirty="0"/>
          </a:p>
        </p:txBody>
      </p:sp>
      <p:sp>
        <p:nvSpPr>
          <p:cNvPr id="35843" name="Rectangle 2"/>
          <p:cNvSpPr>
            <a:spLocks noGrp="1" noRot="1" noChangeAspect="1" noChangeArrowheads="1" noTextEdit="1"/>
          </p:cNvSpPr>
          <p:nvPr>
            <p:ph type="sldImg"/>
          </p:nvPr>
        </p:nvSpPr>
        <p:spPr>
          <a:ln/>
        </p:spPr>
      </p:sp>
      <p:sp>
        <p:nvSpPr>
          <p:cNvPr id="35844" name="Rectangle 3"/>
          <p:cNvSpPr>
            <a:spLocks noGrp="1" noChangeArrowheads="1"/>
          </p:cNvSpPr>
          <p:nvPr>
            <p:ph type="body" idx="1"/>
          </p:nvPr>
        </p:nvSpPr>
        <p:spPr>
          <a:noFill/>
          <a:ln/>
        </p:spPr>
        <p:txBody>
          <a:bodyPr/>
          <a:lstStyle/>
          <a:p>
            <a:r>
              <a:rPr lang="en-US" sz="1200" kern="1200" dirty="0" smtClean="0">
                <a:solidFill>
                  <a:schemeClr val="tx1"/>
                </a:solidFill>
                <a:latin typeface="Times New Roman" pitchFamily="-110" charset="0"/>
                <a:ea typeface="ＭＳ Ｐゴシック" pitchFamily="-110" charset="-128"/>
                <a:cs typeface="ＭＳ Ｐゴシック" pitchFamily="-110" charset="-128"/>
              </a:rPr>
              <a:t>	The general sine wave can be written</a:t>
            </a:r>
          </a:p>
          <a:p>
            <a:r>
              <a:rPr lang="en-US" sz="1200" kern="1200" dirty="0" smtClean="0">
                <a:solidFill>
                  <a:schemeClr val="tx1"/>
                </a:solidFill>
                <a:latin typeface="Times New Roman" pitchFamily="-110" charset="0"/>
                <a:ea typeface="ＭＳ Ｐゴシック" pitchFamily="-110" charset="-128"/>
                <a:cs typeface="ＭＳ Ｐゴシック" pitchFamily="-110" charset="-128"/>
              </a:rPr>
              <a:t> </a:t>
            </a:r>
          </a:p>
          <a:p>
            <a:r>
              <a:rPr lang="en-US" sz="1200" i="1" kern="1200" dirty="0" smtClean="0">
                <a:solidFill>
                  <a:schemeClr val="tx1"/>
                </a:solidFill>
                <a:latin typeface="Times New Roman" pitchFamily="-110" charset="0"/>
                <a:ea typeface="ＭＳ Ｐゴシック" pitchFamily="-110" charset="-128"/>
                <a:cs typeface="ＭＳ Ｐゴシック" pitchFamily="-110" charset="-128"/>
              </a:rPr>
              <a:t>s</a:t>
            </a:r>
            <a:r>
              <a:rPr lang="en-US" sz="1200" kern="1200" dirty="0" smtClean="0">
                <a:solidFill>
                  <a:schemeClr val="tx1"/>
                </a:solidFill>
                <a:latin typeface="Times New Roman" pitchFamily="-110" charset="0"/>
                <a:ea typeface="ＭＳ Ｐゴシック" pitchFamily="-110" charset="-128"/>
                <a:cs typeface="ＭＳ Ｐゴシック" pitchFamily="-110" charset="-128"/>
              </a:rPr>
              <a:t>(</a:t>
            </a:r>
            <a:r>
              <a:rPr lang="en-US" sz="1200" i="1" kern="1200" dirty="0" smtClean="0">
                <a:solidFill>
                  <a:schemeClr val="tx1"/>
                </a:solidFill>
                <a:latin typeface="Times New Roman" pitchFamily="-110" charset="0"/>
                <a:ea typeface="ＭＳ Ｐゴシック" pitchFamily="-110" charset="-128"/>
                <a:cs typeface="ＭＳ Ｐゴシック" pitchFamily="-110" charset="-128"/>
              </a:rPr>
              <a:t>t</a:t>
            </a:r>
            <a:r>
              <a:rPr lang="en-US" sz="1200" kern="1200" dirty="0" smtClean="0">
                <a:solidFill>
                  <a:schemeClr val="tx1"/>
                </a:solidFill>
                <a:latin typeface="Times New Roman" pitchFamily="-110" charset="0"/>
                <a:ea typeface="ＭＳ Ｐゴシック" pitchFamily="-110" charset="-128"/>
                <a:cs typeface="ＭＳ Ｐゴシック" pitchFamily="-110" charset="-128"/>
              </a:rPr>
              <a:t>) = </a:t>
            </a:r>
            <a:r>
              <a:rPr lang="en-US" sz="1200" i="1" kern="1200" dirty="0" smtClean="0">
                <a:solidFill>
                  <a:schemeClr val="tx1"/>
                </a:solidFill>
                <a:latin typeface="Times New Roman" pitchFamily="-110" charset="0"/>
                <a:ea typeface="ＭＳ Ｐゴシック" pitchFamily="-110" charset="-128"/>
                <a:cs typeface="ＭＳ Ｐゴシック" pitchFamily="-110" charset="-128"/>
              </a:rPr>
              <a:t>A</a:t>
            </a:r>
            <a:r>
              <a:rPr lang="en-US" sz="1200" kern="1200" dirty="0" smtClean="0">
                <a:solidFill>
                  <a:schemeClr val="tx1"/>
                </a:solidFill>
                <a:latin typeface="Times New Roman" pitchFamily="-110" charset="0"/>
                <a:ea typeface="ＭＳ Ｐゴシック" pitchFamily="-110" charset="-128"/>
                <a:cs typeface="ＭＳ Ｐゴシック" pitchFamily="-110" charset="-128"/>
              </a:rPr>
              <a:t> sin(2π</a:t>
            </a:r>
            <a:r>
              <a:rPr lang="en-US" sz="1200" i="1" kern="1200" dirty="0" smtClean="0">
                <a:solidFill>
                  <a:schemeClr val="tx1"/>
                </a:solidFill>
                <a:latin typeface="Times New Roman" pitchFamily="-110" charset="0"/>
                <a:ea typeface="ＭＳ Ｐゴシック" pitchFamily="-110" charset="-128"/>
                <a:cs typeface="ＭＳ Ｐゴシック" pitchFamily="-110" charset="-128"/>
              </a:rPr>
              <a:t>ft</a:t>
            </a:r>
            <a:r>
              <a:rPr lang="en-US" sz="1200" kern="1200" dirty="0" smtClean="0">
                <a:solidFill>
                  <a:schemeClr val="tx1"/>
                </a:solidFill>
                <a:latin typeface="Times New Roman" pitchFamily="-110" charset="0"/>
                <a:ea typeface="ＭＳ Ｐゴシック" pitchFamily="-110" charset="-128"/>
                <a:cs typeface="ＭＳ Ｐゴシック" pitchFamily="-110" charset="-128"/>
              </a:rPr>
              <a:t> + f)</a:t>
            </a:r>
          </a:p>
          <a:p>
            <a:r>
              <a:rPr lang="en-US" sz="1200" kern="1200" dirty="0" smtClean="0">
                <a:solidFill>
                  <a:schemeClr val="tx1"/>
                </a:solidFill>
                <a:latin typeface="Times New Roman" pitchFamily="-110" charset="0"/>
                <a:ea typeface="ＭＳ Ｐゴシック" pitchFamily="-110" charset="-128"/>
                <a:cs typeface="ＭＳ Ｐゴシック" pitchFamily="-110" charset="-128"/>
              </a:rPr>
              <a:t> </a:t>
            </a:r>
          </a:p>
          <a:p>
            <a:r>
              <a:rPr lang="en-US" sz="1200" kern="1200" dirty="0" smtClean="0">
                <a:solidFill>
                  <a:schemeClr val="tx1"/>
                </a:solidFill>
                <a:latin typeface="Times New Roman" pitchFamily="-110" charset="0"/>
                <a:ea typeface="ＭＳ Ｐゴシック" pitchFamily="-110" charset="-128"/>
                <a:cs typeface="ＭＳ Ｐゴシック" pitchFamily="-110" charset="-128"/>
              </a:rPr>
              <a:t>A function with the form of the preceding equation is known as a </a:t>
            </a:r>
            <a:r>
              <a:rPr lang="en-US" sz="1200" b="1" kern="1200" dirty="0" smtClean="0">
                <a:solidFill>
                  <a:schemeClr val="tx1"/>
                </a:solidFill>
                <a:latin typeface="Times New Roman" pitchFamily="-110" charset="0"/>
                <a:ea typeface="ＭＳ Ｐゴシック" pitchFamily="-110" charset="-128"/>
                <a:cs typeface="ＭＳ Ｐゴシック" pitchFamily="-110" charset="-128"/>
              </a:rPr>
              <a:t>sinusoid</a:t>
            </a:r>
            <a:r>
              <a:rPr lang="en-US" sz="1200" kern="1200" dirty="0" smtClean="0">
                <a:solidFill>
                  <a:schemeClr val="tx1"/>
                </a:solidFill>
                <a:latin typeface="Times New Roman" pitchFamily="-110" charset="0"/>
                <a:ea typeface="ＭＳ Ｐゴシック" pitchFamily="-110" charset="-128"/>
                <a:cs typeface="ＭＳ Ｐゴシック" pitchFamily="-110" charset="-128"/>
              </a:rPr>
              <a:t>.    Figure 3.3 shows the effect of varying each of the three parameters. In part (a) of the figure, the frequency is 1 Hz; thus the period is </a:t>
            </a:r>
            <a:r>
              <a:rPr lang="en-US" sz="1200" i="1" kern="1200" dirty="0" smtClean="0">
                <a:solidFill>
                  <a:schemeClr val="tx1"/>
                </a:solidFill>
                <a:latin typeface="Times New Roman" pitchFamily="-110" charset="0"/>
                <a:ea typeface="ＭＳ Ｐゴシック" pitchFamily="-110" charset="-128"/>
                <a:cs typeface="ＭＳ Ｐゴシック" pitchFamily="-110" charset="-128"/>
              </a:rPr>
              <a:t>T</a:t>
            </a:r>
            <a:r>
              <a:rPr lang="en-US" sz="1200" kern="1200" dirty="0" smtClean="0">
                <a:solidFill>
                  <a:schemeClr val="tx1"/>
                </a:solidFill>
                <a:latin typeface="Times New Roman" pitchFamily="-110" charset="0"/>
                <a:ea typeface="ＭＳ Ｐゴシック" pitchFamily="-110" charset="-128"/>
                <a:cs typeface="ＭＳ Ｐゴシック" pitchFamily="-110" charset="-128"/>
              </a:rPr>
              <a:t> = 1 second. Part (b) has the same frequency and phase but a peak amplitude of 0.5. In part (c) we have </a:t>
            </a:r>
            <a:r>
              <a:rPr lang="en-US" sz="1200" i="1" kern="1200" dirty="0" smtClean="0">
                <a:solidFill>
                  <a:schemeClr val="tx1"/>
                </a:solidFill>
                <a:latin typeface="Times New Roman" pitchFamily="-110" charset="0"/>
                <a:ea typeface="ＭＳ Ｐゴシック" pitchFamily="-110" charset="-128"/>
                <a:cs typeface="ＭＳ Ｐゴシック" pitchFamily="-110" charset="-128"/>
              </a:rPr>
              <a:t>f</a:t>
            </a:r>
            <a:r>
              <a:rPr lang="en-US" sz="1200" kern="1200" dirty="0" smtClean="0">
                <a:solidFill>
                  <a:schemeClr val="tx1"/>
                </a:solidFill>
                <a:latin typeface="Times New Roman" pitchFamily="-110" charset="0"/>
                <a:ea typeface="ＭＳ Ｐゴシック" pitchFamily="-110" charset="-128"/>
                <a:cs typeface="ＭＳ Ｐゴシック" pitchFamily="-110" charset="-128"/>
              </a:rPr>
              <a:t> = 2, which is equivalent to </a:t>
            </a:r>
            <a:r>
              <a:rPr lang="en-US" sz="1200" i="1" kern="1200" dirty="0" smtClean="0">
                <a:solidFill>
                  <a:schemeClr val="tx1"/>
                </a:solidFill>
                <a:latin typeface="Times New Roman" pitchFamily="-110" charset="0"/>
                <a:ea typeface="ＭＳ Ｐゴシック" pitchFamily="-110" charset="-128"/>
                <a:cs typeface="ＭＳ Ｐゴシック" pitchFamily="-110" charset="-128"/>
              </a:rPr>
              <a:t>T</a:t>
            </a:r>
            <a:r>
              <a:rPr lang="en-US" sz="1200" kern="1200" dirty="0" smtClean="0">
                <a:solidFill>
                  <a:schemeClr val="tx1"/>
                </a:solidFill>
                <a:latin typeface="Times New Roman" pitchFamily="-110" charset="0"/>
                <a:ea typeface="ＭＳ Ｐゴシック" pitchFamily="-110" charset="-128"/>
                <a:cs typeface="ＭＳ Ｐゴシック" pitchFamily="-110" charset="-128"/>
              </a:rPr>
              <a:t> = 0.5. Finally, part (d) shows the effect of a phase shift of π/4 radians, which is 45 degrees (2π radians = 360˚ = 1 period).</a:t>
            </a:r>
          </a:p>
          <a:p>
            <a:r>
              <a:rPr lang="en-US" sz="1200" kern="1200" dirty="0" smtClean="0">
                <a:solidFill>
                  <a:schemeClr val="tx1"/>
                </a:solidFill>
                <a:latin typeface="Times New Roman" pitchFamily="-110" charset="0"/>
                <a:ea typeface="ＭＳ Ｐゴシック" pitchFamily="-110" charset="-128"/>
                <a:cs typeface="ＭＳ Ｐゴシック" pitchFamily="-110" charset="-128"/>
              </a:rPr>
              <a:t>	In    Figure 3.3, the horizontal axis is time; the graphs display the value of a signal at a given point in space as a function of time. These same graphs, with a change of scale, can apply with horizontal axes in space. In this case, the graphs display the value of a signal at a given point in time as a function of distance. For example, for a sinusoidal transmission (e.g., an electromagnetic radio wave some distance from a radio antenna, or sound some distance from a loudspeaker), at a particular instant of time, the intensity of the signal varies in a sinusoidal way as a function of distance from the source. </a:t>
            </a:r>
          </a:p>
          <a:p>
            <a:r>
              <a:rPr lang="en-US" sz="1200" kern="1200" dirty="0" smtClean="0">
                <a:solidFill>
                  <a:schemeClr val="tx1"/>
                </a:solidFill>
                <a:latin typeface="Times New Roman" pitchFamily="-110" charset="0"/>
                <a:ea typeface="ＭＳ Ｐゴシック" pitchFamily="-110" charset="-128"/>
                <a:cs typeface="ＭＳ Ｐゴシック" pitchFamily="-110" charset="-128"/>
              </a:rPr>
              <a:t>	</a:t>
            </a:r>
            <a:endParaRPr lang="en-US" dirty="0">
              <a:latin typeface="Times" pitchFamily="-110" charset="0"/>
            </a:endParaRPr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0"/>
          </p:nvPr>
        </p:nvSpPr>
        <p:spPr/>
        <p:txBody>
          <a:bodyPr/>
          <a:lstStyle/>
          <a:p>
            <a:pPr>
              <a:defRPr/>
            </a:pPr>
            <a:r>
              <a:rPr lang="en-US" dirty="0" smtClean="0"/>
              <a:t>Data and Computer Communications, Ninth Edition by William Stallings, (c) Pearson Education - Prentice Hall, 2011</a:t>
            </a:r>
            <a:endParaRPr lang="en-US" dirty="0"/>
          </a:p>
        </p:txBody>
      </p:sp>
    </p:spTree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xmlns="" id="{12F6550A-A100-43CA-8050-BCB0EB3D85CC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en-US"/>
              <a:t>Click to edit Master title style</a:t>
            </a:r>
            <a:endParaRPr lang="ar-SA"/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xmlns="" id="{3A674906-1535-4DC7-AFBC-49BE6A54A1CD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n-US"/>
              <a:t>Click to edit Master subtitle style</a:t>
            </a:r>
            <a:endParaRPr lang="ar-SA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xmlns="" id="{5A447AAB-689E-4EBB-9F55-DF121CCA66E3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D603261-1737-46DA-AAC5-A9DBB089AD98}" type="datetime1">
              <a:rPr lang="en-US" smtClean="0"/>
              <a:pPr/>
              <a:t>10/13/2023</a:t>
            </a:fld>
            <a:endParaRPr lang="en-US" dirty="0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xmlns="" id="{0987FEE3-1F00-4751-B723-0126AC22E50C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 smtClean="0"/>
              <a:t>CCNA wireless 200-355 Dr.ammar almomani-2019</a:t>
            </a:r>
            <a:endParaRPr lang="en-US" dirty="0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xmlns="" id="{A4AA7365-0E75-44DA-B587-2C0A9E2B078A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9E57DC2-970A-4B3E-BB1C-7A09969E49DF}" type="slidenum">
              <a:rPr lang="en-US" smtClean="0"/>
              <a:pPr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xmlns="" val="4124454414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xmlns="" id="{93867BAD-AAE9-4E33-AE9E-84E9B0DE69F5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ar-SA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xmlns="" id="{A5A25543-197B-4253-AAE5-838A35E2A9BA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ar-SA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xmlns="" id="{D2E687D1-0BFE-4EDE-924C-7DAB2B9D61C1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3B70D66-128D-4D54-9D98-8E0114AD14E3}" type="datetime1">
              <a:rPr lang="en-US" smtClean="0"/>
              <a:pPr/>
              <a:t>10/13/2023</a:t>
            </a:fld>
            <a:endParaRPr lang="en-US" dirty="0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xmlns="" id="{B3A1BB9B-100B-47D9-9475-0D62833B2DA5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 smtClean="0"/>
              <a:t>CCNA wireless 200-355 Dr.ammar almomani-2019</a:t>
            </a:r>
            <a:endParaRPr lang="en-US" dirty="0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xmlns="" id="{D6446CC4-6BD3-4503-B4BF-CA59F4B26F7B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9E57DC2-970A-4B3E-BB1C-7A09969E49DF}" type="slidenum">
              <a:rPr lang="en-US" smtClean="0"/>
              <a:pPr/>
              <a:t>‹#›</a:t>
            </a:fld>
            <a:endParaRPr lang="en-US" dirty="0"/>
          </a:p>
        </p:txBody>
      </p:sp>
      <p:pic>
        <p:nvPicPr>
          <p:cNvPr id="1026" name="Picture 2"/>
          <p:cNvPicPr>
            <a:picLocks noChangeAspect="1" noChangeArrowheads="1"/>
          </p:cNvPicPr>
          <p:nvPr userDrawn="1"/>
        </p:nvPicPr>
        <p:blipFill>
          <a:blip r:embed="rId2"/>
          <a:srcRect/>
          <a:stretch>
            <a:fillRect/>
          </a:stretch>
        </p:blipFill>
        <p:spPr bwMode="auto">
          <a:xfrm>
            <a:off x="10734675" y="0"/>
            <a:ext cx="1457325" cy="1133475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</p:pic>
    </p:spTree>
    <p:extLst>
      <p:ext uri="{BB962C8B-B14F-4D97-AF65-F5344CB8AC3E}">
        <p14:creationId xmlns:p14="http://schemas.microsoft.com/office/powerpoint/2010/main" xmlns="" val="2192900300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xmlns="" id="{687540CB-14ED-4005-B80B-7B826DBA7CF1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en-US"/>
              <a:t>Click to edit Master title style</a:t>
            </a:r>
            <a:endParaRPr lang="ar-SA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xmlns="" id="{86BB072B-D9E1-4720-A08B-313DA1641F4E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xmlns="" id="{E1CDC64B-8527-4F19-A6FB-34A1CB296108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1CDDA09-0B7D-4BA0-A1F8-6F536BBCF04E}" type="datetime1">
              <a:rPr lang="en-US" smtClean="0"/>
              <a:pPr/>
              <a:t>10/13/2023</a:t>
            </a:fld>
            <a:endParaRPr lang="en-US" dirty="0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xmlns="" id="{520CC68D-D4EA-4899-BA9C-04287BE76D62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 smtClean="0"/>
              <a:t>CCNA wireless 200-355 Dr.ammar almomani-2019</a:t>
            </a:r>
            <a:endParaRPr lang="en-US" dirty="0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xmlns="" id="{95A4F901-2A82-4F1C-9B6E-F5B770BFF885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9E57DC2-970A-4B3E-BB1C-7A09969E49DF}" type="slidenum">
              <a:rPr lang="en-US" smtClean="0"/>
              <a:pPr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xmlns="" val="3626767899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xmlns="" id="{B20D5C88-ADC6-4C36-BE78-315CBEB0E620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ar-SA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xmlns="" id="{1D04D164-D57E-4793-BC54-42701EB924C1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ar-SA"/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xmlns="" id="{E188ED26-CFA7-4B76-AB7C-84D25F08723A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ar-SA"/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xmlns="" id="{22716AB5-939B-4AA8-A32E-796B04F5A4B6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E02A969-B61B-4E4D-ACC3-7939681258FB}" type="datetime1">
              <a:rPr lang="en-US" smtClean="0"/>
              <a:pPr/>
              <a:t>10/13/2023</a:t>
            </a:fld>
            <a:endParaRPr lang="en-US" dirty="0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xmlns="" id="{2756203D-C6D5-4949-AA4C-6C4932D3CBB4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 smtClean="0"/>
              <a:t>CCNA wireless 200-355 Dr.ammar almomani-2019</a:t>
            </a:r>
            <a:endParaRPr lang="en-US" dirty="0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xmlns="" id="{D64FF400-CA24-4CF7-A519-1B14D41B4698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9E57DC2-970A-4B3E-BB1C-7A09969E49DF}" type="slidenum">
              <a:rPr lang="en-US" smtClean="0"/>
              <a:pPr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xmlns="" val="3020601059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xmlns="" id="{80541E60-8D4C-41D2-9FF7-44B411710BCD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en-US"/>
              <a:t>Click to edit Master title style</a:t>
            </a:r>
            <a:endParaRPr lang="ar-SA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xmlns="" id="{1AA3673C-6FD1-4E8C-B4EE-FF86345DB52C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xmlns="" id="{D30FDF98-F198-4A90-AFD6-FDE7FE8517A9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ar-SA"/>
          </a:p>
        </p:txBody>
      </p:sp>
      <p:sp>
        <p:nvSpPr>
          <p:cNvPr id="5" name="Text Placeholder 4">
            <a:extLst>
              <a:ext uri="{FF2B5EF4-FFF2-40B4-BE49-F238E27FC236}">
                <a16:creationId xmlns:a16="http://schemas.microsoft.com/office/drawing/2014/main" xmlns="" id="{F12756BB-E4B8-4B39-AA39-C655DBF54EAE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>
            <a:extLst>
              <a:ext uri="{FF2B5EF4-FFF2-40B4-BE49-F238E27FC236}">
                <a16:creationId xmlns:a16="http://schemas.microsoft.com/office/drawing/2014/main" xmlns="" id="{E8F53EDA-68CB-4B19-9DC1-E3C0F49AF210}"/>
              </a:ext>
            </a:extLst>
          </p:cNvPr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ar-SA"/>
          </a:p>
        </p:txBody>
      </p:sp>
      <p:sp>
        <p:nvSpPr>
          <p:cNvPr id="7" name="Date Placeholder 6">
            <a:extLst>
              <a:ext uri="{FF2B5EF4-FFF2-40B4-BE49-F238E27FC236}">
                <a16:creationId xmlns:a16="http://schemas.microsoft.com/office/drawing/2014/main" xmlns="" id="{FE333595-18D7-4DE6-8AD5-ADCA28949DAE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0690DB6-690B-4E37-B684-0A09E54CCF6C}" type="datetime1">
              <a:rPr lang="en-US" smtClean="0"/>
              <a:pPr/>
              <a:t>10/13/2023</a:t>
            </a:fld>
            <a:endParaRPr lang="en-US" dirty="0"/>
          </a:p>
        </p:txBody>
      </p:sp>
      <p:sp>
        <p:nvSpPr>
          <p:cNvPr id="8" name="Footer Placeholder 7">
            <a:extLst>
              <a:ext uri="{FF2B5EF4-FFF2-40B4-BE49-F238E27FC236}">
                <a16:creationId xmlns:a16="http://schemas.microsoft.com/office/drawing/2014/main" xmlns="" id="{166C8D82-0757-45AD-8488-4C74E1B94767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 smtClean="0"/>
              <a:t>CCNA wireless 200-355 Dr.ammar almomani-2019</a:t>
            </a:r>
            <a:endParaRPr lang="en-US" dirty="0"/>
          </a:p>
        </p:txBody>
      </p:sp>
      <p:sp>
        <p:nvSpPr>
          <p:cNvPr id="9" name="Slide Number Placeholder 8">
            <a:extLst>
              <a:ext uri="{FF2B5EF4-FFF2-40B4-BE49-F238E27FC236}">
                <a16:creationId xmlns:a16="http://schemas.microsoft.com/office/drawing/2014/main" xmlns="" id="{E0662105-C1A5-493C-961B-706A99B75C79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9E57DC2-970A-4B3E-BB1C-7A09969E49DF}" type="slidenum">
              <a:rPr lang="en-US" smtClean="0"/>
              <a:pPr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xmlns="" val="3918153399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xmlns="" id="{06108BE6-3AF2-4B7E-9B7B-0DFAEE7DDA9D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ar-SA"/>
          </a:p>
        </p:txBody>
      </p:sp>
      <p:sp>
        <p:nvSpPr>
          <p:cNvPr id="3" name="Date Placeholder 2">
            <a:extLst>
              <a:ext uri="{FF2B5EF4-FFF2-40B4-BE49-F238E27FC236}">
                <a16:creationId xmlns:a16="http://schemas.microsoft.com/office/drawing/2014/main" xmlns="" id="{320647F7-3798-4617-AAF8-D12BF0065CB8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025F509-CAF9-4538-8B1E-789A36141686}" type="datetime1">
              <a:rPr lang="en-US" smtClean="0"/>
              <a:pPr/>
              <a:t>10/13/2023</a:t>
            </a:fld>
            <a:endParaRPr lang="en-US" dirty="0"/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xmlns="" id="{6311E935-9A2F-4799-BBCC-E421E9AD14DD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 smtClean="0"/>
              <a:t>CCNA wireless 200-355 Dr.ammar almomani-2019</a:t>
            </a:r>
            <a:endParaRPr lang="en-US" dirty="0"/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xmlns="" id="{B4FA1175-B458-41E8-B880-93CF3DDC61D9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9E57DC2-970A-4B3E-BB1C-7A09969E49DF}" type="slidenum">
              <a:rPr lang="en-US" smtClean="0"/>
              <a:pPr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xmlns="" val="1940253706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>
            <a:extLst>
              <a:ext uri="{FF2B5EF4-FFF2-40B4-BE49-F238E27FC236}">
                <a16:creationId xmlns:a16="http://schemas.microsoft.com/office/drawing/2014/main" xmlns="" id="{6E637254-1F37-4449-821E-001A883B5F32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17AA56F-EB8E-447D-9F5C-BDF17737CE21}" type="datetime1">
              <a:rPr lang="en-US" smtClean="0"/>
              <a:pPr/>
              <a:t>10/13/2023</a:t>
            </a:fld>
            <a:endParaRPr lang="en-US" dirty="0"/>
          </a:p>
        </p:txBody>
      </p:sp>
      <p:sp>
        <p:nvSpPr>
          <p:cNvPr id="3" name="Footer Placeholder 2">
            <a:extLst>
              <a:ext uri="{FF2B5EF4-FFF2-40B4-BE49-F238E27FC236}">
                <a16:creationId xmlns:a16="http://schemas.microsoft.com/office/drawing/2014/main" xmlns="" id="{899A1198-53DA-4096-9F6E-2B03D8739EC9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 smtClean="0"/>
              <a:t>CCNA wireless 200-355 Dr.ammar almomani-2019</a:t>
            </a:r>
            <a:endParaRPr lang="en-US" dirty="0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xmlns="" id="{EA705B9C-0CB3-4F9B-B3D9-95FA358058E9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9E57DC2-970A-4B3E-BB1C-7A09969E49DF}" type="slidenum">
              <a:rPr lang="en-US" smtClean="0"/>
              <a:pPr/>
              <a:t>‹#›</a:t>
            </a:fld>
            <a:endParaRPr lang="en-US" dirty="0"/>
          </a:p>
        </p:txBody>
      </p:sp>
      <p:pic>
        <p:nvPicPr>
          <p:cNvPr id="2050" name="Picture 2"/>
          <p:cNvPicPr>
            <a:picLocks noChangeAspect="1" noChangeArrowheads="1"/>
          </p:cNvPicPr>
          <p:nvPr userDrawn="1"/>
        </p:nvPicPr>
        <p:blipFill>
          <a:blip r:embed="rId2"/>
          <a:srcRect/>
          <a:stretch>
            <a:fillRect/>
          </a:stretch>
        </p:blipFill>
        <p:spPr bwMode="auto">
          <a:xfrm>
            <a:off x="10734675" y="0"/>
            <a:ext cx="1457325" cy="1133475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</p:pic>
    </p:spTree>
    <p:extLst>
      <p:ext uri="{BB962C8B-B14F-4D97-AF65-F5344CB8AC3E}">
        <p14:creationId xmlns:p14="http://schemas.microsoft.com/office/powerpoint/2010/main" xmlns="" val="1032059337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xmlns="" id="{9F2D5289-78A1-4C30-9EE0-C05AA5641729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  <a:endParaRPr lang="ar-SA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xmlns="" id="{11B8886A-1C59-480A-8689-22DAFFE8E10C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ar-SA"/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xmlns="" id="{F62CF21B-6F04-422C-9F35-BC273232E36E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xmlns="" id="{DA0CD2C3-C858-4ACB-A3D5-CC6D447D91FC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2FF4F6B-260E-4600-A438-3A20A133B83B}" type="datetime1">
              <a:rPr lang="en-US" smtClean="0"/>
              <a:pPr/>
              <a:t>10/13/2023</a:t>
            </a:fld>
            <a:endParaRPr lang="en-US" dirty="0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xmlns="" id="{581C1C4F-5D04-447F-8D0A-B210FF635799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 smtClean="0"/>
              <a:t>CCNA wireless 200-355 Dr.ammar almomani-2019</a:t>
            </a:r>
            <a:endParaRPr lang="en-US" dirty="0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xmlns="" id="{9032DFA2-ACE4-4AC2-A1DE-FEE4652EFE9A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9E57DC2-970A-4B3E-BB1C-7A09969E49DF}" type="slidenum">
              <a:rPr lang="en-US" smtClean="0"/>
              <a:pPr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xmlns="" val="2685460293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xmlns="" id="{14A39766-887B-4721-B1D3-7D68FD3DEC54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  <a:endParaRPr lang="ar-SA"/>
          </a:p>
        </p:txBody>
      </p:sp>
      <p:sp>
        <p:nvSpPr>
          <p:cNvPr id="3" name="Picture Placeholder 2">
            <a:extLst>
              <a:ext uri="{FF2B5EF4-FFF2-40B4-BE49-F238E27FC236}">
                <a16:creationId xmlns:a16="http://schemas.microsoft.com/office/drawing/2014/main" xmlns="" id="{4A098084-1809-41DD-AFCB-C47015708F14}"/>
              </a:ext>
            </a:extLst>
          </p:cNvPr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ar-SA"/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xmlns="" id="{F9E00606-A29A-4BE7-91AF-591DB33C492D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xmlns="" id="{5F9B24B0-45F9-4BFD-A806-8565B6A39D93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6F085B1-6AAD-42BB-8C96-47F4E5EEB4C7}" type="datetime1">
              <a:rPr lang="en-US" smtClean="0"/>
              <a:pPr/>
              <a:t>10/13/2023</a:t>
            </a:fld>
            <a:endParaRPr lang="en-US" dirty="0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xmlns="" id="{6155436D-F3F1-4BC1-9C90-62BCBFC5A515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 smtClean="0"/>
              <a:t>CCNA wireless 200-355 Dr.ammar almomani-2019</a:t>
            </a:r>
            <a:endParaRPr lang="en-US" dirty="0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xmlns="" id="{536F6D1E-B1A5-40A4-AA73-3FBFC9D4BB40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9E57DC2-970A-4B3E-BB1C-7A09969E49DF}" type="slidenum">
              <a:rPr lang="en-US" smtClean="0"/>
              <a:pPr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xmlns="" val="1712022073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xmlns="" id="{09BF5EAE-14D3-4824-8770-E28B2ECCC238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ar-SA"/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xmlns="" id="{3118E6BC-1F8D-4BBD-8EEA-A461C8330448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ar-SA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xmlns="" id="{5ADAC15E-27F8-44DA-9F0E-B833D9C4201F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5CC9C0A-04AD-4615-985C-7DCA93F8C137}" type="datetime1">
              <a:rPr lang="en-US" smtClean="0"/>
              <a:pPr/>
              <a:t>10/13/2023</a:t>
            </a:fld>
            <a:endParaRPr lang="en-US" dirty="0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xmlns="" id="{E15231EB-CED6-443A-A0E1-9B91C7AE7B63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 smtClean="0"/>
              <a:t>CCNA wireless 200-355 Dr.ammar almomani-2019</a:t>
            </a:r>
            <a:endParaRPr lang="en-US" dirty="0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xmlns="" id="{D67489CA-A578-4EF3-87C5-152B5FC982DF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9E57DC2-970A-4B3E-BB1C-7A09969E49DF}" type="slidenum">
              <a:rPr lang="en-US" smtClean="0"/>
              <a:pPr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xmlns="" val="3374495112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>
            <a:extLst>
              <a:ext uri="{FF2B5EF4-FFF2-40B4-BE49-F238E27FC236}">
                <a16:creationId xmlns:a16="http://schemas.microsoft.com/office/drawing/2014/main" xmlns="" id="{9FE9D586-D01B-4F65-991B-C6752C9FF563}"/>
              </a:ext>
            </a:extLst>
          </p:cNvPr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en-US"/>
              <a:t>Click to edit Master title style</a:t>
            </a:r>
            <a:endParaRPr lang="ar-SA"/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xmlns="" id="{4DF2FC47-4D05-4A1E-A0B0-9D04C1746CE6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ar-SA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xmlns="" id="{47F946A9-3C52-4A62-9F24-5D7A43538C00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90F40F3-975C-46A9-8595-B5AB93E7A324}" type="datetime1">
              <a:rPr lang="en-US" smtClean="0"/>
              <a:pPr/>
              <a:t>10/13/2023</a:t>
            </a:fld>
            <a:endParaRPr lang="en-US" dirty="0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xmlns="" id="{2940C423-3BDA-4B8E-8CAE-716461CA0614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 smtClean="0"/>
              <a:t>CCNA wireless 200-355 Dr.ammar almomani-2019</a:t>
            </a:r>
            <a:endParaRPr lang="en-US" dirty="0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xmlns="" id="{7DD6219B-5651-42BC-AAB6-C03927FCDB0C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9E57DC2-970A-4B3E-BB1C-7A09969E49DF}" type="slidenum">
              <a:rPr lang="en-US" smtClean="0"/>
              <a:pPr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xmlns="" val="593586915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13" Type="http://schemas.openxmlformats.org/officeDocument/2006/relationships/image" Target="../media/image1.png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>
            <a:extLst>
              <a:ext uri="{FF2B5EF4-FFF2-40B4-BE49-F238E27FC236}">
                <a16:creationId xmlns:a16="http://schemas.microsoft.com/office/drawing/2014/main" xmlns="" id="{AD9E3183-52CE-49D7-89FC-9AB030888627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  <a:endParaRPr lang="ar-SA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xmlns="" id="{FB7D0FE1-255C-4B7F-8A73-0E7B928F7192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ar-SA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xmlns="" id="{E9FC4566-3C74-4311-9DE5-571B61D8D540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66D29313-D325-46F1-A5AE-7080192FE20D}" type="datetime1">
              <a:rPr lang="en-US" smtClean="0"/>
              <a:pPr/>
              <a:t>10/13/2023</a:t>
            </a:fld>
            <a:endParaRPr lang="en-US" dirty="0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xmlns="" id="{4B9A33F8-4C38-45A3-BD8F-CED9C0265583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r>
              <a:rPr lang="en-US" smtClean="0"/>
              <a:t>CCNA wireless 200-355 Dr.ammar almomani-2019</a:t>
            </a:r>
            <a:endParaRPr lang="en-US" dirty="0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xmlns="" id="{DB79212E-EFE6-4D38-9249-9DC0302819CB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69E57DC2-970A-4B3E-BB1C-7A09969E49DF}" type="slidenum">
              <a:rPr lang="en-US" smtClean="0"/>
              <a:pPr/>
              <a:t>‹#›</a:t>
            </a:fld>
            <a:endParaRPr lang="en-US" dirty="0"/>
          </a:p>
        </p:txBody>
      </p:sp>
      <p:pic>
        <p:nvPicPr>
          <p:cNvPr id="3074" name="Picture 2"/>
          <p:cNvPicPr>
            <a:picLocks noChangeAspect="1" noChangeArrowheads="1"/>
          </p:cNvPicPr>
          <p:nvPr userDrawn="1"/>
        </p:nvPicPr>
        <p:blipFill>
          <a:blip r:embed="rId13"/>
          <a:srcRect/>
          <a:stretch>
            <a:fillRect/>
          </a:stretch>
        </p:blipFill>
        <p:spPr bwMode="auto">
          <a:xfrm>
            <a:off x="10734675" y="0"/>
            <a:ext cx="1457325" cy="1133475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</p:pic>
    </p:spTree>
    <p:extLst>
      <p:ext uri="{BB962C8B-B14F-4D97-AF65-F5344CB8AC3E}">
        <p14:creationId xmlns:p14="http://schemas.microsoft.com/office/powerpoint/2010/main" xmlns="" val="2307401271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73" r:id="rId1"/>
    <p:sldLayoutId id="2147483674" r:id="rId2"/>
    <p:sldLayoutId id="2147483675" r:id="rId3"/>
    <p:sldLayoutId id="2147483676" r:id="rId4"/>
    <p:sldLayoutId id="2147483677" r:id="rId5"/>
    <p:sldLayoutId id="2147483678" r:id="rId6"/>
    <p:sldLayoutId id="2147483679" r:id="rId7"/>
    <p:sldLayoutId id="2147483680" r:id="rId8"/>
    <p:sldLayoutId id="2147483681" r:id="rId9"/>
    <p:sldLayoutId id="2147483682" r:id="rId10"/>
    <p:sldLayoutId id="2147483683" r:id="rId11"/>
  </p:sldLayoutIdLst>
  <p:hf sldNum="0" hdr="0" ftr="0" dt="0"/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ar-SA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  <p:extLst mod="1">
    <p:ext uri="{27BBF7A9-308A-43DC-89C8-2F10F3537804}">
      <p15:sldGuideLst xmlns:p15="http://schemas.microsoft.com/office/powerpoint/2012/main" xmlns=""/>
    </p:ext>
  </p:extLst>
</p:sldMaster>
</file>

<file path=ppt/slides/_rels/slide1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png"/><Relationship Id="rId2" Type="http://schemas.openxmlformats.org/officeDocument/2006/relationships/image" Target="../media/image2.jpeg"/><Relationship Id="rId1" Type="http://schemas.openxmlformats.org/officeDocument/2006/relationships/slideLayout" Target="../slideLayouts/slideLayout2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2" Type="http://schemas.openxmlformats.org/officeDocument/2006/relationships/image" Target="../media/image4.png"/><Relationship Id="rId1" Type="http://schemas.openxmlformats.org/officeDocument/2006/relationships/slideLayout" Target="../slideLayouts/slideLayout2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7.xml.rels><?xml version="1.0" encoding="UTF-8" standalone="yes"?>
<Relationships xmlns="http://schemas.openxmlformats.org/package/2006/relationships"><Relationship Id="rId2" Type="http://schemas.openxmlformats.org/officeDocument/2006/relationships/image" Target="../media/image5.jpeg"/><Relationship Id="rId1" Type="http://schemas.openxmlformats.org/officeDocument/2006/relationships/slideLayout" Target="../slideLayouts/slideLayout7.xml"/></Relationships>
</file>

<file path=ppt/slides/_rels/slide8.xml.rels><?xml version="1.0" encoding="UTF-8" standalone="yes"?>
<Relationships xmlns="http://schemas.openxmlformats.org/package/2006/relationships"><Relationship Id="rId2" Type="http://schemas.openxmlformats.org/officeDocument/2006/relationships/image" Target="../media/image6.jpeg"/><Relationship Id="rId1" Type="http://schemas.openxmlformats.org/officeDocument/2006/relationships/slideLayout" Target="../slideLayouts/slideLayout7.xml"/></Relationships>
</file>

<file path=ppt/slides/_rels/slide9.xml.rels><?xml version="1.0" encoding="UTF-8" standalone="yes"?>
<Relationships xmlns="http://schemas.openxmlformats.org/package/2006/relationships"><Relationship Id="rId2" Type="http://schemas.openxmlformats.org/officeDocument/2006/relationships/image" Target="../media/image7.jpeg"/><Relationship Id="rId1" Type="http://schemas.openxmlformats.org/officeDocument/2006/relationships/slideLayout" Target="../slideLayouts/slideLayout7.xml"/></Relationships>
</file>

<file path=ppt/slides/_rels/slide10.xml.rels><?xml version="1.0" encoding="UTF-8" standalone="yes"?>
<Relationships xmlns="http://schemas.openxmlformats.org/package/2006/relationships"><Relationship Id="rId2" Type="http://schemas.openxmlformats.org/officeDocument/2006/relationships/image" Target="../media/image8.jpeg"/><Relationship Id="rId1" Type="http://schemas.openxmlformats.org/officeDocument/2006/relationships/slideLayout" Target="../slideLayouts/slideLayout7.xml"/></Relationships>
</file>

<file path=ppt/slides/_rels/slide11.xml.rels><?xml version="1.0" encoding="UTF-8" standalone="yes"?>
<Relationships xmlns="http://schemas.openxmlformats.org/package/2006/relationships"><Relationship Id="rId3" Type="http://schemas.openxmlformats.org/officeDocument/2006/relationships/image" Target="../media/image10.png"/><Relationship Id="rId2" Type="http://schemas.openxmlformats.org/officeDocument/2006/relationships/image" Target="../media/image9.jpeg"/><Relationship Id="rId1" Type="http://schemas.openxmlformats.org/officeDocument/2006/relationships/slideLayout" Target="../slideLayouts/slideLayout7.xml"/></Relationships>
</file>

<file path=ppt/slides/_rels/slide12.xml.rels><?xml version="1.0" encoding="UTF-8" standalone="yes"?>
<Relationships xmlns="http://schemas.openxmlformats.org/package/2006/relationships"><Relationship Id="rId2" Type="http://schemas.openxmlformats.org/officeDocument/2006/relationships/image" Target="../media/image11.jpeg"/><Relationship Id="rId1" Type="http://schemas.openxmlformats.org/officeDocument/2006/relationships/slideLayout" Target="../slideLayouts/slideLayout7.xml"/></Relationships>
</file>

<file path=ppt/slides/_rels/slide13.xml.rels><?xml version="1.0" encoding="UTF-8" standalone="yes"?>
<Relationships xmlns="http://schemas.openxmlformats.org/package/2006/relationships"><Relationship Id="rId3" Type="http://schemas.openxmlformats.org/officeDocument/2006/relationships/image" Target="../media/image13.jpeg"/><Relationship Id="rId2" Type="http://schemas.openxmlformats.org/officeDocument/2006/relationships/image" Target="../media/image12.jpeg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14.jpeg"/></Relationships>
</file>

<file path=ppt/slides/_rels/slide14.xml.rels><?xml version="1.0" encoding="UTF-8" standalone="yes"?>
<Relationships xmlns="http://schemas.openxmlformats.org/package/2006/relationships"><Relationship Id="rId2" Type="http://schemas.openxmlformats.org/officeDocument/2006/relationships/image" Target="../media/image15.png"/><Relationship Id="rId1" Type="http://schemas.openxmlformats.org/officeDocument/2006/relationships/slideLayout" Target="../slideLayouts/slideLayout2.xml"/></Relationships>
</file>

<file path=ppt/slides/_rels/slide15.xml.rels><?xml version="1.0" encoding="UTF-8" standalone="yes"?>
<Relationships xmlns="http://schemas.openxmlformats.org/package/2006/relationships"><Relationship Id="rId2" Type="http://schemas.openxmlformats.org/officeDocument/2006/relationships/image" Target="../media/image16.jpeg"/><Relationship Id="rId1" Type="http://schemas.openxmlformats.org/officeDocument/2006/relationships/slideLayout" Target="../slideLayouts/slideLayout7.xml"/></Relationships>
</file>

<file path=ppt/slides/_rels/slide16.xml.rels><?xml version="1.0" encoding="UTF-8" standalone="yes"?>
<Relationships xmlns="http://schemas.openxmlformats.org/package/2006/relationships"><Relationship Id="rId2" Type="http://schemas.openxmlformats.org/officeDocument/2006/relationships/image" Target="../media/image17.jpeg"/><Relationship Id="rId1" Type="http://schemas.openxmlformats.org/officeDocument/2006/relationships/slideLayout" Target="../slideLayouts/slideLayout7.xml"/></Relationships>
</file>

<file path=ppt/slides/_rels/slide17.xml.rels><?xml version="1.0" encoding="UTF-8" standalone="yes"?>
<Relationships xmlns="http://schemas.openxmlformats.org/package/2006/relationships"><Relationship Id="rId2" Type="http://schemas.openxmlformats.org/officeDocument/2006/relationships/image" Target="../media/image18.jpeg"/><Relationship Id="rId1" Type="http://schemas.openxmlformats.org/officeDocument/2006/relationships/slideLayout" Target="../slideLayouts/slideLayout7.xml"/></Relationships>
</file>

<file path=ppt/slides/_rels/slide18.xml.rels><?xml version="1.0" encoding="UTF-8" standalone="yes"?>
<Relationships xmlns="http://schemas.openxmlformats.org/package/2006/relationships"><Relationship Id="rId2" Type="http://schemas.openxmlformats.org/officeDocument/2006/relationships/image" Target="../media/image19.jpeg"/><Relationship Id="rId1" Type="http://schemas.openxmlformats.org/officeDocument/2006/relationships/slideLayout" Target="../slideLayouts/slideLayout7.xml"/></Relationships>
</file>

<file path=ppt/slides/_rels/slide19.xml.rels><?xml version="1.0" encoding="UTF-8" standalone="yes"?>
<Relationships xmlns="http://schemas.openxmlformats.org/package/2006/relationships"><Relationship Id="rId2" Type="http://schemas.openxmlformats.org/officeDocument/2006/relationships/image" Target="../media/image20.jpeg"/><Relationship Id="rId1" Type="http://schemas.openxmlformats.org/officeDocument/2006/relationships/slideLayout" Target="../slideLayouts/slideLayout7.xml"/></Relationships>
</file>

<file path=ppt/slides/_rels/slide20.xml.rels><?xml version="1.0" encoding="UTF-8" standalone="yes"?>
<Relationships xmlns="http://schemas.openxmlformats.org/package/2006/relationships"><Relationship Id="rId2" Type="http://schemas.openxmlformats.org/officeDocument/2006/relationships/image" Target="../media/image21.jpeg"/><Relationship Id="rId1" Type="http://schemas.openxmlformats.org/officeDocument/2006/relationships/slideLayout" Target="../slideLayouts/slideLayout7.xml"/></Relationships>
</file>

<file path=ppt/slides/_rels/slide21.xml.rels><?xml version="1.0" encoding="UTF-8" standalone="yes"?>
<Relationships xmlns="http://schemas.openxmlformats.org/package/2006/relationships"><Relationship Id="rId2" Type="http://schemas.openxmlformats.org/officeDocument/2006/relationships/image" Target="../media/image22.jpeg"/><Relationship Id="rId1" Type="http://schemas.openxmlformats.org/officeDocument/2006/relationships/slideLayout" Target="../slideLayouts/slideLayout7.xml"/></Relationships>
</file>

<file path=ppt/slides/_rels/slide2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5.xml"/></Relationships>
</file>

<file path=ppt/slides/_rels/slide23.xml.rels><?xml version="1.0" encoding="UTF-8" standalone="yes"?>
<Relationships xmlns="http://schemas.openxmlformats.org/package/2006/relationships"><Relationship Id="rId3" Type="http://schemas.openxmlformats.org/officeDocument/2006/relationships/image" Target="../media/image23.png"/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2.xml"/></Relationships>
</file>

<file path=ppt/slides/_rels/slide24.xml.rels><?xml version="1.0" encoding="UTF-8" standalone="yes"?>
<Relationships xmlns="http://schemas.openxmlformats.org/package/2006/relationships"><Relationship Id="rId3" Type="http://schemas.openxmlformats.org/officeDocument/2006/relationships/image" Target="../media/image24.png"/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2.xml"/></Relationships>
</file>

<file path=ppt/slides/_rels/slide25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2.xml"/></Relationships>
</file>

<file path=ppt/slides/_rels/slide26.xml.rels><?xml version="1.0" encoding="UTF-8" standalone="yes"?>
<Relationships xmlns="http://schemas.openxmlformats.org/package/2006/relationships"><Relationship Id="rId3" Type="http://schemas.openxmlformats.org/officeDocument/2006/relationships/image" Target="../media/image25.png"/><Relationship Id="rId2" Type="http://schemas.openxmlformats.org/officeDocument/2006/relationships/notesSlide" Target="../notesSlides/notesSlide5.xml"/><Relationship Id="rId1" Type="http://schemas.openxmlformats.org/officeDocument/2006/relationships/slideLayout" Target="../slideLayouts/slideLayout2.xml"/></Relationships>
</file>

<file path=ppt/slides/_rels/slide27.xml.rels><?xml version="1.0" encoding="UTF-8" standalone="yes"?>
<Relationships xmlns="http://schemas.openxmlformats.org/package/2006/relationships"><Relationship Id="rId3" Type="http://schemas.openxmlformats.org/officeDocument/2006/relationships/hyperlink" Target="https://youtu.be/r18Gi8lSkfM" TargetMode="External"/><Relationship Id="rId2" Type="http://schemas.openxmlformats.org/officeDocument/2006/relationships/hyperlink" Target="https://youtu.be/GkNJvZINSEY" TargetMode="External"/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4" name="Picture 3" descr="C:\Users\user\Desktop\download.jpg">
            <a:extLst>
              <a:ext uri="{FF2B5EF4-FFF2-40B4-BE49-F238E27FC236}">
                <a16:creationId xmlns:a16="http://schemas.microsoft.com/office/drawing/2014/main" xmlns="" id="{5FDCD1D5-00AD-4E5F-8CD0-C6157B7CB5B8}"/>
              </a:ext>
            </a:extLst>
          </p:cNvPr>
          <p:cNvPicPr/>
          <p:nvPr/>
        </p:nvPicPr>
        <p:blipFill>
          <a:blip r:embed="rId2"/>
          <a:srcRect/>
          <a:stretch>
            <a:fillRect/>
          </a:stretch>
        </p:blipFill>
        <p:spPr bwMode="auto">
          <a:xfrm>
            <a:off x="1278514" y="428451"/>
            <a:ext cx="725805" cy="86106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</p:pic>
      <p:pic>
        <p:nvPicPr>
          <p:cNvPr id="5" name="Picture 4">
            <a:extLst>
              <a:ext uri="{FF2B5EF4-FFF2-40B4-BE49-F238E27FC236}">
                <a16:creationId xmlns:a16="http://schemas.microsoft.com/office/drawing/2014/main" xmlns="" id="{50D9CB2D-B187-44BD-A01C-7023FEC5BB2C}"/>
              </a:ext>
            </a:extLst>
          </p:cNvPr>
          <p:cNvPicPr/>
          <p:nvPr/>
        </p:nvPicPr>
        <p:blipFill>
          <a:blip r:embed="rId3"/>
          <a:srcRect/>
          <a:stretch>
            <a:fillRect/>
          </a:stretch>
        </p:blipFill>
        <p:spPr bwMode="auto">
          <a:xfrm>
            <a:off x="8278518" y="387240"/>
            <a:ext cx="819785" cy="7493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</p:pic>
      <p:sp>
        <p:nvSpPr>
          <p:cNvPr id="3" name="Rectangle 2"/>
          <p:cNvSpPr/>
          <p:nvPr/>
        </p:nvSpPr>
        <p:spPr>
          <a:xfrm>
            <a:off x="2678850" y="2549170"/>
            <a:ext cx="6707285" cy="769441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r>
              <a:rPr lang="en-US" altLang="en-US" sz="4400" b="1" dirty="0"/>
              <a:t>RF Signals and Modulation </a:t>
            </a:r>
            <a:endParaRPr lang="en-US" sz="4400" dirty="0"/>
          </a:p>
        </p:txBody>
      </p:sp>
    </p:spTree>
    <p:extLst>
      <p:ext uri="{BB962C8B-B14F-4D97-AF65-F5344CB8AC3E}">
        <p14:creationId xmlns:p14="http://schemas.microsoft.com/office/powerpoint/2010/main" xmlns="" val="1992864734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098" name="Title 1"/>
          <p:cNvSpPr>
            <a:spLocks noGrp="1"/>
          </p:cNvSpPr>
          <p:nvPr>
            <p:ph type="title"/>
          </p:nvPr>
        </p:nvSpPr>
        <p:spPr>
          <a:xfrm>
            <a:off x="1990725" y="228600"/>
            <a:ext cx="8229600" cy="1143000"/>
          </a:xfrm>
        </p:spPr>
        <p:txBody>
          <a:bodyPr/>
          <a:lstStyle/>
          <a:p>
            <a:pPr eaLnBrk="1" hangingPunct="1"/>
            <a:r>
              <a:rPr lang="en-US" altLang="en-US" sz="3600" b="1" dirty="0" smtClean="0"/>
              <a:t>RF </a:t>
            </a:r>
            <a:r>
              <a:rPr lang="en-US" altLang="en-US" sz="3600" b="1" dirty="0"/>
              <a:t>Signals and </a:t>
            </a:r>
            <a:r>
              <a:rPr lang="en-US" altLang="en-US" sz="3600" b="1" dirty="0" smtClean="0"/>
              <a:t>Modulation</a:t>
            </a:r>
            <a:endParaRPr lang="en-US" altLang="en-US" sz="3600" dirty="0"/>
          </a:p>
        </p:txBody>
      </p:sp>
      <p:sp>
        <p:nvSpPr>
          <p:cNvPr id="4101" name="Rectangle 6"/>
          <p:cNvSpPr>
            <a:spLocks noChangeArrowheads="1"/>
          </p:cNvSpPr>
          <p:nvPr/>
        </p:nvSpPr>
        <p:spPr bwMode="auto">
          <a:xfrm>
            <a:off x="1990725" y="1409700"/>
            <a:ext cx="7848600" cy="120015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 xmlns="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xmlns="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>
              <a:spcBef>
                <a:spcPct val="20000"/>
              </a:spcBef>
              <a:buFont typeface="Arial" panose="020B0604020202020204" pitchFamily="34" charset="0"/>
              <a:buChar char="•"/>
              <a:defRPr sz="3200">
                <a:solidFill>
                  <a:schemeClr val="tx1"/>
                </a:solidFill>
                <a:latin typeface="Calibri" panose="020F0502020204030204" pitchFamily="34" charset="0"/>
              </a:defRPr>
            </a:lvl1pPr>
            <a:lvl2pPr marL="742950" indent="-285750">
              <a:spcBef>
                <a:spcPct val="20000"/>
              </a:spcBef>
              <a:buFont typeface="Arial" panose="020B0604020202020204" pitchFamily="34" charset="0"/>
              <a:buChar char="–"/>
              <a:defRPr sz="2800">
                <a:solidFill>
                  <a:schemeClr val="tx1"/>
                </a:solidFill>
                <a:latin typeface="Calibri" panose="020F0502020204030204" pitchFamily="34" charset="0"/>
              </a:defRPr>
            </a:lvl2pPr>
            <a:lvl3pPr marL="1143000" indent="-228600">
              <a:spcBef>
                <a:spcPct val="20000"/>
              </a:spcBef>
              <a:buFont typeface="Arial" panose="020B0604020202020204" pitchFamily="34" charset="0"/>
              <a:buChar char="•"/>
              <a:defRPr sz="2400">
                <a:solidFill>
                  <a:schemeClr val="tx1"/>
                </a:solidFill>
                <a:latin typeface="Calibri" panose="020F0502020204030204" pitchFamily="34" charset="0"/>
              </a:defRPr>
            </a:lvl3pPr>
            <a:lvl4pPr marL="1600200" indent="-228600">
              <a:spcBef>
                <a:spcPct val="20000"/>
              </a:spcBef>
              <a:buFont typeface="Arial" panose="020B0604020202020204" pitchFamily="34" charset="0"/>
              <a:buChar char="–"/>
              <a:defRPr sz="2000">
                <a:solidFill>
                  <a:schemeClr val="tx1"/>
                </a:solidFill>
                <a:latin typeface="Calibri" panose="020F0502020204030204" pitchFamily="34" charset="0"/>
              </a:defRPr>
            </a:lvl4pPr>
            <a:lvl5pPr marL="2057400" indent="-228600">
              <a:spcBef>
                <a:spcPct val="20000"/>
              </a:spcBef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Calibri" panose="020F0502020204030204" pitchFamily="34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Calibri" panose="020F0502020204030204" pitchFamily="34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Calibri" panose="020F0502020204030204" pitchFamily="34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Calibri" panose="020F0502020204030204" pitchFamily="34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Calibri" panose="020F0502020204030204" pitchFamily="34" charset="0"/>
              </a:defRPr>
            </a:lvl9pPr>
          </a:lstStyle>
          <a:p>
            <a:pPr eaLnBrk="1" hangingPunct="1">
              <a:spcBef>
                <a:spcPct val="0"/>
              </a:spcBef>
              <a:buFontTx/>
              <a:buNone/>
            </a:pPr>
            <a:r>
              <a:rPr lang="en-US" altLang="en-US" sz="2400" b="1" dirty="0" smtClean="0"/>
              <a:t>“</a:t>
            </a:r>
            <a:r>
              <a:rPr lang="en-US" altLang="en-US" sz="2400" b="1" dirty="0"/>
              <a:t>RF Signals and Modulation</a:t>
            </a:r>
            <a:r>
              <a:rPr lang="en-US" altLang="en-US" sz="2400" dirty="0"/>
              <a:t>”: This chapter covers the basic theory behind </a:t>
            </a:r>
            <a:r>
              <a:rPr lang="en-US" altLang="en-US" sz="2400" b="1" dirty="0"/>
              <a:t>radio frequency (RF) signals </a:t>
            </a:r>
            <a:r>
              <a:rPr lang="en-US" altLang="en-US" sz="2400" dirty="0"/>
              <a:t>and </a:t>
            </a:r>
            <a:r>
              <a:rPr lang="en-US" altLang="en-US" sz="2400" b="1" dirty="0"/>
              <a:t>the methods used to carry data wirelessly.</a:t>
            </a:r>
          </a:p>
        </p:txBody>
      </p:sp>
      <p:sp>
        <p:nvSpPr>
          <p:cNvPr id="4102" name="Rectangle 7"/>
          <p:cNvSpPr>
            <a:spLocks noChangeArrowheads="1"/>
          </p:cNvSpPr>
          <p:nvPr/>
        </p:nvSpPr>
        <p:spPr bwMode="auto">
          <a:xfrm>
            <a:off x="1990726" y="2647950"/>
            <a:ext cx="8302625" cy="120015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 xmlns="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xmlns="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>
              <a:spcBef>
                <a:spcPct val="20000"/>
              </a:spcBef>
              <a:buFont typeface="Arial" panose="020B0604020202020204" pitchFamily="34" charset="0"/>
              <a:buChar char="•"/>
              <a:defRPr sz="3200">
                <a:solidFill>
                  <a:schemeClr val="tx1"/>
                </a:solidFill>
                <a:latin typeface="Calibri" panose="020F0502020204030204" pitchFamily="34" charset="0"/>
              </a:defRPr>
            </a:lvl1pPr>
            <a:lvl2pPr marL="742950" indent="-285750">
              <a:spcBef>
                <a:spcPct val="20000"/>
              </a:spcBef>
              <a:buFont typeface="Arial" panose="020B0604020202020204" pitchFamily="34" charset="0"/>
              <a:buChar char="–"/>
              <a:defRPr sz="2800">
                <a:solidFill>
                  <a:schemeClr val="tx1"/>
                </a:solidFill>
                <a:latin typeface="Calibri" panose="020F0502020204030204" pitchFamily="34" charset="0"/>
              </a:defRPr>
            </a:lvl2pPr>
            <a:lvl3pPr marL="1143000" indent="-228600">
              <a:spcBef>
                <a:spcPct val="20000"/>
              </a:spcBef>
              <a:buFont typeface="Arial" panose="020B0604020202020204" pitchFamily="34" charset="0"/>
              <a:buChar char="•"/>
              <a:defRPr sz="2400">
                <a:solidFill>
                  <a:schemeClr val="tx1"/>
                </a:solidFill>
                <a:latin typeface="Calibri" panose="020F0502020204030204" pitchFamily="34" charset="0"/>
              </a:defRPr>
            </a:lvl3pPr>
            <a:lvl4pPr marL="1600200" indent="-228600">
              <a:spcBef>
                <a:spcPct val="20000"/>
              </a:spcBef>
              <a:buFont typeface="Arial" panose="020B0604020202020204" pitchFamily="34" charset="0"/>
              <a:buChar char="–"/>
              <a:defRPr sz="2000">
                <a:solidFill>
                  <a:schemeClr val="tx1"/>
                </a:solidFill>
                <a:latin typeface="Calibri" panose="020F0502020204030204" pitchFamily="34" charset="0"/>
              </a:defRPr>
            </a:lvl4pPr>
            <a:lvl5pPr marL="2057400" indent="-228600">
              <a:spcBef>
                <a:spcPct val="20000"/>
              </a:spcBef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Calibri" panose="020F0502020204030204" pitchFamily="34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Calibri" panose="020F0502020204030204" pitchFamily="34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Calibri" panose="020F0502020204030204" pitchFamily="34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Calibri" panose="020F0502020204030204" pitchFamily="34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Calibri" panose="020F0502020204030204" pitchFamily="34" charset="0"/>
              </a:defRPr>
            </a:lvl9pPr>
          </a:lstStyle>
          <a:p>
            <a:pPr algn="just" eaLnBrk="1" hangingPunct="1">
              <a:spcBef>
                <a:spcPct val="0"/>
              </a:spcBef>
              <a:buFontTx/>
              <a:buNone/>
            </a:pPr>
            <a:r>
              <a:rPr lang="en-US" altLang="en-US" sz="1800" dirty="0"/>
              <a:t>Welcome to the world of </a:t>
            </a:r>
            <a:r>
              <a:rPr lang="en-US" altLang="en-US" sz="1800" b="1" dirty="0"/>
              <a:t>Cisco Certified Network Associate (CCNA) Wireless</a:t>
            </a:r>
            <a:r>
              <a:rPr lang="en-US" altLang="en-US" sz="1800" dirty="0"/>
              <a:t>! As technology continues to evolve, wireless technologies are finding their way to the forefront. This clearly indicates the progression from a fixed wired type of connectivity to a more fluid, mobile workforce that can work when, where, and how they want. </a:t>
            </a:r>
          </a:p>
        </p:txBody>
      </p:sp>
      <p:sp>
        <p:nvSpPr>
          <p:cNvPr id="4103" name="Rectangle 9"/>
          <p:cNvSpPr>
            <a:spLocks noChangeArrowheads="1"/>
          </p:cNvSpPr>
          <p:nvPr/>
        </p:nvSpPr>
        <p:spPr bwMode="auto">
          <a:xfrm>
            <a:off x="1992314" y="3976689"/>
            <a:ext cx="8315325" cy="230822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 xmlns="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xmlns="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>
              <a:spcBef>
                <a:spcPct val="20000"/>
              </a:spcBef>
              <a:buFont typeface="Arial" panose="020B0604020202020204" pitchFamily="34" charset="0"/>
              <a:buChar char="•"/>
              <a:defRPr sz="3200">
                <a:solidFill>
                  <a:schemeClr val="tx1"/>
                </a:solidFill>
                <a:latin typeface="Calibri" panose="020F0502020204030204" pitchFamily="34" charset="0"/>
              </a:defRPr>
            </a:lvl1pPr>
            <a:lvl2pPr marL="742950" indent="-285750">
              <a:spcBef>
                <a:spcPct val="20000"/>
              </a:spcBef>
              <a:buFont typeface="Arial" panose="020B0604020202020204" pitchFamily="34" charset="0"/>
              <a:buChar char="–"/>
              <a:defRPr sz="2800">
                <a:solidFill>
                  <a:schemeClr val="tx1"/>
                </a:solidFill>
                <a:latin typeface="Calibri" panose="020F0502020204030204" pitchFamily="34" charset="0"/>
              </a:defRPr>
            </a:lvl2pPr>
            <a:lvl3pPr marL="1143000" indent="-228600">
              <a:spcBef>
                <a:spcPct val="20000"/>
              </a:spcBef>
              <a:buFont typeface="Arial" panose="020B0604020202020204" pitchFamily="34" charset="0"/>
              <a:buChar char="•"/>
              <a:defRPr sz="2400">
                <a:solidFill>
                  <a:schemeClr val="tx1"/>
                </a:solidFill>
                <a:latin typeface="Calibri" panose="020F0502020204030204" pitchFamily="34" charset="0"/>
              </a:defRPr>
            </a:lvl3pPr>
            <a:lvl4pPr marL="1600200" indent="-228600">
              <a:spcBef>
                <a:spcPct val="20000"/>
              </a:spcBef>
              <a:buFont typeface="Arial" panose="020B0604020202020204" pitchFamily="34" charset="0"/>
              <a:buChar char="–"/>
              <a:defRPr sz="2000">
                <a:solidFill>
                  <a:schemeClr val="tx1"/>
                </a:solidFill>
                <a:latin typeface="Calibri" panose="020F0502020204030204" pitchFamily="34" charset="0"/>
              </a:defRPr>
            </a:lvl4pPr>
            <a:lvl5pPr marL="2057400" indent="-228600">
              <a:spcBef>
                <a:spcPct val="20000"/>
              </a:spcBef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Calibri" panose="020F0502020204030204" pitchFamily="34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Calibri" panose="020F0502020204030204" pitchFamily="34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Calibri" panose="020F0502020204030204" pitchFamily="34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Calibri" panose="020F0502020204030204" pitchFamily="34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Calibri" panose="020F0502020204030204" pitchFamily="34" charset="0"/>
              </a:defRPr>
            </a:lvl9pPr>
          </a:lstStyle>
          <a:p>
            <a:pPr algn="just" eaLnBrk="1" hangingPunct="1">
              <a:spcBef>
                <a:spcPct val="0"/>
              </a:spcBef>
              <a:buFontTx/>
              <a:buNone/>
            </a:pPr>
            <a:r>
              <a:rPr lang="en-US" altLang="en-US" sz="1800" b="1" dirty="0"/>
              <a:t>Cisco Wireless Certiﬁcations in the Real World</a:t>
            </a:r>
          </a:p>
          <a:p>
            <a:pPr algn="just" eaLnBrk="1" hangingPunct="1">
              <a:spcBef>
                <a:spcPct val="0"/>
              </a:spcBef>
              <a:buFontTx/>
              <a:buNone/>
            </a:pPr>
            <a:r>
              <a:rPr lang="en-US" altLang="en-US" sz="1800" dirty="0"/>
              <a:t>Cisco has one of the most recognized names on the Internet. Cisco Certified wireless </a:t>
            </a:r>
          </a:p>
          <a:p>
            <a:pPr algn="just" eaLnBrk="1" hangingPunct="1">
              <a:spcBef>
                <a:spcPct val="0"/>
              </a:spcBef>
              <a:buFontTx/>
              <a:buNone/>
            </a:pPr>
            <a:r>
              <a:rPr lang="en-US" altLang="en-US" sz="1800" dirty="0"/>
              <a:t>specialists can bring quite a bit of knowledge to the table because of their deep </a:t>
            </a:r>
          </a:p>
          <a:p>
            <a:pPr algn="just" eaLnBrk="1" hangingPunct="1">
              <a:spcBef>
                <a:spcPct val="0"/>
              </a:spcBef>
              <a:buFontTx/>
              <a:buNone/>
            </a:pPr>
            <a:r>
              <a:rPr lang="en-US" altLang="en-US" sz="1800" dirty="0"/>
              <a:t>understanding of wireless technologies, standards, and networking devices. This is why </a:t>
            </a:r>
          </a:p>
          <a:p>
            <a:pPr algn="just" eaLnBrk="1" hangingPunct="1">
              <a:spcBef>
                <a:spcPct val="0"/>
              </a:spcBef>
              <a:buFontTx/>
              <a:buNone/>
            </a:pPr>
            <a:r>
              <a:rPr lang="en-US" altLang="en-US" sz="1800" dirty="0"/>
              <a:t>the Cisco certification carries such high respect in the marketplace. Cisco certifications </a:t>
            </a:r>
          </a:p>
          <a:p>
            <a:pPr algn="just" eaLnBrk="1" hangingPunct="1">
              <a:spcBef>
                <a:spcPct val="0"/>
              </a:spcBef>
              <a:buFontTx/>
              <a:buNone/>
            </a:pPr>
            <a:r>
              <a:rPr lang="en-US" altLang="en-US" sz="1800" dirty="0"/>
              <a:t>demonstrate to potential employers and contract holders a certain professionalism, </a:t>
            </a:r>
          </a:p>
          <a:p>
            <a:pPr algn="just" eaLnBrk="1" hangingPunct="1">
              <a:spcBef>
                <a:spcPct val="0"/>
              </a:spcBef>
              <a:buFontTx/>
              <a:buNone/>
            </a:pPr>
            <a:r>
              <a:rPr lang="en-US" altLang="en-US" sz="1800" dirty="0"/>
              <a:t>expertise, and dedication required to complete a difficult goal. If Cisco certifications </a:t>
            </a:r>
          </a:p>
          <a:p>
            <a:pPr algn="just" eaLnBrk="1" hangingPunct="1">
              <a:spcBef>
                <a:spcPct val="0"/>
              </a:spcBef>
              <a:buFontTx/>
              <a:buNone/>
            </a:pPr>
            <a:r>
              <a:rPr lang="en-US" altLang="en-US" sz="1800" dirty="0"/>
              <a:t>were easy to obtain, everyone would have them. </a:t>
            </a:r>
          </a:p>
        </p:txBody>
      </p:sp>
    </p:spTree>
    <p:extLst>
      <p:ext uri="{BB962C8B-B14F-4D97-AF65-F5344CB8AC3E}">
        <p14:creationId xmlns:p14="http://schemas.microsoft.com/office/powerpoint/2010/main" xmlns="" val="4192398337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5124" name="Picture 5"/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xmlns="" val="0"/>
              </a:ext>
            </a:extLst>
          </a:blip>
          <a:srcRect/>
          <a:stretch>
            <a:fillRect/>
          </a:stretch>
        </p:blipFill>
        <p:spPr bwMode="auto">
          <a:xfrm>
            <a:off x="2514601" y="609600"/>
            <a:ext cx="6975475" cy="54102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 xmlns="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xmlns="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</p:spTree>
    <p:extLst>
      <p:ext uri="{BB962C8B-B14F-4D97-AF65-F5344CB8AC3E}">
        <p14:creationId xmlns:p14="http://schemas.microsoft.com/office/powerpoint/2010/main" xmlns="" val="2153935431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146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eaLnBrk="1" hangingPunct="1"/>
            <a:r>
              <a:rPr lang="en-US" altLang="en-US"/>
              <a:t>Command Syntax Conventions</a:t>
            </a:r>
            <a:br>
              <a:rPr lang="en-US" altLang="en-US"/>
            </a:br>
            <a:endParaRPr lang="en-US" altLang="en-US"/>
          </a:p>
        </p:txBody>
      </p:sp>
      <p:sp>
        <p:nvSpPr>
          <p:cNvPr id="6147" name="Content Placeholder 2"/>
          <p:cNvSpPr>
            <a:spLocks noGrp="1"/>
          </p:cNvSpPr>
          <p:nvPr>
            <p:ph idx="1"/>
          </p:nvPr>
        </p:nvSpPr>
        <p:spPr/>
        <p:txBody>
          <a:bodyPr>
            <a:normAutofit/>
          </a:bodyPr>
          <a:lstStyle/>
          <a:p>
            <a:pPr marL="0" indent="0" algn="l">
              <a:buNone/>
            </a:pPr>
            <a:r>
              <a:rPr lang="en-US" altLang="en-US" sz="1800" dirty="0"/>
              <a:t>The conventions used to present command syntax in this book are the same conventions used in the IOS Command Reference. The Command Reference describes these conventions as follows:</a:t>
            </a:r>
          </a:p>
          <a:p>
            <a:pPr marL="0" indent="0" algn="l">
              <a:buNone/>
            </a:pPr>
            <a:r>
              <a:rPr lang="en-US" altLang="en-US" sz="1800" dirty="0"/>
              <a:t>■ </a:t>
            </a:r>
            <a:r>
              <a:rPr lang="en-US" altLang="en-US" sz="1800" b="1" dirty="0"/>
              <a:t>Boldface</a:t>
            </a:r>
            <a:r>
              <a:rPr lang="en-US" altLang="en-US" sz="1800" dirty="0"/>
              <a:t> indicates commands and keywords that are entered literally as shown. In</a:t>
            </a:r>
          </a:p>
          <a:p>
            <a:pPr marL="0" indent="0" algn="l">
              <a:buNone/>
            </a:pPr>
            <a:r>
              <a:rPr lang="en-US" altLang="en-US" sz="1800" dirty="0"/>
              <a:t>actual configuration examples and output (not general command syntax), boldface</a:t>
            </a:r>
          </a:p>
          <a:p>
            <a:pPr marL="0" indent="0" algn="l">
              <a:buNone/>
            </a:pPr>
            <a:r>
              <a:rPr lang="en-US" altLang="en-US" sz="1800" dirty="0"/>
              <a:t>indicates commands that are manually input by the user (such as a show command).</a:t>
            </a:r>
          </a:p>
          <a:p>
            <a:pPr marL="0" indent="0" algn="l">
              <a:buNone/>
            </a:pPr>
            <a:r>
              <a:rPr lang="en-US" altLang="en-US" sz="1800" dirty="0"/>
              <a:t>■ </a:t>
            </a:r>
            <a:r>
              <a:rPr lang="en-US" altLang="en-US" sz="1800" b="1" dirty="0"/>
              <a:t>Italic</a:t>
            </a:r>
            <a:r>
              <a:rPr lang="en-US" altLang="en-US" sz="1800" dirty="0"/>
              <a:t> indicates arguments for which you supply actual values.</a:t>
            </a:r>
          </a:p>
          <a:p>
            <a:pPr marL="0" indent="0" algn="l">
              <a:buNone/>
            </a:pPr>
            <a:r>
              <a:rPr lang="en-US" altLang="en-US" sz="1800" b="1" dirty="0"/>
              <a:t>■ Vertical bars (|) </a:t>
            </a:r>
            <a:r>
              <a:rPr lang="en-US" altLang="en-US" sz="1800" dirty="0"/>
              <a:t>separate alternative, mutually exclusive elements.</a:t>
            </a:r>
          </a:p>
          <a:p>
            <a:pPr marL="0" indent="0" algn="l">
              <a:buNone/>
            </a:pPr>
            <a:r>
              <a:rPr lang="en-US" altLang="en-US" sz="1800" dirty="0"/>
              <a:t>■ </a:t>
            </a:r>
            <a:r>
              <a:rPr lang="en-US" altLang="en-US" sz="1800" b="1" dirty="0"/>
              <a:t>Square brackets ([ ])</a:t>
            </a:r>
            <a:r>
              <a:rPr lang="en-US" altLang="en-US" sz="1800" dirty="0"/>
              <a:t> indicate an optional element.</a:t>
            </a:r>
          </a:p>
          <a:p>
            <a:pPr marL="0" indent="0" algn="l">
              <a:buNone/>
            </a:pPr>
            <a:r>
              <a:rPr lang="en-US" altLang="en-US" sz="1800" dirty="0"/>
              <a:t>■ </a:t>
            </a:r>
            <a:r>
              <a:rPr lang="en-US" altLang="en-US" sz="1800" b="1" dirty="0"/>
              <a:t>Braces ({ }) </a:t>
            </a:r>
            <a:r>
              <a:rPr lang="en-US" altLang="en-US" sz="1800" dirty="0"/>
              <a:t>indicate a required choice.</a:t>
            </a:r>
          </a:p>
          <a:p>
            <a:pPr marL="0" indent="0" algn="l">
              <a:buNone/>
            </a:pPr>
            <a:r>
              <a:rPr lang="en-US" altLang="en-US" sz="1800" dirty="0"/>
              <a:t>■ </a:t>
            </a:r>
            <a:r>
              <a:rPr lang="en-US" altLang="en-US" sz="1800" b="1" dirty="0"/>
              <a:t>Braces within brackets ([{ }]) </a:t>
            </a:r>
            <a:r>
              <a:rPr lang="en-US" altLang="en-US" sz="1800" dirty="0"/>
              <a:t>indicate a required choice within an optional element.</a:t>
            </a:r>
          </a:p>
        </p:txBody>
      </p:sp>
    </p:spTree>
    <p:extLst>
      <p:ext uri="{BB962C8B-B14F-4D97-AF65-F5344CB8AC3E}">
        <p14:creationId xmlns:p14="http://schemas.microsoft.com/office/powerpoint/2010/main" xmlns="" val="1451214440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194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eaLnBrk="1" hangingPunct="1"/>
            <a:r>
              <a:rPr lang="en-US" altLang="en-US" sz="3200" b="1" dirty="0" smtClean="0"/>
              <a:t>1 </a:t>
            </a:r>
            <a:r>
              <a:rPr lang="en-US" altLang="en-US" sz="3200" b="1" dirty="0"/>
              <a:t>Comparing Wired and Wireless Networks </a:t>
            </a:r>
            <a:r>
              <a:rPr lang="en-US" altLang="en-US" sz="4000" b="1" dirty="0"/>
              <a:t/>
            </a:r>
            <a:br>
              <a:rPr lang="en-US" altLang="en-US" sz="4000" b="1" dirty="0"/>
            </a:br>
            <a:endParaRPr lang="en-US" altLang="en-US" sz="3200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1138687" y="1337094"/>
            <a:ext cx="9601200" cy="3581400"/>
          </a:xfrm>
        </p:spPr>
        <p:txBody>
          <a:bodyPr>
            <a:noAutofit/>
          </a:bodyPr>
          <a:lstStyle/>
          <a:p>
            <a:pPr marL="0" indent="0" algn="l">
              <a:buNone/>
              <a:defRPr/>
            </a:pPr>
            <a:r>
              <a:rPr lang="en-US" sz="1400" b="1" dirty="0"/>
              <a:t>A- In a wired network</a:t>
            </a:r>
            <a:r>
              <a:rPr lang="en-US" sz="1400" dirty="0"/>
              <a:t>, </a:t>
            </a:r>
          </a:p>
          <a:p>
            <a:pPr marL="0" indent="0" algn="l">
              <a:buNone/>
              <a:defRPr/>
            </a:pPr>
            <a:r>
              <a:rPr lang="en-US" sz="1400" b="1" dirty="0"/>
              <a:t>1- any two devices that need to communicate with each other must be connected by a wire</a:t>
            </a:r>
            <a:r>
              <a:rPr lang="en-US" sz="1400" dirty="0"/>
              <a:t>.</a:t>
            </a:r>
          </a:p>
          <a:p>
            <a:pPr marL="0" indent="0" algn="l">
              <a:buNone/>
              <a:defRPr/>
            </a:pPr>
            <a:r>
              <a:rPr lang="en-US" sz="1400" b="1" dirty="0"/>
              <a:t>2</a:t>
            </a:r>
            <a:r>
              <a:rPr lang="en-US" sz="1400" dirty="0"/>
              <a:t>-The “wire” might contain strands </a:t>
            </a:r>
            <a:r>
              <a:rPr lang="en-US" sz="1400" b="1" dirty="0"/>
              <a:t>of metal or fiber optic </a:t>
            </a:r>
            <a:r>
              <a:rPr lang="en-US" sz="1400" dirty="0"/>
              <a:t>material that run continuously from one end to the other. </a:t>
            </a:r>
            <a:endParaRPr lang="ar-SA" sz="1400" dirty="0"/>
          </a:p>
          <a:p>
            <a:pPr marL="0" indent="0" algn="l">
              <a:buNone/>
              <a:defRPr/>
            </a:pPr>
            <a:r>
              <a:rPr lang="en-US" sz="1400" b="1" dirty="0"/>
              <a:t>3- Data that passes over the wire</a:t>
            </a:r>
            <a:r>
              <a:rPr lang="en-US" sz="1400" dirty="0"/>
              <a:t> is bounded by the physical properties of the wire. </a:t>
            </a:r>
          </a:p>
          <a:p>
            <a:pPr marL="0" indent="0" algn="l">
              <a:buNone/>
              <a:defRPr/>
            </a:pPr>
            <a:r>
              <a:rPr lang="en-US" sz="1400" b="1" dirty="0"/>
              <a:t>4- The IEEE 802.3 </a:t>
            </a:r>
            <a:r>
              <a:rPr lang="en-US" sz="1400" dirty="0"/>
              <a:t>set of standards defines strict guidelines for the Ethernet wire itself.</a:t>
            </a:r>
          </a:p>
          <a:p>
            <a:pPr marL="0" indent="0" algn="l">
              <a:buNone/>
              <a:defRPr/>
            </a:pPr>
            <a:endParaRPr lang="en-US" sz="1400" b="1" dirty="0"/>
          </a:p>
          <a:p>
            <a:pPr marL="0" indent="0" algn="l">
              <a:buNone/>
              <a:defRPr/>
            </a:pPr>
            <a:r>
              <a:rPr lang="en-US" sz="1400" b="1" dirty="0"/>
              <a:t>B- In Wireless data</a:t>
            </a:r>
          </a:p>
          <a:p>
            <a:pPr marL="0" indent="0" algn="l">
              <a:buNone/>
              <a:defRPr/>
            </a:pPr>
            <a:r>
              <a:rPr lang="en-US" sz="1400" dirty="0"/>
              <a:t>1- </a:t>
            </a:r>
            <a:r>
              <a:rPr lang="en-US" sz="1400" b="1" dirty="0"/>
              <a:t>Wireless data must travel through free space, without the constraints and protection of a </a:t>
            </a:r>
          </a:p>
          <a:p>
            <a:pPr marL="0" indent="0" algn="l">
              <a:buNone/>
              <a:defRPr/>
            </a:pPr>
            <a:r>
              <a:rPr lang="en-US" sz="1400" b="1" dirty="0"/>
              <a:t>wire</a:t>
            </a:r>
            <a:r>
              <a:rPr lang="en-US" sz="1400" dirty="0"/>
              <a:t>. </a:t>
            </a:r>
          </a:p>
          <a:p>
            <a:pPr marL="0" indent="0" algn="l">
              <a:buNone/>
              <a:defRPr/>
            </a:pPr>
            <a:r>
              <a:rPr lang="en-US" sz="1400" dirty="0"/>
              <a:t>2- </a:t>
            </a:r>
            <a:r>
              <a:rPr lang="en-US" sz="1400" b="1" dirty="0"/>
              <a:t>In the free space environment, many variables can affect the data and its delivery</a:t>
            </a:r>
            <a:r>
              <a:rPr lang="en-US" sz="1400" dirty="0"/>
              <a:t>. To </a:t>
            </a:r>
          </a:p>
          <a:p>
            <a:pPr marL="0" indent="0" algn="l">
              <a:buNone/>
              <a:defRPr/>
            </a:pPr>
            <a:r>
              <a:rPr lang="en-US" sz="1400" dirty="0"/>
              <a:t>minimize the variables, wireless engineering efforts must focus on two things:</a:t>
            </a:r>
          </a:p>
          <a:p>
            <a:pPr algn="l" rtl="0" eaLnBrk="1" hangingPunct="1">
              <a:buFont typeface="Wingdings" panose="05000000000000000000" pitchFamily="2" charset="2"/>
              <a:buChar char="§"/>
              <a:defRPr/>
            </a:pPr>
            <a:r>
              <a:rPr lang="en-US" sz="1400" b="1" dirty="0"/>
              <a:t>Wireless devices must adhere </a:t>
            </a:r>
            <a:r>
              <a:rPr lang="ar-JO" sz="1400" b="1" dirty="0" smtClean="0"/>
              <a:t>تلتزم</a:t>
            </a:r>
            <a:r>
              <a:rPr lang="en-US" sz="1400" b="1" dirty="0" smtClean="0"/>
              <a:t>to </a:t>
            </a:r>
            <a:r>
              <a:rPr lang="en-US" sz="1400" b="1" dirty="0"/>
              <a:t>a common standard.</a:t>
            </a:r>
          </a:p>
          <a:p>
            <a:pPr algn="l" rtl="0" eaLnBrk="1" hangingPunct="1">
              <a:buFont typeface="Wingdings" panose="05000000000000000000" pitchFamily="2" charset="2"/>
              <a:buChar char="§"/>
              <a:defRPr/>
            </a:pPr>
            <a:r>
              <a:rPr lang="en-US" sz="1400" b="1" dirty="0"/>
              <a:t>Wireless coverage must exist in the area where devices are expected</a:t>
            </a:r>
            <a:r>
              <a:rPr lang="en-US" sz="1400" dirty="0"/>
              <a:t>.</a:t>
            </a:r>
          </a:p>
          <a:p>
            <a:pPr algn="l" rtl="0" eaLnBrk="1" hangingPunct="1">
              <a:buFont typeface="Wingdings" panose="05000000000000000000" pitchFamily="2" charset="2"/>
              <a:buChar char="§"/>
              <a:defRPr/>
            </a:pPr>
            <a:r>
              <a:rPr lang="en-US" sz="1400" b="1" dirty="0"/>
              <a:t>Wireless LANs are based on the IEEE 802.11 standard</a:t>
            </a:r>
            <a:r>
              <a:rPr lang="en-US" sz="1400" dirty="0"/>
              <a:t>, </a:t>
            </a:r>
          </a:p>
        </p:txBody>
      </p:sp>
    </p:spTree>
    <p:extLst>
      <p:ext uri="{BB962C8B-B14F-4D97-AF65-F5344CB8AC3E}">
        <p14:creationId xmlns:p14="http://schemas.microsoft.com/office/powerpoint/2010/main" xmlns="" val="3409005530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218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eaLnBrk="1" hangingPunct="1"/>
            <a:r>
              <a:rPr lang="en-US" altLang="en-US" sz="3600" b="1" dirty="0" smtClean="0"/>
              <a:t>2 </a:t>
            </a:r>
            <a:r>
              <a:rPr lang="en-US" altLang="en-US" sz="3600" b="1" dirty="0"/>
              <a:t>Understanding Basic Wireless Theory </a:t>
            </a:r>
            <a:r>
              <a:rPr lang="en-US" altLang="en-US" b="1" dirty="0"/>
              <a:t/>
            </a:r>
            <a:br>
              <a:rPr lang="en-US" altLang="en-US" b="1" dirty="0"/>
            </a:br>
            <a:endParaRPr lang="en-US" altLang="en-US" sz="3600" dirty="0"/>
          </a:p>
        </p:txBody>
      </p:sp>
      <p:sp>
        <p:nvSpPr>
          <p:cNvPr id="9219" name="Content Placeholder 2"/>
          <p:cNvSpPr>
            <a:spLocks noGrp="1"/>
          </p:cNvSpPr>
          <p:nvPr>
            <p:ph idx="1"/>
          </p:nvPr>
        </p:nvSpPr>
        <p:spPr/>
        <p:txBody>
          <a:bodyPr>
            <a:normAutofit/>
          </a:bodyPr>
          <a:lstStyle/>
          <a:p>
            <a:pPr algn="l" rtl="0" eaLnBrk="1" hangingPunct="1"/>
            <a:r>
              <a:rPr lang="en-US" altLang="en-US" sz="3200" b="1" dirty="0"/>
              <a:t>To send data across a wired link, an </a:t>
            </a:r>
            <a:r>
              <a:rPr lang="en-US" altLang="en-US" sz="3200" b="1" u="sng" dirty="0"/>
              <a:t>electrical signal </a:t>
            </a:r>
            <a:r>
              <a:rPr lang="en-US" altLang="en-US" sz="3200" b="1" dirty="0"/>
              <a:t>is applied </a:t>
            </a:r>
            <a:r>
              <a:rPr lang="en-US" altLang="en-US" sz="3200" dirty="0"/>
              <a:t>at </a:t>
            </a:r>
            <a:r>
              <a:rPr lang="en-US" altLang="en-US" sz="3200" u="sng" dirty="0"/>
              <a:t>one end and is carried to the other end</a:t>
            </a:r>
            <a:r>
              <a:rPr lang="en-US" altLang="en-US" sz="3200" dirty="0"/>
              <a:t>.</a:t>
            </a:r>
          </a:p>
          <a:p>
            <a:pPr algn="l" rtl="0" eaLnBrk="1" hangingPunct="1"/>
            <a:r>
              <a:rPr lang="en-US" altLang="en-US" sz="3200" b="1" dirty="0"/>
              <a:t>A wireless link has no physical strands of anything to carry the signal along.</a:t>
            </a:r>
          </a:p>
        </p:txBody>
      </p:sp>
    </p:spTree>
    <p:extLst>
      <p:ext uri="{BB962C8B-B14F-4D97-AF65-F5344CB8AC3E}">
        <p14:creationId xmlns:p14="http://schemas.microsoft.com/office/powerpoint/2010/main" xmlns="" val="486415327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10242" name="Group 3"/>
          <p:cNvGrpSpPr>
            <a:grpSpLocks noGrp="1" noUngrp="1" noChangeAspect="1"/>
          </p:cNvGrpSpPr>
          <p:nvPr/>
        </p:nvGrpSpPr>
        <p:grpSpPr bwMode="auto">
          <a:xfrm>
            <a:off x="2133600" y="2073276"/>
            <a:ext cx="7772400" cy="2855913"/>
            <a:chOff x="685800" y="2190750"/>
            <a:chExt cx="7772400" cy="2855913"/>
          </a:xfrm>
        </p:grpSpPr>
        <p:pic>
          <p:nvPicPr>
            <p:cNvPr id="10247" name="Picture 1" descr="cw980101"/>
            <p:cNvPicPr>
              <a:picLocks noRot="1" noChangeAspect="1" noMove="1" noResize="1"/>
            </p:cNvPicPr>
            <p:nvPr isPhoto="1"/>
          </p:nvPicPr>
          <p:blipFill>
            <a:blip r:embed="rId2">
              <a:extLst>
                <a:ext uri="{28A0092B-C50C-407E-A947-70E740481C1C}">
                  <a14:useLocalDpi xmlns:a14="http://schemas.microsoft.com/office/drawing/2010/main" xmlns="" val="0"/>
                </a:ext>
              </a:extLst>
            </a:blip>
            <a:srcRect/>
            <a:stretch>
              <a:fillRect/>
            </a:stretch>
          </p:blipFill>
          <p:spPr bwMode="auto">
            <a:xfrm>
              <a:off x="685800" y="2190750"/>
              <a:ext cx="7772400" cy="2474913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 xmlns="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xmlns="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</p:pic>
        <p:sp>
          <p:nvSpPr>
            <p:cNvPr id="3" name="Rectangle 2"/>
            <p:cNvSpPr/>
            <p:nvPr/>
          </p:nvSpPr>
          <p:spPr>
            <a:xfrm>
              <a:off x="685800" y="4703763"/>
              <a:ext cx="7772400" cy="342900"/>
            </a:xfrm>
            <a:prstGeom prst="rect">
              <a:avLst/>
            </a:prstGeom>
            <a:noFill/>
            <a:ln>
              <a:noFill/>
            </a:ln>
          </p:spPr>
          <p:txBody>
            <a:bodyPr anchor="ctr">
              <a:normAutofit fontScale="85000" lnSpcReduction="20000"/>
            </a:bodyPr>
            <a:lstStyle/>
            <a:p>
              <a:pPr algn="ctr">
                <a:defRPr/>
              </a:pPr>
              <a:endParaRPr lang="en-US" sz="2400" dirty="0"/>
            </a:p>
          </p:txBody>
        </p:sp>
      </p:grpSp>
      <p:sp>
        <p:nvSpPr>
          <p:cNvPr id="10243" name="TextBox 6"/>
          <p:cNvSpPr txBox="1">
            <a:spLocks noChangeArrowheads="1"/>
          </p:cNvSpPr>
          <p:nvPr/>
        </p:nvSpPr>
        <p:spPr bwMode="auto">
          <a:xfrm>
            <a:off x="1752599" y="606426"/>
            <a:ext cx="9608389" cy="1477328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 xmlns="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xmlns="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square">
            <a:spAutoFit/>
          </a:bodyPr>
          <a:lstStyle>
            <a:lvl1pPr>
              <a:spcBef>
                <a:spcPct val="20000"/>
              </a:spcBef>
              <a:buFont typeface="Arial" panose="020B0604020202020204" pitchFamily="34" charset="0"/>
              <a:buChar char="•"/>
              <a:defRPr sz="3200">
                <a:solidFill>
                  <a:schemeClr val="tx1"/>
                </a:solidFill>
                <a:latin typeface="Calibri" panose="020F0502020204030204" pitchFamily="34" charset="0"/>
              </a:defRPr>
            </a:lvl1pPr>
            <a:lvl2pPr marL="742950" indent="-285750">
              <a:spcBef>
                <a:spcPct val="20000"/>
              </a:spcBef>
              <a:buFont typeface="Arial" panose="020B0604020202020204" pitchFamily="34" charset="0"/>
              <a:buChar char="–"/>
              <a:defRPr sz="2800">
                <a:solidFill>
                  <a:schemeClr val="tx1"/>
                </a:solidFill>
                <a:latin typeface="Calibri" panose="020F0502020204030204" pitchFamily="34" charset="0"/>
              </a:defRPr>
            </a:lvl2pPr>
            <a:lvl3pPr marL="1143000" indent="-228600">
              <a:spcBef>
                <a:spcPct val="20000"/>
              </a:spcBef>
              <a:buFont typeface="Arial" panose="020B0604020202020204" pitchFamily="34" charset="0"/>
              <a:buChar char="•"/>
              <a:defRPr sz="2400">
                <a:solidFill>
                  <a:schemeClr val="tx1"/>
                </a:solidFill>
                <a:latin typeface="Calibri" panose="020F0502020204030204" pitchFamily="34" charset="0"/>
              </a:defRPr>
            </a:lvl3pPr>
            <a:lvl4pPr marL="1600200" indent="-228600">
              <a:spcBef>
                <a:spcPct val="20000"/>
              </a:spcBef>
              <a:buFont typeface="Arial" panose="020B0604020202020204" pitchFamily="34" charset="0"/>
              <a:buChar char="–"/>
              <a:defRPr sz="2000">
                <a:solidFill>
                  <a:schemeClr val="tx1"/>
                </a:solidFill>
                <a:latin typeface="Calibri" panose="020F0502020204030204" pitchFamily="34" charset="0"/>
              </a:defRPr>
            </a:lvl4pPr>
            <a:lvl5pPr marL="2057400" indent="-228600">
              <a:spcBef>
                <a:spcPct val="20000"/>
              </a:spcBef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Calibri" panose="020F0502020204030204" pitchFamily="34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Calibri" panose="020F0502020204030204" pitchFamily="34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Calibri" panose="020F0502020204030204" pitchFamily="34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Calibri" panose="020F0502020204030204" pitchFamily="34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Calibri" panose="020F0502020204030204" pitchFamily="34" charset="0"/>
              </a:defRPr>
            </a:lvl9pPr>
          </a:lstStyle>
          <a:p>
            <a:pPr eaLnBrk="1" hangingPunct="1">
              <a:spcBef>
                <a:spcPct val="0"/>
              </a:spcBef>
              <a:buFontTx/>
              <a:buNone/>
            </a:pPr>
            <a:r>
              <a:rPr lang="en-US" altLang="en-US" sz="1800" b="1" dirty="0">
                <a:latin typeface="Arial" panose="020B0604020202020204" pitchFamily="34" charset="0"/>
              </a:rPr>
              <a:t>How then can an electrical signal be sent across the air</a:t>
            </a:r>
            <a:r>
              <a:rPr lang="en-US" altLang="en-US" sz="1800" dirty="0">
                <a:latin typeface="Arial" panose="020B0604020202020204" pitchFamily="34" charset="0"/>
              </a:rPr>
              <a:t>, or free space? Consider a simple analogy of two people standing far apart, and one person wants to signal something to other. They are connected by a long and somewhat-loose </a:t>
            </a:r>
            <a:r>
              <a:rPr lang="ar-JO" altLang="en-US" sz="1800" dirty="0" smtClean="0">
                <a:latin typeface="Arial" panose="020B0604020202020204" pitchFamily="34" charset="0"/>
              </a:rPr>
              <a:t>رخو</a:t>
            </a:r>
            <a:r>
              <a:rPr lang="en-US" altLang="en-US" sz="1800" dirty="0" smtClean="0">
                <a:latin typeface="Arial" panose="020B0604020202020204" pitchFamily="34" charset="0"/>
              </a:rPr>
              <a:t>rope</a:t>
            </a:r>
            <a:r>
              <a:rPr lang="en-US" altLang="en-US" sz="1800" dirty="0">
                <a:latin typeface="Arial" panose="020B0604020202020204" pitchFamily="34" charset="0"/>
              </a:rPr>
              <a:t>; </a:t>
            </a:r>
          </a:p>
          <a:p>
            <a:pPr eaLnBrk="1" hangingPunct="1">
              <a:spcBef>
                <a:spcPct val="0"/>
              </a:spcBef>
              <a:buFontTx/>
              <a:buNone/>
            </a:pPr>
            <a:r>
              <a:rPr lang="en-US" altLang="en-US" sz="1800" b="1" dirty="0">
                <a:latin typeface="Arial" panose="020B0604020202020204" pitchFamily="34" charset="0"/>
              </a:rPr>
              <a:t>Figure </a:t>
            </a:r>
            <a:r>
              <a:rPr lang="en-US" altLang="en-US" sz="1800" b="1" dirty="0" smtClean="0">
                <a:latin typeface="Arial" panose="020B0604020202020204" pitchFamily="34" charset="0"/>
              </a:rPr>
              <a:t>3-1 </a:t>
            </a:r>
            <a:r>
              <a:rPr lang="en-US" altLang="en-US" sz="1800" dirty="0">
                <a:latin typeface="Arial" panose="020B0604020202020204" pitchFamily="34" charset="0"/>
              </a:rPr>
              <a:t>shows the end result; the rope falls back down after a tiny distance, and the receiver never notices a change.</a:t>
            </a:r>
          </a:p>
        </p:txBody>
      </p:sp>
      <p:sp>
        <p:nvSpPr>
          <p:cNvPr id="10246" name="Rectangle 4"/>
          <p:cNvSpPr>
            <a:spLocks noChangeArrowheads="1"/>
          </p:cNvSpPr>
          <p:nvPr/>
        </p:nvSpPr>
        <p:spPr bwMode="auto">
          <a:xfrm>
            <a:off x="2590800" y="4921250"/>
            <a:ext cx="7315200" cy="369888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 xmlns="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xmlns="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>
              <a:spcBef>
                <a:spcPct val="20000"/>
              </a:spcBef>
              <a:buFont typeface="Arial" panose="020B0604020202020204" pitchFamily="34" charset="0"/>
              <a:buChar char="•"/>
              <a:defRPr sz="3200">
                <a:solidFill>
                  <a:schemeClr val="tx1"/>
                </a:solidFill>
                <a:latin typeface="Calibri" panose="020F0502020204030204" pitchFamily="34" charset="0"/>
              </a:defRPr>
            </a:lvl1pPr>
            <a:lvl2pPr marL="742950" indent="-285750">
              <a:spcBef>
                <a:spcPct val="20000"/>
              </a:spcBef>
              <a:buFont typeface="Arial" panose="020B0604020202020204" pitchFamily="34" charset="0"/>
              <a:buChar char="–"/>
              <a:defRPr sz="2800">
                <a:solidFill>
                  <a:schemeClr val="tx1"/>
                </a:solidFill>
                <a:latin typeface="Calibri" panose="020F0502020204030204" pitchFamily="34" charset="0"/>
              </a:defRPr>
            </a:lvl2pPr>
            <a:lvl3pPr marL="1143000" indent="-228600">
              <a:spcBef>
                <a:spcPct val="20000"/>
              </a:spcBef>
              <a:buFont typeface="Arial" panose="020B0604020202020204" pitchFamily="34" charset="0"/>
              <a:buChar char="•"/>
              <a:defRPr sz="2400">
                <a:solidFill>
                  <a:schemeClr val="tx1"/>
                </a:solidFill>
                <a:latin typeface="Calibri" panose="020F0502020204030204" pitchFamily="34" charset="0"/>
              </a:defRPr>
            </a:lvl3pPr>
            <a:lvl4pPr marL="1600200" indent="-228600">
              <a:spcBef>
                <a:spcPct val="20000"/>
              </a:spcBef>
              <a:buFont typeface="Arial" panose="020B0604020202020204" pitchFamily="34" charset="0"/>
              <a:buChar char="–"/>
              <a:defRPr sz="2000">
                <a:solidFill>
                  <a:schemeClr val="tx1"/>
                </a:solidFill>
                <a:latin typeface="Calibri" panose="020F0502020204030204" pitchFamily="34" charset="0"/>
              </a:defRPr>
            </a:lvl4pPr>
            <a:lvl5pPr marL="2057400" indent="-228600">
              <a:spcBef>
                <a:spcPct val="20000"/>
              </a:spcBef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Calibri" panose="020F0502020204030204" pitchFamily="34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Calibri" panose="020F0502020204030204" pitchFamily="34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Calibri" panose="020F0502020204030204" pitchFamily="34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Calibri" panose="020F0502020204030204" pitchFamily="34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Calibri" panose="020F0502020204030204" pitchFamily="34" charset="0"/>
              </a:defRPr>
            </a:lvl9pPr>
          </a:lstStyle>
          <a:p>
            <a:pPr eaLnBrk="1" hangingPunct="1">
              <a:spcBef>
                <a:spcPct val="0"/>
              </a:spcBef>
              <a:buFontTx/>
              <a:buNone/>
            </a:pPr>
            <a:r>
              <a:rPr lang="en-US" altLang="en-US" sz="1800" dirty="0"/>
              <a:t>Figure </a:t>
            </a:r>
            <a:r>
              <a:rPr lang="en-US" altLang="en-US" sz="1800" dirty="0" smtClean="0"/>
              <a:t>3-1 </a:t>
            </a:r>
            <a:r>
              <a:rPr lang="en-US" altLang="en-US" sz="1800" dirty="0"/>
              <a:t>Failed Attempt to Pass a Message Down a Rope</a:t>
            </a:r>
          </a:p>
        </p:txBody>
      </p:sp>
    </p:spTree>
    <p:extLst>
      <p:ext uri="{BB962C8B-B14F-4D97-AF65-F5344CB8AC3E}">
        <p14:creationId xmlns:p14="http://schemas.microsoft.com/office/powerpoint/2010/main" xmlns="" val="2233413935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11266" name="Group 3"/>
          <p:cNvGrpSpPr>
            <a:grpSpLocks noGrp="1" noUngrp="1" noChangeAspect="1"/>
          </p:cNvGrpSpPr>
          <p:nvPr/>
        </p:nvGrpSpPr>
        <p:grpSpPr bwMode="auto">
          <a:xfrm>
            <a:off x="2209800" y="2971800"/>
            <a:ext cx="7772400" cy="2859088"/>
            <a:chOff x="685800" y="2189163"/>
            <a:chExt cx="7772400" cy="2859087"/>
          </a:xfrm>
        </p:grpSpPr>
        <p:pic>
          <p:nvPicPr>
            <p:cNvPr id="11272" name="Picture 1" descr="cw980102"/>
            <p:cNvPicPr>
              <a:picLocks noRot="1" noChangeAspect="1" noMove="1" noResize="1"/>
            </p:cNvPicPr>
            <p:nvPr isPhoto="1"/>
          </p:nvPicPr>
          <p:blipFill>
            <a:blip r:embed="rId2">
              <a:extLst>
                <a:ext uri="{28A0092B-C50C-407E-A947-70E740481C1C}">
                  <a14:useLocalDpi xmlns:a14="http://schemas.microsoft.com/office/drawing/2010/main" xmlns="" val="0"/>
                </a:ext>
              </a:extLst>
            </a:blip>
            <a:srcRect/>
            <a:stretch>
              <a:fillRect/>
            </a:stretch>
          </p:blipFill>
          <p:spPr bwMode="auto">
            <a:xfrm>
              <a:off x="685800" y="2189163"/>
              <a:ext cx="7772400" cy="2478087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 xmlns="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xmlns="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</p:pic>
        <p:sp>
          <p:nvSpPr>
            <p:cNvPr id="3" name="Rectangle 2"/>
            <p:cNvSpPr/>
            <p:nvPr/>
          </p:nvSpPr>
          <p:spPr>
            <a:xfrm>
              <a:off x="685800" y="4705350"/>
              <a:ext cx="7772400" cy="342900"/>
            </a:xfrm>
            <a:prstGeom prst="rect">
              <a:avLst/>
            </a:prstGeom>
            <a:noFill/>
            <a:ln>
              <a:noFill/>
            </a:ln>
          </p:spPr>
          <p:txBody>
            <a:bodyPr anchor="ctr">
              <a:normAutofit fontScale="85000" lnSpcReduction="20000"/>
            </a:bodyPr>
            <a:lstStyle/>
            <a:p>
              <a:pPr algn="ctr">
                <a:defRPr/>
              </a:pPr>
              <a:endParaRPr lang="en-US" sz="2400" dirty="0"/>
            </a:p>
          </p:txBody>
        </p:sp>
      </p:grpSp>
      <p:sp>
        <p:nvSpPr>
          <p:cNvPr id="11267" name="TextBox 5"/>
          <p:cNvSpPr txBox="1">
            <a:spLocks noChangeArrowheads="1"/>
          </p:cNvSpPr>
          <p:nvPr/>
        </p:nvSpPr>
        <p:spPr bwMode="auto">
          <a:xfrm>
            <a:off x="1752600" y="511176"/>
            <a:ext cx="8077200" cy="1077913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 xmlns="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xmlns="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>
              <a:spcBef>
                <a:spcPct val="20000"/>
              </a:spcBef>
              <a:buFont typeface="Arial" panose="020B0604020202020204" pitchFamily="34" charset="0"/>
              <a:buChar char="•"/>
              <a:defRPr sz="3200">
                <a:solidFill>
                  <a:schemeClr val="tx1"/>
                </a:solidFill>
                <a:latin typeface="Calibri" panose="020F0502020204030204" pitchFamily="34" charset="0"/>
              </a:defRPr>
            </a:lvl1pPr>
            <a:lvl2pPr marL="742950" indent="-285750">
              <a:spcBef>
                <a:spcPct val="20000"/>
              </a:spcBef>
              <a:buFont typeface="Arial" panose="020B0604020202020204" pitchFamily="34" charset="0"/>
              <a:buChar char="–"/>
              <a:defRPr sz="2800">
                <a:solidFill>
                  <a:schemeClr val="tx1"/>
                </a:solidFill>
                <a:latin typeface="Calibri" panose="020F0502020204030204" pitchFamily="34" charset="0"/>
              </a:defRPr>
            </a:lvl2pPr>
            <a:lvl3pPr marL="1143000" indent="-228600">
              <a:spcBef>
                <a:spcPct val="20000"/>
              </a:spcBef>
              <a:buFont typeface="Arial" panose="020B0604020202020204" pitchFamily="34" charset="0"/>
              <a:buChar char="•"/>
              <a:defRPr sz="2400">
                <a:solidFill>
                  <a:schemeClr val="tx1"/>
                </a:solidFill>
                <a:latin typeface="Calibri" panose="020F0502020204030204" pitchFamily="34" charset="0"/>
              </a:defRPr>
            </a:lvl3pPr>
            <a:lvl4pPr marL="1600200" indent="-228600">
              <a:spcBef>
                <a:spcPct val="20000"/>
              </a:spcBef>
              <a:buFont typeface="Arial" panose="020B0604020202020204" pitchFamily="34" charset="0"/>
              <a:buChar char="–"/>
              <a:defRPr sz="2000">
                <a:solidFill>
                  <a:schemeClr val="tx1"/>
                </a:solidFill>
                <a:latin typeface="Calibri" panose="020F0502020204030204" pitchFamily="34" charset="0"/>
              </a:defRPr>
            </a:lvl4pPr>
            <a:lvl5pPr marL="2057400" indent="-228600">
              <a:spcBef>
                <a:spcPct val="20000"/>
              </a:spcBef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Calibri" panose="020F0502020204030204" pitchFamily="34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Calibri" panose="020F0502020204030204" pitchFamily="34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Calibri" panose="020F0502020204030204" pitchFamily="34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Calibri" panose="020F0502020204030204" pitchFamily="34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Calibri" panose="020F0502020204030204" pitchFamily="34" charset="0"/>
              </a:defRPr>
            </a:lvl9pPr>
          </a:lstStyle>
          <a:p>
            <a:pPr>
              <a:spcBef>
                <a:spcPct val="0"/>
              </a:spcBef>
              <a:buNone/>
            </a:pPr>
            <a:r>
              <a:rPr lang="en-US" altLang="en-US" sz="1600" b="1" dirty="0">
                <a:latin typeface="Arial" panose="020B0604020202020204" pitchFamily="34" charset="0"/>
              </a:rPr>
              <a:t>The sender tries a different strategy</a:t>
            </a:r>
            <a:r>
              <a:rPr lang="en-US" altLang="en-US" sz="1600" dirty="0">
                <a:latin typeface="Arial" panose="020B0604020202020204" pitchFamily="34" charset="0"/>
              </a:rPr>
              <a:t>. He cannot push the rope, but when he begins to wave it up and down in a steady, </a:t>
            </a:r>
            <a:r>
              <a:rPr lang="en-US" altLang="en-US" sz="1600" b="1" dirty="0">
                <a:latin typeface="Arial" panose="020B0604020202020204" pitchFamily="34" charset="0"/>
              </a:rPr>
              <a:t>regular motion, a curious </a:t>
            </a:r>
            <a:r>
              <a:rPr lang="ar-JO" altLang="en-US" sz="1600" b="1" dirty="0" smtClean="0">
                <a:latin typeface="Arial" panose="020B0604020202020204" pitchFamily="34" charset="0"/>
              </a:rPr>
              <a:t>طريف </a:t>
            </a:r>
            <a:r>
              <a:rPr lang="en-US" altLang="en-US" sz="1600" b="1" dirty="0" smtClean="0">
                <a:latin typeface="Arial" panose="020B0604020202020204" pitchFamily="34" charset="0"/>
              </a:rPr>
              <a:t>thing </a:t>
            </a:r>
            <a:r>
              <a:rPr lang="en-US" altLang="en-US" sz="1600" b="1" dirty="0">
                <a:latin typeface="Arial" panose="020B0604020202020204" pitchFamily="34" charset="0"/>
              </a:rPr>
              <a:t>happens</a:t>
            </a:r>
            <a:r>
              <a:rPr lang="en-US" altLang="en-US" sz="1600" dirty="0">
                <a:latin typeface="Arial" panose="020B0604020202020204" pitchFamily="34" charset="0"/>
              </a:rPr>
              <a:t>. </a:t>
            </a:r>
            <a:r>
              <a:rPr lang="en-US" altLang="en-US" sz="1600" b="1" dirty="0">
                <a:latin typeface="Arial" panose="020B0604020202020204" pitchFamily="34" charset="0"/>
              </a:rPr>
              <a:t>A continuous wave pattern appears along the entire length of the rope</a:t>
            </a:r>
            <a:r>
              <a:rPr lang="en-US" altLang="en-US" sz="1600" dirty="0">
                <a:latin typeface="Arial" panose="020B0604020202020204" pitchFamily="34" charset="0"/>
              </a:rPr>
              <a:t>, as shown in Figure </a:t>
            </a:r>
            <a:r>
              <a:rPr lang="en-US" altLang="en-US" sz="1600" dirty="0" smtClean="0">
                <a:latin typeface="Arial" panose="020B0604020202020204" pitchFamily="34" charset="0"/>
              </a:rPr>
              <a:t>3-2</a:t>
            </a:r>
            <a:endParaRPr lang="en-US" altLang="en-US" sz="1600" dirty="0">
              <a:latin typeface="Arial" panose="020B0604020202020204" pitchFamily="34" charset="0"/>
            </a:endParaRPr>
          </a:p>
        </p:txBody>
      </p:sp>
      <p:sp>
        <p:nvSpPr>
          <p:cNvPr id="11270" name="Rectangle 4"/>
          <p:cNvSpPr>
            <a:spLocks noChangeArrowheads="1"/>
          </p:cNvSpPr>
          <p:nvPr/>
        </p:nvSpPr>
        <p:spPr bwMode="auto">
          <a:xfrm>
            <a:off x="1905000" y="1595438"/>
            <a:ext cx="8610600" cy="6477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 xmlns="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xmlns="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>
              <a:spcBef>
                <a:spcPct val="20000"/>
              </a:spcBef>
              <a:buFont typeface="Arial" panose="020B0604020202020204" pitchFamily="34" charset="0"/>
              <a:buChar char="•"/>
              <a:defRPr sz="3200">
                <a:solidFill>
                  <a:schemeClr val="tx1"/>
                </a:solidFill>
                <a:latin typeface="Calibri" panose="020F0502020204030204" pitchFamily="34" charset="0"/>
              </a:defRPr>
            </a:lvl1pPr>
            <a:lvl2pPr marL="742950" indent="-285750">
              <a:spcBef>
                <a:spcPct val="20000"/>
              </a:spcBef>
              <a:buFont typeface="Arial" panose="020B0604020202020204" pitchFamily="34" charset="0"/>
              <a:buChar char="–"/>
              <a:defRPr sz="2800">
                <a:solidFill>
                  <a:schemeClr val="tx1"/>
                </a:solidFill>
                <a:latin typeface="Calibri" panose="020F0502020204030204" pitchFamily="34" charset="0"/>
              </a:defRPr>
            </a:lvl2pPr>
            <a:lvl3pPr marL="1143000" indent="-228600">
              <a:spcBef>
                <a:spcPct val="20000"/>
              </a:spcBef>
              <a:buFont typeface="Arial" panose="020B0604020202020204" pitchFamily="34" charset="0"/>
              <a:buChar char="•"/>
              <a:defRPr sz="2400">
                <a:solidFill>
                  <a:schemeClr val="tx1"/>
                </a:solidFill>
                <a:latin typeface="Calibri" panose="020F0502020204030204" pitchFamily="34" charset="0"/>
              </a:defRPr>
            </a:lvl3pPr>
            <a:lvl4pPr marL="1600200" indent="-228600">
              <a:spcBef>
                <a:spcPct val="20000"/>
              </a:spcBef>
              <a:buFont typeface="Arial" panose="020B0604020202020204" pitchFamily="34" charset="0"/>
              <a:buChar char="–"/>
              <a:defRPr sz="2000">
                <a:solidFill>
                  <a:schemeClr val="tx1"/>
                </a:solidFill>
                <a:latin typeface="Calibri" panose="020F0502020204030204" pitchFamily="34" charset="0"/>
              </a:defRPr>
            </a:lvl4pPr>
            <a:lvl5pPr marL="2057400" indent="-228600">
              <a:spcBef>
                <a:spcPct val="20000"/>
              </a:spcBef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Calibri" panose="020F0502020204030204" pitchFamily="34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Calibri" panose="020F0502020204030204" pitchFamily="34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Calibri" panose="020F0502020204030204" pitchFamily="34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Calibri" panose="020F0502020204030204" pitchFamily="34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Calibri" panose="020F0502020204030204" pitchFamily="34" charset="0"/>
              </a:defRPr>
            </a:lvl9pPr>
          </a:lstStyle>
          <a:p>
            <a:pPr eaLnBrk="1" hangingPunct="1">
              <a:spcBef>
                <a:spcPct val="0"/>
              </a:spcBef>
              <a:buFontTx/>
              <a:buNone/>
            </a:pPr>
            <a:r>
              <a:rPr lang="en-US" altLang="en-US" sz="1800"/>
              <a:t>(</a:t>
            </a:r>
            <a:r>
              <a:rPr lang="en-US" altLang="en-US" sz="1800" b="1"/>
              <a:t>each representing one up and down </a:t>
            </a:r>
            <a:r>
              <a:rPr lang="en-US" altLang="en-US" sz="1800" b="1" u="sng"/>
              <a:t>cycle</a:t>
            </a:r>
            <a:r>
              <a:rPr lang="en-US" altLang="en-US" sz="1800" b="1"/>
              <a:t> of the sender’s arm</a:t>
            </a:r>
            <a:r>
              <a:rPr lang="en-US" altLang="en-US" sz="1800"/>
              <a:t>) actually travel from the </a:t>
            </a:r>
          </a:p>
          <a:p>
            <a:pPr eaLnBrk="1" hangingPunct="1">
              <a:spcBef>
                <a:spcPct val="0"/>
              </a:spcBef>
              <a:buFontTx/>
              <a:buNone/>
            </a:pPr>
            <a:r>
              <a:rPr lang="en-US" altLang="en-US" sz="1800"/>
              <a:t>sender to the receiver.</a:t>
            </a:r>
          </a:p>
        </p:txBody>
      </p:sp>
      <p:sp>
        <p:nvSpPr>
          <p:cNvPr id="11271" name="Rectangle 5"/>
          <p:cNvSpPr>
            <a:spLocks noChangeArrowheads="1"/>
          </p:cNvSpPr>
          <p:nvPr/>
        </p:nvSpPr>
        <p:spPr bwMode="auto">
          <a:xfrm>
            <a:off x="3048000" y="5580064"/>
            <a:ext cx="5181600" cy="369887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 xmlns="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xmlns="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>
              <a:spcBef>
                <a:spcPct val="20000"/>
              </a:spcBef>
              <a:buFont typeface="Arial" panose="020B0604020202020204" pitchFamily="34" charset="0"/>
              <a:buChar char="•"/>
              <a:defRPr sz="3200">
                <a:solidFill>
                  <a:schemeClr val="tx1"/>
                </a:solidFill>
                <a:latin typeface="Calibri" panose="020F0502020204030204" pitchFamily="34" charset="0"/>
              </a:defRPr>
            </a:lvl1pPr>
            <a:lvl2pPr marL="742950" indent="-285750">
              <a:spcBef>
                <a:spcPct val="20000"/>
              </a:spcBef>
              <a:buFont typeface="Arial" panose="020B0604020202020204" pitchFamily="34" charset="0"/>
              <a:buChar char="–"/>
              <a:defRPr sz="2800">
                <a:solidFill>
                  <a:schemeClr val="tx1"/>
                </a:solidFill>
                <a:latin typeface="Calibri" panose="020F0502020204030204" pitchFamily="34" charset="0"/>
              </a:defRPr>
            </a:lvl2pPr>
            <a:lvl3pPr marL="1143000" indent="-228600">
              <a:spcBef>
                <a:spcPct val="20000"/>
              </a:spcBef>
              <a:buFont typeface="Arial" panose="020B0604020202020204" pitchFamily="34" charset="0"/>
              <a:buChar char="•"/>
              <a:defRPr sz="2400">
                <a:solidFill>
                  <a:schemeClr val="tx1"/>
                </a:solidFill>
                <a:latin typeface="Calibri" panose="020F0502020204030204" pitchFamily="34" charset="0"/>
              </a:defRPr>
            </a:lvl3pPr>
            <a:lvl4pPr marL="1600200" indent="-228600">
              <a:spcBef>
                <a:spcPct val="20000"/>
              </a:spcBef>
              <a:buFont typeface="Arial" panose="020B0604020202020204" pitchFamily="34" charset="0"/>
              <a:buChar char="–"/>
              <a:defRPr sz="2000">
                <a:solidFill>
                  <a:schemeClr val="tx1"/>
                </a:solidFill>
                <a:latin typeface="Calibri" panose="020F0502020204030204" pitchFamily="34" charset="0"/>
              </a:defRPr>
            </a:lvl4pPr>
            <a:lvl5pPr marL="2057400" indent="-228600">
              <a:spcBef>
                <a:spcPct val="20000"/>
              </a:spcBef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Calibri" panose="020F0502020204030204" pitchFamily="34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Calibri" panose="020F0502020204030204" pitchFamily="34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Calibri" panose="020F0502020204030204" pitchFamily="34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Calibri" panose="020F0502020204030204" pitchFamily="34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Calibri" panose="020F0502020204030204" pitchFamily="34" charset="0"/>
              </a:defRPr>
            </a:lvl9pPr>
          </a:lstStyle>
          <a:p>
            <a:pPr eaLnBrk="1" hangingPunct="1">
              <a:spcBef>
                <a:spcPct val="0"/>
              </a:spcBef>
              <a:buFontTx/>
              <a:buNone/>
            </a:pPr>
            <a:r>
              <a:rPr lang="en-US" altLang="en-US" sz="1800" dirty="0"/>
              <a:t>Figure </a:t>
            </a:r>
            <a:r>
              <a:rPr lang="en-US" altLang="en-US" sz="1800" dirty="0" smtClean="0"/>
              <a:t>3-2 </a:t>
            </a:r>
            <a:r>
              <a:rPr lang="en-US" altLang="en-US" sz="1800" dirty="0"/>
              <a:t>Sending a Continuous Wave Down a Rope</a:t>
            </a:r>
          </a:p>
        </p:txBody>
      </p:sp>
    </p:spTree>
    <p:extLst>
      <p:ext uri="{BB962C8B-B14F-4D97-AF65-F5344CB8AC3E}">
        <p14:creationId xmlns:p14="http://schemas.microsoft.com/office/powerpoint/2010/main" xmlns="" val="176842604"/>
      </p:ext>
    </p:extLst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12290" name="Group 3"/>
          <p:cNvGrpSpPr>
            <a:grpSpLocks noGrp="1" noUngrp="1" noChangeAspect="1"/>
          </p:cNvGrpSpPr>
          <p:nvPr/>
        </p:nvGrpSpPr>
        <p:grpSpPr bwMode="auto">
          <a:xfrm>
            <a:off x="3581400" y="2819400"/>
            <a:ext cx="5486400" cy="2813050"/>
            <a:chOff x="685800" y="1627188"/>
            <a:chExt cx="7772400" cy="3984625"/>
          </a:xfrm>
        </p:grpSpPr>
        <p:pic>
          <p:nvPicPr>
            <p:cNvPr id="12295" name="Picture 1" descr="cw980103"/>
            <p:cNvPicPr>
              <a:picLocks noRot="1" noChangeAspect="1" noMove="1" noResize="1"/>
            </p:cNvPicPr>
            <p:nvPr isPhoto="1"/>
          </p:nvPicPr>
          <p:blipFill>
            <a:blip r:embed="rId2">
              <a:extLst>
                <a:ext uri="{28A0092B-C50C-407E-A947-70E740481C1C}">
                  <a14:useLocalDpi xmlns:a14="http://schemas.microsoft.com/office/drawing/2010/main" xmlns="" val="0"/>
                </a:ext>
              </a:extLst>
            </a:blip>
            <a:srcRect/>
            <a:stretch>
              <a:fillRect/>
            </a:stretch>
          </p:blipFill>
          <p:spPr bwMode="auto">
            <a:xfrm>
              <a:off x="685800" y="1627188"/>
              <a:ext cx="7772400" cy="3603625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 xmlns="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xmlns="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</p:pic>
        <p:sp>
          <p:nvSpPr>
            <p:cNvPr id="3" name="Rectangle 2"/>
            <p:cNvSpPr/>
            <p:nvPr/>
          </p:nvSpPr>
          <p:spPr>
            <a:xfrm>
              <a:off x="685800" y="5270017"/>
              <a:ext cx="7772400" cy="341796"/>
            </a:xfrm>
            <a:prstGeom prst="rect">
              <a:avLst/>
            </a:prstGeom>
            <a:noFill/>
            <a:ln>
              <a:noFill/>
            </a:ln>
          </p:spPr>
          <p:txBody>
            <a:bodyPr anchor="ctr">
              <a:normAutofit fontScale="47500" lnSpcReduction="20000"/>
            </a:bodyPr>
            <a:lstStyle/>
            <a:p>
              <a:pPr algn="ctr">
                <a:defRPr/>
              </a:pPr>
              <a:endParaRPr lang="en-US" sz="2400" dirty="0"/>
            </a:p>
          </p:txBody>
        </p:sp>
      </p:grpSp>
      <p:sp>
        <p:nvSpPr>
          <p:cNvPr id="12291" name="TextBox 5"/>
          <p:cNvSpPr txBox="1">
            <a:spLocks noChangeArrowheads="1"/>
          </p:cNvSpPr>
          <p:nvPr/>
        </p:nvSpPr>
        <p:spPr bwMode="auto">
          <a:xfrm>
            <a:off x="2106613" y="5532439"/>
            <a:ext cx="8077200" cy="30797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 xmlns="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xmlns="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>
              <a:spcBef>
                <a:spcPct val="20000"/>
              </a:spcBef>
              <a:buFont typeface="Arial" panose="020B0604020202020204" pitchFamily="34" charset="0"/>
              <a:buChar char="•"/>
              <a:defRPr sz="3200">
                <a:solidFill>
                  <a:schemeClr val="tx1"/>
                </a:solidFill>
                <a:latin typeface="Calibri" panose="020F0502020204030204" pitchFamily="34" charset="0"/>
              </a:defRPr>
            </a:lvl1pPr>
            <a:lvl2pPr marL="742950" indent="-285750">
              <a:spcBef>
                <a:spcPct val="20000"/>
              </a:spcBef>
              <a:buFont typeface="Arial" panose="020B0604020202020204" pitchFamily="34" charset="0"/>
              <a:buChar char="–"/>
              <a:defRPr sz="2800">
                <a:solidFill>
                  <a:schemeClr val="tx1"/>
                </a:solidFill>
                <a:latin typeface="Calibri" panose="020F0502020204030204" pitchFamily="34" charset="0"/>
              </a:defRPr>
            </a:lvl2pPr>
            <a:lvl3pPr marL="1143000" indent="-228600">
              <a:spcBef>
                <a:spcPct val="20000"/>
              </a:spcBef>
              <a:buFont typeface="Arial" panose="020B0604020202020204" pitchFamily="34" charset="0"/>
              <a:buChar char="•"/>
              <a:defRPr sz="2400">
                <a:solidFill>
                  <a:schemeClr val="tx1"/>
                </a:solidFill>
                <a:latin typeface="Calibri" panose="020F0502020204030204" pitchFamily="34" charset="0"/>
              </a:defRPr>
            </a:lvl3pPr>
            <a:lvl4pPr marL="1600200" indent="-228600">
              <a:spcBef>
                <a:spcPct val="20000"/>
              </a:spcBef>
              <a:buFont typeface="Arial" panose="020B0604020202020204" pitchFamily="34" charset="0"/>
              <a:buChar char="–"/>
              <a:defRPr sz="2000">
                <a:solidFill>
                  <a:schemeClr val="tx1"/>
                </a:solidFill>
                <a:latin typeface="Calibri" panose="020F0502020204030204" pitchFamily="34" charset="0"/>
              </a:defRPr>
            </a:lvl4pPr>
            <a:lvl5pPr marL="2057400" indent="-228600">
              <a:spcBef>
                <a:spcPct val="20000"/>
              </a:spcBef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Calibri" panose="020F0502020204030204" pitchFamily="34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Calibri" panose="020F0502020204030204" pitchFamily="34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Calibri" panose="020F0502020204030204" pitchFamily="34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Calibri" panose="020F0502020204030204" pitchFamily="34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Calibri" panose="020F0502020204030204" pitchFamily="34" charset="0"/>
              </a:defRPr>
            </a:lvl9pPr>
          </a:lstStyle>
          <a:p>
            <a:pPr algn="ctr" eaLnBrk="1" hangingPunct="1">
              <a:spcBef>
                <a:spcPct val="0"/>
              </a:spcBef>
              <a:buFontTx/>
              <a:buNone/>
            </a:pPr>
            <a:r>
              <a:rPr lang="en-US" altLang="en-US" sz="1400">
                <a:latin typeface="Arial" panose="020B0604020202020204" pitchFamily="34" charset="0"/>
              </a:rPr>
              <a:t>Figure 1-3 Traveling Electric and Magnetic Waves</a:t>
            </a:r>
          </a:p>
        </p:txBody>
      </p:sp>
      <p:sp>
        <p:nvSpPr>
          <p:cNvPr id="12294" name="Rectangle 4"/>
          <p:cNvSpPr>
            <a:spLocks noChangeArrowheads="1"/>
          </p:cNvSpPr>
          <p:nvPr/>
        </p:nvSpPr>
        <p:spPr bwMode="auto">
          <a:xfrm>
            <a:off x="1905000" y="260351"/>
            <a:ext cx="8763000" cy="230822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 xmlns="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xmlns="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>
              <a:spcBef>
                <a:spcPct val="20000"/>
              </a:spcBef>
              <a:buFont typeface="Arial" panose="020B0604020202020204" pitchFamily="34" charset="0"/>
              <a:buChar char="•"/>
              <a:defRPr sz="3200">
                <a:solidFill>
                  <a:schemeClr val="tx1"/>
                </a:solidFill>
                <a:latin typeface="Calibri" panose="020F0502020204030204" pitchFamily="34" charset="0"/>
              </a:defRPr>
            </a:lvl1pPr>
            <a:lvl2pPr marL="742950" indent="-285750">
              <a:spcBef>
                <a:spcPct val="20000"/>
              </a:spcBef>
              <a:buFont typeface="Arial" panose="020B0604020202020204" pitchFamily="34" charset="0"/>
              <a:buChar char="–"/>
              <a:defRPr sz="2800">
                <a:solidFill>
                  <a:schemeClr val="tx1"/>
                </a:solidFill>
                <a:latin typeface="Calibri" panose="020F0502020204030204" pitchFamily="34" charset="0"/>
              </a:defRPr>
            </a:lvl2pPr>
            <a:lvl3pPr marL="1143000" indent="-228600">
              <a:spcBef>
                <a:spcPct val="20000"/>
              </a:spcBef>
              <a:buFont typeface="Arial" panose="020B0604020202020204" pitchFamily="34" charset="0"/>
              <a:buChar char="•"/>
              <a:defRPr sz="2400">
                <a:solidFill>
                  <a:schemeClr val="tx1"/>
                </a:solidFill>
                <a:latin typeface="Calibri" panose="020F0502020204030204" pitchFamily="34" charset="0"/>
              </a:defRPr>
            </a:lvl3pPr>
            <a:lvl4pPr marL="1600200" indent="-228600">
              <a:spcBef>
                <a:spcPct val="20000"/>
              </a:spcBef>
              <a:buFont typeface="Arial" panose="020B0604020202020204" pitchFamily="34" charset="0"/>
              <a:buChar char="–"/>
              <a:defRPr sz="2000">
                <a:solidFill>
                  <a:schemeClr val="tx1"/>
                </a:solidFill>
                <a:latin typeface="Calibri" panose="020F0502020204030204" pitchFamily="34" charset="0"/>
              </a:defRPr>
            </a:lvl4pPr>
            <a:lvl5pPr marL="2057400" indent="-228600">
              <a:spcBef>
                <a:spcPct val="20000"/>
              </a:spcBef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Calibri" panose="020F0502020204030204" pitchFamily="34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Calibri" panose="020F0502020204030204" pitchFamily="34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Calibri" panose="020F0502020204030204" pitchFamily="34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Calibri" panose="020F0502020204030204" pitchFamily="34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Calibri" panose="020F0502020204030204" pitchFamily="34" charset="0"/>
              </a:defRPr>
            </a:lvl9pPr>
          </a:lstStyle>
          <a:p>
            <a:pPr eaLnBrk="1" hangingPunct="1">
              <a:spcBef>
                <a:spcPct val="0"/>
              </a:spcBef>
              <a:buFontTx/>
              <a:buNone/>
            </a:pPr>
            <a:r>
              <a:rPr lang="en-US" altLang="en-US" sz="1800" b="1"/>
              <a:t>In free space</a:t>
            </a:r>
            <a:r>
              <a:rPr lang="en-US" altLang="en-US" sz="1800"/>
              <a:t>, a similar principle occurs. </a:t>
            </a:r>
          </a:p>
          <a:p>
            <a:pPr eaLnBrk="1" hangingPunct="1">
              <a:spcBef>
                <a:spcPct val="0"/>
              </a:spcBef>
              <a:buFontTx/>
              <a:buNone/>
            </a:pPr>
            <a:r>
              <a:rPr lang="en-US" altLang="en-US" sz="1800"/>
              <a:t>1- The sender (</a:t>
            </a:r>
            <a:r>
              <a:rPr lang="en-US" altLang="en-US" sz="1800" b="1"/>
              <a:t>a transmitter</a:t>
            </a:r>
            <a:r>
              <a:rPr lang="en-US" altLang="en-US" sz="1800"/>
              <a:t>) can send an alternating current into a section of wire (an antenna), which sets up </a:t>
            </a:r>
            <a:r>
              <a:rPr lang="en-US" altLang="en-US" sz="1800" b="1" u="sng"/>
              <a:t>moving electric and magnetic fields(electromagnetic waves) that propagate </a:t>
            </a:r>
            <a:r>
              <a:rPr lang="en-US" altLang="en-US" sz="1800"/>
              <a:t>out and away as traveling waves. </a:t>
            </a:r>
          </a:p>
          <a:p>
            <a:pPr eaLnBrk="1" hangingPunct="1">
              <a:spcBef>
                <a:spcPct val="0"/>
              </a:spcBef>
              <a:buFontTx/>
              <a:buNone/>
            </a:pPr>
            <a:endParaRPr lang="en-US" altLang="en-US" sz="1800"/>
          </a:p>
          <a:p>
            <a:pPr eaLnBrk="1" hangingPunct="1">
              <a:spcBef>
                <a:spcPct val="0"/>
              </a:spcBef>
              <a:buFontTx/>
              <a:buNone/>
            </a:pPr>
            <a:r>
              <a:rPr lang="en-US" altLang="en-US" sz="1800"/>
              <a:t>2- The electric and magnetic fields travel along together and are always at right angles to each other, as shown in Figure 1-3. The signal must keep changing, or alternating, by cycling up and down, </a:t>
            </a:r>
            <a:r>
              <a:rPr lang="en-US" altLang="en-US" sz="1800" b="1"/>
              <a:t>to keep the electric and magnetic fields cycling and pushing ever outward.</a:t>
            </a:r>
          </a:p>
        </p:txBody>
      </p:sp>
    </p:spTree>
    <p:extLst>
      <p:ext uri="{BB962C8B-B14F-4D97-AF65-F5344CB8AC3E}">
        <p14:creationId xmlns:p14="http://schemas.microsoft.com/office/powerpoint/2010/main" xmlns="" val="1790159393"/>
      </p:ext>
    </p:extLst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13314" name="Group 3"/>
          <p:cNvGrpSpPr>
            <a:grpSpLocks noGrp="1" noUngrp="1" noChangeAspect="1"/>
          </p:cNvGrpSpPr>
          <p:nvPr/>
        </p:nvGrpSpPr>
        <p:grpSpPr bwMode="auto">
          <a:xfrm>
            <a:off x="2530476" y="2830514"/>
            <a:ext cx="4403725" cy="3113087"/>
            <a:chOff x="685800" y="873125"/>
            <a:chExt cx="7772400" cy="5492750"/>
          </a:xfrm>
        </p:grpSpPr>
        <p:pic>
          <p:nvPicPr>
            <p:cNvPr id="13320" name="Picture 1" descr="cw980104"/>
            <p:cNvPicPr>
              <a:picLocks noRot="1" noChangeAspect="1" noMove="1" noResize="1"/>
            </p:cNvPicPr>
            <p:nvPr isPhoto="1"/>
          </p:nvPicPr>
          <p:blipFill>
            <a:blip r:embed="rId2">
              <a:extLst>
                <a:ext uri="{28A0092B-C50C-407E-A947-70E740481C1C}">
                  <a14:useLocalDpi xmlns:a14="http://schemas.microsoft.com/office/drawing/2010/main" xmlns="" val="0"/>
                </a:ext>
              </a:extLst>
            </a:blip>
            <a:srcRect/>
            <a:stretch>
              <a:fillRect/>
            </a:stretch>
          </p:blipFill>
          <p:spPr bwMode="auto">
            <a:xfrm>
              <a:off x="685800" y="873125"/>
              <a:ext cx="7772400" cy="5111750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 xmlns="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xmlns="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</p:pic>
        <p:sp>
          <p:nvSpPr>
            <p:cNvPr id="3" name="Rectangle 2"/>
            <p:cNvSpPr/>
            <p:nvPr/>
          </p:nvSpPr>
          <p:spPr>
            <a:xfrm>
              <a:off x="685800" y="6024154"/>
              <a:ext cx="7772400" cy="341721"/>
            </a:xfrm>
            <a:prstGeom prst="rect">
              <a:avLst/>
            </a:prstGeom>
            <a:noFill/>
            <a:ln>
              <a:noFill/>
            </a:ln>
          </p:spPr>
          <p:txBody>
            <a:bodyPr anchor="ctr">
              <a:normAutofit fontScale="32500" lnSpcReduction="20000"/>
            </a:bodyPr>
            <a:lstStyle/>
            <a:p>
              <a:pPr algn="ctr">
                <a:defRPr/>
              </a:pPr>
              <a:endParaRPr lang="en-US" sz="2400" dirty="0"/>
            </a:p>
          </p:txBody>
        </p:sp>
      </p:grpSp>
      <p:sp>
        <p:nvSpPr>
          <p:cNvPr id="13315" name="TextBox 5"/>
          <p:cNvSpPr txBox="1">
            <a:spLocks noChangeArrowheads="1"/>
          </p:cNvSpPr>
          <p:nvPr/>
        </p:nvSpPr>
        <p:spPr bwMode="auto">
          <a:xfrm>
            <a:off x="2057400" y="6019801"/>
            <a:ext cx="6085936" cy="30797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 xmlns="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xmlns="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square">
            <a:spAutoFit/>
          </a:bodyPr>
          <a:lstStyle>
            <a:lvl1pPr>
              <a:spcBef>
                <a:spcPct val="20000"/>
              </a:spcBef>
              <a:buFont typeface="Arial" panose="020B0604020202020204" pitchFamily="34" charset="0"/>
              <a:buChar char="•"/>
              <a:defRPr sz="3200">
                <a:solidFill>
                  <a:schemeClr val="tx1"/>
                </a:solidFill>
                <a:latin typeface="Calibri" panose="020F0502020204030204" pitchFamily="34" charset="0"/>
              </a:defRPr>
            </a:lvl1pPr>
            <a:lvl2pPr marL="742950" indent="-285750">
              <a:spcBef>
                <a:spcPct val="20000"/>
              </a:spcBef>
              <a:buFont typeface="Arial" panose="020B0604020202020204" pitchFamily="34" charset="0"/>
              <a:buChar char="–"/>
              <a:defRPr sz="2800">
                <a:solidFill>
                  <a:schemeClr val="tx1"/>
                </a:solidFill>
                <a:latin typeface="Calibri" panose="020F0502020204030204" pitchFamily="34" charset="0"/>
              </a:defRPr>
            </a:lvl2pPr>
            <a:lvl3pPr marL="1143000" indent="-228600">
              <a:spcBef>
                <a:spcPct val="20000"/>
              </a:spcBef>
              <a:buFont typeface="Arial" panose="020B0604020202020204" pitchFamily="34" charset="0"/>
              <a:buChar char="•"/>
              <a:defRPr sz="2400">
                <a:solidFill>
                  <a:schemeClr val="tx1"/>
                </a:solidFill>
                <a:latin typeface="Calibri" panose="020F0502020204030204" pitchFamily="34" charset="0"/>
              </a:defRPr>
            </a:lvl3pPr>
            <a:lvl4pPr marL="1600200" indent="-228600">
              <a:spcBef>
                <a:spcPct val="20000"/>
              </a:spcBef>
              <a:buFont typeface="Arial" panose="020B0604020202020204" pitchFamily="34" charset="0"/>
              <a:buChar char="–"/>
              <a:defRPr sz="2000">
                <a:solidFill>
                  <a:schemeClr val="tx1"/>
                </a:solidFill>
                <a:latin typeface="Calibri" panose="020F0502020204030204" pitchFamily="34" charset="0"/>
              </a:defRPr>
            </a:lvl4pPr>
            <a:lvl5pPr marL="2057400" indent="-228600">
              <a:spcBef>
                <a:spcPct val="20000"/>
              </a:spcBef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Calibri" panose="020F0502020204030204" pitchFamily="34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Calibri" panose="020F0502020204030204" pitchFamily="34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Calibri" panose="020F0502020204030204" pitchFamily="34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Calibri" panose="020F0502020204030204" pitchFamily="34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Calibri" panose="020F0502020204030204" pitchFamily="34" charset="0"/>
              </a:defRPr>
            </a:lvl9pPr>
          </a:lstStyle>
          <a:p>
            <a:pPr algn="ctr" eaLnBrk="1" hangingPunct="1">
              <a:spcBef>
                <a:spcPct val="0"/>
              </a:spcBef>
              <a:buFontTx/>
              <a:buNone/>
            </a:pPr>
            <a:r>
              <a:rPr lang="en-US" altLang="en-US" sz="1400" dirty="0">
                <a:latin typeface="Arial" panose="020B0604020202020204" pitchFamily="34" charset="0"/>
              </a:rPr>
              <a:t>Figure 1-4 Wave Propagation with an Idealistic Antenna</a:t>
            </a:r>
          </a:p>
        </p:txBody>
      </p:sp>
      <p:sp>
        <p:nvSpPr>
          <p:cNvPr id="13318" name="Rectangle 4"/>
          <p:cNvSpPr>
            <a:spLocks noChangeArrowheads="1"/>
          </p:cNvSpPr>
          <p:nvPr/>
        </p:nvSpPr>
        <p:spPr bwMode="auto">
          <a:xfrm>
            <a:off x="1905000" y="381000"/>
            <a:ext cx="8229600" cy="120015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 xmlns="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xmlns="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>
              <a:spcBef>
                <a:spcPct val="20000"/>
              </a:spcBef>
              <a:buFont typeface="Arial" panose="020B0604020202020204" pitchFamily="34" charset="0"/>
              <a:buChar char="•"/>
              <a:defRPr sz="3200">
                <a:solidFill>
                  <a:schemeClr val="tx1"/>
                </a:solidFill>
                <a:latin typeface="Calibri" panose="020F0502020204030204" pitchFamily="34" charset="0"/>
              </a:defRPr>
            </a:lvl1pPr>
            <a:lvl2pPr marL="742950" indent="-285750">
              <a:spcBef>
                <a:spcPct val="20000"/>
              </a:spcBef>
              <a:buFont typeface="Arial" panose="020B0604020202020204" pitchFamily="34" charset="0"/>
              <a:buChar char="–"/>
              <a:defRPr sz="2800">
                <a:solidFill>
                  <a:schemeClr val="tx1"/>
                </a:solidFill>
                <a:latin typeface="Calibri" panose="020F0502020204030204" pitchFamily="34" charset="0"/>
              </a:defRPr>
            </a:lvl2pPr>
            <a:lvl3pPr marL="1143000" indent="-228600">
              <a:spcBef>
                <a:spcPct val="20000"/>
              </a:spcBef>
              <a:buFont typeface="Arial" panose="020B0604020202020204" pitchFamily="34" charset="0"/>
              <a:buChar char="•"/>
              <a:defRPr sz="2400">
                <a:solidFill>
                  <a:schemeClr val="tx1"/>
                </a:solidFill>
                <a:latin typeface="Calibri" panose="020F0502020204030204" pitchFamily="34" charset="0"/>
              </a:defRPr>
            </a:lvl3pPr>
            <a:lvl4pPr marL="1600200" indent="-228600">
              <a:spcBef>
                <a:spcPct val="20000"/>
              </a:spcBef>
              <a:buFont typeface="Arial" panose="020B0604020202020204" pitchFamily="34" charset="0"/>
              <a:buChar char="–"/>
              <a:defRPr sz="2000">
                <a:solidFill>
                  <a:schemeClr val="tx1"/>
                </a:solidFill>
                <a:latin typeface="Calibri" panose="020F0502020204030204" pitchFamily="34" charset="0"/>
              </a:defRPr>
            </a:lvl4pPr>
            <a:lvl5pPr marL="2057400" indent="-228600">
              <a:spcBef>
                <a:spcPct val="20000"/>
              </a:spcBef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Calibri" panose="020F0502020204030204" pitchFamily="34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Calibri" panose="020F0502020204030204" pitchFamily="34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Calibri" panose="020F0502020204030204" pitchFamily="34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Calibri" panose="020F0502020204030204" pitchFamily="34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Calibri" panose="020F0502020204030204" pitchFamily="34" charset="0"/>
              </a:defRPr>
            </a:lvl9pPr>
          </a:lstStyle>
          <a:p>
            <a:pPr eaLnBrk="1" hangingPunct="1">
              <a:spcBef>
                <a:spcPct val="0"/>
              </a:spcBef>
              <a:buFontTx/>
              <a:buNone/>
            </a:pPr>
            <a:r>
              <a:rPr lang="en-US" altLang="en-US" sz="1800" b="1"/>
              <a:t>1-</a:t>
            </a:r>
            <a:r>
              <a:rPr lang="en-US" altLang="en-US" sz="1800"/>
              <a:t> </a:t>
            </a:r>
            <a:r>
              <a:rPr lang="en-US" altLang="en-US" sz="1800" b="1"/>
              <a:t>Electromagnetic waves </a:t>
            </a:r>
            <a:r>
              <a:rPr lang="en-US" altLang="en-US" sz="1800" b="1" u="sng"/>
              <a:t>do not travel </a:t>
            </a:r>
            <a:r>
              <a:rPr lang="en-US" altLang="en-US" sz="1800" b="1"/>
              <a:t>in a straight lin</a:t>
            </a:r>
            <a:r>
              <a:rPr lang="en-US" altLang="en-US" sz="1800"/>
              <a:t>e. Instead, </a:t>
            </a:r>
            <a:r>
              <a:rPr lang="en-US" altLang="en-US" sz="1800" b="1"/>
              <a:t>they travel by expanding in </a:t>
            </a:r>
            <a:r>
              <a:rPr lang="en-US" altLang="en-US" sz="1800" b="1" u="sng"/>
              <a:t>all directions </a:t>
            </a:r>
            <a:r>
              <a:rPr lang="en-US" altLang="en-US" sz="1800" b="1"/>
              <a:t>away from the antenna</a:t>
            </a:r>
          </a:p>
          <a:p>
            <a:pPr eaLnBrk="1" hangingPunct="1">
              <a:spcBef>
                <a:spcPct val="0"/>
              </a:spcBef>
              <a:buFontTx/>
              <a:buNone/>
            </a:pPr>
            <a:endParaRPr lang="en-US" altLang="en-US" sz="1800" b="1"/>
          </a:p>
          <a:p>
            <a:pPr eaLnBrk="1" hangingPunct="1">
              <a:spcBef>
                <a:spcPct val="0"/>
              </a:spcBef>
              <a:buFontTx/>
              <a:buNone/>
            </a:pPr>
            <a:r>
              <a:rPr lang="en-US" altLang="en-US" sz="1800" b="1"/>
              <a:t> 2- In free space, the electromagnetic waves expand outward in all three dimensions.</a:t>
            </a:r>
          </a:p>
        </p:txBody>
      </p:sp>
      <p:sp>
        <p:nvSpPr>
          <p:cNvPr id="13319" name="Rectangle 5"/>
          <p:cNvSpPr>
            <a:spLocks noChangeArrowheads="1"/>
          </p:cNvSpPr>
          <p:nvPr/>
        </p:nvSpPr>
        <p:spPr bwMode="auto">
          <a:xfrm>
            <a:off x="6934201" y="1835845"/>
            <a:ext cx="5157788" cy="1477963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 xmlns="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xmlns="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>
              <a:spcBef>
                <a:spcPct val="20000"/>
              </a:spcBef>
              <a:buFont typeface="Arial" panose="020B0604020202020204" pitchFamily="34" charset="0"/>
              <a:buChar char="•"/>
              <a:defRPr sz="3200">
                <a:solidFill>
                  <a:schemeClr val="tx1"/>
                </a:solidFill>
                <a:latin typeface="Calibri" panose="020F0502020204030204" pitchFamily="34" charset="0"/>
              </a:defRPr>
            </a:lvl1pPr>
            <a:lvl2pPr marL="742950" indent="-285750">
              <a:spcBef>
                <a:spcPct val="20000"/>
              </a:spcBef>
              <a:buFont typeface="Arial" panose="020B0604020202020204" pitchFamily="34" charset="0"/>
              <a:buChar char="–"/>
              <a:defRPr sz="2800">
                <a:solidFill>
                  <a:schemeClr val="tx1"/>
                </a:solidFill>
                <a:latin typeface="Calibri" panose="020F0502020204030204" pitchFamily="34" charset="0"/>
              </a:defRPr>
            </a:lvl2pPr>
            <a:lvl3pPr marL="1143000" indent="-228600">
              <a:spcBef>
                <a:spcPct val="20000"/>
              </a:spcBef>
              <a:buFont typeface="Arial" panose="020B0604020202020204" pitchFamily="34" charset="0"/>
              <a:buChar char="•"/>
              <a:defRPr sz="2400">
                <a:solidFill>
                  <a:schemeClr val="tx1"/>
                </a:solidFill>
                <a:latin typeface="Calibri" panose="020F0502020204030204" pitchFamily="34" charset="0"/>
              </a:defRPr>
            </a:lvl3pPr>
            <a:lvl4pPr marL="1600200" indent="-228600">
              <a:spcBef>
                <a:spcPct val="20000"/>
              </a:spcBef>
              <a:buFont typeface="Arial" panose="020B0604020202020204" pitchFamily="34" charset="0"/>
              <a:buChar char="–"/>
              <a:defRPr sz="2000">
                <a:solidFill>
                  <a:schemeClr val="tx1"/>
                </a:solidFill>
                <a:latin typeface="Calibri" panose="020F0502020204030204" pitchFamily="34" charset="0"/>
              </a:defRPr>
            </a:lvl4pPr>
            <a:lvl5pPr marL="2057400" indent="-228600">
              <a:spcBef>
                <a:spcPct val="20000"/>
              </a:spcBef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Calibri" panose="020F0502020204030204" pitchFamily="34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Calibri" panose="020F0502020204030204" pitchFamily="34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Calibri" panose="020F0502020204030204" pitchFamily="34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Calibri" panose="020F0502020204030204" pitchFamily="34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Calibri" panose="020F0502020204030204" pitchFamily="34" charset="0"/>
              </a:defRPr>
            </a:lvl9pPr>
          </a:lstStyle>
          <a:p>
            <a:pPr eaLnBrk="1" hangingPunct="1">
              <a:spcBef>
                <a:spcPct val="0"/>
              </a:spcBef>
              <a:buFontTx/>
              <a:buNone/>
            </a:pPr>
            <a:r>
              <a:rPr lang="en-US" altLang="en-US" sz="1800" b="1" dirty="0"/>
              <a:t>At the receiving end of a wireless link</a:t>
            </a:r>
            <a:r>
              <a:rPr lang="en-US" altLang="en-US" sz="1800" dirty="0"/>
              <a:t>, </a:t>
            </a:r>
            <a:r>
              <a:rPr lang="en-US" altLang="en-US" sz="1800" u="sng" dirty="0"/>
              <a:t>the process is reversed</a:t>
            </a:r>
            <a:r>
              <a:rPr lang="en-US" altLang="en-US" sz="1800" dirty="0"/>
              <a:t>. As the electromagnetic waves reach the receiver’s antenna, they induce an electrical signal. If everything works right, the received signal will be a reasonable copy of the original transmitted signal.</a:t>
            </a:r>
          </a:p>
        </p:txBody>
      </p:sp>
    </p:spTree>
    <p:extLst>
      <p:ext uri="{BB962C8B-B14F-4D97-AF65-F5344CB8AC3E}">
        <p14:creationId xmlns:p14="http://schemas.microsoft.com/office/powerpoint/2010/main" xmlns="" val="1153948427"/>
      </p:ext>
    </p:extLst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14338" name="Group 3"/>
          <p:cNvGrpSpPr>
            <a:grpSpLocks noGrp="1" noUngrp="1" noChangeAspect="1"/>
          </p:cNvGrpSpPr>
          <p:nvPr/>
        </p:nvGrpSpPr>
        <p:grpSpPr bwMode="auto">
          <a:xfrm>
            <a:off x="1939926" y="2438401"/>
            <a:ext cx="3687763" cy="2200275"/>
            <a:chOff x="685800" y="1301750"/>
            <a:chExt cx="7772400" cy="4635500"/>
          </a:xfrm>
        </p:grpSpPr>
        <p:pic>
          <p:nvPicPr>
            <p:cNvPr id="14345" name="Picture 1" descr="cw980105"/>
            <p:cNvPicPr>
              <a:picLocks noRot="1" noChangeAspect="1" noMove="1" noResize="1"/>
            </p:cNvPicPr>
            <p:nvPr isPhoto="1"/>
          </p:nvPicPr>
          <p:blipFill>
            <a:blip r:embed="rId2">
              <a:extLst>
                <a:ext uri="{28A0092B-C50C-407E-A947-70E740481C1C}">
                  <a14:useLocalDpi xmlns:a14="http://schemas.microsoft.com/office/drawing/2010/main" xmlns="" val="0"/>
                </a:ext>
              </a:extLst>
            </a:blip>
            <a:srcRect/>
            <a:stretch>
              <a:fillRect/>
            </a:stretch>
          </p:blipFill>
          <p:spPr bwMode="auto">
            <a:xfrm>
              <a:off x="685800" y="1301750"/>
              <a:ext cx="7772400" cy="4254500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 xmlns="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xmlns="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</p:pic>
        <p:sp>
          <p:nvSpPr>
            <p:cNvPr id="3" name="Rectangle 2"/>
            <p:cNvSpPr/>
            <p:nvPr/>
          </p:nvSpPr>
          <p:spPr>
            <a:xfrm>
              <a:off x="685800" y="5592766"/>
              <a:ext cx="7772400" cy="344484"/>
            </a:xfrm>
            <a:prstGeom prst="rect">
              <a:avLst/>
            </a:prstGeom>
            <a:noFill/>
            <a:ln>
              <a:noFill/>
            </a:ln>
          </p:spPr>
          <p:txBody>
            <a:bodyPr anchor="ctr">
              <a:normAutofit fontScale="25000" lnSpcReduction="20000"/>
            </a:bodyPr>
            <a:lstStyle/>
            <a:p>
              <a:pPr algn="ctr">
                <a:defRPr/>
              </a:pPr>
              <a:endParaRPr lang="en-US" sz="2400" dirty="0"/>
            </a:p>
          </p:txBody>
        </p:sp>
      </p:grpSp>
      <p:sp>
        <p:nvSpPr>
          <p:cNvPr id="14339" name="TextBox 5"/>
          <p:cNvSpPr txBox="1">
            <a:spLocks noChangeArrowheads="1"/>
          </p:cNvSpPr>
          <p:nvPr/>
        </p:nvSpPr>
        <p:spPr bwMode="auto">
          <a:xfrm>
            <a:off x="2286001" y="4559301"/>
            <a:ext cx="3167063" cy="30797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 xmlns="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xmlns="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>
              <a:spcBef>
                <a:spcPct val="20000"/>
              </a:spcBef>
              <a:buFont typeface="Arial" panose="020B0604020202020204" pitchFamily="34" charset="0"/>
              <a:buChar char="•"/>
              <a:defRPr sz="3200">
                <a:solidFill>
                  <a:schemeClr val="tx1"/>
                </a:solidFill>
                <a:latin typeface="Calibri" panose="020F0502020204030204" pitchFamily="34" charset="0"/>
              </a:defRPr>
            </a:lvl1pPr>
            <a:lvl2pPr marL="742950" indent="-285750">
              <a:spcBef>
                <a:spcPct val="20000"/>
              </a:spcBef>
              <a:buFont typeface="Arial" panose="020B0604020202020204" pitchFamily="34" charset="0"/>
              <a:buChar char="–"/>
              <a:defRPr sz="2800">
                <a:solidFill>
                  <a:schemeClr val="tx1"/>
                </a:solidFill>
                <a:latin typeface="Calibri" panose="020F0502020204030204" pitchFamily="34" charset="0"/>
              </a:defRPr>
            </a:lvl2pPr>
            <a:lvl3pPr marL="1143000" indent="-228600">
              <a:spcBef>
                <a:spcPct val="20000"/>
              </a:spcBef>
              <a:buFont typeface="Arial" panose="020B0604020202020204" pitchFamily="34" charset="0"/>
              <a:buChar char="•"/>
              <a:defRPr sz="2400">
                <a:solidFill>
                  <a:schemeClr val="tx1"/>
                </a:solidFill>
                <a:latin typeface="Calibri" panose="020F0502020204030204" pitchFamily="34" charset="0"/>
              </a:defRPr>
            </a:lvl3pPr>
            <a:lvl4pPr marL="1600200" indent="-228600">
              <a:spcBef>
                <a:spcPct val="20000"/>
              </a:spcBef>
              <a:buFont typeface="Arial" panose="020B0604020202020204" pitchFamily="34" charset="0"/>
              <a:buChar char="–"/>
              <a:defRPr sz="2000">
                <a:solidFill>
                  <a:schemeClr val="tx1"/>
                </a:solidFill>
                <a:latin typeface="Calibri" panose="020F0502020204030204" pitchFamily="34" charset="0"/>
              </a:defRPr>
            </a:lvl4pPr>
            <a:lvl5pPr marL="2057400" indent="-228600">
              <a:spcBef>
                <a:spcPct val="20000"/>
              </a:spcBef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Calibri" panose="020F0502020204030204" pitchFamily="34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Calibri" panose="020F0502020204030204" pitchFamily="34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Calibri" panose="020F0502020204030204" pitchFamily="34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Calibri" panose="020F0502020204030204" pitchFamily="34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Calibri" panose="020F0502020204030204" pitchFamily="34" charset="0"/>
              </a:defRPr>
            </a:lvl9pPr>
          </a:lstStyle>
          <a:p>
            <a:pPr algn="ctr" eaLnBrk="1" hangingPunct="1">
              <a:spcBef>
                <a:spcPct val="0"/>
              </a:spcBef>
              <a:buFontTx/>
              <a:buNone/>
            </a:pPr>
            <a:r>
              <a:rPr lang="en-US" altLang="en-US" sz="1400">
                <a:latin typeface="Arial" panose="020B0604020202020204" pitchFamily="34" charset="0"/>
              </a:rPr>
              <a:t>Figure 1-5 Cycles Within a Wave</a:t>
            </a:r>
          </a:p>
        </p:txBody>
      </p:sp>
      <p:sp>
        <p:nvSpPr>
          <p:cNvPr id="14342" name="Rectangle 4"/>
          <p:cNvSpPr>
            <a:spLocks noChangeArrowheads="1"/>
          </p:cNvSpPr>
          <p:nvPr/>
        </p:nvSpPr>
        <p:spPr bwMode="auto">
          <a:xfrm>
            <a:off x="1752601" y="152400"/>
            <a:ext cx="5143716" cy="625428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 xmlns="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xmlns="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>
            <a:spAutoFit/>
          </a:bodyPr>
          <a:lstStyle>
            <a:lvl1pPr marL="285750" indent="-285750">
              <a:spcBef>
                <a:spcPct val="20000"/>
              </a:spcBef>
              <a:buFont typeface="Arial" panose="020B0604020202020204" pitchFamily="34" charset="0"/>
              <a:buChar char="•"/>
              <a:defRPr sz="3200">
                <a:solidFill>
                  <a:schemeClr val="tx1"/>
                </a:solidFill>
                <a:latin typeface="Calibri" panose="020F0502020204030204" pitchFamily="34" charset="0"/>
              </a:defRPr>
            </a:lvl1pPr>
            <a:lvl2pPr marL="742950" indent="-285750">
              <a:spcBef>
                <a:spcPct val="20000"/>
              </a:spcBef>
              <a:buFont typeface="Arial" panose="020B0604020202020204" pitchFamily="34" charset="0"/>
              <a:buChar char="–"/>
              <a:defRPr sz="2800">
                <a:solidFill>
                  <a:schemeClr val="tx1"/>
                </a:solidFill>
                <a:latin typeface="Calibri" panose="020F0502020204030204" pitchFamily="34" charset="0"/>
              </a:defRPr>
            </a:lvl2pPr>
            <a:lvl3pPr marL="1143000" indent="-228600">
              <a:spcBef>
                <a:spcPct val="20000"/>
              </a:spcBef>
              <a:buFont typeface="Arial" panose="020B0604020202020204" pitchFamily="34" charset="0"/>
              <a:buChar char="•"/>
              <a:defRPr sz="2400">
                <a:solidFill>
                  <a:schemeClr val="tx1"/>
                </a:solidFill>
                <a:latin typeface="Calibri" panose="020F0502020204030204" pitchFamily="34" charset="0"/>
              </a:defRPr>
            </a:lvl3pPr>
            <a:lvl4pPr marL="1600200" indent="-228600">
              <a:spcBef>
                <a:spcPct val="20000"/>
              </a:spcBef>
              <a:buFont typeface="Arial" panose="020B0604020202020204" pitchFamily="34" charset="0"/>
              <a:buChar char="–"/>
              <a:defRPr sz="2000">
                <a:solidFill>
                  <a:schemeClr val="tx1"/>
                </a:solidFill>
                <a:latin typeface="Calibri" panose="020F0502020204030204" pitchFamily="34" charset="0"/>
              </a:defRPr>
            </a:lvl4pPr>
            <a:lvl5pPr marL="2057400" indent="-228600">
              <a:spcBef>
                <a:spcPct val="20000"/>
              </a:spcBef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Calibri" panose="020F0502020204030204" pitchFamily="34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Calibri" panose="020F0502020204030204" pitchFamily="34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Calibri" panose="020F0502020204030204" pitchFamily="34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Calibri" panose="020F0502020204030204" pitchFamily="34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Calibri" panose="020F0502020204030204" pitchFamily="34" charset="0"/>
              </a:defRPr>
            </a:lvl9pPr>
          </a:lstStyle>
          <a:p>
            <a:pPr eaLnBrk="1" hangingPunct="1">
              <a:lnSpc>
                <a:spcPct val="115000"/>
              </a:lnSpc>
              <a:spcBef>
                <a:spcPct val="0"/>
              </a:spcBef>
            </a:pPr>
            <a:r>
              <a:rPr lang="en-US" altLang="en-US" b="1" dirty="0" smtClean="0"/>
              <a:t>3 </a:t>
            </a:r>
            <a:r>
              <a:rPr lang="en-US" altLang="en-US" b="1" dirty="0"/>
              <a:t>Understanding </a:t>
            </a:r>
            <a:r>
              <a:rPr lang="en-US" altLang="en-US" b="1" dirty="0" smtClean="0"/>
              <a:t>Frequency</a:t>
            </a:r>
            <a:endParaRPr lang="en-US" altLang="en-US" sz="4000" b="1" i="1" dirty="0">
              <a:solidFill>
                <a:srgbClr val="FF0000"/>
              </a:solidFill>
            </a:endParaRPr>
          </a:p>
        </p:txBody>
      </p:sp>
      <p:sp>
        <p:nvSpPr>
          <p:cNvPr id="14343" name="Rectangle 5"/>
          <p:cNvSpPr>
            <a:spLocks noChangeArrowheads="1"/>
          </p:cNvSpPr>
          <p:nvPr/>
        </p:nvSpPr>
        <p:spPr bwMode="auto">
          <a:xfrm>
            <a:off x="1998664" y="1073151"/>
            <a:ext cx="8364537" cy="646113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 xmlns="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xmlns="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>
              <a:spcBef>
                <a:spcPct val="20000"/>
              </a:spcBef>
              <a:buFont typeface="Arial" panose="020B0604020202020204" pitchFamily="34" charset="0"/>
              <a:buChar char="•"/>
              <a:defRPr sz="3200">
                <a:solidFill>
                  <a:schemeClr val="tx1"/>
                </a:solidFill>
                <a:latin typeface="Calibri" panose="020F0502020204030204" pitchFamily="34" charset="0"/>
              </a:defRPr>
            </a:lvl1pPr>
            <a:lvl2pPr marL="742950" indent="-285750">
              <a:spcBef>
                <a:spcPct val="20000"/>
              </a:spcBef>
              <a:buFont typeface="Arial" panose="020B0604020202020204" pitchFamily="34" charset="0"/>
              <a:buChar char="–"/>
              <a:defRPr sz="2800">
                <a:solidFill>
                  <a:schemeClr val="tx1"/>
                </a:solidFill>
                <a:latin typeface="Calibri" panose="020F0502020204030204" pitchFamily="34" charset="0"/>
              </a:defRPr>
            </a:lvl2pPr>
            <a:lvl3pPr marL="1143000" indent="-228600">
              <a:spcBef>
                <a:spcPct val="20000"/>
              </a:spcBef>
              <a:buFont typeface="Arial" panose="020B0604020202020204" pitchFamily="34" charset="0"/>
              <a:buChar char="•"/>
              <a:defRPr sz="2400">
                <a:solidFill>
                  <a:schemeClr val="tx1"/>
                </a:solidFill>
                <a:latin typeface="Calibri" panose="020F0502020204030204" pitchFamily="34" charset="0"/>
              </a:defRPr>
            </a:lvl3pPr>
            <a:lvl4pPr marL="1600200" indent="-228600">
              <a:spcBef>
                <a:spcPct val="20000"/>
              </a:spcBef>
              <a:buFont typeface="Arial" panose="020B0604020202020204" pitchFamily="34" charset="0"/>
              <a:buChar char="–"/>
              <a:defRPr sz="2000">
                <a:solidFill>
                  <a:schemeClr val="tx1"/>
                </a:solidFill>
                <a:latin typeface="Calibri" panose="020F0502020204030204" pitchFamily="34" charset="0"/>
              </a:defRPr>
            </a:lvl4pPr>
            <a:lvl5pPr marL="2057400" indent="-228600">
              <a:spcBef>
                <a:spcPct val="20000"/>
              </a:spcBef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Calibri" panose="020F0502020204030204" pitchFamily="34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Calibri" panose="020F0502020204030204" pitchFamily="34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Calibri" panose="020F0502020204030204" pitchFamily="34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Calibri" panose="020F0502020204030204" pitchFamily="34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Calibri" panose="020F0502020204030204" pitchFamily="34" charset="0"/>
              </a:defRPr>
            </a:lvl9pPr>
          </a:lstStyle>
          <a:p>
            <a:pPr eaLnBrk="1" hangingPunct="1">
              <a:spcBef>
                <a:spcPct val="0"/>
              </a:spcBef>
              <a:buFontTx/>
              <a:buNone/>
            </a:pPr>
            <a:r>
              <a:rPr lang="en-US" altLang="en-US" sz="1800" b="1"/>
              <a:t>Frequency is: </a:t>
            </a:r>
            <a:r>
              <a:rPr lang="en-US" altLang="en-US" sz="1800" u="sng"/>
              <a:t>the number of times </a:t>
            </a:r>
            <a:r>
              <a:rPr lang="en-US" altLang="en-US" sz="1800"/>
              <a:t>the signal makes </a:t>
            </a:r>
            <a:r>
              <a:rPr lang="en-US" altLang="en-US" sz="1800" b="1"/>
              <a:t>one complete up and down cycle in 1 second.</a:t>
            </a:r>
          </a:p>
        </p:txBody>
      </p:sp>
      <p:pic>
        <p:nvPicPr>
          <p:cNvPr id="14344" name="Picture 6"/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xmlns="" val="0"/>
              </a:ext>
            </a:extLst>
          </a:blip>
          <a:srcRect/>
          <a:stretch>
            <a:fillRect/>
          </a:stretch>
        </p:blipFill>
        <p:spPr bwMode="auto">
          <a:xfrm>
            <a:off x="5791201" y="2401888"/>
            <a:ext cx="4754563" cy="1408112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 xmlns="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xmlns="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</p:spTree>
    <p:extLst>
      <p:ext uri="{BB962C8B-B14F-4D97-AF65-F5344CB8AC3E}">
        <p14:creationId xmlns:p14="http://schemas.microsoft.com/office/powerpoint/2010/main" xmlns="" val="2741390509"/>
      </p:ext>
    </p:extLst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15362" name="Group 3"/>
          <p:cNvGrpSpPr>
            <a:grpSpLocks noGrp="1" noUngrp="1" noChangeAspect="1"/>
          </p:cNvGrpSpPr>
          <p:nvPr/>
        </p:nvGrpSpPr>
        <p:grpSpPr bwMode="auto">
          <a:xfrm>
            <a:off x="3341688" y="739776"/>
            <a:ext cx="5573712" cy="5280025"/>
            <a:chOff x="1474788" y="685800"/>
            <a:chExt cx="6192837" cy="5867400"/>
          </a:xfrm>
        </p:grpSpPr>
        <p:pic>
          <p:nvPicPr>
            <p:cNvPr id="15367" name="Picture 1" descr="cw980106"/>
            <p:cNvPicPr>
              <a:picLocks noRot="1" noChangeAspect="1" noMove="1" noResize="1"/>
            </p:cNvPicPr>
            <p:nvPr isPhoto="1"/>
          </p:nvPicPr>
          <p:blipFill>
            <a:blip r:embed="rId2">
              <a:extLst>
                <a:ext uri="{28A0092B-C50C-407E-A947-70E740481C1C}">
                  <a14:useLocalDpi xmlns:a14="http://schemas.microsoft.com/office/drawing/2010/main" xmlns="" val="0"/>
                </a:ext>
              </a:extLst>
            </a:blip>
            <a:srcRect/>
            <a:stretch>
              <a:fillRect/>
            </a:stretch>
          </p:blipFill>
          <p:spPr bwMode="auto">
            <a:xfrm>
              <a:off x="1474788" y="685800"/>
              <a:ext cx="6192837" cy="5486400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 xmlns="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xmlns="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</p:pic>
        <p:sp>
          <p:nvSpPr>
            <p:cNvPr id="3" name="Rectangle 2"/>
            <p:cNvSpPr/>
            <p:nvPr/>
          </p:nvSpPr>
          <p:spPr>
            <a:xfrm>
              <a:off x="1474788" y="6210964"/>
              <a:ext cx="6192837" cy="342236"/>
            </a:xfrm>
            <a:prstGeom prst="rect">
              <a:avLst/>
            </a:prstGeom>
            <a:noFill/>
            <a:ln>
              <a:noFill/>
            </a:ln>
          </p:spPr>
          <p:txBody>
            <a:bodyPr anchor="ctr">
              <a:normAutofit fontScale="70000" lnSpcReduction="20000"/>
            </a:bodyPr>
            <a:lstStyle/>
            <a:p>
              <a:pPr algn="ctr">
                <a:defRPr/>
              </a:pPr>
              <a:endParaRPr lang="en-US" sz="2400" dirty="0"/>
            </a:p>
          </p:txBody>
        </p:sp>
      </p:grpSp>
      <p:sp>
        <p:nvSpPr>
          <p:cNvPr id="15363" name="TextBox 5"/>
          <p:cNvSpPr txBox="1">
            <a:spLocks noChangeArrowheads="1"/>
          </p:cNvSpPr>
          <p:nvPr/>
        </p:nvSpPr>
        <p:spPr bwMode="auto">
          <a:xfrm>
            <a:off x="2057400" y="6019801"/>
            <a:ext cx="8077200" cy="30797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 xmlns="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xmlns="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>
              <a:spcBef>
                <a:spcPct val="20000"/>
              </a:spcBef>
              <a:buFont typeface="Arial" panose="020B0604020202020204" pitchFamily="34" charset="0"/>
              <a:buChar char="•"/>
              <a:defRPr sz="3200">
                <a:solidFill>
                  <a:schemeClr val="tx1"/>
                </a:solidFill>
                <a:latin typeface="Calibri" panose="020F0502020204030204" pitchFamily="34" charset="0"/>
              </a:defRPr>
            </a:lvl1pPr>
            <a:lvl2pPr marL="742950" indent="-285750">
              <a:spcBef>
                <a:spcPct val="20000"/>
              </a:spcBef>
              <a:buFont typeface="Arial" panose="020B0604020202020204" pitchFamily="34" charset="0"/>
              <a:buChar char="–"/>
              <a:defRPr sz="2800">
                <a:solidFill>
                  <a:schemeClr val="tx1"/>
                </a:solidFill>
                <a:latin typeface="Calibri" panose="020F0502020204030204" pitchFamily="34" charset="0"/>
              </a:defRPr>
            </a:lvl2pPr>
            <a:lvl3pPr marL="1143000" indent="-228600">
              <a:spcBef>
                <a:spcPct val="20000"/>
              </a:spcBef>
              <a:buFont typeface="Arial" panose="020B0604020202020204" pitchFamily="34" charset="0"/>
              <a:buChar char="•"/>
              <a:defRPr sz="2400">
                <a:solidFill>
                  <a:schemeClr val="tx1"/>
                </a:solidFill>
                <a:latin typeface="Calibri" panose="020F0502020204030204" pitchFamily="34" charset="0"/>
              </a:defRPr>
            </a:lvl3pPr>
            <a:lvl4pPr marL="1600200" indent="-228600">
              <a:spcBef>
                <a:spcPct val="20000"/>
              </a:spcBef>
              <a:buFont typeface="Arial" panose="020B0604020202020204" pitchFamily="34" charset="0"/>
              <a:buChar char="–"/>
              <a:defRPr sz="2000">
                <a:solidFill>
                  <a:schemeClr val="tx1"/>
                </a:solidFill>
                <a:latin typeface="Calibri" panose="020F0502020204030204" pitchFamily="34" charset="0"/>
              </a:defRPr>
            </a:lvl4pPr>
            <a:lvl5pPr marL="2057400" indent="-228600">
              <a:spcBef>
                <a:spcPct val="20000"/>
              </a:spcBef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Calibri" panose="020F0502020204030204" pitchFamily="34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Calibri" panose="020F0502020204030204" pitchFamily="34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Calibri" panose="020F0502020204030204" pitchFamily="34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Calibri" panose="020F0502020204030204" pitchFamily="34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Calibri" panose="020F0502020204030204" pitchFamily="34" charset="0"/>
              </a:defRPr>
            </a:lvl9pPr>
          </a:lstStyle>
          <a:p>
            <a:pPr algn="ctr" eaLnBrk="1" hangingPunct="1">
              <a:spcBef>
                <a:spcPct val="0"/>
              </a:spcBef>
              <a:buFontTx/>
              <a:buNone/>
            </a:pPr>
            <a:r>
              <a:rPr lang="en-US" altLang="en-US" sz="1400">
                <a:latin typeface="Arial" panose="020B0604020202020204" pitchFamily="34" charset="0"/>
              </a:rPr>
              <a:t>Figure 1-6</a:t>
            </a:r>
            <a:r>
              <a:rPr lang="en-US" altLang="en-US" sz="1400" b="1">
                <a:latin typeface="Arial" panose="020B0604020202020204" pitchFamily="34" charset="0"/>
              </a:rPr>
              <a:t> </a:t>
            </a:r>
            <a:r>
              <a:rPr lang="en-US" altLang="en-US" sz="1400">
                <a:latin typeface="Arial" panose="020B0604020202020204" pitchFamily="34" charset="0"/>
              </a:rPr>
              <a:t>Continuous Frequency Spectrum</a:t>
            </a:r>
          </a:p>
        </p:txBody>
      </p:sp>
      <p:sp>
        <p:nvSpPr>
          <p:cNvPr id="5" name="Rectangle 4"/>
          <p:cNvSpPr/>
          <p:nvPr/>
        </p:nvSpPr>
        <p:spPr>
          <a:xfrm>
            <a:off x="6781800" y="533401"/>
            <a:ext cx="3733800" cy="2062103"/>
          </a:xfrm>
          <a:prstGeom prst="rect">
            <a:avLst/>
          </a:prstGeom>
        </p:spPr>
        <p:txBody>
          <a:bodyPr>
            <a:spAutoFit/>
          </a:bodyPr>
          <a:lstStyle/>
          <a:p>
            <a:pPr marL="285750" indent="-285750">
              <a:buFont typeface="Arial" panose="020B0604020202020204" pitchFamily="34" charset="0"/>
              <a:buChar char="•"/>
              <a:defRPr/>
            </a:pPr>
            <a:r>
              <a:rPr lang="en-US" sz="1600" b="1" dirty="0"/>
              <a:t>One of the two main frequency ranges used for wireless LAN communication lies between 2.400 and 2.4835 GHz</a:t>
            </a:r>
            <a:r>
              <a:rPr lang="en-US" sz="1600" dirty="0"/>
              <a:t>. This is usually called the </a:t>
            </a:r>
            <a:r>
              <a:rPr lang="en-US" sz="1600" b="1" dirty="0"/>
              <a:t>2.4-GHz band</a:t>
            </a:r>
            <a:r>
              <a:rPr lang="en-US" sz="1600" dirty="0"/>
              <a:t>, </a:t>
            </a:r>
          </a:p>
          <a:p>
            <a:pPr eaLnBrk="1" hangingPunct="1">
              <a:defRPr/>
            </a:pPr>
            <a:endParaRPr lang="en-US" sz="1600" dirty="0"/>
          </a:p>
          <a:p>
            <a:pPr marL="285750" indent="-285750">
              <a:buFont typeface="Arial" panose="020B0604020202020204" pitchFamily="34" charset="0"/>
              <a:buChar char="•"/>
              <a:defRPr/>
            </a:pPr>
            <a:r>
              <a:rPr lang="en-US" sz="1600" dirty="0"/>
              <a:t>The other wireless LAN range is usually called the </a:t>
            </a:r>
            <a:r>
              <a:rPr lang="en-US" sz="1600" b="1" dirty="0"/>
              <a:t>5-GHz band</a:t>
            </a:r>
            <a:endParaRPr lang="en-US" sz="1600" dirty="0"/>
          </a:p>
        </p:txBody>
      </p:sp>
    </p:spTree>
    <p:extLst>
      <p:ext uri="{BB962C8B-B14F-4D97-AF65-F5344CB8AC3E}">
        <p14:creationId xmlns:p14="http://schemas.microsoft.com/office/powerpoint/2010/main" xmlns="" val="2624182237"/>
      </p:ext>
    </p:extLst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386" name="Title 1"/>
          <p:cNvSpPr>
            <a:spLocks noGrp="1"/>
          </p:cNvSpPr>
          <p:nvPr>
            <p:ph type="title"/>
          </p:nvPr>
        </p:nvSpPr>
        <p:spPr>
          <a:xfrm>
            <a:off x="1981200" y="274638"/>
            <a:ext cx="2743200" cy="461962"/>
          </a:xfrm>
        </p:spPr>
        <p:txBody>
          <a:bodyPr>
            <a:normAutofit fontScale="90000"/>
          </a:bodyPr>
          <a:lstStyle/>
          <a:p>
            <a:pPr eaLnBrk="1" hangingPunct="1"/>
            <a:r>
              <a:rPr lang="en-US" altLang="en-US" sz="2800">
                <a:cs typeface="Times New Roman" panose="02020603050405020304" pitchFamily="18" charset="0"/>
              </a:rPr>
              <a:t>bandwidth</a:t>
            </a:r>
            <a:endParaRPr lang="en-US" altLang="en-US" sz="2800"/>
          </a:p>
        </p:txBody>
      </p:sp>
      <p:pic>
        <p:nvPicPr>
          <p:cNvPr id="16388" name="Picture 2" descr="صورة ذات صلة"/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xmlns="" val="0"/>
              </a:ext>
            </a:extLst>
          </a:blip>
          <a:srcRect/>
          <a:stretch>
            <a:fillRect/>
          </a:stretch>
        </p:blipFill>
        <p:spPr bwMode="auto">
          <a:xfrm>
            <a:off x="1625600" y="1181101"/>
            <a:ext cx="3779838" cy="315912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 xmlns="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xmlns="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  <p:pic>
        <p:nvPicPr>
          <p:cNvPr id="16389" name="Picture 4" descr="نتيجة بحث الصور عن ‪Spectrum‬‏"/>
          <p:cNvPicPr>
            <a:picLocks noChangeAspect="1" noChangeArrowheads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xmlns="" val="0"/>
              </a:ext>
            </a:extLst>
          </a:blip>
          <a:srcRect/>
          <a:stretch>
            <a:fillRect/>
          </a:stretch>
        </p:blipFill>
        <p:spPr bwMode="auto">
          <a:xfrm>
            <a:off x="5599114" y="274638"/>
            <a:ext cx="4764087" cy="3319462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 xmlns="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xmlns="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  <p:sp>
        <p:nvSpPr>
          <p:cNvPr id="5" name="Rectangle 4"/>
          <p:cNvSpPr/>
          <p:nvPr/>
        </p:nvSpPr>
        <p:spPr>
          <a:xfrm>
            <a:off x="1727200" y="4541838"/>
            <a:ext cx="3678238" cy="1200150"/>
          </a:xfrm>
          <a:prstGeom prst="rect">
            <a:avLst/>
          </a:prstGeom>
        </p:spPr>
        <p:style>
          <a:lnRef idx="2">
            <a:schemeClr val="accent1"/>
          </a:lnRef>
          <a:fillRef idx="1">
            <a:schemeClr val="lt1"/>
          </a:fillRef>
          <a:effectRef idx="0">
            <a:schemeClr val="accent1"/>
          </a:effectRef>
          <a:fontRef idx="minor">
            <a:schemeClr val="dk1"/>
          </a:fontRef>
        </p:style>
        <p:txBody>
          <a:bodyPr>
            <a:spAutoFit/>
          </a:bodyPr>
          <a:lstStyle/>
          <a:p>
            <a:pPr eaLnBrk="1" hangingPunct="1">
              <a:defRPr/>
            </a:pPr>
            <a:r>
              <a:rPr lang="en-US" b="1" dirty="0"/>
              <a:t>Bandwidth: </a:t>
            </a:r>
            <a:r>
              <a:rPr lang="en-US" dirty="0"/>
              <a:t> is the difference between the </a:t>
            </a:r>
            <a:r>
              <a:rPr lang="en-US" b="1" dirty="0"/>
              <a:t>upper</a:t>
            </a:r>
            <a:r>
              <a:rPr lang="en-US" dirty="0"/>
              <a:t> and </a:t>
            </a:r>
            <a:r>
              <a:rPr lang="en-US" b="1" dirty="0"/>
              <a:t>lower frequencies </a:t>
            </a:r>
            <a:r>
              <a:rPr lang="en-US" dirty="0"/>
              <a:t>in a continuous set of frequencies.</a:t>
            </a:r>
          </a:p>
        </p:txBody>
      </p:sp>
      <p:pic>
        <p:nvPicPr>
          <p:cNvPr id="16391" name="Picture 6" descr="http://www-emt.tu-ilmenau.de/ukolos/pics/facts/definition_B.jpg"/>
          <p:cNvPicPr>
            <a:picLocks noChangeAspect="1" noChangeArrowheads="1"/>
          </p:cNvPicPr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 xmlns="" val="0"/>
              </a:ext>
            </a:extLst>
          </a:blip>
          <a:srcRect/>
          <a:stretch>
            <a:fillRect/>
          </a:stretch>
        </p:blipFill>
        <p:spPr bwMode="auto">
          <a:xfrm>
            <a:off x="6342063" y="3805239"/>
            <a:ext cx="3276600" cy="2357437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 xmlns="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xmlns="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</p:spTree>
    <p:extLst>
      <p:ext uri="{BB962C8B-B14F-4D97-AF65-F5344CB8AC3E}">
        <p14:creationId xmlns:p14="http://schemas.microsoft.com/office/powerpoint/2010/main" xmlns="" val="1895663937"/>
      </p:ext>
    </p:extLst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7411" name="Picture 2" descr="نتيجة بحث الصور عن ‪Data rate  + bandwidth‬‏"/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xmlns="" val="0"/>
              </a:ext>
            </a:extLst>
          </a:blip>
          <a:srcRect/>
          <a:stretch>
            <a:fillRect/>
          </a:stretch>
        </p:blipFill>
        <p:spPr bwMode="auto">
          <a:xfrm>
            <a:off x="1978026" y="863600"/>
            <a:ext cx="8232775" cy="50419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 xmlns="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xmlns="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</p:spTree>
    <p:extLst>
      <p:ext uri="{BB962C8B-B14F-4D97-AF65-F5344CB8AC3E}">
        <p14:creationId xmlns:p14="http://schemas.microsoft.com/office/powerpoint/2010/main" xmlns="" val="893838258"/>
      </p:ext>
    </p:extLst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18434" name="Group 3"/>
          <p:cNvGrpSpPr>
            <a:grpSpLocks noGrp="1" noUngrp="1" noChangeAspect="1"/>
          </p:cNvGrpSpPr>
          <p:nvPr/>
        </p:nvGrpSpPr>
        <p:grpSpPr bwMode="auto">
          <a:xfrm>
            <a:off x="2209800" y="2992439"/>
            <a:ext cx="7772400" cy="1252537"/>
            <a:chOff x="685800" y="2992438"/>
            <a:chExt cx="7772400" cy="1252537"/>
          </a:xfrm>
        </p:grpSpPr>
        <p:pic>
          <p:nvPicPr>
            <p:cNvPr id="18439" name="Picture 1" descr="cw980107"/>
            <p:cNvPicPr>
              <a:picLocks noRot="1" noChangeAspect="1" noMove="1" noResize="1"/>
            </p:cNvPicPr>
            <p:nvPr isPhoto="1"/>
          </p:nvPicPr>
          <p:blipFill>
            <a:blip r:embed="rId2">
              <a:extLst>
                <a:ext uri="{28A0092B-C50C-407E-A947-70E740481C1C}">
                  <a14:useLocalDpi xmlns:a14="http://schemas.microsoft.com/office/drawing/2010/main" xmlns="" val="0"/>
                </a:ext>
              </a:extLst>
            </a:blip>
            <a:srcRect/>
            <a:stretch>
              <a:fillRect/>
            </a:stretch>
          </p:blipFill>
          <p:spPr bwMode="auto">
            <a:xfrm>
              <a:off x="685800" y="2992438"/>
              <a:ext cx="7772400" cy="871537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 xmlns="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xmlns="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</p:pic>
        <p:sp>
          <p:nvSpPr>
            <p:cNvPr id="3" name="Rectangle 2"/>
            <p:cNvSpPr/>
            <p:nvPr/>
          </p:nvSpPr>
          <p:spPr>
            <a:xfrm>
              <a:off x="685800" y="3902075"/>
              <a:ext cx="7772400" cy="342900"/>
            </a:xfrm>
            <a:prstGeom prst="rect">
              <a:avLst/>
            </a:prstGeom>
            <a:noFill/>
            <a:ln>
              <a:noFill/>
            </a:ln>
          </p:spPr>
          <p:txBody>
            <a:bodyPr anchor="ctr">
              <a:normAutofit fontScale="85000" lnSpcReduction="20000"/>
            </a:bodyPr>
            <a:lstStyle/>
            <a:p>
              <a:pPr algn="ctr">
                <a:defRPr/>
              </a:pPr>
              <a:endParaRPr lang="en-US" sz="2400" dirty="0"/>
            </a:p>
          </p:txBody>
        </p:sp>
      </p:grpSp>
      <p:sp>
        <p:nvSpPr>
          <p:cNvPr id="18435" name="TextBox 5"/>
          <p:cNvSpPr txBox="1">
            <a:spLocks noChangeArrowheads="1"/>
          </p:cNvSpPr>
          <p:nvPr/>
        </p:nvSpPr>
        <p:spPr bwMode="auto">
          <a:xfrm>
            <a:off x="2057400" y="4073526"/>
            <a:ext cx="8077200" cy="30797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 xmlns="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xmlns="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>
              <a:spcBef>
                <a:spcPct val="20000"/>
              </a:spcBef>
              <a:buFont typeface="Arial" panose="020B0604020202020204" pitchFamily="34" charset="0"/>
              <a:buChar char="•"/>
              <a:defRPr sz="3200">
                <a:solidFill>
                  <a:schemeClr val="tx1"/>
                </a:solidFill>
                <a:latin typeface="Calibri" panose="020F0502020204030204" pitchFamily="34" charset="0"/>
              </a:defRPr>
            </a:lvl1pPr>
            <a:lvl2pPr marL="742950" indent="-285750">
              <a:spcBef>
                <a:spcPct val="20000"/>
              </a:spcBef>
              <a:buFont typeface="Arial" panose="020B0604020202020204" pitchFamily="34" charset="0"/>
              <a:buChar char="–"/>
              <a:defRPr sz="2800">
                <a:solidFill>
                  <a:schemeClr val="tx1"/>
                </a:solidFill>
                <a:latin typeface="Calibri" panose="020F0502020204030204" pitchFamily="34" charset="0"/>
              </a:defRPr>
            </a:lvl2pPr>
            <a:lvl3pPr marL="1143000" indent="-228600">
              <a:spcBef>
                <a:spcPct val="20000"/>
              </a:spcBef>
              <a:buFont typeface="Arial" panose="020B0604020202020204" pitchFamily="34" charset="0"/>
              <a:buChar char="•"/>
              <a:defRPr sz="2400">
                <a:solidFill>
                  <a:schemeClr val="tx1"/>
                </a:solidFill>
                <a:latin typeface="Calibri" panose="020F0502020204030204" pitchFamily="34" charset="0"/>
              </a:defRPr>
            </a:lvl3pPr>
            <a:lvl4pPr marL="1600200" indent="-228600">
              <a:spcBef>
                <a:spcPct val="20000"/>
              </a:spcBef>
              <a:buFont typeface="Arial" panose="020B0604020202020204" pitchFamily="34" charset="0"/>
              <a:buChar char="–"/>
              <a:defRPr sz="2000">
                <a:solidFill>
                  <a:schemeClr val="tx1"/>
                </a:solidFill>
                <a:latin typeface="Calibri" panose="020F0502020204030204" pitchFamily="34" charset="0"/>
              </a:defRPr>
            </a:lvl4pPr>
            <a:lvl5pPr marL="2057400" indent="-228600">
              <a:spcBef>
                <a:spcPct val="20000"/>
              </a:spcBef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Calibri" panose="020F0502020204030204" pitchFamily="34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Calibri" panose="020F0502020204030204" pitchFamily="34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Calibri" panose="020F0502020204030204" pitchFamily="34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Calibri" panose="020F0502020204030204" pitchFamily="34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Calibri" panose="020F0502020204030204" pitchFamily="34" charset="0"/>
              </a:defRPr>
            </a:lvl9pPr>
          </a:lstStyle>
          <a:p>
            <a:pPr algn="ctr" eaLnBrk="1" hangingPunct="1">
              <a:spcBef>
                <a:spcPct val="0"/>
              </a:spcBef>
              <a:buFontTx/>
              <a:buNone/>
            </a:pPr>
            <a:r>
              <a:rPr lang="en-US" altLang="en-US" sz="1400">
                <a:latin typeface="Arial" panose="020B0604020202020204" pitchFamily="34" charset="0"/>
              </a:rPr>
              <a:t>Figure 1-7 Example of Channel Spacing in the 2.4-GHz Band</a:t>
            </a:r>
          </a:p>
        </p:txBody>
      </p:sp>
      <p:sp>
        <p:nvSpPr>
          <p:cNvPr id="18438" name="Rectangle 4"/>
          <p:cNvSpPr>
            <a:spLocks noChangeArrowheads="1"/>
          </p:cNvSpPr>
          <p:nvPr/>
        </p:nvSpPr>
        <p:spPr bwMode="auto">
          <a:xfrm>
            <a:off x="1905000" y="304800"/>
            <a:ext cx="8153400" cy="120015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 xmlns="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xmlns="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>
              <a:spcBef>
                <a:spcPct val="20000"/>
              </a:spcBef>
              <a:buFont typeface="Arial" panose="020B0604020202020204" pitchFamily="34" charset="0"/>
              <a:buChar char="•"/>
              <a:defRPr sz="3200">
                <a:solidFill>
                  <a:schemeClr val="tx1"/>
                </a:solidFill>
                <a:latin typeface="Calibri" panose="020F0502020204030204" pitchFamily="34" charset="0"/>
              </a:defRPr>
            </a:lvl1pPr>
            <a:lvl2pPr marL="742950" indent="-285750">
              <a:spcBef>
                <a:spcPct val="20000"/>
              </a:spcBef>
              <a:buFont typeface="Arial" panose="020B0604020202020204" pitchFamily="34" charset="0"/>
              <a:buChar char="–"/>
              <a:defRPr sz="2800">
                <a:solidFill>
                  <a:schemeClr val="tx1"/>
                </a:solidFill>
                <a:latin typeface="Calibri" panose="020F0502020204030204" pitchFamily="34" charset="0"/>
              </a:defRPr>
            </a:lvl2pPr>
            <a:lvl3pPr marL="1143000" indent="-228600">
              <a:spcBef>
                <a:spcPct val="20000"/>
              </a:spcBef>
              <a:buFont typeface="Arial" panose="020B0604020202020204" pitchFamily="34" charset="0"/>
              <a:buChar char="•"/>
              <a:defRPr sz="2400">
                <a:solidFill>
                  <a:schemeClr val="tx1"/>
                </a:solidFill>
                <a:latin typeface="Calibri" panose="020F0502020204030204" pitchFamily="34" charset="0"/>
              </a:defRPr>
            </a:lvl3pPr>
            <a:lvl4pPr marL="1600200" indent="-228600">
              <a:spcBef>
                <a:spcPct val="20000"/>
              </a:spcBef>
              <a:buFont typeface="Arial" panose="020B0604020202020204" pitchFamily="34" charset="0"/>
              <a:buChar char="–"/>
              <a:defRPr sz="2000">
                <a:solidFill>
                  <a:schemeClr val="tx1"/>
                </a:solidFill>
                <a:latin typeface="Calibri" panose="020F0502020204030204" pitchFamily="34" charset="0"/>
              </a:defRPr>
            </a:lvl4pPr>
            <a:lvl5pPr marL="2057400" indent="-228600">
              <a:spcBef>
                <a:spcPct val="20000"/>
              </a:spcBef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Calibri" panose="020F0502020204030204" pitchFamily="34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Calibri" panose="020F0502020204030204" pitchFamily="34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Calibri" panose="020F0502020204030204" pitchFamily="34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Calibri" panose="020F0502020204030204" pitchFamily="34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Calibri" panose="020F0502020204030204" pitchFamily="34" charset="0"/>
              </a:defRPr>
            </a:lvl9pPr>
          </a:lstStyle>
          <a:p>
            <a:pPr eaLnBrk="1" hangingPunct="1">
              <a:spcBef>
                <a:spcPct val="0"/>
              </a:spcBef>
              <a:buFontTx/>
              <a:buNone/>
            </a:pPr>
            <a:r>
              <a:rPr lang="en-US" altLang="en-US" sz="1800" b="1"/>
              <a:t>To keep everything orderly and compatible</a:t>
            </a:r>
            <a:r>
              <a:rPr lang="en-US" altLang="en-US" sz="1800"/>
              <a:t>, bands are usually </a:t>
            </a:r>
            <a:r>
              <a:rPr lang="en-US" altLang="en-US" sz="1800" b="1"/>
              <a:t>divided up into a number of distinct channels</a:t>
            </a:r>
            <a:r>
              <a:rPr lang="en-US" altLang="en-US" sz="1800"/>
              <a:t>. </a:t>
            </a:r>
            <a:r>
              <a:rPr lang="en-US" altLang="en-US" sz="1800" u="sng"/>
              <a:t>Each channel </a:t>
            </a:r>
            <a:r>
              <a:rPr lang="en-US" altLang="en-US" sz="1800"/>
              <a:t>is known by a channel number and is </a:t>
            </a:r>
            <a:r>
              <a:rPr lang="en-US" altLang="en-US" sz="1800" b="1"/>
              <a:t>assigned to a specific frequency</a:t>
            </a:r>
            <a:r>
              <a:rPr lang="en-US" altLang="en-US" sz="1800"/>
              <a:t>. As long as the channels are defined by a national or international standards body, </a:t>
            </a:r>
            <a:r>
              <a:rPr lang="en-US" altLang="en-US" sz="1800" b="1"/>
              <a:t>they can be used consistently in all locations</a:t>
            </a:r>
            <a:r>
              <a:rPr lang="en-US" altLang="en-US" sz="1800"/>
              <a:t>.</a:t>
            </a:r>
          </a:p>
        </p:txBody>
      </p:sp>
    </p:spTree>
    <p:extLst>
      <p:ext uri="{BB962C8B-B14F-4D97-AF65-F5344CB8AC3E}">
        <p14:creationId xmlns:p14="http://schemas.microsoft.com/office/powerpoint/2010/main" xmlns="" val="51128334"/>
      </p:ext>
    </p:extLst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19458" name="Group 3"/>
          <p:cNvGrpSpPr>
            <a:grpSpLocks noGrp="1" noUngrp="1" noChangeAspect="1"/>
          </p:cNvGrpSpPr>
          <p:nvPr/>
        </p:nvGrpSpPr>
        <p:grpSpPr bwMode="auto">
          <a:xfrm>
            <a:off x="2209800" y="3159126"/>
            <a:ext cx="4724400" cy="2587625"/>
            <a:chOff x="685800" y="1490663"/>
            <a:chExt cx="7772400" cy="4256087"/>
          </a:xfrm>
        </p:grpSpPr>
        <p:pic>
          <p:nvPicPr>
            <p:cNvPr id="19463" name="Picture 1" descr="cw980108"/>
            <p:cNvPicPr>
              <a:picLocks noRot="1" noChangeAspect="1" noMove="1" noResize="1"/>
            </p:cNvPicPr>
            <p:nvPr isPhoto="1"/>
          </p:nvPicPr>
          <p:blipFill>
            <a:blip r:embed="rId2">
              <a:extLst>
                <a:ext uri="{28A0092B-C50C-407E-A947-70E740481C1C}">
                  <a14:useLocalDpi xmlns:a14="http://schemas.microsoft.com/office/drawing/2010/main" xmlns="" val="0"/>
                </a:ext>
              </a:extLst>
            </a:blip>
            <a:srcRect/>
            <a:stretch>
              <a:fillRect/>
            </a:stretch>
          </p:blipFill>
          <p:spPr bwMode="auto">
            <a:xfrm>
              <a:off x="685800" y="1490663"/>
              <a:ext cx="7772400" cy="3875087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 xmlns="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xmlns="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</p:pic>
        <p:sp>
          <p:nvSpPr>
            <p:cNvPr id="3" name="Rectangle 2"/>
            <p:cNvSpPr/>
            <p:nvPr/>
          </p:nvSpPr>
          <p:spPr>
            <a:xfrm>
              <a:off x="685800" y="5404697"/>
              <a:ext cx="7772400" cy="342053"/>
            </a:xfrm>
            <a:prstGeom prst="rect">
              <a:avLst/>
            </a:prstGeom>
            <a:noFill/>
            <a:ln>
              <a:noFill/>
            </a:ln>
          </p:spPr>
          <p:txBody>
            <a:bodyPr anchor="ctr">
              <a:normAutofit fontScale="32500" lnSpcReduction="20000"/>
            </a:bodyPr>
            <a:lstStyle/>
            <a:p>
              <a:pPr algn="ctr">
                <a:defRPr/>
              </a:pPr>
              <a:endParaRPr lang="en-US" sz="2400" dirty="0"/>
            </a:p>
          </p:txBody>
        </p:sp>
      </p:grpSp>
      <p:sp>
        <p:nvSpPr>
          <p:cNvPr id="19459" name="TextBox 5"/>
          <p:cNvSpPr txBox="1">
            <a:spLocks noChangeArrowheads="1"/>
          </p:cNvSpPr>
          <p:nvPr/>
        </p:nvSpPr>
        <p:spPr bwMode="auto">
          <a:xfrm>
            <a:off x="3009900" y="5656264"/>
            <a:ext cx="3124200" cy="30797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 xmlns="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xmlns="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>
              <a:spcBef>
                <a:spcPct val="20000"/>
              </a:spcBef>
              <a:buFont typeface="Arial" panose="020B0604020202020204" pitchFamily="34" charset="0"/>
              <a:buChar char="•"/>
              <a:defRPr sz="3200">
                <a:solidFill>
                  <a:schemeClr val="tx1"/>
                </a:solidFill>
                <a:latin typeface="Calibri" panose="020F0502020204030204" pitchFamily="34" charset="0"/>
              </a:defRPr>
            </a:lvl1pPr>
            <a:lvl2pPr marL="742950" indent="-285750">
              <a:spcBef>
                <a:spcPct val="20000"/>
              </a:spcBef>
              <a:buFont typeface="Arial" panose="020B0604020202020204" pitchFamily="34" charset="0"/>
              <a:buChar char="–"/>
              <a:defRPr sz="2800">
                <a:solidFill>
                  <a:schemeClr val="tx1"/>
                </a:solidFill>
                <a:latin typeface="Calibri" panose="020F0502020204030204" pitchFamily="34" charset="0"/>
              </a:defRPr>
            </a:lvl2pPr>
            <a:lvl3pPr marL="1143000" indent="-228600">
              <a:spcBef>
                <a:spcPct val="20000"/>
              </a:spcBef>
              <a:buFont typeface="Arial" panose="020B0604020202020204" pitchFamily="34" charset="0"/>
              <a:buChar char="•"/>
              <a:defRPr sz="2400">
                <a:solidFill>
                  <a:schemeClr val="tx1"/>
                </a:solidFill>
                <a:latin typeface="Calibri" panose="020F0502020204030204" pitchFamily="34" charset="0"/>
              </a:defRPr>
            </a:lvl3pPr>
            <a:lvl4pPr marL="1600200" indent="-228600">
              <a:spcBef>
                <a:spcPct val="20000"/>
              </a:spcBef>
              <a:buFont typeface="Arial" panose="020B0604020202020204" pitchFamily="34" charset="0"/>
              <a:buChar char="–"/>
              <a:defRPr sz="2000">
                <a:solidFill>
                  <a:schemeClr val="tx1"/>
                </a:solidFill>
                <a:latin typeface="Calibri" panose="020F0502020204030204" pitchFamily="34" charset="0"/>
              </a:defRPr>
            </a:lvl4pPr>
            <a:lvl5pPr marL="2057400" indent="-228600">
              <a:spcBef>
                <a:spcPct val="20000"/>
              </a:spcBef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Calibri" panose="020F0502020204030204" pitchFamily="34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Calibri" panose="020F0502020204030204" pitchFamily="34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Calibri" panose="020F0502020204030204" pitchFamily="34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Calibri" panose="020F0502020204030204" pitchFamily="34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Calibri" panose="020F0502020204030204" pitchFamily="34" charset="0"/>
              </a:defRPr>
            </a:lvl9pPr>
          </a:lstStyle>
          <a:p>
            <a:pPr algn="ctr" eaLnBrk="1" hangingPunct="1">
              <a:spcBef>
                <a:spcPct val="0"/>
              </a:spcBef>
              <a:buFontTx/>
              <a:buNone/>
            </a:pPr>
            <a:r>
              <a:rPr lang="en-US" altLang="en-US" sz="1400">
                <a:latin typeface="Arial" panose="020B0604020202020204" pitchFamily="34" charset="0"/>
              </a:rPr>
              <a:t>Figure 1-8 Signal Bandwidth</a:t>
            </a:r>
          </a:p>
        </p:txBody>
      </p:sp>
      <p:sp>
        <p:nvSpPr>
          <p:cNvPr id="19462" name="Rectangle 4"/>
          <p:cNvSpPr>
            <a:spLocks noChangeArrowheads="1"/>
          </p:cNvSpPr>
          <p:nvPr/>
        </p:nvSpPr>
        <p:spPr bwMode="auto">
          <a:xfrm>
            <a:off x="1752600" y="381000"/>
            <a:ext cx="8382000" cy="120015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 xmlns="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xmlns="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>
              <a:spcBef>
                <a:spcPct val="20000"/>
              </a:spcBef>
              <a:buFont typeface="Arial" panose="020B0604020202020204" pitchFamily="34" charset="0"/>
              <a:buChar char="•"/>
              <a:defRPr sz="3200">
                <a:solidFill>
                  <a:schemeClr val="tx1"/>
                </a:solidFill>
                <a:latin typeface="Calibri" panose="020F0502020204030204" pitchFamily="34" charset="0"/>
              </a:defRPr>
            </a:lvl1pPr>
            <a:lvl2pPr marL="742950" indent="-285750">
              <a:spcBef>
                <a:spcPct val="20000"/>
              </a:spcBef>
              <a:buFont typeface="Arial" panose="020B0604020202020204" pitchFamily="34" charset="0"/>
              <a:buChar char="–"/>
              <a:defRPr sz="2800">
                <a:solidFill>
                  <a:schemeClr val="tx1"/>
                </a:solidFill>
                <a:latin typeface="Calibri" panose="020F0502020204030204" pitchFamily="34" charset="0"/>
              </a:defRPr>
            </a:lvl2pPr>
            <a:lvl3pPr marL="1143000" indent="-228600">
              <a:spcBef>
                <a:spcPct val="20000"/>
              </a:spcBef>
              <a:buFont typeface="Arial" panose="020B0604020202020204" pitchFamily="34" charset="0"/>
              <a:buChar char="•"/>
              <a:defRPr sz="2400">
                <a:solidFill>
                  <a:schemeClr val="tx1"/>
                </a:solidFill>
                <a:latin typeface="Calibri" panose="020F0502020204030204" pitchFamily="34" charset="0"/>
              </a:defRPr>
            </a:lvl3pPr>
            <a:lvl4pPr marL="1600200" indent="-228600">
              <a:spcBef>
                <a:spcPct val="20000"/>
              </a:spcBef>
              <a:buFont typeface="Arial" panose="020B0604020202020204" pitchFamily="34" charset="0"/>
              <a:buChar char="–"/>
              <a:defRPr sz="2000">
                <a:solidFill>
                  <a:schemeClr val="tx1"/>
                </a:solidFill>
                <a:latin typeface="Calibri" panose="020F0502020204030204" pitchFamily="34" charset="0"/>
              </a:defRPr>
            </a:lvl4pPr>
            <a:lvl5pPr marL="2057400" indent="-228600">
              <a:spcBef>
                <a:spcPct val="20000"/>
              </a:spcBef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Calibri" panose="020F0502020204030204" pitchFamily="34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Calibri" panose="020F0502020204030204" pitchFamily="34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Calibri" panose="020F0502020204030204" pitchFamily="34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Calibri" panose="020F0502020204030204" pitchFamily="34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Calibri" panose="020F0502020204030204" pitchFamily="34" charset="0"/>
              </a:defRPr>
            </a:lvl9pPr>
          </a:lstStyle>
          <a:p>
            <a:pPr eaLnBrk="1" hangingPunct="1">
              <a:spcBef>
                <a:spcPct val="0"/>
              </a:spcBef>
              <a:buFontTx/>
              <a:buNone/>
            </a:pPr>
            <a:r>
              <a:rPr lang="en-US" altLang="en-US" sz="1800" b="1"/>
              <a:t>In wireless LANs, </a:t>
            </a:r>
            <a:r>
              <a:rPr lang="en-US" altLang="en-US" sz="1800"/>
              <a:t>the signal bandwidth is defined as part of a standard. Even though the signal </a:t>
            </a:r>
            <a:r>
              <a:rPr lang="en-US" altLang="en-US" sz="1800" b="1"/>
              <a:t>might extend farther above and below the center frequency than the bandwidth allow</a:t>
            </a:r>
            <a:r>
              <a:rPr lang="en-US" altLang="en-US" sz="1800"/>
              <a:t>s, </a:t>
            </a:r>
            <a:r>
              <a:rPr lang="en-US" altLang="en-US" sz="1800" u="sng"/>
              <a:t>wireless devices will use something </a:t>
            </a:r>
            <a:r>
              <a:rPr lang="en-US" altLang="en-US" sz="1800"/>
              <a:t>called </a:t>
            </a:r>
            <a:r>
              <a:rPr lang="en-US" altLang="en-US" sz="1800" u="sng"/>
              <a:t>a </a:t>
            </a:r>
            <a:r>
              <a:rPr lang="en-US" altLang="en-US" sz="1800" b="1" u="sng"/>
              <a:t>spectral mask </a:t>
            </a:r>
            <a:r>
              <a:rPr lang="en-US" altLang="en-US" sz="1800" u="sng"/>
              <a:t>to ignore parts of the signal that fall outside the bandwidth boundaries</a:t>
            </a:r>
            <a:r>
              <a:rPr lang="en-US" altLang="en-US" sz="1800"/>
              <a:t>.</a:t>
            </a:r>
          </a:p>
        </p:txBody>
      </p:sp>
    </p:spTree>
    <p:extLst>
      <p:ext uri="{BB962C8B-B14F-4D97-AF65-F5344CB8AC3E}">
        <p14:creationId xmlns:p14="http://schemas.microsoft.com/office/powerpoint/2010/main" xmlns="" val="2563184268"/>
      </p:ext>
    </p:extLst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20482" name="Group 3"/>
          <p:cNvGrpSpPr>
            <a:grpSpLocks noGrp="1" noUngrp="1" noChangeAspect="1"/>
          </p:cNvGrpSpPr>
          <p:nvPr/>
        </p:nvGrpSpPr>
        <p:grpSpPr bwMode="auto">
          <a:xfrm>
            <a:off x="2209801" y="2971801"/>
            <a:ext cx="5286375" cy="2443163"/>
            <a:chOff x="685800" y="1822450"/>
            <a:chExt cx="7772400" cy="3592513"/>
          </a:xfrm>
        </p:grpSpPr>
        <p:pic>
          <p:nvPicPr>
            <p:cNvPr id="20487" name="Picture 1" descr="cw980109"/>
            <p:cNvPicPr>
              <a:picLocks noRot="1" noChangeAspect="1" noMove="1" noResize="1"/>
            </p:cNvPicPr>
            <p:nvPr isPhoto="1"/>
          </p:nvPicPr>
          <p:blipFill>
            <a:blip r:embed="rId2">
              <a:extLst>
                <a:ext uri="{28A0092B-C50C-407E-A947-70E740481C1C}">
                  <a14:useLocalDpi xmlns:a14="http://schemas.microsoft.com/office/drawing/2010/main" xmlns="" val="0"/>
                </a:ext>
              </a:extLst>
            </a:blip>
            <a:srcRect/>
            <a:stretch>
              <a:fillRect/>
            </a:stretch>
          </p:blipFill>
          <p:spPr bwMode="auto">
            <a:xfrm>
              <a:off x="685800" y="1822450"/>
              <a:ext cx="7772400" cy="3211513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 xmlns="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xmlns="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</p:pic>
        <p:sp>
          <p:nvSpPr>
            <p:cNvPr id="3" name="Rectangle 2"/>
            <p:cNvSpPr/>
            <p:nvPr/>
          </p:nvSpPr>
          <p:spPr>
            <a:xfrm>
              <a:off x="685800" y="5071818"/>
              <a:ext cx="7772400" cy="343145"/>
            </a:xfrm>
            <a:prstGeom prst="rect">
              <a:avLst/>
            </a:prstGeom>
            <a:noFill/>
            <a:ln>
              <a:noFill/>
            </a:ln>
          </p:spPr>
          <p:txBody>
            <a:bodyPr anchor="ctr">
              <a:normAutofit fontScale="47500" lnSpcReduction="20000"/>
            </a:bodyPr>
            <a:lstStyle/>
            <a:p>
              <a:pPr algn="ctr">
                <a:defRPr/>
              </a:pPr>
              <a:endParaRPr lang="en-US" sz="2400" dirty="0"/>
            </a:p>
          </p:txBody>
        </p:sp>
      </p:grpSp>
      <p:sp>
        <p:nvSpPr>
          <p:cNvPr id="20483" name="TextBox 5"/>
          <p:cNvSpPr txBox="1">
            <a:spLocks noChangeArrowheads="1"/>
          </p:cNvSpPr>
          <p:nvPr/>
        </p:nvSpPr>
        <p:spPr bwMode="auto">
          <a:xfrm>
            <a:off x="2209800" y="685800"/>
            <a:ext cx="8077200" cy="1169988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 xmlns="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xmlns="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>
              <a:spcBef>
                <a:spcPct val="20000"/>
              </a:spcBef>
              <a:buFont typeface="Arial" panose="020B0604020202020204" pitchFamily="34" charset="0"/>
              <a:buChar char="•"/>
              <a:defRPr sz="3200">
                <a:solidFill>
                  <a:schemeClr val="tx1"/>
                </a:solidFill>
                <a:latin typeface="Calibri" panose="020F0502020204030204" pitchFamily="34" charset="0"/>
              </a:defRPr>
            </a:lvl1pPr>
            <a:lvl2pPr marL="742950" indent="-285750">
              <a:spcBef>
                <a:spcPct val="20000"/>
              </a:spcBef>
              <a:buFont typeface="Arial" panose="020B0604020202020204" pitchFamily="34" charset="0"/>
              <a:buChar char="–"/>
              <a:defRPr sz="2800">
                <a:solidFill>
                  <a:schemeClr val="tx1"/>
                </a:solidFill>
                <a:latin typeface="Calibri" panose="020F0502020204030204" pitchFamily="34" charset="0"/>
              </a:defRPr>
            </a:lvl2pPr>
            <a:lvl3pPr marL="1143000" indent="-228600">
              <a:spcBef>
                <a:spcPct val="20000"/>
              </a:spcBef>
              <a:buFont typeface="Arial" panose="020B0604020202020204" pitchFamily="34" charset="0"/>
              <a:buChar char="•"/>
              <a:defRPr sz="2400">
                <a:solidFill>
                  <a:schemeClr val="tx1"/>
                </a:solidFill>
                <a:latin typeface="Calibri" panose="020F0502020204030204" pitchFamily="34" charset="0"/>
              </a:defRPr>
            </a:lvl3pPr>
            <a:lvl4pPr marL="1600200" indent="-228600">
              <a:spcBef>
                <a:spcPct val="20000"/>
              </a:spcBef>
              <a:buFont typeface="Arial" panose="020B0604020202020204" pitchFamily="34" charset="0"/>
              <a:buChar char="–"/>
              <a:defRPr sz="2000">
                <a:solidFill>
                  <a:schemeClr val="tx1"/>
                </a:solidFill>
                <a:latin typeface="Calibri" panose="020F0502020204030204" pitchFamily="34" charset="0"/>
              </a:defRPr>
            </a:lvl4pPr>
            <a:lvl5pPr marL="2057400" indent="-228600">
              <a:spcBef>
                <a:spcPct val="20000"/>
              </a:spcBef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Calibri" panose="020F0502020204030204" pitchFamily="34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Calibri" panose="020F0502020204030204" pitchFamily="34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Calibri" panose="020F0502020204030204" pitchFamily="34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Calibri" panose="020F0502020204030204" pitchFamily="34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Calibri" panose="020F0502020204030204" pitchFamily="34" charset="0"/>
              </a:defRPr>
            </a:lvl9pPr>
          </a:lstStyle>
          <a:p>
            <a:pPr eaLnBrk="1" hangingPunct="1">
              <a:spcBef>
                <a:spcPct val="0"/>
              </a:spcBef>
              <a:buFontTx/>
              <a:buNone/>
            </a:pPr>
            <a:r>
              <a:rPr lang="en-US" altLang="en-US" sz="1400">
                <a:latin typeface="Arial" panose="020B0604020202020204" pitchFamily="34" charset="0"/>
              </a:rPr>
              <a:t>Ideally, </a:t>
            </a:r>
            <a:r>
              <a:rPr lang="en-US" altLang="en-US" sz="1400" b="1">
                <a:latin typeface="Arial" panose="020B0604020202020204" pitchFamily="34" charset="0"/>
              </a:rPr>
              <a:t>the signal bandwidth should be less than the channel width </a:t>
            </a:r>
            <a:r>
              <a:rPr lang="en-US" altLang="en-US" sz="1400">
                <a:latin typeface="Arial" panose="020B0604020202020204" pitchFamily="34" charset="0"/>
              </a:rPr>
              <a:t>so that a different signal </a:t>
            </a:r>
          </a:p>
          <a:p>
            <a:pPr eaLnBrk="1" hangingPunct="1">
              <a:spcBef>
                <a:spcPct val="0"/>
              </a:spcBef>
              <a:buFontTx/>
              <a:buNone/>
            </a:pPr>
            <a:r>
              <a:rPr lang="en-US" altLang="en-US" sz="1400">
                <a:latin typeface="Arial" panose="020B0604020202020204" pitchFamily="34" charset="0"/>
              </a:rPr>
              <a:t>could be transmitted on every possible channel with </a:t>
            </a:r>
            <a:r>
              <a:rPr lang="en-US" altLang="en-US" sz="1400" b="1">
                <a:latin typeface="Arial" panose="020B0604020202020204" pitchFamily="34" charset="0"/>
              </a:rPr>
              <a:t>no chance that two signals could overlap and interfere with each other</a:t>
            </a:r>
            <a:r>
              <a:rPr lang="en-US" altLang="en-US" sz="1400">
                <a:latin typeface="Arial" panose="020B0604020202020204" pitchFamily="34" charset="0"/>
              </a:rPr>
              <a:t>. Figure 1-9 shows such a channel spacing, where the signals </a:t>
            </a:r>
          </a:p>
          <a:p>
            <a:pPr eaLnBrk="1" hangingPunct="1">
              <a:spcBef>
                <a:spcPct val="0"/>
              </a:spcBef>
              <a:buFontTx/>
              <a:buNone/>
            </a:pPr>
            <a:r>
              <a:rPr lang="en-US" altLang="en-US" sz="1400">
                <a:latin typeface="Arial" panose="020B0604020202020204" pitchFamily="34" charset="0"/>
              </a:rPr>
              <a:t>on adjacent channels do not overlap. A signal can exist on every possible channel without </a:t>
            </a:r>
          </a:p>
          <a:p>
            <a:pPr eaLnBrk="1" hangingPunct="1">
              <a:spcBef>
                <a:spcPct val="0"/>
              </a:spcBef>
              <a:buFontTx/>
              <a:buNone/>
            </a:pPr>
            <a:r>
              <a:rPr lang="en-US" altLang="en-US" sz="1400">
                <a:latin typeface="Arial" panose="020B0604020202020204" pitchFamily="34" charset="0"/>
              </a:rPr>
              <a:t>overlapping with others.</a:t>
            </a:r>
          </a:p>
        </p:txBody>
      </p:sp>
      <p:sp>
        <p:nvSpPr>
          <p:cNvPr id="20486" name="Rectangle 4"/>
          <p:cNvSpPr>
            <a:spLocks noChangeArrowheads="1"/>
          </p:cNvSpPr>
          <p:nvPr/>
        </p:nvSpPr>
        <p:spPr bwMode="auto">
          <a:xfrm>
            <a:off x="2819400" y="5386389"/>
            <a:ext cx="4343400" cy="369887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 xmlns="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xmlns="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>
            <a:spAutoFit/>
          </a:bodyPr>
          <a:lstStyle>
            <a:lvl1pPr>
              <a:spcBef>
                <a:spcPct val="20000"/>
              </a:spcBef>
              <a:buFont typeface="Arial" panose="020B0604020202020204" pitchFamily="34" charset="0"/>
              <a:buChar char="•"/>
              <a:defRPr sz="3200">
                <a:solidFill>
                  <a:schemeClr val="tx1"/>
                </a:solidFill>
                <a:latin typeface="Calibri" panose="020F0502020204030204" pitchFamily="34" charset="0"/>
              </a:defRPr>
            </a:lvl1pPr>
            <a:lvl2pPr marL="742950" indent="-285750">
              <a:spcBef>
                <a:spcPct val="20000"/>
              </a:spcBef>
              <a:buFont typeface="Arial" panose="020B0604020202020204" pitchFamily="34" charset="0"/>
              <a:buChar char="–"/>
              <a:defRPr sz="2800">
                <a:solidFill>
                  <a:schemeClr val="tx1"/>
                </a:solidFill>
                <a:latin typeface="Calibri" panose="020F0502020204030204" pitchFamily="34" charset="0"/>
              </a:defRPr>
            </a:lvl2pPr>
            <a:lvl3pPr marL="1143000" indent="-228600">
              <a:spcBef>
                <a:spcPct val="20000"/>
              </a:spcBef>
              <a:buFont typeface="Arial" panose="020B0604020202020204" pitchFamily="34" charset="0"/>
              <a:buChar char="•"/>
              <a:defRPr sz="2400">
                <a:solidFill>
                  <a:schemeClr val="tx1"/>
                </a:solidFill>
                <a:latin typeface="Calibri" panose="020F0502020204030204" pitchFamily="34" charset="0"/>
              </a:defRPr>
            </a:lvl3pPr>
            <a:lvl4pPr marL="1600200" indent="-228600">
              <a:spcBef>
                <a:spcPct val="20000"/>
              </a:spcBef>
              <a:buFont typeface="Arial" panose="020B0604020202020204" pitchFamily="34" charset="0"/>
              <a:buChar char="–"/>
              <a:defRPr sz="2000">
                <a:solidFill>
                  <a:schemeClr val="tx1"/>
                </a:solidFill>
                <a:latin typeface="Calibri" panose="020F0502020204030204" pitchFamily="34" charset="0"/>
              </a:defRPr>
            </a:lvl4pPr>
            <a:lvl5pPr marL="2057400" indent="-228600">
              <a:spcBef>
                <a:spcPct val="20000"/>
              </a:spcBef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Calibri" panose="020F0502020204030204" pitchFamily="34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Calibri" panose="020F0502020204030204" pitchFamily="34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Calibri" panose="020F0502020204030204" pitchFamily="34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Calibri" panose="020F0502020204030204" pitchFamily="34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Calibri" panose="020F0502020204030204" pitchFamily="34" charset="0"/>
              </a:defRPr>
            </a:lvl9pPr>
          </a:lstStyle>
          <a:p>
            <a:pPr eaLnBrk="1" hangingPunct="1">
              <a:spcBef>
                <a:spcPct val="0"/>
              </a:spcBef>
              <a:buFontTx/>
              <a:buNone/>
            </a:pPr>
            <a:r>
              <a:rPr lang="en-US" altLang="en-US" sz="1800"/>
              <a:t>Figure 1-9 Non-overlapping Channel Spacing</a:t>
            </a:r>
          </a:p>
        </p:txBody>
      </p:sp>
    </p:spTree>
    <p:extLst>
      <p:ext uri="{BB962C8B-B14F-4D97-AF65-F5344CB8AC3E}">
        <p14:creationId xmlns:p14="http://schemas.microsoft.com/office/powerpoint/2010/main" xmlns="" val="1533351777"/>
      </p:ext>
    </p:extLst>
  </p:cSld>
  <p:clrMapOvr>
    <a:masterClrMapping/>
  </p:clrMapOvr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21506" name="Group 3"/>
          <p:cNvGrpSpPr>
            <a:grpSpLocks noGrp="1" noUngrp="1" noChangeAspect="1"/>
          </p:cNvGrpSpPr>
          <p:nvPr/>
        </p:nvGrpSpPr>
        <p:grpSpPr bwMode="auto">
          <a:xfrm>
            <a:off x="2133600" y="3265489"/>
            <a:ext cx="6172200" cy="2670175"/>
            <a:chOff x="685800" y="1938338"/>
            <a:chExt cx="7772400" cy="3360737"/>
          </a:xfrm>
        </p:grpSpPr>
        <p:pic>
          <p:nvPicPr>
            <p:cNvPr id="21513" name="Picture 1" descr="cw980110"/>
            <p:cNvPicPr>
              <a:picLocks noRot="1" noChangeAspect="1" noMove="1" noResize="1"/>
            </p:cNvPicPr>
            <p:nvPr isPhoto="1"/>
          </p:nvPicPr>
          <p:blipFill>
            <a:blip r:embed="rId2">
              <a:extLst>
                <a:ext uri="{28A0092B-C50C-407E-A947-70E740481C1C}">
                  <a14:useLocalDpi xmlns:a14="http://schemas.microsoft.com/office/drawing/2010/main" xmlns="" val="0"/>
                </a:ext>
              </a:extLst>
            </a:blip>
            <a:srcRect/>
            <a:stretch>
              <a:fillRect/>
            </a:stretch>
          </p:blipFill>
          <p:spPr bwMode="auto">
            <a:xfrm>
              <a:off x="685800" y="1938338"/>
              <a:ext cx="7772400" cy="2979737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 xmlns="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xmlns="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</p:pic>
        <p:sp>
          <p:nvSpPr>
            <p:cNvPr id="3" name="Rectangle 2"/>
            <p:cNvSpPr/>
            <p:nvPr/>
          </p:nvSpPr>
          <p:spPr>
            <a:xfrm>
              <a:off x="685800" y="4955409"/>
              <a:ext cx="7772400" cy="343666"/>
            </a:xfrm>
            <a:prstGeom prst="rect">
              <a:avLst/>
            </a:prstGeom>
            <a:noFill/>
            <a:ln>
              <a:noFill/>
            </a:ln>
          </p:spPr>
          <p:txBody>
            <a:bodyPr anchor="ctr">
              <a:normAutofit fontScale="55000" lnSpcReduction="20000"/>
            </a:bodyPr>
            <a:lstStyle/>
            <a:p>
              <a:pPr algn="ctr">
                <a:defRPr/>
              </a:pPr>
              <a:endParaRPr lang="en-US" sz="2400" dirty="0"/>
            </a:p>
          </p:txBody>
        </p:sp>
      </p:grpSp>
      <p:sp>
        <p:nvSpPr>
          <p:cNvPr id="21507" name="TextBox 5"/>
          <p:cNvSpPr txBox="1">
            <a:spLocks noChangeArrowheads="1"/>
          </p:cNvSpPr>
          <p:nvPr/>
        </p:nvSpPr>
        <p:spPr bwMode="auto">
          <a:xfrm>
            <a:off x="1828800" y="5745164"/>
            <a:ext cx="5257800" cy="30797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 xmlns="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xmlns="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>
              <a:spcBef>
                <a:spcPct val="20000"/>
              </a:spcBef>
              <a:buFont typeface="Arial" panose="020B0604020202020204" pitchFamily="34" charset="0"/>
              <a:buChar char="•"/>
              <a:defRPr sz="3200">
                <a:solidFill>
                  <a:schemeClr val="tx1"/>
                </a:solidFill>
                <a:latin typeface="Calibri" panose="020F0502020204030204" pitchFamily="34" charset="0"/>
              </a:defRPr>
            </a:lvl1pPr>
            <a:lvl2pPr marL="742950" indent="-285750">
              <a:spcBef>
                <a:spcPct val="20000"/>
              </a:spcBef>
              <a:buFont typeface="Arial" panose="020B0604020202020204" pitchFamily="34" charset="0"/>
              <a:buChar char="–"/>
              <a:defRPr sz="2800">
                <a:solidFill>
                  <a:schemeClr val="tx1"/>
                </a:solidFill>
                <a:latin typeface="Calibri" panose="020F0502020204030204" pitchFamily="34" charset="0"/>
              </a:defRPr>
            </a:lvl2pPr>
            <a:lvl3pPr marL="1143000" indent="-228600">
              <a:spcBef>
                <a:spcPct val="20000"/>
              </a:spcBef>
              <a:buFont typeface="Arial" panose="020B0604020202020204" pitchFamily="34" charset="0"/>
              <a:buChar char="•"/>
              <a:defRPr sz="2400">
                <a:solidFill>
                  <a:schemeClr val="tx1"/>
                </a:solidFill>
                <a:latin typeface="Calibri" panose="020F0502020204030204" pitchFamily="34" charset="0"/>
              </a:defRPr>
            </a:lvl3pPr>
            <a:lvl4pPr marL="1600200" indent="-228600">
              <a:spcBef>
                <a:spcPct val="20000"/>
              </a:spcBef>
              <a:buFont typeface="Arial" panose="020B0604020202020204" pitchFamily="34" charset="0"/>
              <a:buChar char="–"/>
              <a:defRPr sz="2000">
                <a:solidFill>
                  <a:schemeClr val="tx1"/>
                </a:solidFill>
                <a:latin typeface="Calibri" panose="020F0502020204030204" pitchFamily="34" charset="0"/>
              </a:defRPr>
            </a:lvl4pPr>
            <a:lvl5pPr marL="2057400" indent="-228600">
              <a:spcBef>
                <a:spcPct val="20000"/>
              </a:spcBef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Calibri" panose="020F0502020204030204" pitchFamily="34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Calibri" panose="020F0502020204030204" pitchFamily="34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Calibri" panose="020F0502020204030204" pitchFamily="34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Calibri" panose="020F0502020204030204" pitchFamily="34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Calibri" panose="020F0502020204030204" pitchFamily="34" charset="0"/>
              </a:defRPr>
            </a:lvl9pPr>
          </a:lstStyle>
          <a:p>
            <a:pPr algn="ctr" eaLnBrk="1" hangingPunct="1">
              <a:spcBef>
                <a:spcPct val="0"/>
              </a:spcBef>
              <a:buFontTx/>
              <a:buNone/>
            </a:pPr>
            <a:r>
              <a:rPr lang="en-US" altLang="en-US" sz="1400">
                <a:latin typeface="Arial" panose="020B0604020202020204" pitchFamily="34" charset="0"/>
              </a:rPr>
              <a:t>Figure 1-10 Overlapping Channel Spacing</a:t>
            </a:r>
          </a:p>
        </p:txBody>
      </p:sp>
      <p:sp>
        <p:nvSpPr>
          <p:cNvPr id="21510" name="Rectangle 4"/>
          <p:cNvSpPr>
            <a:spLocks noChangeArrowheads="1"/>
          </p:cNvSpPr>
          <p:nvPr/>
        </p:nvSpPr>
        <p:spPr bwMode="auto">
          <a:xfrm>
            <a:off x="1676400" y="187326"/>
            <a:ext cx="8534400" cy="646113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 xmlns="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xmlns="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>
              <a:spcBef>
                <a:spcPct val="20000"/>
              </a:spcBef>
              <a:buFont typeface="Arial" panose="020B0604020202020204" pitchFamily="34" charset="0"/>
              <a:buChar char="•"/>
              <a:defRPr sz="3200">
                <a:solidFill>
                  <a:schemeClr val="tx1"/>
                </a:solidFill>
                <a:latin typeface="Calibri" panose="020F0502020204030204" pitchFamily="34" charset="0"/>
              </a:defRPr>
            </a:lvl1pPr>
            <a:lvl2pPr marL="742950" indent="-285750">
              <a:spcBef>
                <a:spcPct val="20000"/>
              </a:spcBef>
              <a:buFont typeface="Arial" panose="020B0604020202020204" pitchFamily="34" charset="0"/>
              <a:buChar char="–"/>
              <a:defRPr sz="2800">
                <a:solidFill>
                  <a:schemeClr val="tx1"/>
                </a:solidFill>
                <a:latin typeface="Calibri" panose="020F0502020204030204" pitchFamily="34" charset="0"/>
              </a:defRPr>
            </a:lvl2pPr>
            <a:lvl3pPr marL="1143000" indent="-228600">
              <a:spcBef>
                <a:spcPct val="20000"/>
              </a:spcBef>
              <a:buFont typeface="Arial" panose="020B0604020202020204" pitchFamily="34" charset="0"/>
              <a:buChar char="•"/>
              <a:defRPr sz="2400">
                <a:solidFill>
                  <a:schemeClr val="tx1"/>
                </a:solidFill>
                <a:latin typeface="Calibri" panose="020F0502020204030204" pitchFamily="34" charset="0"/>
              </a:defRPr>
            </a:lvl3pPr>
            <a:lvl4pPr marL="1600200" indent="-228600">
              <a:spcBef>
                <a:spcPct val="20000"/>
              </a:spcBef>
              <a:buFont typeface="Arial" panose="020B0604020202020204" pitchFamily="34" charset="0"/>
              <a:buChar char="–"/>
              <a:defRPr sz="2000">
                <a:solidFill>
                  <a:schemeClr val="tx1"/>
                </a:solidFill>
                <a:latin typeface="Calibri" panose="020F0502020204030204" pitchFamily="34" charset="0"/>
              </a:defRPr>
            </a:lvl4pPr>
            <a:lvl5pPr marL="2057400" indent="-228600">
              <a:spcBef>
                <a:spcPct val="20000"/>
              </a:spcBef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Calibri" panose="020F0502020204030204" pitchFamily="34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Calibri" panose="020F0502020204030204" pitchFamily="34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Calibri" panose="020F0502020204030204" pitchFamily="34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Calibri" panose="020F0502020204030204" pitchFamily="34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Calibri" panose="020F0502020204030204" pitchFamily="34" charset="0"/>
              </a:defRPr>
            </a:lvl9pPr>
          </a:lstStyle>
          <a:p>
            <a:pPr eaLnBrk="1" hangingPunct="1">
              <a:spcBef>
                <a:spcPct val="0"/>
              </a:spcBef>
              <a:buFontTx/>
              <a:buNone/>
            </a:pPr>
            <a:r>
              <a:rPr lang="en-US" altLang="en-US" sz="1800"/>
              <a:t> It is entirely </a:t>
            </a:r>
            <a:r>
              <a:rPr lang="en-US" altLang="en-US" sz="1800" b="1"/>
              <a:t>possible that the channels in a band are narrower than the signal bandwidth</a:t>
            </a:r>
            <a:r>
              <a:rPr lang="en-US" altLang="en-US" sz="1800"/>
              <a:t>, as shown in Figure 1-10</a:t>
            </a:r>
          </a:p>
        </p:txBody>
      </p:sp>
      <p:sp>
        <p:nvSpPr>
          <p:cNvPr id="21511" name="Rectangle 5"/>
          <p:cNvSpPr>
            <a:spLocks noChangeArrowheads="1"/>
          </p:cNvSpPr>
          <p:nvPr/>
        </p:nvSpPr>
        <p:spPr bwMode="auto">
          <a:xfrm>
            <a:off x="1752600" y="957263"/>
            <a:ext cx="8915400" cy="1477962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 xmlns="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xmlns="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>
              <a:spcBef>
                <a:spcPct val="20000"/>
              </a:spcBef>
              <a:buFont typeface="Arial" panose="020B0604020202020204" pitchFamily="34" charset="0"/>
              <a:buChar char="•"/>
              <a:defRPr sz="3200">
                <a:solidFill>
                  <a:schemeClr val="tx1"/>
                </a:solidFill>
                <a:latin typeface="Calibri" panose="020F0502020204030204" pitchFamily="34" charset="0"/>
              </a:defRPr>
            </a:lvl1pPr>
            <a:lvl2pPr marL="742950" indent="-285750">
              <a:spcBef>
                <a:spcPct val="20000"/>
              </a:spcBef>
              <a:buFont typeface="Arial" panose="020B0604020202020204" pitchFamily="34" charset="0"/>
              <a:buChar char="–"/>
              <a:defRPr sz="2800">
                <a:solidFill>
                  <a:schemeClr val="tx1"/>
                </a:solidFill>
                <a:latin typeface="Calibri" panose="020F0502020204030204" pitchFamily="34" charset="0"/>
              </a:defRPr>
            </a:lvl2pPr>
            <a:lvl3pPr marL="1143000" indent="-228600">
              <a:spcBef>
                <a:spcPct val="20000"/>
              </a:spcBef>
              <a:buFont typeface="Arial" panose="020B0604020202020204" pitchFamily="34" charset="0"/>
              <a:buChar char="•"/>
              <a:defRPr sz="2400">
                <a:solidFill>
                  <a:schemeClr val="tx1"/>
                </a:solidFill>
                <a:latin typeface="Calibri" panose="020F0502020204030204" pitchFamily="34" charset="0"/>
              </a:defRPr>
            </a:lvl3pPr>
            <a:lvl4pPr marL="1600200" indent="-228600">
              <a:spcBef>
                <a:spcPct val="20000"/>
              </a:spcBef>
              <a:buFont typeface="Arial" panose="020B0604020202020204" pitchFamily="34" charset="0"/>
              <a:buChar char="–"/>
              <a:defRPr sz="2000">
                <a:solidFill>
                  <a:schemeClr val="tx1"/>
                </a:solidFill>
                <a:latin typeface="Calibri" panose="020F0502020204030204" pitchFamily="34" charset="0"/>
              </a:defRPr>
            </a:lvl4pPr>
            <a:lvl5pPr marL="2057400" indent="-228600">
              <a:spcBef>
                <a:spcPct val="20000"/>
              </a:spcBef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Calibri" panose="020F0502020204030204" pitchFamily="34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Calibri" panose="020F0502020204030204" pitchFamily="34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Calibri" panose="020F0502020204030204" pitchFamily="34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Calibri" panose="020F0502020204030204" pitchFamily="34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Calibri" panose="020F0502020204030204" pitchFamily="34" charset="0"/>
              </a:defRPr>
            </a:lvl9pPr>
          </a:lstStyle>
          <a:p>
            <a:pPr eaLnBrk="1" hangingPunct="1">
              <a:spcBef>
                <a:spcPct val="0"/>
              </a:spcBef>
              <a:buFontTx/>
              <a:buNone/>
            </a:pPr>
            <a:r>
              <a:rPr lang="en-US" altLang="en-US" sz="1800"/>
              <a:t>but they almost entirely overlap each other! The problem is that the </a:t>
            </a:r>
            <a:r>
              <a:rPr lang="en-US" altLang="en-US" sz="1800" b="1"/>
              <a:t>signal bandwidth is slightly wider than four channels</a:t>
            </a:r>
            <a:r>
              <a:rPr lang="en-US" altLang="en-US" sz="1800"/>
              <a:t>. In this case, signals centered on adjacent channels cannot possibly coexist without overlapping and interfering. </a:t>
            </a:r>
            <a:r>
              <a:rPr lang="en-US" altLang="en-US" sz="1800" b="1" u="sng"/>
              <a:t>Instead, the signals must be placed on more distant channels to prevent overlapping</a:t>
            </a:r>
            <a:r>
              <a:rPr lang="en-US" altLang="en-US" sz="1800"/>
              <a:t>, thus limiting the number of channels that can be used in the band.</a:t>
            </a:r>
          </a:p>
        </p:txBody>
      </p:sp>
      <p:sp>
        <p:nvSpPr>
          <p:cNvPr id="21512" name="Rectangle 6"/>
          <p:cNvSpPr>
            <a:spLocks noChangeArrowheads="1"/>
          </p:cNvSpPr>
          <p:nvPr/>
        </p:nvSpPr>
        <p:spPr bwMode="auto">
          <a:xfrm>
            <a:off x="1752600" y="2465388"/>
            <a:ext cx="8915400" cy="646112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 xmlns="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xmlns="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>
              <a:spcBef>
                <a:spcPct val="20000"/>
              </a:spcBef>
              <a:buFont typeface="Arial" panose="020B0604020202020204" pitchFamily="34" charset="0"/>
              <a:buChar char="•"/>
              <a:defRPr sz="3200">
                <a:solidFill>
                  <a:schemeClr val="tx1"/>
                </a:solidFill>
                <a:latin typeface="Calibri" panose="020F0502020204030204" pitchFamily="34" charset="0"/>
              </a:defRPr>
            </a:lvl1pPr>
            <a:lvl2pPr marL="742950" indent="-285750">
              <a:spcBef>
                <a:spcPct val="20000"/>
              </a:spcBef>
              <a:buFont typeface="Arial" panose="020B0604020202020204" pitchFamily="34" charset="0"/>
              <a:buChar char="–"/>
              <a:defRPr sz="2800">
                <a:solidFill>
                  <a:schemeClr val="tx1"/>
                </a:solidFill>
                <a:latin typeface="Calibri" panose="020F0502020204030204" pitchFamily="34" charset="0"/>
              </a:defRPr>
            </a:lvl2pPr>
            <a:lvl3pPr marL="1143000" indent="-228600">
              <a:spcBef>
                <a:spcPct val="20000"/>
              </a:spcBef>
              <a:buFont typeface="Arial" panose="020B0604020202020204" pitchFamily="34" charset="0"/>
              <a:buChar char="•"/>
              <a:defRPr sz="2400">
                <a:solidFill>
                  <a:schemeClr val="tx1"/>
                </a:solidFill>
                <a:latin typeface="Calibri" panose="020F0502020204030204" pitchFamily="34" charset="0"/>
              </a:defRPr>
            </a:lvl3pPr>
            <a:lvl4pPr marL="1600200" indent="-228600">
              <a:spcBef>
                <a:spcPct val="20000"/>
              </a:spcBef>
              <a:buFont typeface="Arial" panose="020B0604020202020204" pitchFamily="34" charset="0"/>
              <a:buChar char="–"/>
              <a:defRPr sz="2000">
                <a:solidFill>
                  <a:schemeClr val="tx1"/>
                </a:solidFill>
                <a:latin typeface="Calibri" panose="020F0502020204030204" pitchFamily="34" charset="0"/>
              </a:defRPr>
            </a:lvl4pPr>
            <a:lvl5pPr marL="2057400" indent="-228600">
              <a:spcBef>
                <a:spcPct val="20000"/>
              </a:spcBef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Calibri" panose="020F0502020204030204" pitchFamily="34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Calibri" panose="020F0502020204030204" pitchFamily="34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Calibri" panose="020F0502020204030204" pitchFamily="34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Calibri" panose="020F0502020204030204" pitchFamily="34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Calibri" panose="020F0502020204030204" pitchFamily="34" charset="0"/>
              </a:defRPr>
            </a:lvl9pPr>
          </a:lstStyle>
          <a:p>
            <a:pPr eaLnBrk="1" hangingPunct="1">
              <a:spcBef>
                <a:spcPct val="0"/>
              </a:spcBef>
              <a:buFontTx/>
              <a:buNone/>
            </a:pPr>
            <a:r>
              <a:rPr lang="en-US" altLang="en-US" sz="1800" b="1"/>
              <a:t>only the newer signals might require more bandwidth than the original channel numbering supported</a:t>
            </a:r>
            <a:r>
              <a:rPr lang="en-US" altLang="en-US" sz="1800"/>
              <a:t>. Such is the case with the </a:t>
            </a:r>
            <a:r>
              <a:rPr lang="en-US" altLang="en-US" sz="1800" b="1" u="sng"/>
              <a:t>2.4-GHz Wi-Fi band.</a:t>
            </a:r>
          </a:p>
        </p:txBody>
      </p:sp>
    </p:spTree>
    <p:extLst>
      <p:ext uri="{BB962C8B-B14F-4D97-AF65-F5344CB8AC3E}">
        <p14:creationId xmlns:p14="http://schemas.microsoft.com/office/powerpoint/2010/main" xmlns="" val="3569800076"/>
      </p:ext>
    </p:extLst>
  </p:cSld>
  <p:clrMapOvr>
    <a:masterClrMapping/>
  </p:clrMapOvr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22530" name="Group 3"/>
          <p:cNvGrpSpPr>
            <a:grpSpLocks noGrp="1" noUngrp="1" noChangeAspect="1"/>
          </p:cNvGrpSpPr>
          <p:nvPr/>
        </p:nvGrpSpPr>
        <p:grpSpPr bwMode="auto">
          <a:xfrm>
            <a:off x="2286000" y="2703514"/>
            <a:ext cx="5410200" cy="3051175"/>
            <a:chOff x="685800" y="1427163"/>
            <a:chExt cx="7772400" cy="4383087"/>
          </a:xfrm>
        </p:grpSpPr>
        <p:pic>
          <p:nvPicPr>
            <p:cNvPr id="22539" name="Picture 1" descr="cw980111"/>
            <p:cNvPicPr>
              <a:picLocks noRot="1" noChangeAspect="1" noMove="1" noResize="1"/>
            </p:cNvPicPr>
            <p:nvPr isPhoto="1"/>
          </p:nvPicPr>
          <p:blipFill>
            <a:blip r:embed="rId2">
              <a:extLst>
                <a:ext uri="{28A0092B-C50C-407E-A947-70E740481C1C}">
                  <a14:useLocalDpi xmlns:a14="http://schemas.microsoft.com/office/drawing/2010/main" xmlns="" val="0"/>
                </a:ext>
              </a:extLst>
            </a:blip>
            <a:srcRect/>
            <a:stretch>
              <a:fillRect/>
            </a:stretch>
          </p:blipFill>
          <p:spPr bwMode="auto">
            <a:xfrm>
              <a:off x="685800" y="1427163"/>
              <a:ext cx="7772400" cy="4002087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 xmlns="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xmlns="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</p:pic>
        <p:sp>
          <p:nvSpPr>
            <p:cNvPr id="3" name="Rectangle 2"/>
            <p:cNvSpPr/>
            <p:nvPr/>
          </p:nvSpPr>
          <p:spPr>
            <a:xfrm>
              <a:off x="685800" y="5468178"/>
              <a:ext cx="7772400" cy="342072"/>
            </a:xfrm>
            <a:prstGeom prst="rect">
              <a:avLst/>
            </a:prstGeom>
            <a:noFill/>
            <a:ln>
              <a:noFill/>
            </a:ln>
          </p:spPr>
          <p:txBody>
            <a:bodyPr anchor="ctr">
              <a:normAutofit fontScale="47500" lnSpcReduction="20000"/>
            </a:bodyPr>
            <a:lstStyle/>
            <a:p>
              <a:pPr algn="ctr">
                <a:defRPr/>
              </a:pPr>
              <a:endParaRPr lang="en-US" sz="2400" dirty="0"/>
            </a:p>
          </p:txBody>
        </p:sp>
      </p:grpSp>
      <p:sp>
        <p:nvSpPr>
          <p:cNvPr id="22531" name="TextBox 5"/>
          <p:cNvSpPr txBox="1">
            <a:spLocks noChangeArrowheads="1"/>
          </p:cNvSpPr>
          <p:nvPr/>
        </p:nvSpPr>
        <p:spPr bwMode="auto">
          <a:xfrm>
            <a:off x="2057400" y="6019801"/>
            <a:ext cx="8077200" cy="30797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 xmlns="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xmlns="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>
              <a:spcBef>
                <a:spcPct val="20000"/>
              </a:spcBef>
              <a:buFont typeface="Arial" panose="020B0604020202020204" pitchFamily="34" charset="0"/>
              <a:buChar char="•"/>
              <a:defRPr sz="3200">
                <a:solidFill>
                  <a:schemeClr val="tx1"/>
                </a:solidFill>
                <a:latin typeface="Calibri" panose="020F0502020204030204" pitchFamily="34" charset="0"/>
              </a:defRPr>
            </a:lvl1pPr>
            <a:lvl2pPr marL="742950" indent="-285750">
              <a:spcBef>
                <a:spcPct val="20000"/>
              </a:spcBef>
              <a:buFont typeface="Arial" panose="020B0604020202020204" pitchFamily="34" charset="0"/>
              <a:buChar char="–"/>
              <a:defRPr sz="2800">
                <a:solidFill>
                  <a:schemeClr val="tx1"/>
                </a:solidFill>
                <a:latin typeface="Calibri" panose="020F0502020204030204" pitchFamily="34" charset="0"/>
              </a:defRPr>
            </a:lvl2pPr>
            <a:lvl3pPr marL="1143000" indent="-228600">
              <a:spcBef>
                <a:spcPct val="20000"/>
              </a:spcBef>
              <a:buFont typeface="Arial" panose="020B0604020202020204" pitchFamily="34" charset="0"/>
              <a:buChar char="•"/>
              <a:defRPr sz="2400">
                <a:solidFill>
                  <a:schemeClr val="tx1"/>
                </a:solidFill>
                <a:latin typeface="Calibri" panose="020F0502020204030204" pitchFamily="34" charset="0"/>
              </a:defRPr>
            </a:lvl3pPr>
            <a:lvl4pPr marL="1600200" indent="-228600">
              <a:spcBef>
                <a:spcPct val="20000"/>
              </a:spcBef>
              <a:buFont typeface="Arial" panose="020B0604020202020204" pitchFamily="34" charset="0"/>
              <a:buChar char="–"/>
              <a:defRPr sz="2000">
                <a:solidFill>
                  <a:schemeClr val="tx1"/>
                </a:solidFill>
                <a:latin typeface="Calibri" panose="020F0502020204030204" pitchFamily="34" charset="0"/>
              </a:defRPr>
            </a:lvl4pPr>
            <a:lvl5pPr marL="2057400" indent="-228600">
              <a:spcBef>
                <a:spcPct val="20000"/>
              </a:spcBef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Calibri" panose="020F0502020204030204" pitchFamily="34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Calibri" panose="020F0502020204030204" pitchFamily="34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Calibri" panose="020F0502020204030204" pitchFamily="34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Calibri" panose="020F0502020204030204" pitchFamily="34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Calibri" panose="020F0502020204030204" pitchFamily="34" charset="0"/>
              </a:defRPr>
            </a:lvl9pPr>
          </a:lstStyle>
          <a:p>
            <a:pPr algn="ctr" eaLnBrk="1" hangingPunct="1">
              <a:spcBef>
                <a:spcPct val="0"/>
              </a:spcBef>
              <a:buFontTx/>
              <a:buNone/>
            </a:pPr>
            <a:r>
              <a:rPr lang="en-US" altLang="en-US" sz="1400">
                <a:latin typeface="Arial" panose="020B0604020202020204" pitchFamily="34" charset="0"/>
              </a:rPr>
              <a:t>Figure 1-11 Signals In and Out of Phase</a:t>
            </a:r>
          </a:p>
        </p:txBody>
      </p:sp>
      <p:sp>
        <p:nvSpPr>
          <p:cNvPr id="22534" name="Rectangle 4"/>
          <p:cNvSpPr>
            <a:spLocks noChangeArrowheads="1"/>
          </p:cNvSpPr>
          <p:nvPr/>
        </p:nvSpPr>
        <p:spPr bwMode="auto">
          <a:xfrm>
            <a:off x="2051050" y="498475"/>
            <a:ext cx="4572000" cy="410882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 xmlns="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xmlns="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 marL="285750" indent="-285750">
              <a:spcBef>
                <a:spcPct val="20000"/>
              </a:spcBef>
              <a:buFont typeface="Arial" panose="020B0604020202020204" pitchFamily="34" charset="0"/>
              <a:buChar char="•"/>
              <a:defRPr sz="3200">
                <a:solidFill>
                  <a:schemeClr val="tx1"/>
                </a:solidFill>
                <a:latin typeface="Calibri" panose="020F0502020204030204" pitchFamily="34" charset="0"/>
              </a:defRPr>
            </a:lvl1pPr>
            <a:lvl2pPr marL="742950" indent="-285750">
              <a:spcBef>
                <a:spcPct val="20000"/>
              </a:spcBef>
              <a:buFont typeface="Arial" panose="020B0604020202020204" pitchFamily="34" charset="0"/>
              <a:buChar char="–"/>
              <a:defRPr sz="2800">
                <a:solidFill>
                  <a:schemeClr val="tx1"/>
                </a:solidFill>
                <a:latin typeface="Calibri" panose="020F0502020204030204" pitchFamily="34" charset="0"/>
              </a:defRPr>
            </a:lvl2pPr>
            <a:lvl3pPr marL="1143000" indent="-228600">
              <a:spcBef>
                <a:spcPct val="20000"/>
              </a:spcBef>
              <a:buFont typeface="Arial" panose="020B0604020202020204" pitchFamily="34" charset="0"/>
              <a:buChar char="•"/>
              <a:defRPr sz="2400">
                <a:solidFill>
                  <a:schemeClr val="tx1"/>
                </a:solidFill>
                <a:latin typeface="Calibri" panose="020F0502020204030204" pitchFamily="34" charset="0"/>
              </a:defRPr>
            </a:lvl3pPr>
            <a:lvl4pPr marL="1600200" indent="-228600">
              <a:spcBef>
                <a:spcPct val="20000"/>
              </a:spcBef>
              <a:buFont typeface="Arial" panose="020B0604020202020204" pitchFamily="34" charset="0"/>
              <a:buChar char="–"/>
              <a:defRPr sz="2000">
                <a:solidFill>
                  <a:schemeClr val="tx1"/>
                </a:solidFill>
                <a:latin typeface="Calibri" panose="020F0502020204030204" pitchFamily="34" charset="0"/>
              </a:defRPr>
            </a:lvl4pPr>
            <a:lvl5pPr marL="2057400" indent="-228600">
              <a:spcBef>
                <a:spcPct val="20000"/>
              </a:spcBef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Calibri" panose="020F0502020204030204" pitchFamily="34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Calibri" panose="020F0502020204030204" pitchFamily="34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Calibri" panose="020F0502020204030204" pitchFamily="34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Calibri" panose="020F0502020204030204" pitchFamily="34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Calibri" panose="020F0502020204030204" pitchFamily="34" charset="0"/>
              </a:defRPr>
            </a:lvl9pPr>
          </a:lstStyle>
          <a:p>
            <a:pPr eaLnBrk="1" hangingPunct="1">
              <a:lnSpc>
                <a:spcPct val="115000"/>
              </a:lnSpc>
              <a:spcBef>
                <a:spcPct val="0"/>
              </a:spcBef>
            </a:pPr>
            <a:r>
              <a:rPr lang="en-US" altLang="en-US" sz="1800" b="1"/>
              <a:t>1.4 Understanding Phase </a:t>
            </a:r>
            <a:endParaRPr lang="en-US" altLang="en-US" sz="2400" b="1"/>
          </a:p>
        </p:txBody>
      </p:sp>
      <p:sp>
        <p:nvSpPr>
          <p:cNvPr id="22535" name="Rectangle 5"/>
          <p:cNvSpPr>
            <a:spLocks noChangeArrowheads="1"/>
          </p:cNvSpPr>
          <p:nvPr/>
        </p:nvSpPr>
        <p:spPr bwMode="auto">
          <a:xfrm>
            <a:off x="1905000" y="1011238"/>
            <a:ext cx="7848600" cy="3683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 xmlns="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xmlns="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>
              <a:spcBef>
                <a:spcPct val="20000"/>
              </a:spcBef>
              <a:buFont typeface="Arial" panose="020B0604020202020204" pitchFamily="34" charset="0"/>
              <a:buChar char="•"/>
              <a:defRPr sz="3200">
                <a:solidFill>
                  <a:schemeClr val="tx1"/>
                </a:solidFill>
                <a:latin typeface="Calibri" panose="020F0502020204030204" pitchFamily="34" charset="0"/>
              </a:defRPr>
            </a:lvl1pPr>
            <a:lvl2pPr marL="742950" indent="-285750">
              <a:spcBef>
                <a:spcPct val="20000"/>
              </a:spcBef>
              <a:buFont typeface="Arial" panose="020B0604020202020204" pitchFamily="34" charset="0"/>
              <a:buChar char="–"/>
              <a:defRPr sz="2800">
                <a:solidFill>
                  <a:schemeClr val="tx1"/>
                </a:solidFill>
                <a:latin typeface="Calibri" panose="020F0502020204030204" pitchFamily="34" charset="0"/>
              </a:defRPr>
            </a:lvl2pPr>
            <a:lvl3pPr marL="1143000" indent="-228600">
              <a:spcBef>
                <a:spcPct val="20000"/>
              </a:spcBef>
              <a:buFont typeface="Arial" panose="020B0604020202020204" pitchFamily="34" charset="0"/>
              <a:buChar char="•"/>
              <a:defRPr sz="2400">
                <a:solidFill>
                  <a:schemeClr val="tx1"/>
                </a:solidFill>
                <a:latin typeface="Calibri" panose="020F0502020204030204" pitchFamily="34" charset="0"/>
              </a:defRPr>
            </a:lvl3pPr>
            <a:lvl4pPr marL="1600200" indent="-228600">
              <a:spcBef>
                <a:spcPct val="20000"/>
              </a:spcBef>
              <a:buFont typeface="Arial" panose="020B0604020202020204" pitchFamily="34" charset="0"/>
              <a:buChar char="–"/>
              <a:defRPr sz="2000">
                <a:solidFill>
                  <a:schemeClr val="tx1"/>
                </a:solidFill>
                <a:latin typeface="Calibri" panose="020F0502020204030204" pitchFamily="34" charset="0"/>
              </a:defRPr>
            </a:lvl4pPr>
            <a:lvl5pPr marL="2057400" indent="-228600">
              <a:spcBef>
                <a:spcPct val="20000"/>
              </a:spcBef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Calibri" panose="020F0502020204030204" pitchFamily="34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Calibri" panose="020F0502020204030204" pitchFamily="34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Calibri" panose="020F0502020204030204" pitchFamily="34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Calibri" panose="020F0502020204030204" pitchFamily="34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Calibri" panose="020F0502020204030204" pitchFamily="34" charset="0"/>
              </a:defRPr>
            </a:lvl9pPr>
          </a:lstStyle>
          <a:p>
            <a:pPr eaLnBrk="1" hangingPunct="1">
              <a:spcBef>
                <a:spcPct val="0"/>
              </a:spcBef>
              <a:buFontTx/>
              <a:buNone/>
            </a:pPr>
            <a:r>
              <a:rPr lang="en-US" altLang="en-US" sz="1800" b="1"/>
              <a:t>RF signals </a:t>
            </a:r>
            <a:r>
              <a:rPr lang="en-US" altLang="en-US" sz="1800"/>
              <a:t>are very dependent upon timing because they are </a:t>
            </a:r>
            <a:r>
              <a:rPr lang="en-US" altLang="en-US" sz="1800" u="sng"/>
              <a:t>always in motion</a:t>
            </a:r>
            <a:r>
              <a:rPr lang="en-US" altLang="en-US" sz="1800"/>
              <a:t>.</a:t>
            </a:r>
          </a:p>
        </p:txBody>
      </p:sp>
      <p:sp>
        <p:nvSpPr>
          <p:cNvPr id="22536" name="Rectangle 6"/>
          <p:cNvSpPr>
            <a:spLocks noChangeArrowheads="1"/>
          </p:cNvSpPr>
          <p:nvPr/>
        </p:nvSpPr>
        <p:spPr bwMode="auto">
          <a:xfrm>
            <a:off x="1905000" y="1489075"/>
            <a:ext cx="7391400" cy="369888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 xmlns="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xmlns="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>
              <a:spcBef>
                <a:spcPct val="20000"/>
              </a:spcBef>
              <a:buFont typeface="Arial" panose="020B0604020202020204" pitchFamily="34" charset="0"/>
              <a:buChar char="•"/>
              <a:defRPr sz="3200">
                <a:solidFill>
                  <a:schemeClr val="tx1"/>
                </a:solidFill>
                <a:latin typeface="Calibri" panose="020F0502020204030204" pitchFamily="34" charset="0"/>
              </a:defRPr>
            </a:lvl1pPr>
            <a:lvl2pPr marL="742950" indent="-285750">
              <a:spcBef>
                <a:spcPct val="20000"/>
              </a:spcBef>
              <a:buFont typeface="Arial" panose="020B0604020202020204" pitchFamily="34" charset="0"/>
              <a:buChar char="–"/>
              <a:defRPr sz="2800">
                <a:solidFill>
                  <a:schemeClr val="tx1"/>
                </a:solidFill>
                <a:latin typeface="Calibri" panose="020F0502020204030204" pitchFamily="34" charset="0"/>
              </a:defRPr>
            </a:lvl2pPr>
            <a:lvl3pPr marL="1143000" indent="-228600">
              <a:spcBef>
                <a:spcPct val="20000"/>
              </a:spcBef>
              <a:buFont typeface="Arial" panose="020B0604020202020204" pitchFamily="34" charset="0"/>
              <a:buChar char="•"/>
              <a:defRPr sz="2400">
                <a:solidFill>
                  <a:schemeClr val="tx1"/>
                </a:solidFill>
                <a:latin typeface="Calibri" panose="020F0502020204030204" pitchFamily="34" charset="0"/>
              </a:defRPr>
            </a:lvl3pPr>
            <a:lvl4pPr marL="1600200" indent="-228600">
              <a:spcBef>
                <a:spcPct val="20000"/>
              </a:spcBef>
              <a:buFont typeface="Arial" panose="020B0604020202020204" pitchFamily="34" charset="0"/>
              <a:buChar char="–"/>
              <a:defRPr sz="2000">
                <a:solidFill>
                  <a:schemeClr val="tx1"/>
                </a:solidFill>
                <a:latin typeface="Calibri" panose="020F0502020204030204" pitchFamily="34" charset="0"/>
              </a:defRPr>
            </a:lvl4pPr>
            <a:lvl5pPr marL="2057400" indent="-228600">
              <a:spcBef>
                <a:spcPct val="20000"/>
              </a:spcBef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Calibri" panose="020F0502020204030204" pitchFamily="34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Calibri" panose="020F0502020204030204" pitchFamily="34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Calibri" panose="020F0502020204030204" pitchFamily="34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Calibri" panose="020F0502020204030204" pitchFamily="34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Calibri" panose="020F0502020204030204" pitchFamily="34" charset="0"/>
              </a:defRPr>
            </a:lvl9pPr>
          </a:lstStyle>
          <a:p>
            <a:pPr eaLnBrk="1" hangingPunct="1">
              <a:spcBef>
                <a:spcPct val="0"/>
              </a:spcBef>
              <a:buFontTx/>
              <a:buNone/>
            </a:pPr>
            <a:r>
              <a:rPr lang="en-US" altLang="en-US" sz="1800" b="1"/>
              <a:t>the signals are made up of </a:t>
            </a:r>
            <a:r>
              <a:rPr lang="en-US" altLang="en-US" sz="1800" b="1" u="sng"/>
              <a:t>electrical and magnetic forces </a:t>
            </a:r>
            <a:r>
              <a:rPr lang="en-US" altLang="en-US" sz="1800"/>
              <a:t>that vary over time</a:t>
            </a:r>
          </a:p>
        </p:txBody>
      </p:sp>
      <p:sp>
        <p:nvSpPr>
          <p:cNvPr id="22537" name="Rectangle 7"/>
          <p:cNvSpPr>
            <a:spLocks noChangeArrowheads="1"/>
          </p:cNvSpPr>
          <p:nvPr/>
        </p:nvSpPr>
        <p:spPr bwMode="auto">
          <a:xfrm>
            <a:off x="7727950" y="2184400"/>
            <a:ext cx="2819400" cy="1754188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 xmlns="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xmlns="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>
              <a:spcBef>
                <a:spcPct val="20000"/>
              </a:spcBef>
              <a:buFont typeface="Arial" panose="020B0604020202020204" pitchFamily="34" charset="0"/>
              <a:buChar char="•"/>
              <a:defRPr sz="3200">
                <a:solidFill>
                  <a:schemeClr val="tx1"/>
                </a:solidFill>
                <a:latin typeface="Calibri" panose="020F0502020204030204" pitchFamily="34" charset="0"/>
              </a:defRPr>
            </a:lvl1pPr>
            <a:lvl2pPr marL="742950" indent="-285750">
              <a:spcBef>
                <a:spcPct val="20000"/>
              </a:spcBef>
              <a:buFont typeface="Arial" panose="020B0604020202020204" pitchFamily="34" charset="0"/>
              <a:buChar char="–"/>
              <a:defRPr sz="2800">
                <a:solidFill>
                  <a:schemeClr val="tx1"/>
                </a:solidFill>
                <a:latin typeface="Calibri" panose="020F0502020204030204" pitchFamily="34" charset="0"/>
              </a:defRPr>
            </a:lvl2pPr>
            <a:lvl3pPr marL="1143000" indent="-228600">
              <a:spcBef>
                <a:spcPct val="20000"/>
              </a:spcBef>
              <a:buFont typeface="Arial" panose="020B0604020202020204" pitchFamily="34" charset="0"/>
              <a:buChar char="•"/>
              <a:defRPr sz="2400">
                <a:solidFill>
                  <a:schemeClr val="tx1"/>
                </a:solidFill>
                <a:latin typeface="Calibri" panose="020F0502020204030204" pitchFamily="34" charset="0"/>
              </a:defRPr>
            </a:lvl3pPr>
            <a:lvl4pPr marL="1600200" indent="-228600">
              <a:spcBef>
                <a:spcPct val="20000"/>
              </a:spcBef>
              <a:buFont typeface="Arial" panose="020B0604020202020204" pitchFamily="34" charset="0"/>
              <a:buChar char="–"/>
              <a:defRPr sz="2000">
                <a:solidFill>
                  <a:schemeClr val="tx1"/>
                </a:solidFill>
                <a:latin typeface="Calibri" panose="020F0502020204030204" pitchFamily="34" charset="0"/>
              </a:defRPr>
            </a:lvl4pPr>
            <a:lvl5pPr marL="2057400" indent="-228600">
              <a:spcBef>
                <a:spcPct val="20000"/>
              </a:spcBef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Calibri" panose="020F0502020204030204" pitchFamily="34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Calibri" panose="020F0502020204030204" pitchFamily="34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Calibri" panose="020F0502020204030204" pitchFamily="34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Calibri" panose="020F0502020204030204" pitchFamily="34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Calibri" panose="020F0502020204030204" pitchFamily="34" charset="0"/>
              </a:defRPr>
            </a:lvl9pPr>
          </a:lstStyle>
          <a:p>
            <a:pPr eaLnBrk="1" hangingPunct="1">
              <a:spcBef>
                <a:spcPct val="0"/>
              </a:spcBef>
              <a:buFontTx/>
              <a:buNone/>
            </a:pPr>
            <a:r>
              <a:rPr lang="en-US" altLang="en-US" sz="1800"/>
              <a:t>When two identical signals are produced at exactly the same time, their cycles match up and they are said to be </a:t>
            </a:r>
            <a:r>
              <a:rPr lang="en-US" altLang="en-US" sz="1800" b="1"/>
              <a:t>in phase </a:t>
            </a:r>
            <a:r>
              <a:rPr lang="en-US" altLang="en-US" sz="1800"/>
              <a:t>with each other.</a:t>
            </a:r>
          </a:p>
        </p:txBody>
      </p:sp>
      <p:sp>
        <p:nvSpPr>
          <p:cNvPr id="22538" name="Rectangle 8"/>
          <p:cNvSpPr>
            <a:spLocks noChangeArrowheads="1"/>
          </p:cNvSpPr>
          <p:nvPr/>
        </p:nvSpPr>
        <p:spPr bwMode="auto">
          <a:xfrm>
            <a:off x="7786688" y="4470400"/>
            <a:ext cx="2424112" cy="120015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 xmlns="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xmlns="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>
              <a:spcBef>
                <a:spcPct val="20000"/>
              </a:spcBef>
              <a:buFont typeface="Arial" panose="020B0604020202020204" pitchFamily="34" charset="0"/>
              <a:buChar char="•"/>
              <a:defRPr sz="3200">
                <a:solidFill>
                  <a:schemeClr val="tx1"/>
                </a:solidFill>
                <a:latin typeface="Calibri" panose="020F0502020204030204" pitchFamily="34" charset="0"/>
              </a:defRPr>
            </a:lvl1pPr>
            <a:lvl2pPr marL="742950" indent="-285750">
              <a:spcBef>
                <a:spcPct val="20000"/>
              </a:spcBef>
              <a:buFont typeface="Arial" panose="020B0604020202020204" pitchFamily="34" charset="0"/>
              <a:buChar char="–"/>
              <a:defRPr sz="2800">
                <a:solidFill>
                  <a:schemeClr val="tx1"/>
                </a:solidFill>
                <a:latin typeface="Calibri" panose="020F0502020204030204" pitchFamily="34" charset="0"/>
              </a:defRPr>
            </a:lvl2pPr>
            <a:lvl3pPr marL="1143000" indent="-228600">
              <a:spcBef>
                <a:spcPct val="20000"/>
              </a:spcBef>
              <a:buFont typeface="Arial" panose="020B0604020202020204" pitchFamily="34" charset="0"/>
              <a:buChar char="•"/>
              <a:defRPr sz="2400">
                <a:solidFill>
                  <a:schemeClr val="tx1"/>
                </a:solidFill>
                <a:latin typeface="Calibri" panose="020F0502020204030204" pitchFamily="34" charset="0"/>
              </a:defRPr>
            </a:lvl3pPr>
            <a:lvl4pPr marL="1600200" indent="-228600">
              <a:spcBef>
                <a:spcPct val="20000"/>
              </a:spcBef>
              <a:buFont typeface="Arial" panose="020B0604020202020204" pitchFamily="34" charset="0"/>
              <a:buChar char="–"/>
              <a:defRPr sz="2000">
                <a:solidFill>
                  <a:schemeClr val="tx1"/>
                </a:solidFill>
                <a:latin typeface="Calibri" panose="020F0502020204030204" pitchFamily="34" charset="0"/>
              </a:defRPr>
            </a:lvl4pPr>
            <a:lvl5pPr marL="2057400" indent="-228600">
              <a:spcBef>
                <a:spcPct val="20000"/>
              </a:spcBef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Calibri" panose="020F0502020204030204" pitchFamily="34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Calibri" panose="020F0502020204030204" pitchFamily="34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Calibri" panose="020F0502020204030204" pitchFamily="34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Calibri" panose="020F0502020204030204" pitchFamily="34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Calibri" panose="020F0502020204030204" pitchFamily="34" charset="0"/>
              </a:defRPr>
            </a:lvl9pPr>
          </a:lstStyle>
          <a:p>
            <a:pPr eaLnBrk="1" hangingPunct="1">
              <a:spcBef>
                <a:spcPct val="0"/>
              </a:spcBef>
              <a:buFontTx/>
              <a:buNone/>
            </a:pPr>
            <a:r>
              <a:rPr lang="en-US" altLang="en-US" sz="1800"/>
              <a:t>If one signal is delayed from the other, the </a:t>
            </a:r>
          </a:p>
          <a:p>
            <a:pPr eaLnBrk="1" hangingPunct="1">
              <a:spcBef>
                <a:spcPct val="0"/>
              </a:spcBef>
              <a:buFontTx/>
              <a:buNone/>
            </a:pPr>
            <a:r>
              <a:rPr lang="en-US" altLang="en-US" sz="1800"/>
              <a:t>two signals are said to be </a:t>
            </a:r>
            <a:r>
              <a:rPr lang="en-US" altLang="en-US" sz="1800" b="1"/>
              <a:t>out of phase</a:t>
            </a:r>
          </a:p>
        </p:txBody>
      </p:sp>
    </p:spTree>
    <p:extLst>
      <p:ext uri="{BB962C8B-B14F-4D97-AF65-F5344CB8AC3E}">
        <p14:creationId xmlns:p14="http://schemas.microsoft.com/office/powerpoint/2010/main" xmlns="" val="2421612725"/>
      </p:ext>
    </p:extLst>
  </p:cSld>
  <p:clrMapOvr>
    <a:masterClrMapping/>
  </p:clrMapOvr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23554" name="Group 3"/>
          <p:cNvGrpSpPr>
            <a:grpSpLocks noGrp="1" noUngrp="1" noChangeAspect="1"/>
          </p:cNvGrpSpPr>
          <p:nvPr/>
        </p:nvGrpSpPr>
        <p:grpSpPr bwMode="auto">
          <a:xfrm>
            <a:off x="7315200" y="1706563"/>
            <a:ext cx="2667000" cy="4164012"/>
            <a:chOff x="2692400" y="685800"/>
            <a:chExt cx="3757613" cy="5867400"/>
          </a:xfrm>
        </p:grpSpPr>
        <p:pic>
          <p:nvPicPr>
            <p:cNvPr id="23563" name="Picture 1" descr="cw980112"/>
            <p:cNvPicPr>
              <a:picLocks noRot="1" noChangeAspect="1" noMove="1" noResize="1"/>
            </p:cNvPicPr>
            <p:nvPr isPhoto="1"/>
          </p:nvPicPr>
          <p:blipFill>
            <a:blip r:embed="rId2">
              <a:extLst>
                <a:ext uri="{28A0092B-C50C-407E-A947-70E740481C1C}">
                  <a14:useLocalDpi xmlns:a14="http://schemas.microsoft.com/office/drawing/2010/main" xmlns="" val="0"/>
                </a:ext>
              </a:extLst>
            </a:blip>
            <a:srcRect/>
            <a:stretch>
              <a:fillRect/>
            </a:stretch>
          </p:blipFill>
          <p:spPr bwMode="auto">
            <a:xfrm>
              <a:off x="2692400" y="685800"/>
              <a:ext cx="3757613" cy="5486400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 xmlns="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xmlns="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</p:pic>
        <p:sp>
          <p:nvSpPr>
            <p:cNvPr id="3" name="Rectangle 2"/>
            <p:cNvSpPr/>
            <p:nvPr/>
          </p:nvSpPr>
          <p:spPr>
            <a:xfrm>
              <a:off x="2692400" y="6210954"/>
              <a:ext cx="3757613" cy="342246"/>
            </a:xfrm>
            <a:prstGeom prst="rect">
              <a:avLst/>
            </a:prstGeom>
            <a:noFill/>
            <a:ln>
              <a:noFill/>
            </a:ln>
          </p:spPr>
          <p:txBody>
            <a:bodyPr anchor="ctr">
              <a:normAutofit fontScale="47500" lnSpcReduction="20000"/>
            </a:bodyPr>
            <a:lstStyle/>
            <a:p>
              <a:pPr algn="ctr">
                <a:defRPr/>
              </a:pPr>
              <a:endParaRPr lang="en-US" sz="2400" dirty="0"/>
            </a:p>
          </p:txBody>
        </p:sp>
      </p:grpSp>
      <p:sp>
        <p:nvSpPr>
          <p:cNvPr id="23555" name="TextBox 5"/>
          <p:cNvSpPr txBox="1">
            <a:spLocks noChangeArrowheads="1"/>
          </p:cNvSpPr>
          <p:nvPr/>
        </p:nvSpPr>
        <p:spPr bwMode="auto">
          <a:xfrm>
            <a:off x="2057400" y="6019801"/>
            <a:ext cx="8077200" cy="30797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 xmlns="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xmlns="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>
              <a:spcBef>
                <a:spcPct val="20000"/>
              </a:spcBef>
              <a:buFont typeface="Arial" panose="020B0604020202020204" pitchFamily="34" charset="0"/>
              <a:buChar char="•"/>
              <a:defRPr sz="3200">
                <a:solidFill>
                  <a:schemeClr val="tx1"/>
                </a:solidFill>
                <a:latin typeface="Calibri" panose="020F0502020204030204" pitchFamily="34" charset="0"/>
              </a:defRPr>
            </a:lvl1pPr>
            <a:lvl2pPr marL="742950" indent="-285750">
              <a:spcBef>
                <a:spcPct val="20000"/>
              </a:spcBef>
              <a:buFont typeface="Arial" panose="020B0604020202020204" pitchFamily="34" charset="0"/>
              <a:buChar char="–"/>
              <a:defRPr sz="2800">
                <a:solidFill>
                  <a:schemeClr val="tx1"/>
                </a:solidFill>
                <a:latin typeface="Calibri" panose="020F0502020204030204" pitchFamily="34" charset="0"/>
              </a:defRPr>
            </a:lvl2pPr>
            <a:lvl3pPr marL="1143000" indent="-228600">
              <a:spcBef>
                <a:spcPct val="20000"/>
              </a:spcBef>
              <a:buFont typeface="Arial" panose="020B0604020202020204" pitchFamily="34" charset="0"/>
              <a:buChar char="•"/>
              <a:defRPr sz="2400">
                <a:solidFill>
                  <a:schemeClr val="tx1"/>
                </a:solidFill>
                <a:latin typeface="Calibri" panose="020F0502020204030204" pitchFamily="34" charset="0"/>
              </a:defRPr>
            </a:lvl3pPr>
            <a:lvl4pPr marL="1600200" indent="-228600">
              <a:spcBef>
                <a:spcPct val="20000"/>
              </a:spcBef>
              <a:buFont typeface="Arial" panose="020B0604020202020204" pitchFamily="34" charset="0"/>
              <a:buChar char="–"/>
              <a:defRPr sz="2000">
                <a:solidFill>
                  <a:schemeClr val="tx1"/>
                </a:solidFill>
                <a:latin typeface="Calibri" panose="020F0502020204030204" pitchFamily="34" charset="0"/>
              </a:defRPr>
            </a:lvl4pPr>
            <a:lvl5pPr marL="2057400" indent="-228600">
              <a:spcBef>
                <a:spcPct val="20000"/>
              </a:spcBef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Calibri" panose="020F0502020204030204" pitchFamily="34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Calibri" panose="020F0502020204030204" pitchFamily="34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Calibri" panose="020F0502020204030204" pitchFamily="34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Calibri" panose="020F0502020204030204" pitchFamily="34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Calibri" panose="020F0502020204030204" pitchFamily="34" charset="0"/>
              </a:defRPr>
            </a:lvl9pPr>
          </a:lstStyle>
          <a:p>
            <a:pPr algn="ctr" eaLnBrk="1" hangingPunct="1">
              <a:spcBef>
                <a:spcPct val="0"/>
              </a:spcBef>
              <a:buFontTx/>
              <a:buNone/>
            </a:pPr>
            <a:r>
              <a:rPr lang="en-US" altLang="en-US" sz="1400">
                <a:latin typeface="Arial" panose="020B0604020202020204" pitchFamily="34" charset="0"/>
              </a:rPr>
              <a:t>Figure 1-12 Examples of Increasing Frequency and Decreasing Wavelength</a:t>
            </a:r>
          </a:p>
        </p:txBody>
      </p:sp>
      <p:sp>
        <p:nvSpPr>
          <p:cNvPr id="23558" name="Rectangle 4"/>
          <p:cNvSpPr>
            <a:spLocks noChangeArrowheads="1"/>
          </p:cNvSpPr>
          <p:nvPr/>
        </p:nvSpPr>
        <p:spPr bwMode="auto">
          <a:xfrm>
            <a:off x="1905000" y="257175"/>
            <a:ext cx="4572000" cy="410882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 xmlns="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xmlns="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 marL="285750" indent="-285750">
              <a:spcBef>
                <a:spcPct val="20000"/>
              </a:spcBef>
              <a:buFont typeface="Arial" panose="020B0604020202020204" pitchFamily="34" charset="0"/>
              <a:buChar char="•"/>
              <a:defRPr sz="3200">
                <a:solidFill>
                  <a:schemeClr val="tx1"/>
                </a:solidFill>
                <a:latin typeface="Calibri" panose="020F0502020204030204" pitchFamily="34" charset="0"/>
              </a:defRPr>
            </a:lvl1pPr>
            <a:lvl2pPr marL="742950" indent="-285750">
              <a:spcBef>
                <a:spcPct val="20000"/>
              </a:spcBef>
              <a:buFont typeface="Arial" panose="020B0604020202020204" pitchFamily="34" charset="0"/>
              <a:buChar char="–"/>
              <a:defRPr sz="2800">
                <a:solidFill>
                  <a:schemeClr val="tx1"/>
                </a:solidFill>
                <a:latin typeface="Calibri" panose="020F0502020204030204" pitchFamily="34" charset="0"/>
              </a:defRPr>
            </a:lvl2pPr>
            <a:lvl3pPr marL="1143000" indent="-228600">
              <a:spcBef>
                <a:spcPct val="20000"/>
              </a:spcBef>
              <a:buFont typeface="Arial" panose="020B0604020202020204" pitchFamily="34" charset="0"/>
              <a:buChar char="•"/>
              <a:defRPr sz="2400">
                <a:solidFill>
                  <a:schemeClr val="tx1"/>
                </a:solidFill>
                <a:latin typeface="Calibri" panose="020F0502020204030204" pitchFamily="34" charset="0"/>
              </a:defRPr>
            </a:lvl3pPr>
            <a:lvl4pPr marL="1600200" indent="-228600">
              <a:spcBef>
                <a:spcPct val="20000"/>
              </a:spcBef>
              <a:buFont typeface="Arial" panose="020B0604020202020204" pitchFamily="34" charset="0"/>
              <a:buChar char="–"/>
              <a:defRPr sz="2000">
                <a:solidFill>
                  <a:schemeClr val="tx1"/>
                </a:solidFill>
                <a:latin typeface="Calibri" panose="020F0502020204030204" pitchFamily="34" charset="0"/>
              </a:defRPr>
            </a:lvl4pPr>
            <a:lvl5pPr marL="2057400" indent="-228600">
              <a:spcBef>
                <a:spcPct val="20000"/>
              </a:spcBef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Calibri" panose="020F0502020204030204" pitchFamily="34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Calibri" panose="020F0502020204030204" pitchFamily="34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Calibri" panose="020F0502020204030204" pitchFamily="34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Calibri" panose="020F0502020204030204" pitchFamily="34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Calibri" panose="020F0502020204030204" pitchFamily="34" charset="0"/>
              </a:defRPr>
            </a:lvl9pPr>
          </a:lstStyle>
          <a:p>
            <a:pPr eaLnBrk="1" hangingPunct="1">
              <a:lnSpc>
                <a:spcPct val="115000"/>
              </a:lnSpc>
              <a:spcBef>
                <a:spcPct val="0"/>
              </a:spcBef>
            </a:pPr>
            <a:r>
              <a:rPr lang="en-US" altLang="en-US" sz="1800" b="1"/>
              <a:t>1.5 Measuring Wavelength </a:t>
            </a:r>
            <a:endParaRPr lang="en-US" altLang="en-US" sz="2400" b="1"/>
          </a:p>
        </p:txBody>
      </p:sp>
      <p:sp>
        <p:nvSpPr>
          <p:cNvPr id="23559" name="Rectangle 5"/>
          <p:cNvSpPr>
            <a:spLocks noChangeArrowheads="1"/>
          </p:cNvSpPr>
          <p:nvPr/>
        </p:nvSpPr>
        <p:spPr bwMode="auto">
          <a:xfrm>
            <a:off x="1870076" y="1060450"/>
            <a:ext cx="6511925" cy="3683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 xmlns="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xmlns="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>
              <a:spcBef>
                <a:spcPct val="20000"/>
              </a:spcBef>
              <a:buFont typeface="Arial" panose="020B0604020202020204" pitchFamily="34" charset="0"/>
              <a:buChar char="•"/>
              <a:defRPr sz="3200">
                <a:solidFill>
                  <a:schemeClr val="tx1"/>
                </a:solidFill>
                <a:latin typeface="Calibri" panose="020F0502020204030204" pitchFamily="34" charset="0"/>
              </a:defRPr>
            </a:lvl1pPr>
            <a:lvl2pPr marL="742950" indent="-285750">
              <a:spcBef>
                <a:spcPct val="20000"/>
              </a:spcBef>
              <a:buFont typeface="Arial" panose="020B0604020202020204" pitchFamily="34" charset="0"/>
              <a:buChar char="–"/>
              <a:defRPr sz="2800">
                <a:solidFill>
                  <a:schemeClr val="tx1"/>
                </a:solidFill>
                <a:latin typeface="Calibri" panose="020F0502020204030204" pitchFamily="34" charset="0"/>
              </a:defRPr>
            </a:lvl2pPr>
            <a:lvl3pPr marL="1143000" indent="-228600">
              <a:spcBef>
                <a:spcPct val="20000"/>
              </a:spcBef>
              <a:buFont typeface="Arial" panose="020B0604020202020204" pitchFamily="34" charset="0"/>
              <a:buChar char="•"/>
              <a:defRPr sz="2400">
                <a:solidFill>
                  <a:schemeClr val="tx1"/>
                </a:solidFill>
                <a:latin typeface="Calibri" panose="020F0502020204030204" pitchFamily="34" charset="0"/>
              </a:defRPr>
            </a:lvl3pPr>
            <a:lvl4pPr marL="1600200" indent="-228600">
              <a:spcBef>
                <a:spcPct val="20000"/>
              </a:spcBef>
              <a:buFont typeface="Arial" panose="020B0604020202020204" pitchFamily="34" charset="0"/>
              <a:buChar char="–"/>
              <a:defRPr sz="2000">
                <a:solidFill>
                  <a:schemeClr val="tx1"/>
                </a:solidFill>
                <a:latin typeface="Calibri" panose="020F0502020204030204" pitchFamily="34" charset="0"/>
              </a:defRPr>
            </a:lvl4pPr>
            <a:lvl5pPr marL="2057400" indent="-228600">
              <a:spcBef>
                <a:spcPct val="20000"/>
              </a:spcBef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Calibri" panose="020F0502020204030204" pitchFamily="34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Calibri" panose="020F0502020204030204" pitchFamily="34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Calibri" panose="020F0502020204030204" pitchFamily="34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Calibri" panose="020F0502020204030204" pitchFamily="34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Calibri" panose="020F0502020204030204" pitchFamily="34" charset="0"/>
              </a:defRPr>
            </a:lvl9pPr>
          </a:lstStyle>
          <a:p>
            <a:pPr eaLnBrk="1" hangingPunct="1">
              <a:spcBef>
                <a:spcPct val="0"/>
              </a:spcBef>
              <a:buFontTx/>
              <a:buNone/>
            </a:pPr>
            <a:r>
              <a:rPr lang="en-US" altLang="en-US" sz="1800" b="1"/>
              <a:t>RF signals</a:t>
            </a:r>
            <a:r>
              <a:rPr lang="en-US" altLang="en-US" sz="1800"/>
              <a:t> are usually described by their </a:t>
            </a:r>
            <a:r>
              <a:rPr lang="en-US" altLang="en-US" sz="1800" b="1"/>
              <a:t>frequency</a:t>
            </a:r>
            <a:r>
              <a:rPr lang="en-US" altLang="en-US" sz="1800"/>
              <a:t>;</a:t>
            </a:r>
          </a:p>
        </p:txBody>
      </p:sp>
      <p:sp>
        <p:nvSpPr>
          <p:cNvPr id="23560" name="Rectangle 6"/>
          <p:cNvSpPr>
            <a:spLocks noChangeArrowheads="1"/>
          </p:cNvSpPr>
          <p:nvPr/>
        </p:nvSpPr>
        <p:spPr bwMode="auto">
          <a:xfrm>
            <a:off x="1870076" y="1612901"/>
            <a:ext cx="5140325" cy="646113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 xmlns="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xmlns="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>
              <a:spcBef>
                <a:spcPct val="20000"/>
              </a:spcBef>
              <a:buFont typeface="Arial" panose="020B0604020202020204" pitchFamily="34" charset="0"/>
              <a:buChar char="•"/>
              <a:defRPr sz="3200">
                <a:solidFill>
                  <a:schemeClr val="tx1"/>
                </a:solidFill>
                <a:latin typeface="Calibri" panose="020F0502020204030204" pitchFamily="34" charset="0"/>
              </a:defRPr>
            </a:lvl1pPr>
            <a:lvl2pPr marL="742950" indent="-285750">
              <a:spcBef>
                <a:spcPct val="20000"/>
              </a:spcBef>
              <a:buFont typeface="Arial" panose="020B0604020202020204" pitchFamily="34" charset="0"/>
              <a:buChar char="–"/>
              <a:defRPr sz="2800">
                <a:solidFill>
                  <a:schemeClr val="tx1"/>
                </a:solidFill>
                <a:latin typeface="Calibri" panose="020F0502020204030204" pitchFamily="34" charset="0"/>
              </a:defRPr>
            </a:lvl2pPr>
            <a:lvl3pPr marL="1143000" indent="-228600">
              <a:spcBef>
                <a:spcPct val="20000"/>
              </a:spcBef>
              <a:buFont typeface="Arial" panose="020B0604020202020204" pitchFamily="34" charset="0"/>
              <a:buChar char="•"/>
              <a:defRPr sz="2400">
                <a:solidFill>
                  <a:schemeClr val="tx1"/>
                </a:solidFill>
                <a:latin typeface="Calibri" panose="020F0502020204030204" pitchFamily="34" charset="0"/>
              </a:defRPr>
            </a:lvl3pPr>
            <a:lvl4pPr marL="1600200" indent="-228600">
              <a:spcBef>
                <a:spcPct val="20000"/>
              </a:spcBef>
              <a:buFont typeface="Arial" panose="020B0604020202020204" pitchFamily="34" charset="0"/>
              <a:buChar char="–"/>
              <a:defRPr sz="2000">
                <a:solidFill>
                  <a:schemeClr val="tx1"/>
                </a:solidFill>
                <a:latin typeface="Calibri" panose="020F0502020204030204" pitchFamily="34" charset="0"/>
              </a:defRPr>
            </a:lvl4pPr>
            <a:lvl5pPr marL="2057400" indent="-228600">
              <a:spcBef>
                <a:spcPct val="20000"/>
              </a:spcBef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Calibri" panose="020F0502020204030204" pitchFamily="34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Calibri" panose="020F0502020204030204" pitchFamily="34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Calibri" panose="020F0502020204030204" pitchFamily="34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Calibri" panose="020F0502020204030204" pitchFamily="34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Calibri" panose="020F0502020204030204" pitchFamily="34" charset="0"/>
              </a:defRPr>
            </a:lvl9pPr>
          </a:lstStyle>
          <a:p>
            <a:pPr eaLnBrk="1" hangingPunct="1">
              <a:spcBef>
                <a:spcPct val="0"/>
              </a:spcBef>
              <a:buFontTx/>
              <a:buNone/>
            </a:pPr>
            <a:r>
              <a:rPr lang="en-US" altLang="en-US" sz="1800" b="1"/>
              <a:t>The wavelength </a:t>
            </a:r>
            <a:r>
              <a:rPr lang="en-US" altLang="en-US" sz="1800"/>
              <a:t>is a measure of the physical distance that a wave travels over one complete cycle</a:t>
            </a:r>
          </a:p>
        </p:txBody>
      </p:sp>
      <p:sp>
        <p:nvSpPr>
          <p:cNvPr id="23561" name="Rectangle 7"/>
          <p:cNvSpPr>
            <a:spLocks noChangeArrowheads="1"/>
          </p:cNvSpPr>
          <p:nvPr/>
        </p:nvSpPr>
        <p:spPr bwMode="auto">
          <a:xfrm>
            <a:off x="1916114" y="2473326"/>
            <a:ext cx="5170487" cy="646113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 xmlns="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xmlns="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>
              <a:spcBef>
                <a:spcPct val="20000"/>
              </a:spcBef>
              <a:buFont typeface="Arial" panose="020B0604020202020204" pitchFamily="34" charset="0"/>
              <a:buChar char="•"/>
              <a:defRPr sz="3200">
                <a:solidFill>
                  <a:schemeClr val="tx1"/>
                </a:solidFill>
                <a:latin typeface="Calibri" panose="020F0502020204030204" pitchFamily="34" charset="0"/>
              </a:defRPr>
            </a:lvl1pPr>
            <a:lvl2pPr marL="742950" indent="-285750">
              <a:spcBef>
                <a:spcPct val="20000"/>
              </a:spcBef>
              <a:buFont typeface="Arial" panose="020B0604020202020204" pitchFamily="34" charset="0"/>
              <a:buChar char="–"/>
              <a:defRPr sz="2800">
                <a:solidFill>
                  <a:schemeClr val="tx1"/>
                </a:solidFill>
                <a:latin typeface="Calibri" panose="020F0502020204030204" pitchFamily="34" charset="0"/>
              </a:defRPr>
            </a:lvl2pPr>
            <a:lvl3pPr marL="1143000" indent="-228600">
              <a:spcBef>
                <a:spcPct val="20000"/>
              </a:spcBef>
              <a:buFont typeface="Arial" panose="020B0604020202020204" pitchFamily="34" charset="0"/>
              <a:buChar char="•"/>
              <a:defRPr sz="2400">
                <a:solidFill>
                  <a:schemeClr val="tx1"/>
                </a:solidFill>
                <a:latin typeface="Calibri" panose="020F0502020204030204" pitchFamily="34" charset="0"/>
              </a:defRPr>
            </a:lvl3pPr>
            <a:lvl4pPr marL="1600200" indent="-228600">
              <a:spcBef>
                <a:spcPct val="20000"/>
              </a:spcBef>
              <a:buFont typeface="Arial" panose="020B0604020202020204" pitchFamily="34" charset="0"/>
              <a:buChar char="–"/>
              <a:defRPr sz="2000">
                <a:solidFill>
                  <a:schemeClr val="tx1"/>
                </a:solidFill>
                <a:latin typeface="Calibri" panose="020F0502020204030204" pitchFamily="34" charset="0"/>
              </a:defRPr>
            </a:lvl4pPr>
            <a:lvl5pPr marL="2057400" indent="-228600">
              <a:spcBef>
                <a:spcPct val="20000"/>
              </a:spcBef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Calibri" panose="020F0502020204030204" pitchFamily="34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Calibri" panose="020F0502020204030204" pitchFamily="34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Calibri" panose="020F0502020204030204" pitchFamily="34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Calibri" panose="020F0502020204030204" pitchFamily="34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Calibri" panose="020F0502020204030204" pitchFamily="34" charset="0"/>
              </a:defRPr>
            </a:lvl9pPr>
          </a:lstStyle>
          <a:p>
            <a:pPr eaLnBrk="1" hangingPunct="1">
              <a:spcBef>
                <a:spcPct val="0"/>
              </a:spcBef>
              <a:buFontTx/>
              <a:buNone/>
            </a:pPr>
            <a:r>
              <a:rPr lang="en-US" altLang="en-US" sz="1800"/>
              <a:t>Wavelength is usually designated by the Greek symbol lambda (</a:t>
            </a:r>
            <a:r>
              <a:rPr lang="en-US" altLang="en-US" sz="1800" b="1"/>
              <a:t>λ</a:t>
            </a:r>
            <a:r>
              <a:rPr lang="en-US" altLang="en-US" sz="1800"/>
              <a:t>).</a:t>
            </a:r>
          </a:p>
        </p:txBody>
      </p:sp>
      <p:sp>
        <p:nvSpPr>
          <p:cNvPr id="23562" name="Rectangle 8"/>
          <p:cNvSpPr>
            <a:spLocks noChangeArrowheads="1"/>
          </p:cNvSpPr>
          <p:nvPr/>
        </p:nvSpPr>
        <p:spPr bwMode="auto">
          <a:xfrm>
            <a:off x="1741489" y="3517901"/>
            <a:ext cx="5521325" cy="646113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 xmlns="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xmlns="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>
              <a:spcBef>
                <a:spcPct val="20000"/>
              </a:spcBef>
              <a:buFont typeface="Arial" panose="020B0604020202020204" pitchFamily="34" charset="0"/>
              <a:buChar char="•"/>
              <a:defRPr sz="3200">
                <a:solidFill>
                  <a:schemeClr val="tx1"/>
                </a:solidFill>
                <a:latin typeface="Calibri" panose="020F0502020204030204" pitchFamily="34" charset="0"/>
              </a:defRPr>
            </a:lvl1pPr>
            <a:lvl2pPr marL="742950" indent="-285750">
              <a:spcBef>
                <a:spcPct val="20000"/>
              </a:spcBef>
              <a:buFont typeface="Arial" panose="020B0604020202020204" pitchFamily="34" charset="0"/>
              <a:buChar char="–"/>
              <a:defRPr sz="2800">
                <a:solidFill>
                  <a:schemeClr val="tx1"/>
                </a:solidFill>
                <a:latin typeface="Calibri" panose="020F0502020204030204" pitchFamily="34" charset="0"/>
              </a:defRPr>
            </a:lvl2pPr>
            <a:lvl3pPr marL="1143000" indent="-228600">
              <a:spcBef>
                <a:spcPct val="20000"/>
              </a:spcBef>
              <a:buFont typeface="Arial" panose="020B0604020202020204" pitchFamily="34" charset="0"/>
              <a:buChar char="•"/>
              <a:defRPr sz="2400">
                <a:solidFill>
                  <a:schemeClr val="tx1"/>
                </a:solidFill>
                <a:latin typeface="Calibri" panose="020F0502020204030204" pitchFamily="34" charset="0"/>
              </a:defRPr>
            </a:lvl3pPr>
            <a:lvl4pPr marL="1600200" indent="-228600">
              <a:spcBef>
                <a:spcPct val="20000"/>
              </a:spcBef>
              <a:buFont typeface="Arial" panose="020B0604020202020204" pitchFamily="34" charset="0"/>
              <a:buChar char="–"/>
              <a:defRPr sz="2000">
                <a:solidFill>
                  <a:schemeClr val="tx1"/>
                </a:solidFill>
                <a:latin typeface="Calibri" panose="020F0502020204030204" pitchFamily="34" charset="0"/>
              </a:defRPr>
            </a:lvl4pPr>
            <a:lvl5pPr marL="2057400" indent="-228600">
              <a:spcBef>
                <a:spcPct val="20000"/>
              </a:spcBef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Calibri" panose="020F0502020204030204" pitchFamily="34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Calibri" panose="020F0502020204030204" pitchFamily="34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Calibri" panose="020F0502020204030204" pitchFamily="34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Calibri" panose="020F0502020204030204" pitchFamily="34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Calibri" panose="020F0502020204030204" pitchFamily="34" charset="0"/>
              </a:defRPr>
            </a:lvl9pPr>
          </a:lstStyle>
          <a:p>
            <a:pPr eaLnBrk="1" hangingPunct="1">
              <a:spcBef>
                <a:spcPct val="0"/>
              </a:spcBef>
              <a:buFontTx/>
              <a:buNone/>
            </a:pPr>
            <a:r>
              <a:rPr lang="en-US" altLang="en-US" sz="1800"/>
              <a:t>a </a:t>
            </a:r>
            <a:r>
              <a:rPr lang="en-US" altLang="en-US" sz="1800" b="1"/>
              <a:t>2.4-GHz signal </a:t>
            </a:r>
            <a:r>
              <a:rPr lang="en-US" altLang="en-US" sz="1800"/>
              <a:t>would have a wavelength of </a:t>
            </a:r>
            <a:r>
              <a:rPr lang="en-US" altLang="en-US" sz="1800" b="1"/>
              <a:t>4.92 inches</a:t>
            </a:r>
            <a:r>
              <a:rPr lang="en-US" altLang="en-US" sz="1800"/>
              <a:t>, </a:t>
            </a:r>
          </a:p>
          <a:p>
            <a:pPr eaLnBrk="1" hangingPunct="1">
              <a:spcBef>
                <a:spcPct val="0"/>
              </a:spcBef>
              <a:buFontTx/>
              <a:buNone/>
            </a:pPr>
            <a:r>
              <a:rPr lang="en-US" altLang="en-US" sz="1800"/>
              <a:t>while </a:t>
            </a:r>
            <a:r>
              <a:rPr lang="en-US" altLang="en-US" sz="1800" b="1"/>
              <a:t>a 5-GHz signal</a:t>
            </a:r>
            <a:r>
              <a:rPr lang="en-US" altLang="en-US" sz="1800"/>
              <a:t> would be </a:t>
            </a:r>
            <a:r>
              <a:rPr lang="en-US" altLang="en-US" sz="1800" b="1"/>
              <a:t>2.36 inches</a:t>
            </a:r>
            <a:r>
              <a:rPr lang="en-US" altLang="en-US" sz="1800"/>
              <a:t>.</a:t>
            </a:r>
          </a:p>
        </p:txBody>
      </p:sp>
    </p:spTree>
    <p:extLst>
      <p:ext uri="{BB962C8B-B14F-4D97-AF65-F5344CB8AC3E}">
        <p14:creationId xmlns:p14="http://schemas.microsoft.com/office/powerpoint/2010/main" xmlns="" val="292379217"/>
      </p:ext>
    </p:extLst>
  </p:cSld>
  <p:clrMapOvr>
    <a:masterClrMapping/>
  </p:clrMapOvr>
</p:sld>
</file>

<file path=ppt/slides/slide2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24578" name="Group 3"/>
          <p:cNvGrpSpPr>
            <a:grpSpLocks noGrp="1" noUngrp="1" noChangeAspect="1"/>
          </p:cNvGrpSpPr>
          <p:nvPr/>
        </p:nvGrpSpPr>
        <p:grpSpPr bwMode="auto">
          <a:xfrm>
            <a:off x="1922463" y="1820863"/>
            <a:ext cx="5791200" cy="1636712"/>
            <a:chOff x="685800" y="2520950"/>
            <a:chExt cx="7772400" cy="2197100"/>
          </a:xfrm>
        </p:grpSpPr>
        <p:pic>
          <p:nvPicPr>
            <p:cNvPr id="24586" name="Picture 1" descr="cw980113"/>
            <p:cNvPicPr>
              <a:picLocks noRot="1" noChangeAspect="1" noMove="1" noResize="1"/>
            </p:cNvPicPr>
            <p:nvPr isPhoto="1"/>
          </p:nvPicPr>
          <p:blipFill>
            <a:blip r:embed="rId2">
              <a:extLst>
                <a:ext uri="{28A0092B-C50C-407E-A947-70E740481C1C}">
                  <a14:useLocalDpi xmlns:a14="http://schemas.microsoft.com/office/drawing/2010/main" xmlns="" val="0"/>
                </a:ext>
              </a:extLst>
            </a:blip>
            <a:srcRect/>
            <a:stretch>
              <a:fillRect/>
            </a:stretch>
          </p:blipFill>
          <p:spPr bwMode="auto">
            <a:xfrm>
              <a:off x="685800" y="2520950"/>
              <a:ext cx="7772400" cy="1816100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 xmlns="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xmlns="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</p:pic>
        <p:sp>
          <p:nvSpPr>
            <p:cNvPr id="3" name="Rectangle 2"/>
            <p:cNvSpPr/>
            <p:nvPr/>
          </p:nvSpPr>
          <p:spPr>
            <a:xfrm>
              <a:off x="685800" y="4374953"/>
              <a:ext cx="7772400" cy="343097"/>
            </a:xfrm>
            <a:prstGeom prst="rect">
              <a:avLst/>
            </a:prstGeom>
            <a:noFill/>
            <a:ln>
              <a:noFill/>
            </a:ln>
          </p:spPr>
          <p:txBody>
            <a:bodyPr anchor="ctr">
              <a:normAutofit fontScale="55000" lnSpcReduction="20000"/>
            </a:bodyPr>
            <a:lstStyle/>
            <a:p>
              <a:pPr algn="ctr">
                <a:defRPr/>
              </a:pPr>
              <a:endParaRPr lang="en-US" sz="2400" dirty="0"/>
            </a:p>
          </p:txBody>
        </p:sp>
      </p:grpSp>
      <p:sp>
        <p:nvSpPr>
          <p:cNvPr id="24579" name="TextBox 5"/>
          <p:cNvSpPr txBox="1">
            <a:spLocks noChangeArrowheads="1"/>
          </p:cNvSpPr>
          <p:nvPr/>
        </p:nvSpPr>
        <p:spPr bwMode="auto">
          <a:xfrm>
            <a:off x="3810000" y="3522664"/>
            <a:ext cx="2895600" cy="30797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 xmlns="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xmlns="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>
              <a:spcBef>
                <a:spcPct val="20000"/>
              </a:spcBef>
              <a:buFont typeface="Arial" panose="020B0604020202020204" pitchFamily="34" charset="0"/>
              <a:buChar char="•"/>
              <a:defRPr sz="3200">
                <a:solidFill>
                  <a:schemeClr val="tx1"/>
                </a:solidFill>
                <a:latin typeface="Calibri" panose="020F0502020204030204" pitchFamily="34" charset="0"/>
              </a:defRPr>
            </a:lvl1pPr>
            <a:lvl2pPr marL="742950" indent="-285750">
              <a:spcBef>
                <a:spcPct val="20000"/>
              </a:spcBef>
              <a:buFont typeface="Arial" panose="020B0604020202020204" pitchFamily="34" charset="0"/>
              <a:buChar char="–"/>
              <a:defRPr sz="2800">
                <a:solidFill>
                  <a:schemeClr val="tx1"/>
                </a:solidFill>
                <a:latin typeface="Calibri" panose="020F0502020204030204" pitchFamily="34" charset="0"/>
              </a:defRPr>
            </a:lvl2pPr>
            <a:lvl3pPr marL="1143000" indent="-228600">
              <a:spcBef>
                <a:spcPct val="20000"/>
              </a:spcBef>
              <a:buFont typeface="Arial" panose="020B0604020202020204" pitchFamily="34" charset="0"/>
              <a:buChar char="•"/>
              <a:defRPr sz="2400">
                <a:solidFill>
                  <a:schemeClr val="tx1"/>
                </a:solidFill>
                <a:latin typeface="Calibri" panose="020F0502020204030204" pitchFamily="34" charset="0"/>
              </a:defRPr>
            </a:lvl3pPr>
            <a:lvl4pPr marL="1600200" indent="-228600">
              <a:spcBef>
                <a:spcPct val="20000"/>
              </a:spcBef>
              <a:buFont typeface="Arial" panose="020B0604020202020204" pitchFamily="34" charset="0"/>
              <a:buChar char="–"/>
              <a:defRPr sz="2000">
                <a:solidFill>
                  <a:schemeClr val="tx1"/>
                </a:solidFill>
                <a:latin typeface="Calibri" panose="020F0502020204030204" pitchFamily="34" charset="0"/>
              </a:defRPr>
            </a:lvl4pPr>
            <a:lvl5pPr marL="2057400" indent="-228600">
              <a:spcBef>
                <a:spcPct val="20000"/>
              </a:spcBef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Calibri" panose="020F0502020204030204" pitchFamily="34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Calibri" panose="020F0502020204030204" pitchFamily="34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Calibri" panose="020F0502020204030204" pitchFamily="34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Calibri" panose="020F0502020204030204" pitchFamily="34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Calibri" panose="020F0502020204030204" pitchFamily="34" charset="0"/>
              </a:defRPr>
            </a:lvl9pPr>
          </a:lstStyle>
          <a:p>
            <a:pPr algn="ctr" eaLnBrk="1" hangingPunct="1">
              <a:spcBef>
                <a:spcPct val="0"/>
              </a:spcBef>
              <a:buFontTx/>
              <a:buNone/>
            </a:pPr>
            <a:r>
              <a:rPr lang="en-US" altLang="en-US" sz="1400">
                <a:latin typeface="Arial" panose="020B0604020202020204" pitchFamily="34" charset="0"/>
              </a:rPr>
              <a:t>Figure 1-13 Signal Amplitude</a:t>
            </a:r>
          </a:p>
        </p:txBody>
      </p:sp>
      <p:sp>
        <p:nvSpPr>
          <p:cNvPr id="24582" name="Rectangle 4"/>
          <p:cNvSpPr>
            <a:spLocks noChangeArrowheads="1"/>
          </p:cNvSpPr>
          <p:nvPr/>
        </p:nvSpPr>
        <p:spPr bwMode="auto">
          <a:xfrm>
            <a:off x="1905000" y="228600"/>
            <a:ext cx="4572000" cy="410882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 xmlns="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xmlns="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 marL="285750" indent="-285750">
              <a:spcBef>
                <a:spcPct val="20000"/>
              </a:spcBef>
              <a:buFont typeface="Arial" panose="020B0604020202020204" pitchFamily="34" charset="0"/>
              <a:buChar char="•"/>
              <a:defRPr sz="3200">
                <a:solidFill>
                  <a:schemeClr val="tx1"/>
                </a:solidFill>
                <a:latin typeface="Calibri" panose="020F0502020204030204" pitchFamily="34" charset="0"/>
              </a:defRPr>
            </a:lvl1pPr>
            <a:lvl2pPr marL="742950" indent="-285750">
              <a:spcBef>
                <a:spcPct val="20000"/>
              </a:spcBef>
              <a:buFont typeface="Arial" panose="020B0604020202020204" pitchFamily="34" charset="0"/>
              <a:buChar char="–"/>
              <a:defRPr sz="2800">
                <a:solidFill>
                  <a:schemeClr val="tx1"/>
                </a:solidFill>
                <a:latin typeface="Calibri" panose="020F0502020204030204" pitchFamily="34" charset="0"/>
              </a:defRPr>
            </a:lvl2pPr>
            <a:lvl3pPr marL="1143000" indent="-228600">
              <a:spcBef>
                <a:spcPct val="20000"/>
              </a:spcBef>
              <a:buFont typeface="Arial" panose="020B0604020202020204" pitchFamily="34" charset="0"/>
              <a:buChar char="•"/>
              <a:defRPr sz="2400">
                <a:solidFill>
                  <a:schemeClr val="tx1"/>
                </a:solidFill>
                <a:latin typeface="Calibri" panose="020F0502020204030204" pitchFamily="34" charset="0"/>
              </a:defRPr>
            </a:lvl3pPr>
            <a:lvl4pPr marL="1600200" indent="-228600">
              <a:spcBef>
                <a:spcPct val="20000"/>
              </a:spcBef>
              <a:buFont typeface="Arial" panose="020B0604020202020204" pitchFamily="34" charset="0"/>
              <a:buChar char="–"/>
              <a:defRPr sz="2000">
                <a:solidFill>
                  <a:schemeClr val="tx1"/>
                </a:solidFill>
                <a:latin typeface="Calibri" panose="020F0502020204030204" pitchFamily="34" charset="0"/>
              </a:defRPr>
            </a:lvl4pPr>
            <a:lvl5pPr marL="2057400" indent="-228600">
              <a:spcBef>
                <a:spcPct val="20000"/>
              </a:spcBef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Calibri" panose="020F0502020204030204" pitchFamily="34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Calibri" panose="020F0502020204030204" pitchFamily="34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Calibri" panose="020F0502020204030204" pitchFamily="34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Calibri" panose="020F0502020204030204" pitchFamily="34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Calibri" panose="020F0502020204030204" pitchFamily="34" charset="0"/>
              </a:defRPr>
            </a:lvl9pPr>
          </a:lstStyle>
          <a:p>
            <a:pPr eaLnBrk="1" hangingPunct="1">
              <a:lnSpc>
                <a:spcPct val="115000"/>
              </a:lnSpc>
              <a:spcBef>
                <a:spcPct val="0"/>
              </a:spcBef>
            </a:pPr>
            <a:r>
              <a:rPr lang="en-US" altLang="en-US" sz="1800" b="1"/>
              <a:t>1.6 Understanding RF Power and dB </a:t>
            </a:r>
            <a:endParaRPr lang="en-US" altLang="en-US" sz="2400" b="1"/>
          </a:p>
        </p:txBody>
      </p:sp>
      <p:sp>
        <p:nvSpPr>
          <p:cNvPr id="24583" name="Rectangle 5"/>
          <p:cNvSpPr>
            <a:spLocks noChangeArrowheads="1"/>
          </p:cNvSpPr>
          <p:nvPr/>
        </p:nvSpPr>
        <p:spPr bwMode="auto">
          <a:xfrm>
            <a:off x="1905000" y="850901"/>
            <a:ext cx="8305800" cy="646113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 xmlns="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xmlns="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>
              <a:spcBef>
                <a:spcPct val="20000"/>
              </a:spcBef>
              <a:buFont typeface="Arial" panose="020B0604020202020204" pitchFamily="34" charset="0"/>
              <a:buChar char="•"/>
              <a:defRPr sz="3200">
                <a:solidFill>
                  <a:schemeClr val="tx1"/>
                </a:solidFill>
                <a:latin typeface="Calibri" panose="020F0502020204030204" pitchFamily="34" charset="0"/>
              </a:defRPr>
            </a:lvl1pPr>
            <a:lvl2pPr marL="742950" indent="-285750">
              <a:spcBef>
                <a:spcPct val="20000"/>
              </a:spcBef>
              <a:buFont typeface="Arial" panose="020B0604020202020204" pitchFamily="34" charset="0"/>
              <a:buChar char="–"/>
              <a:defRPr sz="2800">
                <a:solidFill>
                  <a:schemeClr val="tx1"/>
                </a:solidFill>
                <a:latin typeface="Calibri" panose="020F0502020204030204" pitchFamily="34" charset="0"/>
              </a:defRPr>
            </a:lvl2pPr>
            <a:lvl3pPr marL="1143000" indent="-228600">
              <a:spcBef>
                <a:spcPct val="20000"/>
              </a:spcBef>
              <a:buFont typeface="Arial" panose="020B0604020202020204" pitchFamily="34" charset="0"/>
              <a:buChar char="•"/>
              <a:defRPr sz="2400">
                <a:solidFill>
                  <a:schemeClr val="tx1"/>
                </a:solidFill>
                <a:latin typeface="Calibri" panose="020F0502020204030204" pitchFamily="34" charset="0"/>
              </a:defRPr>
            </a:lvl3pPr>
            <a:lvl4pPr marL="1600200" indent="-228600">
              <a:spcBef>
                <a:spcPct val="20000"/>
              </a:spcBef>
              <a:buFont typeface="Arial" panose="020B0604020202020204" pitchFamily="34" charset="0"/>
              <a:buChar char="–"/>
              <a:defRPr sz="2000">
                <a:solidFill>
                  <a:schemeClr val="tx1"/>
                </a:solidFill>
                <a:latin typeface="Calibri" panose="020F0502020204030204" pitchFamily="34" charset="0"/>
              </a:defRPr>
            </a:lvl4pPr>
            <a:lvl5pPr marL="2057400" indent="-228600">
              <a:spcBef>
                <a:spcPct val="20000"/>
              </a:spcBef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Calibri" panose="020F0502020204030204" pitchFamily="34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Calibri" panose="020F0502020204030204" pitchFamily="34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Calibri" panose="020F0502020204030204" pitchFamily="34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Calibri" panose="020F0502020204030204" pitchFamily="34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Calibri" panose="020F0502020204030204" pitchFamily="34" charset="0"/>
              </a:defRPr>
            </a:lvl9pPr>
          </a:lstStyle>
          <a:p>
            <a:pPr eaLnBrk="1" hangingPunct="1">
              <a:spcBef>
                <a:spcPct val="0"/>
              </a:spcBef>
              <a:buFontTx/>
              <a:buNone/>
            </a:pPr>
            <a:r>
              <a:rPr lang="en-US" altLang="en-US" sz="1800" b="1"/>
              <a:t>This strength </a:t>
            </a:r>
            <a:r>
              <a:rPr lang="en-US" altLang="en-US" sz="1800"/>
              <a:t>can be measured as the </a:t>
            </a:r>
            <a:r>
              <a:rPr lang="en-US" altLang="en-US" sz="1800" b="1"/>
              <a:t>amplitude</a:t>
            </a:r>
            <a:r>
              <a:rPr lang="en-US" altLang="en-US" sz="1800"/>
              <a:t>, or the </a:t>
            </a:r>
            <a:r>
              <a:rPr lang="en-US" altLang="en-US" sz="1800" u="sng"/>
              <a:t>height from the top peak to the bottom peak of the signal’s waveform</a:t>
            </a:r>
            <a:r>
              <a:rPr lang="en-US" altLang="en-US" sz="1800"/>
              <a:t>, as shown in Figure 1-13.</a:t>
            </a:r>
          </a:p>
        </p:txBody>
      </p:sp>
      <p:sp>
        <p:nvSpPr>
          <p:cNvPr id="24584" name="Rectangle 6"/>
          <p:cNvSpPr>
            <a:spLocks noChangeArrowheads="1"/>
          </p:cNvSpPr>
          <p:nvPr/>
        </p:nvSpPr>
        <p:spPr bwMode="auto">
          <a:xfrm>
            <a:off x="1790700" y="3975100"/>
            <a:ext cx="8534400" cy="1201738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 xmlns="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xmlns="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>
              <a:spcBef>
                <a:spcPct val="20000"/>
              </a:spcBef>
              <a:buFont typeface="Arial" panose="020B0604020202020204" pitchFamily="34" charset="0"/>
              <a:buChar char="•"/>
              <a:defRPr sz="3200">
                <a:solidFill>
                  <a:schemeClr val="tx1"/>
                </a:solidFill>
                <a:latin typeface="Calibri" panose="020F0502020204030204" pitchFamily="34" charset="0"/>
              </a:defRPr>
            </a:lvl1pPr>
            <a:lvl2pPr marL="742950" indent="-285750">
              <a:spcBef>
                <a:spcPct val="20000"/>
              </a:spcBef>
              <a:buFont typeface="Arial" panose="020B0604020202020204" pitchFamily="34" charset="0"/>
              <a:buChar char="–"/>
              <a:defRPr sz="2800">
                <a:solidFill>
                  <a:schemeClr val="tx1"/>
                </a:solidFill>
                <a:latin typeface="Calibri" panose="020F0502020204030204" pitchFamily="34" charset="0"/>
              </a:defRPr>
            </a:lvl2pPr>
            <a:lvl3pPr marL="1143000" indent="-228600">
              <a:spcBef>
                <a:spcPct val="20000"/>
              </a:spcBef>
              <a:buFont typeface="Arial" panose="020B0604020202020204" pitchFamily="34" charset="0"/>
              <a:buChar char="•"/>
              <a:defRPr sz="2400">
                <a:solidFill>
                  <a:schemeClr val="tx1"/>
                </a:solidFill>
                <a:latin typeface="Calibri" panose="020F0502020204030204" pitchFamily="34" charset="0"/>
              </a:defRPr>
            </a:lvl3pPr>
            <a:lvl4pPr marL="1600200" indent="-228600">
              <a:spcBef>
                <a:spcPct val="20000"/>
              </a:spcBef>
              <a:buFont typeface="Arial" panose="020B0604020202020204" pitchFamily="34" charset="0"/>
              <a:buChar char="–"/>
              <a:defRPr sz="2000">
                <a:solidFill>
                  <a:schemeClr val="tx1"/>
                </a:solidFill>
                <a:latin typeface="Calibri" panose="020F0502020204030204" pitchFamily="34" charset="0"/>
              </a:defRPr>
            </a:lvl4pPr>
            <a:lvl5pPr marL="2057400" indent="-228600">
              <a:spcBef>
                <a:spcPct val="20000"/>
              </a:spcBef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Calibri" panose="020F0502020204030204" pitchFamily="34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Calibri" panose="020F0502020204030204" pitchFamily="34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Calibri" panose="020F0502020204030204" pitchFamily="34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Calibri" panose="020F0502020204030204" pitchFamily="34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Calibri" panose="020F0502020204030204" pitchFamily="34" charset="0"/>
              </a:defRPr>
            </a:lvl9pPr>
          </a:lstStyle>
          <a:p>
            <a:pPr eaLnBrk="1" hangingPunct="1">
              <a:spcBef>
                <a:spcPct val="0"/>
              </a:spcBef>
              <a:buFontTx/>
              <a:buNone/>
            </a:pPr>
            <a:r>
              <a:rPr lang="en-US" altLang="en-US" sz="1800" b="1" dirty="0"/>
              <a:t>The strength of an RF signal is usually measured by its power</a:t>
            </a:r>
            <a:r>
              <a:rPr lang="en-US" altLang="en-US" sz="1800" dirty="0"/>
              <a:t>, </a:t>
            </a:r>
            <a:r>
              <a:rPr lang="en-US" altLang="en-US" sz="1800" b="1" u="sng" dirty="0"/>
              <a:t>in watts (W). </a:t>
            </a:r>
            <a:r>
              <a:rPr lang="en-US" altLang="en-US" sz="1800" dirty="0"/>
              <a:t>For example, a typical </a:t>
            </a:r>
            <a:r>
              <a:rPr lang="en-US" altLang="en-US" sz="1800" b="1" dirty="0"/>
              <a:t>AM radio </a:t>
            </a:r>
            <a:r>
              <a:rPr lang="en-US" altLang="en-US" sz="1800" dirty="0"/>
              <a:t>station broadcasts at a power of </a:t>
            </a:r>
            <a:r>
              <a:rPr lang="en-US" altLang="en-US" sz="1800" b="1" dirty="0"/>
              <a:t>50,000 W</a:t>
            </a:r>
            <a:r>
              <a:rPr lang="en-US" altLang="en-US" sz="1800" dirty="0"/>
              <a:t>; an </a:t>
            </a:r>
            <a:r>
              <a:rPr lang="en-US" altLang="en-US" sz="1800" b="1" dirty="0"/>
              <a:t>FM radio </a:t>
            </a:r>
            <a:r>
              <a:rPr lang="en-US" altLang="en-US" sz="1800" dirty="0"/>
              <a:t>station might </a:t>
            </a:r>
            <a:r>
              <a:rPr lang="en-US" altLang="en-US" sz="1800"/>
              <a:t>use </a:t>
            </a:r>
            <a:r>
              <a:rPr lang="en-US" altLang="en-US" sz="1800" b="1"/>
              <a:t>100,000 </a:t>
            </a:r>
            <a:r>
              <a:rPr lang="en-US" altLang="en-US" sz="1800" b="1" dirty="0"/>
              <a:t>W</a:t>
            </a:r>
            <a:r>
              <a:rPr lang="en-US" altLang="en-US" sz="1800" dirty="0"/>
              <a:t>. In comparison, a </a:t>
            </a:r>
            <a:r>
              <a:rPr lang="en-US" altLang="en-US" sz="1800" b="1" dirty="0"/>
              <a:t>wireless LAN transmitter </a:t>
            </a:r>
            <a:r>
              <a:rPr lang="en-US" altLang="en-US" sz="1800" dirty="0"/>
              <a:t>usually has a signal strength between </a:t>
            </a:r>
            <a:r>
              <a:rPr lang="en-US" altLang="en-US" sz="1800" b="1" dirty="0"/>
              <a:t>0.1 W (100 </a:t>
            </a:r>
            <a:r>
              <a:rPr lang="en-US" altLang="en-US" sz="1800" b="1" dirty="0" err="1"/>
              <a:t>mW</a:t>
            </a:r>
            <a:r>
              <a:rPr lang="en-US" altLang="en-US" sz="1800" b="1" dirty="0"/>
              <a:t>) </a:t>
            </a:r>
            <a:r>
              <a:rPr lang="en-US" altLang="en-US" sz="1800" dirty="0"/>
              <a:t>and </a:t>
            </a:r>
            <a:r>
              <a:rPr lang="en-US" altLang="en-US" sz="1800" b="1" dirty="0"/>
              <a:t>0.001 W (1 </a:t>
            </a:r>
            <a:r>
              <a:rPr lang="en-US" altLang="en-US" sz="1800" b="1" dirty="0" err="1"/>
              <a:t>mW</a:t>
            </a:r>
            <a:r>
              <a:rPr lang="en-US" altLang="en-US" sz="1800" b="1" dirty="0"/>
              <a:t>).</a:t>
            </a:r>
          </a:p>
        </p:txBody>
      </p:sp>
      <p:sp>
        <p:nvSpPr>
          <p:cNvPr id="24585" name="Rectangle 7"/>
          <p:cNvSpPr>
            <a:spLocks noChangeArrowheads="1"/>
          </p:cNvSpPr>
          <p:nvPr/>
        </p:nvSpPr>
        <p:spPr bwMode="auto">
          <a:xfrm>
            <a:off x="1676400" y="5226051"/>
            <a:ext cx="8648700" cy="646113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 xmlns="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xmlns="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>
              <a:spcBef>
                <a:spcPct val="20000"/>
              </a:spcBef>
              <a:buFont typeface="Arial" panose="020B0604020202020204" pitchFamily="34" charset="0"/>
              <a:buChar char="•"/>
              <a:defRPr sz="3200">
                <a:solidFill>
                  <a:schemeClr val="tx1"/>
                </a:solidFill>
                <a:latin typeface="Calibri" panose="020F0502020204030204" pitchFamily="34" charset="0"/>
              </a:defRPr>
            </a:lvl1pPr>
            <a:lvl2pPr marL="742950" indent="-285750">
              <a:spcBef>
                <a:spcPct val="20000"/>
              </a:spcBef>
              <a:buFont typeface="Arial" panose="020B0604020202020204" pitchFamily="34" charset="0"/>
              <a:buChar char="–"/>
              <a:defRPr sz="2800">
                <a:solidFill>
                  <a:schemeClr val="tx1"/>
                </a:solidFill>
                <a:latin typeface="Calibri" panose="020F0502020204030204" pitchFamily="34" charset="0"/>
              </a:defRPr>
            </a:lvl2pPr>
            <a:lvl3pPr marL="1143000" indent="-228600">
              <a:spcBef>
                <a:spcPct val="20000"/>
              </a:spcBef>
              <a:buFont typeface="Arial" panose="020B0604020202020204" pitchFamily="34" charset="0"/>
              <a:buChar char="•"/>
              <a:defRPr sz="2400">
                <a:solidFill>
                  <a:schemeClr val="tx1"/>
                </a:solidFill>
                <a:latin typeface="Calibri" panose="020F0502020204030204" pitchFamily="34" charset="0"/>
              </a:defRPr>
            </a:lvl3pPr>
            <a:lvl4pPr marL="1600200" indent="-228600">
              <a:spcBef>
                <a:spcPct val="20000"/>
              </a:spcBef>
              <a:buFont typeface="Arial" panose="020B0604020202020204" pitchFamily="34" charset="0"/>
              <a:buChar char="–"/>
              <a:defRPr sz="2000">
                <a:solidFill>
                  <a:schemeClr val="tx1"/>
                </a:solidFill>
                <a:latin typeface="Calibri" panose="020F0502020204030204" pitchFamily="34" charset="0"/>
              </a:defRPr>
            </a:lvl4pPr>
            <a:lvl5pPr marL="2057400" indent="-228600">
              <a:spcBef>
                <a:spcPct val="20000"/>
              </a:spcBef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Calibri" panose="020F0502020204030204" pitchFamily="34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Calibri" panose="020F0502020204030204" pitchFamily="34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Calibri" panose="020F0502020204030204" pitchFamily="34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Calibri" panose="020F0502020204030204" pitchFamily="34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Calibri" panose="020F0502020204030204" pitchFamily="34" charset="0"/>
              </a:defRPr>
            </a:lvl9pPr>
          </a:lstStyle>
          <a:p>
            <a:pPr eaLnBrk="1" hangingPunct="1">
              <a:spcBef>
                <a:spcPct val="0"/>
              </a:spcBef>
              <a:buFontTx/>
              <a:buNone/>
            </a:pPr>
            <a:r>
              <a:rPr lang="en-US" altLang="en-US" sz="1800"/>
              <a:t>When </a:t>
            </a:r>
            <a:r>
              <a:rPr lang="en-US" altLang="en-US" sz="1800" u="sng"/>
              <a:t>power is measured </a:t>
            </a:r>
            <a:r>
              <a:rPr lang="en-US" altLang="en-US" sz="1800" b="1"/>
              <a:t>in watts </a:t>
            </a:r>
            <a:r>
              <a:rPr lang="en-US" altLang="en-US" sz="1800"/>
              <a:t>or </a:t>
            </a:r>
            <a:r>
              <a:rPr lang="en-US" altLang="en-US" sz="1800" b="1"/>
              <a:t>milliwatts</a:t>
            </a:r>
            <a:r>
              <a:rPr lang="en-US" altLang="en-US" sz="1800"/>
              <a:t>, it is considered to be an </a:t>
            </a:r>
            <a:r>
              <a:rPr lang="en-US" altLang="en-US" sz="1800" b="1"/>
              <a:t>absolute power </a:t>
            </a:r>
          </a:p>
          <a:p>
            <a:pPr eaLnBrk="1" hangingPunct="1">
              <a:spcBef>
                <a:spcPct val="0"/>
              </a:spcBef>
              <a:buFontTx/>
              <a:buNone/>
            </a:pPr>
            <a:r>
              <a:rPr lang="en-US" altLang="en-US" sz="1800" b="1"/>
              <a:t>measurement.</a:t>
            </a:r>
          </a:p>
        </p:txBody>
      </p:sp>
    </p:spTree>
    <p:extLst>
      <p:ext uri="{BB962C8B-B14F-4D97-AF65-F5344CB8AC3E}">
        <p14:creationId xmlns:p14="http://schemas.microsoft.com/office/powerpoint/2010/main" xmlns="" val="1983110926"/>
      </p:ext>
    </p:extLst>
  </p:cSld>
  <p:clrMapOvr>
    <a:masterClrMapping/>
  </p:clrMapOvr>
</p:sld>
</file>

<file path=ppt/slides/slide2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6322" name="Rectangle 2"/>
          <p:cNvSpPr>
            <a:spLocks noGrp="1" noChangeArrowheads="1"/>
          </p:cNvSpPr>
          <p:nvPr>
            <p:ph type="title"/>
          </p:nvPr>
        </p:nvSpPr>
        <p:spPr/>
        <p:txBody>
          <a:bodyPr/>
          <a:lstStyle/>
          <a:p>
            <a:pPr>
              <a:defRPr/>
            </a:pPr>
            <a:r>
              <a:rPr lang="en-US" dirty="0" smtClean="0"/>
              <a:t>Frequency, Spectrum and Bandwidth</a:t>
            </a:r>
          </a:p>
        </p:txBody>
      </p:sp>
      <p:sp>
        <p:nvSpPr>
          <p:cNvPr id="19" name="Text Placeholder 18"/>
          <p:cNvSpPr>
            <a:spLocks noGrp="1"/>
          </p:cNvSpPr>
          <p:nvPr>
            <p:ph type="body" idx="1"/>
          </p:nvPr>
        </p:nvSpPr>
        <p:spPr>
          <a:xfrm>
            <a:off x="406400" y="1524001"/>
            <a:ext cx="5386917" cy="639763"/>
          </a:xfrm>
        </p:spPr>
        <p:txBody>
          <a:bodyPr/>
          <a:lstStyle/>
          <a:p>
            <a:pPr>
              <a:defRPr/>
            </a:pPr>
            <a:r>
              <a:rPr lang="en-US" dirty="0" smtClean="0"/>
              <a:t>   </a:t>
            </a:r>
          </a:p>
        </p:txBody>
      </p:sp>
      <p:sp>
        <p:nvSpPr>
          <p:cNvPr id="56323" name="Rectangle 3"/>
          <p:cNvSpPr>
            <a:spLocks noGrp="1" noChangeArrowheads="1"/>
          </p:cNvSpPr>
          <p:nvPr>
            <p:ph sz="half" idx="2"/>
          </p:nvPr>
        </p:nvSpPr>
        <p:spPr>
          <a:xfrm>
            <a:off x="1422400" y="2362200"/>
            <a:ext cx="9245600" cy="4038600"/>
          </a:xfrm>
          <a:ln>
            <a:solidFill>
              <a:schemeClr val="tx2"/>
            </a:solidFill>
          </a:ln>
        </p:spPr>
        <p:txBody>
          <a:bodyPr/>
          <a:lstStyle/>
          <a:p>
            <a:pPr lvl="1">
              <a:buSzPct val="100000"/>
              <a:buFont typeface="Wingdings" charset="2"/>
              <a:buChar char="Ø"/>
              <a:defRPr/>
            </a:pPr>
            <a:endParaRPr lang="en-US" b="1" dirty="0" smtClean="0"/>
          </a:p>
          <a:p>
            <a:pPr lvl="1">
              <a:buSzPct val="100000"/>
              <a:buFont typeface="Wingdings" charset="2"/>
              <a:buChar char="Ø"/>
              <a:defRPr/>
            </a:pPr>
            <a:r>
              <a:rPr lang="en-US" sz="2100" b="1" dirty="0" smtClean="0"/>
              <a:t>analog signal</a:t>
            </a:r>
          </a:p>
          <a:p>
            <a:pPr lvl="2">
              <a:buClr>
                <a:schemeClr val="tx2"/>
              </a:buClr>
              <a:buFont typeface="Arial"/>
              <a:buChar char="•"/>
              <a:defRPr/>
            </a:pPr>
            <a:r>
              <a:rPr lang="en-US" sz="2100" dirty="0" smtClean="0"/>
              <a:t>signal intensity varies smoothly with no breaks</a:t>
            </a:r>
          </a:p>
          <a:p>
            <a:pPr lvl="1">
              <a:buSzPct val="100000"/>
              <a:buFont typeface="Wingdings" charset="2"/>
              <a:buChar char="Ø"/>
              <a:defRPr/>
            </a:pPr>
            <a:r>
              <a:rPr lang="en-US" sz="2100" b="1" dirty="0" smtClean="0"/>
              <a:t>digital signal</a:t>
            </a:r>
          </a:p>
          <a:p>
            <a:pPr lvl="2">
              <a:buClr>
                <a:schemeClr val="tx2"/>
              </a:buClr>
              <a:buFont typeface="Arial"/>
              <a:buChar char="•"/>
              <a:defRPr/>
            </a:pPr>
            <a:r>
              <a:rPr lang="en-US" sz="2100" dirty="0" smtClean="0"/>
              <a:t>signal intensity maintains a constant level and then abruptly changes to another level</a:t>
            </a:r>
          </a:p>
          <a:p>
            <a:pPr lvl="1">
              <a:buSzPct val="100000"/>
              <a:buFont typeface="Wingdings" charset="2"/>
              <a:buChar char="Ø"/>
              <a:defRPr/>
            </a:pPr>
            <a:r>
              <a:rPr lang="en-US" sz="2100" b="1" dirty="0" smtClean="0"/>
              <a:t>periodic signal</a:t>
            </a:r>
          </a:p>
          <a:p>
            <a:pPr lvl="2">
              <a:buClr>
                <a:schemeClr val="tx2"/>
              </a:buClr>
              <a:defRPr/>
            </a:pPr>
            <a:r>
              <a:rPr lang="en-US" sz="2100" dirty="0" smtClean="0"/>
              <a:t>signal pattern repeats over time</a:t>
            </a:r>
          </a:p>
          <a:p>
            <a:pPr lvl="1">
              <a:buSzPct val="100000"/>
              <a:buFont typeface="Wingdings" charset="2"/>
              <a:buChar char="Ø"/>
              <a:defRPr/>
            </a:pPr>
            <a:r>
              <a:rPr lang="en-US" sz="2100" b="1" dirty="0" smtClean="0"/>
              <a:t>aperiodic signal</a:t>
            </a:r>
          </a:p>
          <a:p>
            <a:pPr lvl="2">
              <a:buClr>
                <a:schemeClr val="tx2"/>
              </a:buClr>
              <a:defRPr/>
            </a:pPr>
            <a:r>
              <a:rPr lang="en-US" sz="2100" dirty="0" smtClean="0"/>
              <a:t>pattern not repeated over time</a:t>
            </a:r>
          </a:p>
        </p:txBody>
      </p:sp>
      <p:sp>
        <p:nvSpPr>
          <p:cNvPr id="22" name="Text Placeholder 21"/>
          <p:cNvSpPr>
            <a:spLocks noGrp="1"/>
          </p:cNvSpPr>
          <p:nvPr>
            <p:ph type="body" sz="quarter" idx="3"/>
          </p:nvPr>
        </p:nvSpPr>
        <p:spPr>
          <a:xfrm>
            <a:off x="3556001" y="1676401"/>
            <a:ext cx="5389033" cy="639763"/>
          </a:xfrm>
        </p:spPr>
        <p:txBody>
          <a:bodyPr/>
          <a:lstStyle/>
          <a:p>
            <a:pPr>
              <a:defRPr/>
            </a:pPr>
            <a:r>
              <a:rPr lang="en-US" sz="2600" dirty="0" smtClean="0"/>
              <a:t>Time Domain Concepts</a:t>
            </a:r>
          </a:p>
        </p:txBody>
      </p:sp>
    </p:spTree>
  </p:cSld>
  <p:clrMapOvr>
    <a:masterClrMapping/>
  </p:clrMapOvr>
  <p:transition/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6" presetClass="emph" presetSubtype="0" fill="hold" nodeType="afterEffect">
                                  <p:stCondLst>
                                    <p:cond delay="500"/>
                                  </p:stCondLst>
                                  <p:iterate type="lt">
                                    <p:tmPct val="4000"/>
                                  </p:iterate>
                                  <p:childTnLst>
                                    <p:set>
                                      <p:cBhvr override="childStyle">
                                        <p:cTn id="6" dur="500" fill="hold"/>
                                        <p:tgtEl>
                                          <p:spTgt spid="5632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style.color</p:attrName>
                                        </p:attrNameLst>
                                      </p:cBhvr>
                                      <p:to>
                                        <p:clrVal>
                                          <a:srgbClr val="FFFF00"/>
                                        </p:clrVal>
                                      </p:to>
                                    </p:set>
                                    <p:set>
                                      <p:cBhvr>
                                        <p:cTn id="7" dur="500" fill="hold"/>
                                        <p:tgtEl>
                                          <p:spTgt spid="5632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fillcolor</p:attrName>
                                        </p:attrNameLst>
                                      </p:cBhvr>
                                      <p:to>
                                        <p:clrVal>
                                          <a:srgbClr val="FFFF00"/>
                                        </p:clrVal>
                                      </p:to>
                                    </p:set>
                                    <p:set>
                                      <p:cBhvr>
                                        <p:cTn id="8" dur="500" fill="hold"/>
                                        <p:tgtEl>
                                          <p:spTgt spid="5632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fill.type</p:attrName>
                                        </p:attrNameLst>
                                      </p:cBhvr>
                                      <p:to>
                                        <p:strVal val="solid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9" fill="hold">
                            <p:stCondLst>
                              <p:cond delay="1220"/>
                            </p:stCondLst>
                            <p:childTnLst>
                              <p:par>
                                <p:cTn id="10" presetID="16" presetClass="emph" presetSubtype="0" fill="hold" nodeType="afterEffect">
                                  <p:stCondLst>
                                    <p:cond delay="500"/>
                                  </p:stCondLst>
                                  <p:iterate type="lt">
                                    <p:tmPct val="4000"/>
                                  </p:iterate>
                                  <p:childTnLst>
                                    <p:set>
                                      <p:cBhvr override="childStyle">
                                        <p:cTn id="11" dur="500" fill="hold"/>
                                        <p:tgtEl>
                                          <p:spTgt spid="56323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style.color</p:attrName>
                                        </p:attrNameLst>
                                      </p:cBhvr>
                                      <p:to>
                                        <p:clrVal>
                                          <a:srgbClr val="FFFF00"/>
                                        </p:clrVal>
                                      </p:to>
                                    </p:set>
                                    <p:set>
                                      <p:cBhvr>
                                        <p:cTn id="12" dur="500" fill="hold"/>
                                        <p:tgtEl>
                                          <p:spTgt spid="56323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fillcolor</p:attrName>
                                        </p:attrNameLst>
                                      </p:cBhvr>
                                      <p:to>
                                        <p:clrVal>
                                          <a:srgbClr val="FFFF00"/>
                                        </p:clrVal>
                                      </p:to>
                                    </p:set>
                                    <p:set>
                                      <p:cBhvr>
                                        <p:cTn id="13" dur="500" fill="hold"/>
                                        <p:tgtEl>
                                          <p:spTgt spid="56323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fill.type</p:attrName>
                                        </p:attrNameLst>
                                      </p:cBhvr>
                                      <p:to>
                                        <p:strVal val="solid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4" fill="hold">
                            <p:stCondLst>
                              <p:cond delay="2460"/>
                            </p:stCondLst>
                            <p:childTnLst>
                              <p:par>
                                <p:cTn id="15" presetID="16" presetClass="emph" presetSubtype="0" fill="hold" nodeType="afterEffect">
                                  <p:stCondLst>
                                    <p:cond delay="500"/>
                                  </p:stCondLst>
                                  <p:iterate type="lt">
                                    <p:tmPct val="4000"/>
                                  </p:iterate>
                                  <p:childTnLst>
                                    <p:set>
                                      <p:cBhvr override="childStyle">
                                        <p:cTn id="16" dur="500" fill="hold"/>
                                        <p:tgtEl>
                                          <p:spTgt spid="56323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style.color</p:attrName>
                                        </p:attrNameLst>
                                      </p:cBhvr>
                                      <p:to>
                                        <p:clrVal>
                                          <a:srgbClr val="FFFF00"/>
                                        </p:clrVal>
                                      </p:to>
                                    </p:set>
                                    <p:set>
                                      <p:cBhvr>
                                        <p:cTn id="17" dur="500" fill="hold"/>
                                        <p:tgtEl>
                                          <p:spTgt spid="56323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fillcolor</p:attrName>
                                        </p:attrNameLst>
                                      </p:cBhvr>
                                      <p:to>
                                        <p:clrVal>
                                          <a:srgbClr val="FFFF00"/>
                                        </p:clrVal>
                                      </p:to>
                                    </p:set>
                                    <p:set>
                                      <p:cBhvr>
                                        <p:cTn id="18" dur="500" fill="hold"/>
                                        <p:tgtEl>
                                          <p:spTgt spid="56323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fill.type</p:attrName>
                                        </p:attrNameLst>
                                      </p:cBhvr>
                                      <p:to>
                                        <p:strVal val="solid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9" fill="hold">
                            <p:stCondLst>
                              <p:cond delay="3720"/>
                            </p:stCondLst>
                            <p:childTnLst>
                              <p:par>
                                <p:cTn id="20" presetID="16" presetClass="emph" presetSubtype="0" fill="hold" nodeType="afterEffect">
                                  <p:stCondLst>
                                    <p:cond delay="500"/>
                                  </p:stCondLst>
                                  <p:iterate type="lt">
                                    <p:tmPct val="4000"/>
                                  </p:iterate>
                                  <p:childTnLst>
                                    <p:set>
                                      <p:cBhvr override="childStyle">
                                        <p:cTn id="21" dur="500" fill="hold"/>
                                        <p:tgtEl>
                                          <p:spTgt spid="56323">
                                            <p:txEl>
                                              <p:pRg st="7" end="7"/>
                                            </p:txEl>
                                          </p:spTgt>
                                        </p:tgtEl>
                                        <p:attrNameLst>
                                          <p:attrName>style.color</p:attrName>
                                        </p:attrNameLst>
                                      </p:cBhvr>
                                      <p:to>
                                        <p:clrVal>
                                          <a:srgbClr val="FFFF00"/>
                                        </p:clrVal>
                                      </p:to>
                                    </p:set>
                                    <p:set>
                                      <p:cBhvr>
                                        <p:cTn id="22" dur="500" fill="hold"/>
                                        <p:tgtEl>
                                          <p:spTgt spid="56323">
                                            <p:txEl>
                                              <p:pRg st="7" end="7"/>
                                            </p:txEl>
                                          </p:spTgt>
                                        </p:tgtEl>
                                        <p:attrNameLst>
                                          <p:attrName>fillcolor</p:attrName>
                                        </p:attrNameLst>
                                      </p:cBhvr>
                                      <p:to>
                                        <p:clrVal>
                                          <a:srgbClr val="FFFF00"/>
                                        </p:clrVal>
                                      </p:to>
                                    </p:set>
                                    <p:set>
                                      <p:cBhvr>
                                        <p:cTn id="23" dur="500" fill="hold"/>
                                        <p:tgtEl>
                                          <p:spTgt spid="56323">
                                            <p:txEl>
                                              <p:pRg st="7" end="7"/>
                                            </p:txEl>
                                          </p:spTgt>
                                        </p:tgtEl>
                                        <p:attrNameLst>
                                          <p:attrName>fill.type</p:attrName>
                                        </p:attrNameLst>
                                      </p:cBhvr>
                                      <p:to>
                                        <p:strVal val="solid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2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7346" name="Rectangle 2"/>
          <p:cNvSpPr>
            <a:spLocks noGrp="1" noChangeArrowheads="1"/>
          </p:cNvSpPr>
          <p:nvPr>
            <p:ph type="title"/>
          </p:nvPr>
        </p:nvSpPr>
        <p:spPr/>
        <p:txBody>
          <a:bodyPr/>
          <a:lstStyle/>
          <a:p>
            <a:pPr eaLnBrk="1" hangingPunct="1">
              <a:defRPr/>
            </a:pPr>
            <a:r>
              <a:rPr kumimoji="1" lang="en-US" dirty="0" smtClean="0"/>
              <a:t>Analog and Digital Signals</a:t>
            </a:r>
          </a:p>
        </p:txBody>
      </p:sp>
      <p:pic>
        <p:nvPicPr>
          <p:cNvPr id="28675" name="Picture 5"/>
          <p:cNvPicPr preferRelativeResize="0">
            <a:picLocks noChangeAspect="1" noChangeArrowheads="1"/>
          </p:cNvPicPr>
          <p:nvPr/>
        </p:nvPicPr>
        <p:blipFill>
          <a:blip r:embed="rId3">
            <a:lum contrast="14000"/>
          </a:blip>
          <a:srcRect b="10942"/>
          <a:stretch>
            <a:fillRect/>
          </a:stretch>
        </p:blipFill>
        <p:spPr bwMode="auto">
          <a:xfrm>
            <a:off x="1016000" y="1371600"/>
            <a:ext cx="9956800" cy="5394325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</p:pic>
    </p:spTree>
  </p:cSld>
  <p:clrMapOvr>
    <a:masterClrMapping/>
  </p:clrMapOvr>
  <p:transition spd="slow">
    <p:zoom dir="in"/>
  </p:transition>
  <p:timing>
    <p:tnLst>
      <p:par>
        <p:cTn id="1" dur="indefinite" restart="never" nodeType="tmRoot"/>
      </p:par>
    </p:tnLst>
  </p:timing>
</p:sld>
</file>

<file path=ppt/slides/slide2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8370" name="Rectangle 2"/>
          <p:cNvSpPr>
            <a:spLocks noGrp="1" noChangeArrowheads="1"/>
          </p:cNvSpPr>
          <p:nvPr>
            <p:ph type="title"/>
          </p:nvPr>
        </p:nvSpPr>
        <p:spPr>
          <a:xfrm>
            <a:off x="304800" y="2057400"/>
            <a:ext cx="4673600" cy="1981200"/>
          </a:xfrm>
        </p:spPr>
        <p:txBody>
          <a:bodyPr/>
          <a:lstStyle/>
          <a:p>
            <a:pPr eaLnBrk="1" hangingPunct="1">
              <a:defRPr/>
            </a:pPr>
            <a:r>
              <a:rPr kumimoji="1" lang="en-US" dirty="0">
                <a:ea typeface="+mj-ea"/>
                <a:cs typeface="+mj-cs"/>
              </a:rPr>
              <a:t>Periodic</a:t>
            </a:r>
            <a:br>
              <a:rPr kumimoji="1" lang="en-US" dirty="0">
                <a:ea typeface="+mj-ea"/>
                <a:cs typeface="+mj-cs"/>
              </a:rPr>
            </a:br>
            <a:r>
              <a:rPr kumimoji="1" lang="en-US" dirty="0">
                <a:ea typeface="+mj-ea"/>
                <a:cs typeface="+mj-cs"/>
              </a:rPr>
              <a:t>Signals</a:t>
            </a:r>
          </a:p>
        </p:txBody>
      </p:sp>
      <p:pic>
        <p:nvPicPr>
          <p:cNvPr id="30723" name="Picture 4"/>
          <p:cNvPicPr preferRelativeResize="0">
            <a:picLocks noChangeAspect="1" noChangeArrowheads="1"/>
          </p:cNvPicPr>
          <p:nvPr/>
        </p:nvPicPr>
        <p:blipFill>
          <a:blip r:embed="rId3"/>
          <a:srcRect b="9688"/>
          <a:stretch>
            <a:fillRect/>
          </a:stretch>
        </p:blipFill>
        <p:spPr bwMode="auto">
          <a:xfrm>
            <a:off x="5181601" y="228600"/>
            <a:ext cx="6457951" cy="61722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</p:pic>
    </p:spTree>
  </p:cSld>
  <p:clrMapOvr>
    <a:masterClrMapping/>
  </p:clrMapOvr>
  <p:transition spd="slow">
    <p:zoom dir="in"/>
  </p:transition>
  <p:timing>
    <p:tnLst>
      <p:par>
        <p:cTn id="1" dur="indefinite" restart="never" nodeType="tmRoot"/>
      </p:par>
    </p:tnLst>
  </p:timing>
</p:sld>
</file>

<file path=ppt/slides/slide2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9394" name="Rectangle 2"/>
          <p:cNvSpPr>
            <a:spLocks noGrp="1" noChangeArrowheads="1"/>
          </p:cNvSpPr>
          <p:nvPr>
            <p:ph type="title"/>
          </p:nvPr>
        </p:nvSpPr>
        <p:spPr/>
        <p:txBody>
          <a:bodyPr/>
          <a:lstStyle/>
          <a:p>
            <a:pPr eaLnBrk="1" hangingPunct="1">
              <a:defRPr/>
            </a:pPr>
            <a:r>
              <a:rPr kumimoji="1" lang="en-US" dirty="0">
                <a:ea typeface="+mj-ea"/>
                <a:cs typeface="+mj-cs"/>
              </a:rPr>
              <a:t>Sine Wave</a:t>
            </a:r>
          </a:p>
        </p:txBody>
      </p:sp>
      <p:sp>
        <p:nvSpPr>
          <p:cNvPr id="59395" name="Rectangle 3"/>
          <p:cNvSpPr>
            <a:spLocks noGrp="1" noChangeArrowheads="1"/>
          </p:cNvSpPr>
          <p:nvPr>
            <p:ph type="body" idx="1"/>
          </p:nvPr>
        </p:nvSpPr>
        <p:spPr>
          <a:xfrm>
            <a:off x="609600" y="1905001"/>
            <a:ext cx="10972800" cy="4454525"/>
          </a:xfrm>
        </p:spPr>
        <p:txBody>
          <a:bodyPr/>
          <a:lstStyle/>
          <a:p>
            <a:pPr eaLnBrk="1" hangingPunct="1">
              <a:lnSpc>
                <a:spcPct val="90000"/>
              </a:lnSpc>
              <a:defRPr/>
            </a:pPr>
            <a:r>
              <a:rPr kumimoji="1" lang="en-US" sz="2800" b="1" dirty="0" smtClean="0"/>
              <a:t>peak amplitude (A)</a:t>
            </a:r>
          </a:p>
          <a:p>
            <a:pPr lvl="1" eaLnBrk="1" hangingPunct="1">
              <a:lnSpc>
                <a:spcPct val="90000"/>
              </a:lnSpc>
              <a:defRPr/>
            </a:pPr>
            <a:r>
              <a:rPr kumimoji="1" lang="en-US" sz="2400" dirty="0" smtClean="0"/>
              <a:t>maximum strength of signal</a:t>
            </a:r>
          </a:p>
          <a:p>
            <a:pPr lvl="1" eaLnBrk="1" hangingPunct="1">
              <a:lnSpc>
                <a:spcPct val="90000"/>
              </a:lnSpc>
              <a:defRPr/>
            </a:pPr>
            <a:r>
              <a:rPr kumimoji="1" lang="en-US" sz="2400" dirty="0" smtClean="0"/>
              <a:t>typically measured in volts</a:t>
            </a:r>
          </a:p>
          <a:p>
            <a:pPr eaLnBrk="1" hangingPunct="1">
              <a:lnSpc>
                <a:spcPct val="90000"/>
              </a:lnSpc>
              <a:defRPr/>
            </a:pPr>
            <a:r>
              <a:rPr kumimoji="1" lang="en-US" sz="2800" b="1" dirty="0" smtClean="0"/>
              <a:t>frequency (f)</a:t>
            </a:r>
          </a:p>
          <a:p>
            <a:pPr lvl="1" eaLnBrk="1" hangingPunct="1">
              <a:lnSpc>
                <a:spcPct val="90000"/>
              </a:lnSpc>
              <a:defRPr/>
            </a:pPr>
            <a:r>
              <a:rPr kumimoji="1" lang="en-US" sz="2400" dirty="0" smtClean="0"/>
              <a:t>rate at which the signal repeats</a:t>
            </a:r>
          </a:p>
          <a:p>
            <a:pPr lvl="1" eaLnBrk="1" hangingPunct="1">
              <a:lnSpc>
                <a:spcPct val="90000"/>
              </a:lnSpc>
              <a:defRPr/>
            </a:pPr>
            <a:r>
              <a:rPr kumimoji="1" lang="en-US" sz="2400" dirty="0" smtClean="0"/>
              <a:t>Hertz (Hz) or cycles per second</a:t>
            </a:r>
          </a:p>
          <a:p>
            <a:pPr lvl="1" eaLnBrk="1" hangingPunct="1">
              <a:lnSpc>
                <a:spcPct val="90000"/>
              </a:lnSpc>
              <a:defRPr/>
            </a:pPr>
            <a:r>
              <a:rPr kumimoji="1" lang="en-US" sz="2400" dirty="0" smtClean="0"/>
              <a:t>period (T) is the amount of time for one repetition</a:t>
            </a:r>
          </a:p>
          <a:p>
            <a:pPr lvl="1" eaLnBrk="1" hangingPunct="1">
              <a:lnSpc>
                <a:spcPct val="90000"/>
              </a:lnSpc>
              <a:defRPr/>
            </a:pPr>
            <a:r>
              <a:rPr kumimoji="1" lang="en-US" sz="2400" dirty="0" smtClean="0"/>
              <a:t>T = 1/f</a:t>
            </a:r>
          </a:p>
          <a:p>
            <a:pPr eaLnBrk="1" hangingPunct="1">
              <a:lnSpc>
                <a:spcPct val="90000"/>
              </a:lnSpc>
              <a:defRPr/>
            </a:pPr>
            <a:r>
              <a:rPr kumimoji="1" lang="en-US" sz="2800" b="1" dirty="0" smtClean="0"/>
              <a:t>phase (</a:t>
            </a:r>
            <a:r>
              <a:rPr kumimoji="1" lang="en-US" sz="2800" b="1" dirty="0" smtClean="0">
                <a:sym typeface="Symbol" pitchFamily="-110" charset="2"/>
              </a:rPr>
              <a:t>)</a:t>
            </a:r>
          </a:p>
          <a:p>
            <a:pPr lvl="1" eaLnBrk="1" hangingPunct="1">
              <a:lnSpc>
                <a:spcPct val="90000"/>
              </a:lnSpc>
              <a:defRPr/>
            </a:pPr>
            <a:r>
              <a:rPr kumimoji="1" lang="en-US" sz="2400" dirty="0" smtClean="0"/>
              <a:t>relative position in time within a single period of signal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3149600" y="1219201"/>
            <a:ext cx="6096000" cy="523875"/>
          </a:xfrm>
          <a:prstGeom prst="rect">
            <a:avLst/>
          </a:prstGeom>
          <a:noFill/>
        </p:spPr>
        <p:txBody>
          <a:bodyPr>
            <a:spAutoFit/>
          </a:bodyPr>
          <a:lstStyle/>
          <a:p>
            <a:pPr>
              <a:defRPr/>
            </a:pPr>
            <a:r>
              <a:rPr kumimoji="1" lang="en-US" sz="2800" dirty="0">
                <a:effectLst>
                  <a:outerShdw blurRad="38100" dist="38100" dir="2700000" algn="tl">
                    <a:srgbClr val="000000"/>
                  </a:outerShdw>
                </a:effectLst>
                <a:latin typeface="Arial" charset="0"/>
                <a:cs typeface="+mn-cs"/>
              </a:rPr>
              <a:t>(periodic continuous signal)</a:t>
            </a:r>
          </a:p>
        </p:txBody>
      </p:sp>
    </p:spTree>
  </p:cSld>
  <p:clrMapOvr>
    <a:masterClrMapping/>
  </p:clrMapOvr>
  <p:transition/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32" presetClass="emph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animClr clrSpc="rgb" dir="cw">
                                      <p:cBhvr override="childStyle">
                                        <p:cTn id="6" dur="200" fill="hold"/>
                                        <p:tgtEl>
                                          <p:spTgt spid="59395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style.color</p:attrName>
                                        </p:attrNameLst>
                                      </p:cBhvr>
                                      <p:to>
                                        <a:schemeClr val="accent2"/>
                                      </p:to>
                                    </p:animClr>
                                    <p:animClr clrSpc="rgb" dir="cw">
                                      <p:cBhvr>
                                        <p:cTn id="7" dur="200" fill="hold"/>
                                        <p:tgtEl>
                                          <p:spTgt spid="59395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fillcolor</p:attrName>
                                        </p:attrNameLst>
                                      </p:cBhvr>
                                      <p:to>
                                        <a:schemeClr val="accent2"/>
                                      </p:to>
                                    </p:animClr>
                                    <p:set>
                                      <p:cBhvr>
                                        <p:cTn id="8" dur="200" fill="hold"/>
                                        <p:tgtEl>
                                          <p:spTgt spid="59395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fill.type</p:attrName>
                                        </p:attrNameLst>
                                      </p:cBhvr>
                                      <p:to>
                                        <p:strVal val="solid"/>
                                      </p:to>
                                    </p:set>
                                    <p:set>
                                      <p:cBhvr>
                                        <p:cTn id="9" dur="200" fill="hold"/>
                                        <p:tgtEl>
                                          <p:spTgt spid="59395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fill.on</p:attrName>
                                        </p:attrNameLst>
                                      </p:cBhvr>
                                      <p:to>
                                        <p:strVal val="true"/>
                                      </p:to>
                                    </p:set>
                                    <p:animRot by="120000">
                                      <p:cBhvr>
                                        <p:cTn id="10" dur="200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9395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r</p:attrName>
                                        </p:attrNameLst>
                                      </p:cBhvr>
                                    </p:animRot>
                                    <p:animRot by="-240000">
                                      <p:cBhvr>
                                        <p:cTn id="11" dur="400" fill="hold">
                                          <p:stCondLst>
                                            <p:cond delay="400"/>
                                          </p:stCondLst>
                                        </p:cTn>
                                        <p:tgtEl>
                                          <p:spTgt spid="59395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r</p:attrName>
                                        </p:attrNameLst>
                                      </p:cBhvr>
                                    </p:animRot>
                                    <p:animRot by="240000">
                                      <p:cBhvr>
                                        <p:cTn id="12" dur="400" fill="hold">
                                          <p:stCondLst>
                                            <p:cond delay="800"/>
                                          </p:stCondLst>
                                        </p:cTn>
                                        <p:tgtEl>
                                          <p:spTgt spid="59395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r</p:attrName>
                                        </p:attrNameLst>
                                      </p:cBhvr>
                                    </p:animRot>
                                    <p:animRot by="-240000">
                                      <p:cBhvr>
                                        <p:cTn id="13" dur="400" fill="hold">
                                          <p:stCondLst>
                                            <p:cond delay="1200"/>
                                          </p:stCondLst>
                                        </p:cTn>
                                        <p:tgtEl>
                                          <p:spTgt spid="59395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r</p:attrName>
                                        </p:attrNameLst>
                                      </p:cBhvr>
                                    </p:animRot>
                                    <p:animRot by="120000">
                                      <p:cBhvr>
                                        <p:cTn id="14" dur="400" fill="hold">
                                          <p:stCondLst>
                                            <p:cond delay="1600"/>
                                          </p:stCondLst>
                                        </p:cTn>
                                        <p:tgtEl>
                                          <p:spTgt spid="59395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r</p:attrName>
                                        </p:attrNameLst>
                                      </p:cBhvr>
                                    </p:animRo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5" fill="hold">
                            <p:stCondLst>
                              <p:cond delay="2000"/>
                            </p:stCondLst>
                            <p:childTnLst>
                              <p:par>
                                <p:cTn id="16" presetID="32" presetClass="emph" presetSubtype="0" fill="hold" nodeType="afterEffect">
                                  <p:stCondLst>
                                    <p:cond delay="0"/>
                                  </p:stCondLst>
                                  <p:childTnLst>
                                    <p:animClr clrSpc="rgb" dir="cw">
                                      <p:cBhvr override="childStyle">
                                        <p:cTn id="17" dur="200" fill="hold"/>
                                        <p:tgtEl>
                                          <p:spTgt spid="59395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style.color</p:attrName>
                                        </p:attrNameLst>
                                      </p:cBhvr>
                                      <p:to>
                                        <a:srgbClr val="FFFF66"/>
                                      </p:to>
                                    </p:animClr>
                                    <p:animClr clrSpc="rgb" dir="cw">
                                      <p:cBhvr>
                                        <p:cTn id="18" dur="200" fill="hold"/>
                                        <p:tgtEl>
                                          <p:spTgt spid="59395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fillcolor</p:attrName>
                                        </p:attrNameLst>
                                      </p:cBhvr>
                                      <p:to>
                                        <a:srgbClr val="FFFF66"/>
                                      </p:to>
                                    </p:animClr>
                                    <p:set>
                                      <p:cBhvr>
                                        <p:cTn id="19" dur="200" fill="hold"/>
                                        <p:tgtEl>
                                          <p:spTgt spid="59395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fill.type</p:attrName>
                                        </p:attrNameLst>
                                      </p:cBhvr>
                                      <p:to>
                                        <p:strVal val="solid"/>
                                      </p:to>
                                    </p:set>
                                    <p:set>
                                      <p:cBhvr>
                                        <p:cTn id="20" dur="200" fill="hold"/>
                                        <p:tgtEl>
                                          <p:spTgt spid="59395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fill.on</p:attrName>
                                        </p:attrNameLst>
                                      </p:cBhvr>
                                      <p:to>
                                        <p:strVal val="true"/>
                                      </p:to>
                                    </p:set>
                                    <p:animRot by="120000">
                                      <p:cBhvr>
                                        <p:cTn id="21" dur="200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9395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r</p:attrName>
                                        </p:attrNameLst>
                                      </p:cBhvr>
                                    </p:animRot>
                                    <p:animRot by="-240000">
                                      <p:cBhvr>
                                        <p:cTn id="22" dur="400" fill="hold">
                                          <p:stCondLst>
                                            <p:cond delay="400"/>
                                          </p:stCondLst>
                                        </p:cTn>
                                        <p:tgtEl>
                                          <p:spTgt spid="59395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r</p:attrName>
                                        </p:attrNameLst>
                                      </p:cBhvr>
                                    </p:animRot>
                                    <p:animRot by="240000">
                                      <p:cBhvr>
                                        <p:cTn id="23" dur="400" fill="hold">
                                          <p:stCondLst>
                                            <p:cond delay="800"/>
                                          </p:stCondLst>
                                        </p:cTn>
                                        <p:tgtEl>
                                          <p:spTgt spid="59395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r</p:attrName>
                                        </p:attrNameLst>
                                      </p:cBhvr>
                                    </p:animRot>
                                    <p:animRot by="-240000">
                                      <p:cBhvr>
                                        <p:cTn id="24" dur="400" fill="hold">
                                          <p:stCondLst>
                                            <p:cond delay="1200"/>
                                          </p:stCondLst>
                                        </p:cTn>
                                        <p:tgtEl>
                                          <p:spTgt spid="59395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r</p:attrName>
                                        </p:attrNameLst>
                                      </p:cBhvr>
                                    </p:animRot>
                                    <p:animRot by="120000">
                                      <p:cBhvr>
                                        <p:cTn id="25" dur="400" fill="hold">
                                          <p:stCondLst>
                                            <p:cond delay="1600"/>
                                          </p:stCondLst>
                                        </p:cTn>
                                        <p:tgtEl>
                                          <p:spTgt spid="59395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r</p:attrName>
                                        </p:attrNameLst>
                                      </p:cBhvr>
                                    </p:animRo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26" fill="hold">
                            <p:stCondLst>
                              <p:cond delay="4000"/>
                            </p:stCondLst>
                            <p:childTnLst>
                              <p:par>
                                <p:cTn id="27" presetID="32" presetClass="emph" presetSubtype="0" fill="hold" nodeType="afterEffect">
                                  <p:stCondLst>
                                    <p:cond delay="0"/>
                                  </p:stCondLst>
                                  <p:childTnLst>
                                    <p:animClr clrSpc="rgb" dir="cw">
                                      <p:cBhvr override="childStyle">
                                        <p:cTn id="28" dur="200" fill="hold"/>
                                        <p:tgtEl>
                                          <p:spTgt spid="59395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style.color</p:attrName>
                                        </p:attrNameLst>
                                      </p:cBhvr>
                                      <p:to>
                                        <a:srgbClr val="CC00CC"/>
                                      </p:to>
                                    </p:animClr>
                                    <p:animClr clrSpc="rgb" dir="cw">
                                      <p:cBhvr>
                                        <p:cTn id="29" dur="200" fill="hold"/>
                                        <p:tgtEl>
                                          <p:spTgt spid="59395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fillcolor</p:attrName>
                                        </p:attrNameLst>
                                      </p:cBhvr>
                                      <p:to>
                                        <a:srgbClr val="CC00CC"/>
                                      </p:to>
                                    </p:animClr>
                                    <p:set>
                                      <p:cBhvr>
                                        <p:cTn id="30" dur="200" fill="hold"/>
                                        <p:tgtEl>
                                          <p:spTgt spid="59395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fill.type</p:attrName>
                                        </p:attrNameLst>
                                      </p:cBhvr>
                                      <p:to>
                                        <p:strVal val="solid"/>
                                      </p:to>
                                    </p:set>
                                    <p:set>
                                      <p:cBhvr>
                                        <p:cTn id="31" dur="200" fill="hold"/>
                                        <p:tgtEl>
                                          <p:spTgt spid="59395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fill.on</p:attrName>
                                        </p:attrNameLst>
                                      </p:cBhvr>
                                      <p:to>
                                        <p:strVal val="true"/>
                                      </p:to>
                                    </p:set>
                                    <p:animRot by="120000">
                                      <p:cBhvr>
                                        <p:cTn id="32" dur="200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9395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r</p:attrName>
                                        </p:attrNameLst>
                                      </p:cBhvr>
                                    </p:animRot>
                                    <p:animRot by="-240000">
                                      <p:cBhvr>
                                        <p:cTn id="33" dur="400" fill="hold">
                                          <p:stCondLst>
                                            <p:cond delay="400"/>
                                          </p:stCondLst>
                                        </p:cTn>
                                        <p:tgtEl>
                                          <p:spTgt spid="59395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r</p:attrName>
                                        </p:attrNameLst>
                                      </p:cBhvr>
                                    </p:animRot>
                                    <p:animRot by="240000">
                                      <p:cBhvr>
                                        <p:cTn id="34" dur="400" fill="hold">
                                          <p:stCondLst>
                                            <p:cond delay="800"/>
                                          </p:stCondLst>
                                        </p:cTn>
                                        <p:tgtEl>
                                          <p:spTgt spid="59395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r</p:attrName>
                                        </p:attrNameLst>
                                      </p:cBhvr>
                                    </p:animRot>
                                    <p:animRot by="-240000">
                                      <p:cBhvr>
                                        <p:cTn id="35" dur="400" fill="hold">
                                          <p:stCondLst>
                                            <p:cond delay="1200"/>
                                          </p:stCondLst>
                                        </p:cTn>
                                        <p:tgtEl>
                                          <p:spTgt spid="59395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r</p:attrName>
                                        </p:attrNameLst>
                                      </p:cBhvr>
                                    </p:animRot>
                                    <p:animRot by="120000">
                                      <p:cBhvr>
                                        <p:cTn id="36" dur="400" fill="hold">
                                          <p:stCondLst>
                                            <p:cond delay="1600"/>
                                          </p:stCondLst>
                                        </p:cTn>
                                        <p:tgtEl>
                                          <p:spTgt spid="59395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r</p:attrName>
                                        </p:attrNameLst>
                                      </p:cBhvr>
                                    </p:animRo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37" fill="hold">
                            <p:stCondLst>
                              <p:cond delay="6000"/>
                            </p:stCondLst>
                            <p:childTnLst>
                              <p:par>
                                <p:cTn id="38" presetID="32" presetClass="emph" presetSubtype="0" fill="hold" nodeType="afterEffect">
                                  <p:stCondLst>
                                    <p:cond delay="0"/>
                                  </p:stCondLst>
                                  <p:childTnLst>
                                    <p:animClr clrSpc="rgb" dir="cw">
                                      <p:cBhvr override="childStyle">
                                        <p:cTn id="39" dur="200" fill="hold"/>
                                        <p:tgtEl>
                                          <p:spTgt spid="59395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style.color</p:attrName>
                                        </p:attrNameLst>
                                      </p:cBhvr>
                                      <p:to>
                                        <a:srgbClr val="663300"/>
                                      </p:to>
                                    </p:animClr>
                                    <p:animClr clrSpc="rgb" dir="cw">
                                      <p:cBhvr>
                                        <p:cTn id="40" dur="200" fill="hold"/>
                                        <p:tgtEl>
                                          <p:spTgt spid="59395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fillcolor</p:attrName>
                                        </p:attrNameLst>
                                      </p:cBhvr>
                                      <p:to>
                                        <a:srgbClr val="663300"/>
                                      </p:to>
                                    </p:animClr>
                                    <p:set>
                                      <p:cBhvr>
                                        <p:cTn id="41" dur="200" fill="hold"/>
                                        <p:tgtEl>
                                          <p:spTgt spid="59395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fill.type</p:attrName>
                                        </p:attrNameLst>
                                      </p:cBhvr>
                                      <p:to>
                                        <p:strVal val="solid"/>
                                      </p:to>
                                    </p:set>
                                    <p:set>
                                      <p:cBhvr>
                                        <p:cTn id="42" dur="200" fill="hold"/>
                                        <p:tgtEl>
                                          <p:spTgt spid="59395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fill.on</p:attrName>
                                        </p:attrNameLst>
                                      </p:cBhvr>
                                      <p:to>
                                        <p:strVal val="true"/>
                                      </p:to>
                                    </p:set>
                                    <p:animRot by="120000">
                                      <p:cBhvr>
                                        <p:cTn id="43" dur="200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9395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r</p:attrName>
                                        </p:attrNameLst>
                                      </p:cBhvr>
                                    </p:animRot>
                                    <p:animRot by="-240000">
                                      <p:cBhvr>
                                        <p:cTn id="44" dur="400" fill="hold">
                                          <p:stCondLst>
                                            <p:cond delay="400"/>
                                          </p:stCondLst>
                                        </p:cTn>
                                        <p:tgtEl>
                                          <p:spTgt spid="59395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r</p:attrName>
                                        </p:attrNameLst>
                                      </p:cBhvr>
                                    </p:animRot>
                                    <p:animRot by="240000">
                                      <p:cBhvr>
                                        <p:cTn id="45" dur="400" fill="hold">
                                          <p:stCondLst>
                                            <p:cond delay="800"/>
                                          </p:stCondLst>
                                        </p:cTn>
                                        <p:tgtEl>
                                          <p:spTgt spid="59395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r</p:attrName>
                                        </p:attrNameLst>
                                      </p:cBhvr>
                                    </p:animRot>
                                    <p:animRot by="-240000">
                                      <p:cBhvr>
                                        <p:cTn id="46" dur="400" fill="hold">
                                          <p:stCondLst>
                                            <p:cond delay="1200"/>
                                          </p:stCondLst>
                                        </p:cTn>
                                        <p:tgtEl>
                                          <p:spTgt spid="59395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r</p:attrName>
                                        </p:attrNameLst>
                                      </p:cBhvr>
                                    </p:animRot>
                                    <p:animRot by="120000">
                                      <p:cBhvr>
                                        <p:cTn id="47" dur="400" fill="hold">
                                          <p:stCondLst>
                                            <p:cond delay="1600"/>
                                          </p:stCondLst>
                                        </p:cTn>
                                        <p:tgtEl>
                                          <p:spTgt spid="59395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r</p:attrName>
                                        </p:attrNameLst>
                                      </p:cBhvr>
                                    </p:animRo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48" fill="hold">
                            <p:stCondLst>
                              <p:cond delay="8000"/>
                            </p:stCondLst>
                            <p:childTnLst>
                              <p:par>
                                <p:cTn id="49" presetID="32" presetClass="emph" presetSubtype="0" fill="hold" nodeType="afterEffect">
                                  <p:stCondLst>
                                    <p:cond delay="0"/>
                                  </p:stCondLst>
                                  <p:childTnLst>
                                    <p:animClr clrSpc="rgb" dir="cw">
                                      <p:cBhvr override="childStyle">
                                        <p:cTn id="50" dur="200" fill="hold"/>
                                        <p:tgtEl>
                                          <p:spTgt spid="59395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  <p:attrNameLst>
                                          <p:attrName>style.color</p:attrName>
                                        </p:attrNameLst>
                                      </p:cBhvr>
                                      <p:to>
                                        <a:srgbClr val="009900"/>
                                      </p:to>
                                    </p:animClr>
                                    <p:animClr clrSpc="rgb" dir="cw">
                                      <p:cBhvr>
                                        <p:cTn id="51" dur="200" fill="hold"/>
                                        <p:tgtEl>
                                          <p:spTgt spid="59395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  <p:attrNameLst>
                                          <p:attrName>fillcolor</p:attrName>
                                        </p:attrNameLst>
                                      </p:cBhvr>
                                      <p:to>
                                        <a:srgbClr val="009900"/>
                                      </p:to>
                                    </p:animClr>
                                    <p:set>
                                      <p:cBhvr>
                                        <p:cTn id="52" dur="200" fill="hold"/>
                                        <p:tgtEl>
                                          <p:spTgt spid="59395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  <p:attrNameLst>
                                          <p:attrName>fill.type</p:attrName>
                                        </p:attrNameLst>
                                      </p:cBhvr>
                                      <p:to>
                                        <p:strVal val="solid"/>
                                      </p:to>
                                    </p:set>
                                    <p:set>
                                      <p:cBhvr>
                                        <p:cTn id="53" dur="200" fill="hold"/>
                                        <p:tgtEl>
                                          <p:spTgt spid="59395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  <p:attrNameLst>
                                          <p:attrName>fill.on</p:attrName>
                                        </p:attrNameLst>
                                      </p:cBhvr>
                                      <p:to>
                                        <p:strVal val="true"/>
                                      </p:to>
                                    </p:set>
                                    <p:animRot by="120000">
                                      <p:cBhvr>
                                        <p:cTn id="54" dur="200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9395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  <p:attrNameLst>
                                          <p:attrName>r</p:attrName>
                                        </p:attrNameLst>
                                      </p:cBhvr>
                                    </p:animRot>
                                    <p:animRot by="-240000">
                                      <p:cBhvr>
                                        <p:cTn id="55" dur="400" fill="hold">
                                          <p:stCondLst>
                                            <p:cond delay="400"/>
                                          </p:stCondLst>
                                        </p:cTn>
                                        <p:tgtEl>
                                          <p:spTgt spid="59395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  <p:attrNameLst>
                                          <p:attrName>r</p:attrName>
                                        </p:attrNameLst>
                                      </p:cBhvr>
                                    </p:animRot>
                                    <p:animRot by="240000">
                                      <p:cBhvr>
                                        <p:cTn id="56" dur="400" fill="hold">
                                          <p:stCondLst>
                                            <p:cond delay="800"/>
                                          </p:stCondLst>
                                        </p:cTn>
                                        <p:tgtEl>
                                          <p:spTgt spid="59395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  <p:attrNameLst>
                                          <p:attrName>r</p:attrName>
                                        </p:attrNameLst>
                                      </p:cBhvr>
                                    </p:animRot>
                                    <p:animRot by="-240000">
                                      <p:cBhvr>
                                        <p:cTn id="57" dur="400" fill="hold">
                                          <p:stCondLst>
                                            <p:cond delay="1200"/>
                                          </p:stCondLst>
                                        </p:cTn>
                                        <p:tgtEl>
                                          <p:spTgt spid="59395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  <p:attrNameLst>
                                          <p:attrName>r</p:attrName>
                                        </p:attrNameLst>
                                      </p:cBhvr>
                                    </p:animRot>
                                    <p:animRot by="120000">
                                      <p:cBhvr>
                                        <p:cTn id="58" dur="400" fill="hold">
                                          <p:stCondLst>
                                            <p:cond delay="1600"/>
                                          </p:stCondLst>
                                        </p:cTn>
                                        <p:tgtEl>
                                          <p:spTgt spid="59395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  <p:attrNameLst>
                                          <p:attrName>r</p:attrName>
                                        </p:attrNameLst>
                                      </p:cBhvr>
                                    </p:animRo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59" fill="hold">
                            <p:stCondLst>
                              <p:cond delay="10000"/>
                            </p:stCondLst>
                            <p:childTnLst>
                              <p:par>
                                <p:cTn id="60" presetID="32" presetClass="emph" presetSubtype="0" fill="hold" nodeType="afterEffect">
                                  <p:stCondLst>
                                    <p:cond delay="0"/>
                                  </p:stCondLst>
                                  <p:childTnLst>
                                    <p:animClr clrSpc="rgb" dir="cw">
                                      <p:cBhvr override="childStyle">
                                        <p:cTn id="61" dur="200" fill="hold"/>
                                        <p:tgtEl>
                                          <p:spTgt spid="59395">
                                            <p:txEl>
                                              <p:pRg st="7" end="7"/>
                                            </p:txEl>
                                          </p:spTgt>
                                        </p:tgtEl>
                                        <p:attrNameLst>
                                          <p:attrName>style.color</p:attrName>
                                        </p:attrNameLst>
                                      </p:cBhvr>
                                      <p:to>
                                        <a:srgbClr val="FF0000"/>
                                      </p:to>
                                    </p:animClr>
                                    <p:animClr clrSpc="rgb" dir="cw">
                                      <p:cBhvr>
                                        <p:cTn id="62" dur="200" fill="hold"/>
                                        <p:tgtEl>
                                          <p:spTgt spid="59395">
                                            <p:txEl>
                                              <p:pRg st="7" end="7"/>
                                            </p:txEl>
                                          </p:spTgt>
                                        </p:tgtEl>
                                        <p:attrNameLst>
                                          <p:attrName>fillcolor</p:attrName>
                                        </p:attrNameLst>
                                      </p:cBhvr>
                                      <p:to>
                                        <a:srgbClr val="FF0000"/>
                                      </p:to>
                                    </p:animClr>
                                    <p:set>
                                      <p:cBhvr>
                                        <p:cTn id="63" dur="200" fill="hold"/>
                                        <p:tgtEl>
                                          <p:spTgt spid="59395">
                                            <p:txEl>
                                              <p:pRg st="7" end="7"/>
                                            </p:txEl>
                                          </p:spTgt>
                                        </p:tgtEl>
                                        <p:attrNameLst>
                                          <p:attrName>fill.type</p:attrName>
                                        </p:attrNameLst>
                                      </p:cBhvr>
                                      <p:to>
                                        <p:strVal val="solid"/>
                                      </p:to>
                                    </p:set>
                                    <p:set>
                                      <p:cBhvr>
                                        <p:cTn id="64" dur="200" fill="hold"/>
                                        <p:tgtEl>
                                          <p:spTgt spid="59395">
                                            <p:txEl>
                                              <p:pRg st="7" end="7"/>
                                            </p:txEl>
                                          </p:spTgt>
                                        </p:tgtEl>
                                        <p:attrNameLst>
                                          <p:attrName>fill.on</p:attrName>
                                        </p:attrNameLst>
                                      </p:cBhvr>
                                      <p:to>
                                        <p:strVal val="true"/>
                                      </p:to>
                                    </p:set>
                                    <p:animRot by="120000">
                                      <p:cBhvr>
                                        <p:cTn id="65" dur="200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9395">
                                            <p:txEl>
                                              <p:pRg st="7" end="7"/>
                                            </p:txEl>
                                          </p:spTgt>
                                        </p:tgtEl>
                                        <p:attrNameLst>
                                          <p:attrName>r</p:attrName>
                                        </p:attrNameLst>
                                      </p:cBhvr>
                                    </p:animRot>
                                    <p:animRot by="-240000">
                                      <p:cBhvr>
                                        <p:cTn id="66" dur="400" fill="hold">
                                          <p:stCondLst>
                                            <p:cond delay="400"/>
                                          </p:stCondLst>
                                        </p:cTn>
                                        <p:tgtEl>
                                          <p:spTgt spid="59395">
                                            <p:txEl>
                                              <p:pRg st="7" end="7"/>
                                            </p:txEl>
                                          </p:spTgt>
                                        </p:tgtEl>
                                        <p:attrNameLst>
                                          <p:attrName>r</p:attrName>
                                        </p:attrNameLst>
                                      </p:cBhvr>
                                    </p:animRot>
                                    <p:animRot by="240000">
                                      <p:cBhvr>
                                        <p:cTn id="67" dur="400" fill="hold">
                                          <p:stCondLst>
                                            <p:cond delay="800"/>
                                          </p:stCondLst>
                                        </p:cTn>
                                        <p:tgtEl>
                                          <p:spTgt spid="59395">
                                            <p:txEl>
                                              <p:pRg st="7" end="7"/>
                                            </p:txEl>
                                          </p:spTgt>
                                        </p:tgtEl>
                                        <p:attrNameLst>
                                          <p:attrName>r</p:attrName>
                                        </p:attrNameLst>
                                      </p:cBhvr>
                                    </p:animRot>
                                    <p:animRot by="-240000">
                                      <p:cBhvr>
                                        <p:cTn id="68" dur="400" fill="hold">
                                          <p:stCondLst>
                                            <p:cond delay="1200"/>
                                          </p:stCondLst>
                                        </p:cTn>
                                        <p:tgtEl>
                                          <p:spTgt spid="59395">
                                            <p:txEl>
                                              <p:pRg st="7" end="7"/>
                                            </p:txEl>
                                          </p:spTgt>
                                        </p:tgtEl>
                                        <p:attrNameLst>
                                          <p:attrName>r</p:attrName>
                                        </p:attrNameLst>
                                      </p:cBhvr>
                                    </p:animRot>
                                    <p:animRot by="120000">
                                      <p:cBhvr>
                                        <p:cTn id="69" dur="400" fill="hold">
                                          <p:stCondLst>
                                            <p:cond delay="1600"/>
                                          </p:stCondLst>
                                        </p:cTn>
                                        <p:tgtEl>
                                          <p:spTgt spid="59395">
                                            <p:txEl>
                                              <p:pRg st="7" end="7"/>
                                            </p:txEl>
                                          </p:spTgt>
                                        </p:tgtEl>
                                        <p:attrNameLst>
                                          <p:attrName>r</p:attrName>
                                        </p:attrNameLst>
                                      </p:cBhvr>
                                    </p:animRo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70" fill="hold">
                            <p:stCondLst>
                              <p:cond delay="12000"/>
                            </p:stCondLst>
                            <p:childTnLst>
                              <p:par>
                                <p:cTn id="71" presetID="32" presetClass="emph" presetSubtype="0" fill="hold" nodeType="afterEffect">
                                  <p:stCondLst>
                                    <p:cond delay="0"/>
                                  </p:stCondLst>
                                  <p:childTnLst>
                                    <p:animClr clrSpc="rgb" dir="cw">
                                      <p:cBhvr override="childStyle">
                                        <p:cTn id="72" dur="200" fill="hold"/>
                                        <p:tgtEl>
                                          <p:spTgt spid="59395">
                                            <p:txEl>
                                              <p:pRg st="9" end="9"/>
                                            </p:txEl>
                                          </p:spTgt>
                                        </p:tgtEl>
                                        <p:attrNameLst>
                                          <p:attrName>style.color</p:attrName>
                                        </p:attrNameLst>
                                      </p:cBhvr>
                                      <p:to>
                                        <a:srgbClr val="FF66FF"/>
                                      </p:to>
                                    </p:animClr>
                                    <p:animClr clrSpc="rgb" dir="cw">
                                      <p:cBhvr>
                                        <p:cTn id="73" dur="200" fill="hold"/>
                                        <p:tgtEl>
                                          <p:spTgt spid="59395">
                                            <p:txEl>
                                              <p:pRg st="9" end="9"/>
                                            </p:txEl>
                                          </p:spTgt>
                                        </p:tgtEl>
                                        <p:attrNameLst>
                                          <p:attrName>fillcolor</p:attrName>
                                        </p:attrNameLst>
                                      </p:cBhvr>
                                      <p:to>
                                        <a:srgbClr val="FF66FF"/>
                                      </p:to>
                                    </p:animClr>
                                    <p:set>
                                      <p:cBhvr>
                                        <p:cTn id="74" dur="200" fill="hold"/>
                                        <p:tgtEl>
                                          <p:spTgt spid="59395">
                                            <p:txEl>
                                              <p:pRg st="9" end="9"/>
                                            </p:txEl>
                                          </p:spTgt>
                                        </p:tgtEl>
                                        <p:attrNameLst>
                                          <p:attrName>fill.type</p:attrName>
                                        </p:attrNameLst>
                                      </p:cBhvr>
                                      <p:to>
                                        <p:strVal val="solid"/>
                                      </p:to>
                                    </p:set>
                                    <p:set>
                                      <p:cBhvr>
                                        <p:cTn id="75" dur="200" fill="hold"/>
                                        <p:tgtEl>
                                          <p:spTgt spid="59395">
                                            <p:txEl>
                                              <p:pRg st="9" end="9"/>
                                            </p:txEl>
                                          </p:spTgt>
                                        </p:tgtEl>
                                        <p:attrNameLst>
                                          <p:attrName>fill.on</p:attrName>
                                        </p:attrNameLst>
                                      </p:cBhvr>
                                      <p:to>
                                        <p:strVal val="true"/>
                                      </p:to>
                                    </p:set>
                                    <p:animRot by="120000">
                                      <p:cBhvr>
                                        <p:cTn id="76" dur="200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9395">
                                            <p:txEl>
                                              <p:pRg st="9" end="9"/>
                                            </p:txEl>
                                          </p:spTgt>
                                        </p:tgtEl>
                                        <p:attrNameLst>
                                          <p:attrName>r</p:attrName>
                                        </p:attrNameLst>
                                      </p:cBhvr>
                                    </p:animRot>
                                    <p:animRot by="-240000">
                                      <p:cBhvr>
                                        <p:cTn id="77" dur="400" fill="hold">
                                          <p:stCondLst>
                                            <p:cond delay="400"/>
                                          </p:stCondLst>
                                        </p:cTn>
                                        <p:tgtEl>
                                          <p:spTgt spid="59395">
                                            <p:txEl>
                                              <p:pRg st="9" end="9"/>
                                            </p:txEl>
                                          </p:spTgt>
                                        </p:tgtEl>
                                        <p:attrNameLst>
                                          <p:attrName>r</p:attrName>
                                        </p:attrNameLst>
                                      </p:cBhvr>
                                    </p:animRot>
                                    <p:animRot by="240000">
                                      <p:cBhvr>
                                        <p:cTn id="78" dur="400" fill="hold">
                                          <p:stCondLst>
                                            <p:cond delay="800"/>
                                          </p:stCondLst>
                                        </p:cTn>
                                        <p:tgtEl>
                                          <p:spTgt spid="59395">
                                            <p:txEl>
                                              <p:pRg st="9" end="9"/>
                                            </p:txEl>
                                          </p:spTgt>
                                        </p:tgtEl>
                                        <p:attrNameLst>
                                          <p:attrName>r</p:attrName>
                                        </p:attrNameLst>
                                      </p:cBhvr>
                                    </p:animRot>
                                    <p:animRot by="-240000">
                                      <p:cBhvr>
                                        <p:cTn id="79" dur="400" fill="hold">
                                          <p:stCondLst>
                                            <p:cond delay="1200"/>
                                          </p:stCondLst>
                                        </p:cTn>
                                        <p:tgtEl>
                                          <p:spTgt spid="59395">
                                            <p:txEl>
                                              <p:pRg st="9" end="9"/>
                                            </p:txEl>
                                          </p:spTgt>
                                        </p:tgtEl>
                                        <p:attrNameLst>
                                          <p:attrName>r</p:attrName>
                                        </p:attrNameLst>
                                      </p:cBhvr>
                                    </p:animRot>
                                    <p:animRot by="120000">
                                      <p:cBhvr>
                                        <p:cTn id="80" dur="400" fill="hold">
                                          <p:stCondLst>
                                            <p:cond delay="1600"/>
                                          </p:stCondLst>
                                        </p:cTn>
                                        <p:tgtEl>
                                          <p:spTgt spid="59395">
                                            <p:txEl>
                                              <p:pRg st="9" end="9"/>
                                            </p:txEl>
                                          </p:spTgt>
                                        </p:tgtEl>
                                        <p:attrNameLst>
                                          <p:attrName>r</p:attrName>
                                        </p:attrNameLst>
                                      </p:cBhvr>
                                    </p:animRo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2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0418" name="Rectangle 2"/>
          <p:cNvSpPr>
            <a:spLocks noGrp="1" noChangeArrowheads="1"/>
          </p:cNvSpPr>
          <p:nvPr>
            <p:ph type="title"/>
          </p:nvPr>
        </p:nvSpPr>
        <p:spPr/>
        <p:txBody>
          <a:bodyPr/>
          <a:lstStyle/>
          <a:p>
            <a:pPr eaLnBrk="1" hangingPunct="1">
              <a:defRPr/>
            </a:pPr>
            <a:r>
              <a:rPr kumimoji="1" lang="en-US" dirty="0"/>
              <a:t>Varying Sine Waves</a:t>
            </a:r>
            <a:br>
              <a:rPr kumimoji="1" lang="en-US" dirty="0"/>
            </a:br>
            <a:r>
              <a:rPr kumimoji="1" lang="en-US" sz="4000" dirty="0"/>
              <a:t>s(t) = A sin(2</a:t>
            </a:r>
            <a:r>
              <a:rPr kumimoji="1" lang="en-US" sz="4000" dirty="0">
                <a:sym typeface="Symbol" pitchFamily="-110" charset="2"/>
              </a:rPr>
              <a:t></a:t>
            </a:r>
            <a:r>
              <a:rPr kumimoji="1" lang="en-US" sz="4000" dirty="0"/>
              <a:t>ft +</a:t>
            </a:r>
            <a:r>
              <a:rPr kumimoji="1" lang="en-US" sz="4000" dirty="0">
                <a:sym typeface="Symbol" pitchFamily="-110" charset="2"/>
              </a:rPr>
              <a:t></a:t>
            </a:r>
            <a:r>
              <a:rPr kumimoji="1" lang="en-US" sz="4000" dirty="0"/>
              <a:t>)</a:t>
            </a:r>
            <a:endParaRPr kumimoji="1" lang="en-US" dirty="0"/>
          </a:p>
        </p:txBody>
      </p:sp>
      <p:pic>
        <p:nvPicPr>
          <p:cNvPr id="34819" name="Picture 4"/>
          <p:cNvPicPr preferRelativeResize="0">
            <a:picLocks noChangeAspect="1" noChangeArrowheads="1"/>
          </p:cNvPicPr>
          <p:nvPr/>
        </p:nvPicPr>
        <p:blipFill>
          <a:blip r:embed="rId3">
            <a:lum bright="-2000" contrast="8000"/>
          </a:blip>
          <a:srcRect b="7153"/>
          <a:stretch>
            <a:fillRect/>
          </a:stretch>
        </p:blipFill>
        <p:spPr bwMode="auto">
          <a:xfrm>
            <a:off x="1727200" y="1676400"/>
            <a:ext cx="8782051" cy="48387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</p:pic>
    </p:spTree>
  </p:cSld>
  <p:clrMapOvr>
    <a:masterClrMapping/>
  </p:clrMapOvr>
  <p:transition spd="slow">
    <p:zoom dir="in"/>
  </p:transition>
  <p:timing>
    <p:tnLst>
      <p:par>
        <p:cTn id="1" dur="indefinite" restart="never" nodeType="tmRoot"/>
      </p:par>
    </p:tnLst>
  </p:timing>
</p:sld>
</file>

<file path=ppt/slides/slide2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extBox 2">
            <a:extLst>
              <a:ext uri="{FF2B5EF4-FFF2-40B4-BE49-F238E27FC236}">
                <a16:creationId xmlns:a16="http://schemas.microsoft.com/office/drawing/2014/main" xmlns="" id="{689292B0-244E-46D5-8CCB-CFA642842784}"/>
              </a:ext>
            </a:extLst>
          </p:cNvPr>
          <p:cNvSpPr txBox="1"/>
          <p:nvPr/>
        </p:nvSpPr>
        <p:spPr>
          <a:xfrm>
            <a:off x="3048000" y="3246511"/>
            <a:ext cx="6096000" cy="1200329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lang="en-US" b="0" i="0" dirty="0">
                <a:effectLst/>
                <a:latin typeface="Roboto" panose="02000000000000000000" pitchFamily="2" charset="0"/>
              </a:rPr>
              <a:t>Science - Transmission of Sound</a:t>
            </a:r>
          </a:p>
          <a:p>
            <a:r>
              <a:rPr lang="en-US" b="0" i="0" dirty="0">
                <a:solidFill>
                  <a:srgbClr val="000000"/>
                </a:solidFill>
                <a:effectLst/>
                <a:latin typeface="Roboto" panose="02000000000000000000" pitchFamily="2" charset="0"/>
              </a:rPr>
              <a:t/>
            </a:r>
            <a:br>
              <a:rPr lang="en-US" b="0" i="0" dirty="0">
                <a:solidFill>
                  <a:srgbClr val="000000"/>
                </a:solidFill>
                <a:effectLst/>
                <a:latin typeface="Roboto" panose="02000000000000000000" pitchFamily="2" charset="0"/>
              </a:rPr>
            </a:br>
            <a:r>
              <a:rPr lang="ar-JO" dirty="0">
                <a:hlinkClick r:id="rId2"/>
              </a:rPr>
              <a:t>https://youtu.be/GkNJvZINSEY</a:t>
            </a:r>
            <a:endParaRPr lang="en-US" dirty="0"/>
          </a:p>
          <a:p>
            <a:endParaRPr lang="ar-JO" dirty="0"/>
          </a:p>
        </p:txBody>
      </p:sp>
      <p:sp>
        <p:nvSpPr>
          <p:cNvPr id="5" name="TextBox 4">
            <a:extLst>
              <a:ext uri="{FF2B5EF4-FFF2-40B4-BE49-F238E27FC236}">
                <a16:creationId xmlns:a16="http://schemas.microsoft.com/office/drawing/2014/main" xmlns="" id="{668C13AB-EA60-4127-8863-C2D47CD1ED91}"/>
              </a:ext>
            </a:extLst>
          </p:cNvPr>
          <p:cNvSpPr txBox="1"/>
          <p:nvPr/>
        </p:nvSpPr>
        <p:spPr>
          <a:xfrm>
            <a:off x="3135086" y="5171105"/>
            <a:ext cx="6096000" cy="646331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ar-JO" dirty="0">
                <a:hlinkClick r:id="rId3"/>
              </a:rPr>
              <a:t>https://youtu.be/r18Gi8lSkfM</a:t>
            </a:r>
            <a:endParaRPr lang="ar-JO" dirty="0"/>
          </a:p>
          <a:p>
            <a:endParaRPr lang="ar-JO" dirty="0"/>
          </a:p>
        </p:txBody>
      </p:sp>
      <p:sp>
        <p:nvSpPr>
          <p:cNvPr id="7" name="TextBox 6">
            <a:extLst>
              <a:ext uri="{FF2B5EF4-FFF2-40B4-BE49-F238E27FC236}">
                <a16:creationId xmlns:a16="http://schemas.microsoft.com/office/drawing/2014/main" xmlns="" id="{EEA58FD0-96AC-4959-8AE9-E2733408201D}"/>
              </a:ext>
            </a:extLst>
          </p:cNvPr>
          <p:cNvSpPr txBox="1"/>
          <p:nvPr/>
        </p:nvSpPr>
        <p:spPr>
          <a:xfrm>
            <a:off x="3048000" y="4692134"/>
            <a:ext cx="6096000" cy="3693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lang="en-US" b="0" i="0" dirty="0">
                <a:effectLst/>
                <a:latin typeface="Roboto" panose="02000000000000000000" pitchFamily="2" charset="0"/>
              </a:rPr>
              <a:t>Fourier Transform, Fourier Series, and frequency spectrum</a:t>
            </a:r>
          </a:p>
        </p:txBody>
      </p:sp>
    </p:spTree>
    <p:extLst>
      <p:ext uri="{BB962C8B-B14F-4D97-AF65-F5344CB8AC3E}">
        <p14:creationId xmlns:p14="http://schemas.microsoft.com/office/powerpoint/2010/main" xmlns="" val="1233861518"/>
      </p:ext>
    </p:extLst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xmlns="" name="Office Theme" id="{62F939B6-93AF-4DB8-9C6B-D6C7DFDC589F}" vid="{4A3C46E8-61CC-4603-A589-7422A47A8E4A}"/>
    </a:ext>
  </a:extLst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ppt/theme/theme3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5B9BD5"/>
      </a:accent1>
      <a:accent2>
        <a:srgbClr val="ED7D31"/>
      </a:accent2>
      <a:accent3>
        <a:srgbClr val="A5A5A5"/>
      </a:accent3>
      <a:accent4>
        <a:srgbClr val="FFC000"/>
      </a:accent4>
      <a:accent5>
        <a:srgbClr val="4472C4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xmlns="" name="Office Theme" id="{62F939B6-93AF-4DB8-9C6B-D6C7DFDC589F}" vid="{4A3C46E8-61CC-4603-A589-7422A47A8E4A}"/>
    </a:ext>
  </a:extLst>
</a:theme>
</file>

<file path=customXml/_rels/item1.xml.rels><?xml version="1.0" encoding="UTF-8" standalone="yes"?>
<Relationships xmlns="http://schemas.openxmlformats.org/package/2006/relationships"><Relationship Id="rId1" Type="http://schemas.openxmlformats.org/officeDocument/2006/relationships/customXmlProps" Target="itemProps1.xml"/></Relationships>
</file>

<file path=customXml/_rels/item2.xml.rels><?xml version="1.0" encoding="UTF-8" standalone="yes"?>
<Relationships xmlns="http://schemas.openxmlformats.org/package/2006/relationships"><Relationship Id="rId1" Type="http://schemas.openxmlformats.org/officeDocument/2006/relationships/customXmlProps" Target="itemProps2.xml"/></Relationships>
</file>

<file path=customXml/_rels/item3.xml.rels><?xml version="1.0" encoding="UTF-8" standalone="yes"?>
<Relationships xmlns="http://schemas.openxmlformats.org/package/2006/relationships"><Relationship Id="rId1" Type="http://schemas.openxmlformats.org/officeDocument/2006/relationships/customXmlProps" Target="itemProps3.xml"/></Relationships>
</file>

<file path=customXml/item1.xml><?xml version="1.0" encoding="utf-8"?>
<?mso-contentType ?>
<FormTemplates xmlns="http://schemas.microsoft.com/sharepoint/v3/contenttype/forms">
  <Display>DocumentLibraryForm</Display>
  <Edit>DocumentLibraryForm</Edit>
  <New>DocumentLibraryForm</New>
</FormTemplates>
</file>

<file path=customXml/item2.xml><?xml version="1.0" encoding="utf-8"?>
<p:properties xmlns:p="http://schemas.microsoft.com/office/2006/metadata/properties" xmlns:xsi="http://www.w3.org/2001/XMLSchema-instance" xmlns:pc="http://schemas.microsoft.com/office/infopath/2007/PartnerControls">
  <documentManagement>
    <PHDthesis xmlns="35ac72bb-6e66-44cc-83f8-5100c656d1f7" xsi:nil="true"/>
    <lcf76f155ced4ddcb4097134ff3c332f xmlns="35ac72bb-6e66-44cc-83f8-5100c656d1f7">
      <Terms xmlns="http://schemas.microsoft.com/office/infopath/2007/PartnerControls"/>
    </lcf76f155ced4ddcb4097134ff3c332f>
    <TaxCatchAll xmlns="e5b6be36-7386-47fb-8a9a-07470a3e7672" xsi:nil="true"/>
  </documentManagement>
</p:properties>
</file>

<file path=customXml/item3.xml><?xml version="1.0" encoding="utf-8"?>
<ct:contentTypeSchema xmlns:ct="http://schemas.microsoft.com/office/2006/metadata/contentType" xmlns:ma="http://schemas.microsoft.com/office/2006/metadata/properties/metaAttributes" ct:_="" ma:_="" ma:contentTypeName="Document" ma:contentTypeID="0x0101003CE4E62705B277449303F33AD34ED88C" ma:contentTypeVersion="16" ma:contentTypeDescription="Create a new document." ma:contentTypeScope="" ma:versionID="3c2012f786f1d93e3678565f3542f24e">
  <xsd:schema xmlns:xsd="http://www.w3.org/2001/XMLSchema" xmlns:xs="http://www.w3.org/2001/XMLSchema" xmlns:p="http://schemas.microsoft.com/office/2006/metadata/properties" xmlns:ns2="e5b6be36-7386-47fb-8a9a-07470a3e7672" xmlns:ns3="35ac72bb-6e66-44cc-83f8-5100c656d1f7" targetNamespace="http://schemas.microsoft.com/office/2006/metadata/properties" ma:root="true" ma:fieldsID="f06070bce95cccc7b874a44b73b53cce" ns2:_="" ns3:_="">
    <xsd:import namespace="e5b6be36-7386-47fb-8a9a-07470a3e7672"/>
    <xsd:import namespace="35ac72bb-6e66-44cc-83f8-5100c656d1f7"/>
    <xsd:element name="properties">
      <xsd:complexType>
        <xsd:sequence>
          <xsd:element name="documentManagement">
            <xsd:complexType>
              <xsd:all>
                <xsd:element ref="ns2:SharedWithUsers" minOccurs="0"/>
                <xsd:element ref="ns2:SharedWithDetails" minOccurs="0"/>
                <xsd:element ref="ns3:MediaServiceMetadata" minOccurs="0"/>
                <xsd:element ref="ns3:MediaServiceFastMetadata" minOccurs="0"/>
                <xsd:element ref="ns3:MediaServiceDateTaken" minOccurs="0"/>
                <xsd:element ref="ns3:MediaServiceOCR" minOccurs="0"/>
                <xsd:element ref="ns3:MediaServiceLocation" minOccurs="0"/>
                <xsd:element ref="ns3:MediaServiceGenerationTime" minOccurs="0"/>
                <xsd:element ref="ns3:MediaServiceEventHashCode" minOccurs="0"/>
                <xsd:element ref="ns3:MediaServiceAutoKeyPoints" minOccurs="0"/>
                <xsd:element ref="ns3:MediaServiceKeyPoints" minOccurs="0"/>
                <xsd:element ref="ns3:PHDthesis" minOccurs="0"/>
                <xsd:element ref="ns3:lcf76f155ced4ddcb4097134ff3c332f" minOccurs="0"/>
                <xsd:element ref="ns2:TaxCatchAll" minOccurs="0"/>
              </xsd:all>
            </xsd:complexType>
          </xsd:element>
        </xsd:sequence>
      </xsd:complexType>
    </xsd:element>
  </xsd:schema>
  <xsd:schema xmlns:xsd="http://www.w3.org/2001/XMLSchema" xmlns:xs="http://www.w3.org/2001/XMLSchema" xmlns:dms="http://schemas.microsoft.com/office/2006/documentManagement/types" xmlns:pc="http://schemas.microsoft.com/office/infopath/2007/PartnerControls" targetNamespace="e5b6be36-7386-47fb-8a9a-07470a3e7672" elementFormDefault="qualified">
    <xsd:import namespace="http://schemas.microsoft.com/office/2006/documentManagement/types"/>
    <xsd:import namespace="http://schemas.microsoft.com/office/infopath/2007/PartnerControls"/>
    <xsd:element name="SharedWithUsers" ma:index="8" nillable="true" ma:displayName="Shared With" ma:internalName="SharedWithUsers" ma:readOnly="true">
      <xsd:complexType>
        <xsd:complexContent>
          <xsd:extension base="dms:UserMulti">
            <xsd:sequence>
              <xsd:element name="UserInfo" minOccurs="0" maxOccurs="unbounded">
                <xsd:complexType>
                  <xsd:sequence>
                    <xsd:element name="DisplayName" type="xsd:string" minOccurs="0"/>
                    <xsd:element name="AccountId" type="dms:UserId" minOccurs="0" nillable="true"/>
                    <xsd:element name="AccountType" type="xsd:string" minOccurs="0"/>
                  </xsd:sequence>
                </xsd:complexType>
              </xsd:element>
            </xsd:sequence>
          </xsd:extension>
        </xsd:complexContent>
      </xsd:complexType>
    </xsd:element>
    <xsd:element name="SharedWithDetails" ma:index="9" nillable="true" ma:displayName="Shared With Details" ma:internalName="SharedWithDetails" ma:readOnly="true">
      <xsd:simpleType>
        <xsd:restriction base="dms:Note">
          <xsd:maxLength value="255"/>
        </xsd:restriction>
      </xsd:simpleType>
    </xsd:element>
    <xsd:element name="TaxCatchAll" ma:index="22" nillable="true" ma:displayName="Taxonomy Catch All Column" ma:hidden="true" ma:list="{25bf474d-fc0a-43b6-8bbf-f621969dd635}" ma:internalName="TaxCatchAll" ma:showField="CatchAllData" ma:web="e5b6be36-7386-47fb-8a9a-07470a3e7672">
      <xsd:complexType>
        <xsd:complexContent>
          <xsd:extension base="dms:MultiChoiceLookup">
            <xsd:sequence>
              <xsd:element name="Value" type="dms:Lookup" maxOccurs="unbounded" minOccurs="0" nillable="true"/>
            </xsd:sequence>
          </xsd:extension>
        </xsd:complexContent>
      </xsd:complexType>
    </xsd:element>
  </xsd:schema>
  <xsd:schema xmlns:xsd="http://www.w3.org/2001/XMLSchema" xmlns:xs="http://www.w3.org/2001/XMLSchema" xmlns:dms="http://schemas.microsoft.com/office/2006/documentManagement/types" xmlns:pc="http://schemas.microsoft.com/office/infopath/2007/PartnerControls" targetNamespace="35ac72bb-6e66-44cc-83f8-5100c656d1f7" elementFormDefault="qualified">
    <xsd:import namespace="http://schemas.microsoft.com/office/2006/documentManagement/types"/>
    <xsd:import namespace="http://schemas.microsoft.com/office/infopath/2007/PartnerControls"/>
    <xsd:element name="MediaServiceMetadata" ma:index="10" nillable="true" ma:displayName="MediaServiceMetadata" ma:hidden="true" ma:internalName="MediaServiceMetadata" ma:readOnly="true">
      <xsd:simpleType>
        <xsd:restriction base="dms:Note"/>
      </xsd:simpleType>
    </xsd:element>
    <xsd:element name="MediaServiceFastMetadata" ma:index="11" nillable="true" ma:displayName="MediaServiceFastMetadata" ma:hidden="true" ma:internalName="MediaServiceFastMetadata" ma:readOnly="true">
      <xsd:simpleType>
        <xsd:restriction base="dms:Note"/>
      </xsd:simpleType>
    </xsd:element>
    <xsd:element name="MediaServiceDateTaken" ma:index="12" nillable="true" ma:displayName="MediaServiceDateTaken" ma:hidden="true" ma:internalName="MediaServiceDateTaken" ma:readOnly="true">
      <xsd:simpleType>
        <xsd:restriction base="dms:Text"/>
      </xsd:simpleType>
    </xsd:element>
    <xsd:element name="MediaServiceOCR" ma:index="13" nillable="true" ma:displayName="Extracted Text" ma:internalName="MediaServiceOCR" ma:readOnly="true">
      <xsd:simpleType>
        <xsd:restriction base="dms:Note">
          <xsd:maxLength value="255"/>
        </xsd:restriction>
      </xsd:simpleType>
    </xsd:element>
    <xsd:element name="MediaServiceLocation" ma:index="14" nillable="true" ma:displayName="Location" ma:internalName="MediaServiceLocation" ma:readOnly="true">
      <xsd:simpleType>
        <xsd:restriction base="dms:Text"/>
      </xsd:simpleType>
    </xsd:element>
    <xsd:element name="MediaServiceGenerationTime" ma:index="15" nillable="true" ma:displayName="MediaServiceGenerationTime" ma:hidden="true" ma:internalName="MediaServiceGenerationTime" ma:readOnly="true">
      <xsd:simpleType>
        <xsd:restriction base="dms:Text"/>
      </xsd:simpleType>
    </xsd:element>
    <xsd:element name="MediaServiceEventHashCode" ma:index="16" nillable="true" ma:displayName="MediaServiceEventHashCode" ma:hidden="true" ma:internalName="MediaServiceEventHashCode" ma:readOnly="true">
      <xsd:simpleType>
        <xsd:restriction base="dms:Text"/>
      </xsd:simpleType>
    </xsd:element>
    <xsd:element name="MediaServiceAutoKeyPoints" ma:index="17" nillable="true" ma:displayName="MediaServiceAutoKeyPoints" ma:hidden="true" ma:internalName="MediaServiceAutoKeyPoints" ma:readOnly="true">
      <xsd:simpleType>
        <xsd:restriction base="dms:Note"/>
      </xsd:simpleType>
    </xsd:element>
    <xsd:element name="MediaServiceKeyPoints" ma:index="18" nillable="true" ma:displayName="KeyPoints" ma:internalName="MediaServiceKeyPoints" ma:readOnly="true">
      <xsd:simpleType>
        <xsd:restriction base="dms:Note">
          <xsd:maxLength value="255"/>
        </xsd:restriction>
      </xsd:simpleType>
    </xsd:element>
    <xsd:element name="PHDthesis" ma:index="19" nillable="true" ma:displayName="PHD thesis" ma:format="Dropdown" ma:internalName="PHDthesis">
      <xsd:simpleType>
        <xsd:restriction base="dms:Text">
          <xsd:maxLength value="255"/>
        </xsd:restriction>
      </xsd:simpleType>
    </xsd:element>
    <xsd:element name="lcf76f155ced4ddcb4097134ff3c332f" ma:index="21" nillable="true" ma:taxonomy="true" ma:internalName="lcf76f155ced4ddcb4097134ff3c332f" ma:taxonomyFieldName="MediaServiceImageTags" ma:displayName="Image Tags" ma:readOnly="false" ma:fieldId="{5cf76f15-5ced-4ddc-b409-7134ff3c332f}" ma:taxonomyMulti="true" ma:sspId="41946a75-722c-4855-9c1b-5ba14d757444" ma:termSetId="09814cd3-568e-fe90-9814-8d621ff8fb84" ma:anchorId="fba54fb3-c3e1-fe81-a776-ca4b69148c4d" ma:open="true" ma:isKeyword="false">
      <xsd:complexType>
        <xsd:sequence>
          <xsd:element ref="pc:Terms" minOccurs="0" maxOccurs="1"/>
        </xsd:sequence>
      </xsd:complexType>
    </xsd:element>
  </xsd:schema>
  <xsd:schema xmlns="http://schemas.openxmlformats.org/package/2006/metadata/core-properties" xmlns:xsd="http://www.w3.org/2001/XMLSchema" xmlns:xsi="http://www.w3.org/2001/XMLSchema-instance" xmlns:dc="http://purl.org/dc/elements/1.1/" xmlns:dcterms="http://purl.org/dc/terms/" xmlns:odoc="http://schemas.microsoft.com/internal/obd" targetNamespace="http://schemas.openxmlformats.org/package/2006/metadata/core-properties" elementFormDefault="qualified" attributeFormDefault="unqualified" blockDefault="#all">
    <xsd:import namespace="http://purl.org/dc/elements/1.1/" schemaLocation="http://dublincore.org/schemas/xmls/qdc/2003/04/02/dc.xsd"/>
    <xsd:import namespace="http://purl.org/dc/terms/" schemaLocation="http://dublincore.org/schemas/xmls/qdc/2003/04/02/dcterms.xsd"/>
    <xsd:element name="coreProperties" type="CT_coreProperties"/>
    <xsd:complexType name="CT_coreProperties">
      <xsd:all>
        <xsd:element ref="dc:creator" minOccurs="0" maxOccurs="1"/>
        <xsd:element ref="dcterms:created" minOccurs="0" maxOccurs="1"/>
        <xsd:element ref="dc:identifier" minOccurs="0" maxOccurs="1"/>
        <xsd:element name="contentType" minOccurs="0" maxOccurs="1" type="xsd:string" ma:index="0" ma:displayName="Content Type"/>
        <xsd:element ref="dc:title" minOccurs="0" maxOccurs="1" ma:index="4" ma:displayName="Title"/>
        <xsd:element ref="dc:subject" minOccurs="0" maxOccurs="1"/>
        <xsd:element ref="dc:description" minOccurs="0" maxOccurs="1"/>
        <xsd:element name="keywords" minOccurs="0" maxOccurs="1" type="xsd:string"/>
        <xsd:element ref="dc:language" minOccurs="0" maxOccurs="1"/>
        <xsd:element name="category" minOccurs="0" maxOccurs="1" type="xsd:string"/>
        <xsd:element name="version" minOccurs="0" maxOccurs="1" type="xsd:string"/>
        <xsd:element name="revision" minOccurs="0" maxOccurs="1" type="xsd:string">
          <xsd:annotation>
            <xsd:documentation>
                        This value indicates the number of saves or revisions. The application is responsible for updating this value after each revision.
                    </xsd:documentation>
          </xsd:annotation>
        </xsd:element>
        <xsd:element name="lastModifiedBy" minOccurs="0" maxOccurs="1" type="xsd:string"/>
        <xsd:element ref="dcterms:modified" minOccurs="0" maxOccurs="1"/>
        <xsd:element name="contentStatus" minOccurs="0" maxOccurs="1" type="xsd:string"/>
      </xsd:all>
    </xsd:complexType>
  </xsd:schema>
  <xs:schema xmlns:pc="http://schemas.microsoft.com/office/infopath/2007/PartnerControls" xmlns:xs="http://www.w3.org/2001/XMLSchema" targetNamespace="http://schemas.microsoft.com/office/infopath/2007/PartnerControls" elementFormDefault="qualified" attributeFormDefault="unqualified">
    <xs:element name="Person">
      <xs:complexType>
        <xs:sequence>
          <xs:element ref="pc:DisplayName" minOccurs="0"/>
          <xs:element ref="pc:AccountId" minOccurs="0"/>
          <xs:element ref="pc:AccountType" minOccurs="0"/>
        </xs:sequence>
      </xs:complexType>
    </xs:element>
    <xs:element name="DisplayName" type="xs:string"/>
    <xs:element name="AccountId" type="xs:string"/>
    <xs:element name="AccountType" type="xs:string"/>
    <xs:element name="BDCAssociatedEntity">
      <xs:complexType>
        <xs:sequence>
          <xs:element ref="pc:BDCEntity" minOccurs="0" maxOccurs="unbounded"/>
        </xs:sequence>
        <xs:attribute ref="pc:EntityNamespace"/>
        <xs:attribute ref="pc:EntityName"/>
        <xs:attribute ref="pc:SystemInstanceName"/>
        <xs:attribute ref="pc:AssociationName"/>
      </xs:complexType>
    </xs:element>
    <xs:attribute name="EntityNamespace" type="xs:string"/>
    <xs:attribute name="EntityName" type="xs:string"/>
    <xs:attribute name="SystemInstanceName" type="xs:string"/>
    <xs:attribute name="AssociationName" type="xs:string"/>
    <xs:element name="BDCEntity">
      <xs:complexType>
        <xs:sequence>
          <xs:element ref="pc:EntityDisplayName" minOccurs="0"/>
          <xs:element ref="pc:EntityInstanceReference" minOccurs="0"/>
          <xs:element ref="pc:EntityId1" minOccurs="0"/>
          <xs:element ref="pc:EntityId2" minOccurs="0"/>
          <xs:element ref="pc:EntityId3" minOccurs="0"/>
          <xs:element ref="pc:EntityId4" minOccurs="0"/>
          <xs:element ref="pc:EntityId5" minOccurs="0"/>
        </xs:sequence>
      </xs:complexType>
    </xs:element>
    <xs:element name="EntityDisplayName" type="xs:string"/>
    <xs:element name="EntityInstanceReference" type="xs:string"/>
    <xs:element name="EntityId1" type="xs:string"/>
    <xs:element name="EntityId2" type="xs:string"/>
    <xs:element name="EntityId3" type="xs:string"/>
    <xs:element name="EntityId4" type="xs:string"/>
    <xs:element name="EntityId5" type="xs:string"/>
    <xs:element name="Terms">
      <xs:complexType>
        <xs:sequence>
          <xs:element ref="pc:TermInfo" minOccurs="0" maxOccurs="unbounded"/>
        </xs:sequence>
      </xs:complexType>
    </xs:element>
    <xs:element name="TermInfo">
      <xs:complexType>
        <xs:sequence>
          <xs:element ref="pc:TermName" minOccurs="0"/>
          <xs:element ref="pc:TermId" minOccurs="0"/>
        </xs:sequence>
      </xs:complexType>
    </xs:element>
    <xs:element name="TermName" type="xs:string"/>
    <xs:element name="TermId" type="xs:string"/>
  </xs:schema>
</ct:contentTypeSchema>
</file>

<file path=customXml/itemProps1.xml><?xml version="1.0" encoding="utf-8"?>
<ds:datastoreItem xmlns:ds="http://schemas.openxmlformats.org/officeDocument/2006/customXml" ds:itemID="{D3B5073E-E253-4FA8-AFC3-6B392EB036A5}">
  <ds:schemaRefs>
    <ds:schemaRef ds:uri="http://schemas.microsoft.com/sharepoint/v3/contenttype/forms"/>
  </ds:schemaRefs>
</ds:datastoreItem>
</file>

<file path=customXml/itemProps2.xml><?xml version="1.0" encoding="utf-8"?>
<ds:datastoreItem xmlns:ds="http://schemas.openxmlformats.org/officeDocument/2006/customXml" ds:itemID="{A52943C7-E588-4B14-BBCE-C3CE4881BD32}">
  <ds:schemaRefs>
    <ds:schemaRef ds:uri="http://schemas.microsoft.com/office/2006/metadata/properties"/>
    <ds:schemaRef ds:uri="http://schemas.microsoft.com/office/infopath/2007/PartnerControls"/>
    <ds:schemaRef ds:uri="35ac72bb-6e66-44cc-83f8-5100c656d1f7"/>
    <ds:schemaRef ds:uri="e5b6be36-7386-47fb-8a9a-07470a3e7672"/>
  </ds:schemaRefs>
</ds:datastoreItem>
</file>

<file path=customXml/itemProps3.xml><?xml version="1.0" encoding="utf-8"?>
<ds:datastoreItem xmlns:ds="http://schemas.openxmlformats.org/officeDocument/2006/customXml" ds:itemID="{7C438415-B29F-43A4-B0F1-9042D5AEAE6A}">
  <ds:schemaRefs>
    <ds:schemaRef ds:uri="http://schemas.microsoft.com/office/2006/metadata/contentType"/>
    <ds:schemaRef ds:uri="http://schemas.microsoft.com/office/2006/metadata/properties/metaAttributes"/>
    <ds:schemaRef ds:uri="http://www.w3.org/2001/XMLSchema"/>
    <ds:schemaRef ds:uri="http://schemas.microsoft.com/office/2006/metadata/properties"/>
    <ds:schemaRef ds:uri="e5b6be36-7386-47fb-8a9a-07470a3e7672"/>
    <ds:schemaRef ds:uri="35ac72bb-6e66-44cc-83f8-5100c656d1f7"/>
    <ds:schemaRef ds:uri="http://schemas.microsoft.com/office/2006/documentManagement/types"/>
    <ds:schemaRef ds:uri="http://schemas.microsoft.com/office/infopath/2007/PartnerControls"/>
    <ds:schemaRef ds:uri="http://schemas.openxmlformats.org/package/2006/metadata/core-properties"/>
    <ds:schemaRef ds:uri="http://purl.org/dc/elements/1.1/"/>
    <ds:schemaRef ds:uri="http://purl.org/dc/terms/"/>
    <ds:schemaRef ds:uri="http://schemas.microsoft.com/internal/obd"/>
  </ds:schemaRefs>
</ds:datastoreItem>
</file>

<file path=docProps/app.xml><?xml version="1.0" encoding="utf-8"?>
<Properties xmlns="http://schemas.openxmlformats.org/officeDocument/2006/extended-properties" xmlns:vt="http://schemas.openxmlformats.org/officeDocument/2006/docPropsVTypes">
  <Template/>
  <TotalTime>171</TotalTime>
  <Words>2267</Words>
  <Application>Microsoft Office PowerPoint</Application>
  <PresentationFormat>Custom</PresentationFormat>
  <Paragraphs>162</Paragraphs>
  <Slides>27</Slides>
  <Notes>5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27</vt:i4>
      </vt:variant>
    </vt:vector>
  </HeadingPairs>
  <TitlesOfParts>
    <vt:vector size="28" baseType="lpstr">
      <vt:lpstr>Office Theme</vt:lpstr>
      <vt:lpstr>Slide 1</vt:lpstr>
      <vt:lpstr>RF Signals and Modulation</vt:lpstr>
      <vt:lpstr>Slide 3</vt:lpstr>
      <vt:lpstr>Command Syntax Conventions </vt:lpstr>
      <vt:lpstr>1 Comparing Wired and Wireless Networks  </vt:lpstr>
      <vt:lpstr>2 Understanding Basic Wireless Theory  </vt:lpstr>
      <vt:lpstr>Slide 7</vt:lpstr>
      <vt:lpstr>Slide 8</vt:lpstr>
      <vt:lpstr>Slide 9</vt:lpstr>
      <vt:lpstr>Slide 10</vt:lpstr>
      <vt:lpstr>Slide 11</vt:lpstr>
      <vt:lpstr>Slide 12</vt:lpstr>
      <vt:lpstr>bandwidth</vt:lpstr>
      <vt:lpstr>Slide 14</vt:lpstr>
      <vt:lpstr>Slide 15</vt:lpstr>
      <vt:lpstr>Slide 16</vt:lpstr>
      <vt:lpstr>Slide 17</vt:lpstr>
      <vt:lpstr>Slide 18</vt:lpstr>
      <vt:lpstr>Slide 19</vt:lpstr>
      <vt:lpstr>Slide 20</vt:lpstr>
      <vt:lpstr>Slide 21</vt:lpstr>
      <vt:lpstr>Frequency, Spectrum and Bandwidth</vt:lpstr>
      <vt:lpstr>Analog and Digital Signals</vt:lpstr>
      <vt:lpstr>Periodic Signals</vt:lpstr>
      <vt:lpstr>Sine Wave</vt:lpstr>
      <vt:lpstr>Varying Sine Waves s(t) = A sin(2ft +)</vt:lpstr>
      <vt:lpstr>Slide 27</vt:lpstr>
    </vt:vector>
  </TitlesOfParts>
  <LinksUpToDate>false</LinksUpToDate>
  <SharedDoc>false</SharedDoc>
  <HyperlinksChanged>false</HyperlinksChanged>
  <AppVersion>12.0000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Transducers</dc:title>
  <dc:creator>Tariq Younes</dc:creator>
  <cp:lastModifiedBy>user</cp:lastModifiedBy>
  <cp:revision>46</cp:revision>
  <cp:lastPrinted>2018-09-12T05:15:39Z</cp:lastPrinted>
  <dcterms:created xsi:type="dcterms:W3CDTF">2018-08-30T16:30:11Z</dcterms:created>
  <dcterms:modified xsi:type="dcterms:W3CDTF">2023-10-12T21:03:13Z</dcterms:modified>
</cp:coreProperties>
</file>

<file path=docProps/custom.xml><?xml version="1.0" encoding="utf-8"?>
<Properties xmlns="http://schemas.openxmlformats.org/officeDocument/2006/custom-properties" xmlns:vt="http://schemas.openxmlformats.org/officeDocument/2006/docPropsVTypes">
  <property fmtid="{D5CDD505-2E9C-101B-9397-08002B2CF9AE}" pid="2" name="ContentTypeId">
    <vt:lpwstr>0x0101003CE4E62705B277449303F33AD34ED88C</vt:lpwstr>
  </property>
</Properties>
</file>
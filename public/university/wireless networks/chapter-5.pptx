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2" r:id="rId2"/>
    <p:sldId id="267" r:id="rId3"/>
    <p:sldId id="268" r:id="rId4"/>
    <p:sldId id="269" r:id="rId5"/>
    <p:sldId id="271" r:id="rId6"/>
    <p:sldId id="260" r:id="rId7"/>
    <p:sldId id="257" r:id="rId8"/>
    <p:sldId id="259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-174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391043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92464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51864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3058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103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13187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15274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8472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63810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20429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1907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C7102BF-D90D-4F30-818E-EB51533677D2}" type="datetimeFigureOut">
              <a:rPr lang="en-GB" smtClean="0"/>
              <a:pPr/>
              <a:t>12/10/2023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FD8EA99-1C36-41DE-B49D-35F7A5086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86053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985D0920-03D9-85C6-4F1A-CD0738D3752B}"/>
              </a:ext>
            </a:extLst>
          </p:cNvPr>
          <p:cNvSpPr txBox="1">
            <a:spLocks/>
          </p:cNvSpPr>
          <p:nvPr/>
        </p:nvSpPr>
        <p:spPr bwMode="black">
          <a:xfrm>
            <a:off x="1363851" y="1385349"/>
            <a:ext cx="9693170" cy="391507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1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Baguet Script" panose="020B0604020202020204" pitchFamily="2" charset="0"/>
                <a:ea typeface="+mj-ea"/>
                <a:cs typeface="+mj-cs"/>
              </a:rPr>
              <a:t>Chapter 2: </a:t>
            </a:r>
            <a:br>
              <a:rPr kumimoji="0" lang="en-US" sz="5400" b="1" i="1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Baguet Script" panose="020B0604020202020204" pitchFamily="2" charset="0"/>
                <a:ea typeface="+mj-ea"/>
                <a:cs typeface="+mj-cs"/>
              </a:rPr>
            </a:br>
            <a:r>
              <a:rPr lang="en-GB" sz="6600" b="1" i="1" dirty="0" smtClean="0">
                <a:latin typeface="Baguet Script" panose="020B0604020202020204" pitchFamily="2" charset="0"/>
                <a:ea typeface="+mj-ea"/>
                <a:cs typeface="+mj-cs"/>
              </a:rPr>
              <a:t>Transmission </a:t>
            </a:r>
            <a:r>
              <a:rPr lang="en-GB" sz="6600" b="1" i="1" dirty="0" smtClean="0">
                <a:latin typeface="Baguet Script" panose="020B0604020202020204" pitchFamily="2" charset="0"/>
                <a:ea typeface="+mj-ea"/>
                <a:cs typeface="+mj-cs"/>
              </a:rPr>
              <a:t>Fundamentals_Part_1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J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2007" t="7018" r="9539" b="9430"/>
          <a:stretch>
            <a:fillRect/>
          </a:stretch>
        </p:blipFill>
        <p:spPr bwMode="auto">
          <a:xfrm>
            <a:off x="2390274" y="513347"/>
            <a:ext cx="7652084" cy="6112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JO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0855" t="11404" r="11349" b="11623"/>
          <a:stretch>
            <a:fillRect/>
          </a:stretch>
        </p:blipFill>
        <p:spPr bwMode="auto">
          <a:xfrm>
            <a:off x="2277979" y="834189"/>
            <a:ext cx="7587916" cy="563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t="13816" b="12719"/>
          <a:stretch>
            <a:fillRect/>
          </a:stretch>
        </p:blipFill>
        <p:spPr bwMode="auto">
          <a:xfrm>
            <a:off x="1219200" y="1010653"/>
            <a:ext cx="9753600" cy="537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4950" y="847725"/>
            <a:ext cx="91821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FCBD4E-4D67-91B8-04BF-67DFFD55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616349"/>
            <a:ext cx="9514550" cy="1188720"/>
          </a:xfrm>
        </p:spPr>
        <p:txBody>
          <a:bodyPr>
            <a:normAutofit/>
          </a:bodyPr>
          <a:lstStyle/>
          <a:p>
            <a:pPr algn="l"/>
            <a:r>
              <a:rPr lang="en-GB" sz="4000" cap="none" dirty="0">
                <a:solidFill>
                  <a:schemeClr val="tx1"/>
                </a:solidFill>
              </a:rPr>
              <a:t>Sine wave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A5C65A-F357-50BB-8658-44A12D3AB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2307772"/>
            <a:ext cx="11299372" cy="440871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General sine wave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i="1" dirty="0"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t </a:t>
            </a:r>
            <a:r>
              <a:rPr lang="en-US" altLang="en-US" sz="2400" dirty="0">
                <a:cs typeface="Times New Roman" panose="02020603050405020304" pitchFamily="18" charset="0"/>
              </a:rPr>
              <a:t>) = </a:t>
            </a:r>
            <a:r>
              <a:rPr lang="en-US" altLang="en-US" sz="2400" i="1" dirty="0"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cs typeface="Times New Roman" panose="02020603050405020304" pitchFamily="18" charset="0"/>
              </a:rPr>
              <a:t> sin(2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400" i="1" dirty="0">
                <a:cs typeface="Times New Roman" panose="02020603050405020304" pitchFamily="18" charset="0"/>
              </a:rPr>
              <a:t>ft</a:t>
            </a:r>
            <a:r>
              <a:rPr lang="en-US" altLang="en-US" sz="2400" dirty="0">
                <a:cs typeface="Times New Roman" panose="02020603050405020304" pitchFamily="18" charset="0"/>
              </a:rPr>
              <a:t> +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Figure 2.3 shows the effect of varying each of the three parameters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(a) </a:t>
            </a:r>
            <a:r>
              <a:rPr lang="en-US" altLang="en-US" sz="2400" i="1" dirty="0"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cs typeface="Times New Roman" panose="02020603050405020304" pitchFamily="18" charset="0"/>
              </a:rPr>
              <a:t> = 1, </a:t>
            </a:r>
            <a:r>
              <a:rPr lang="en-US" altLang="en-US" sz="2400" i="1" dirty="0"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cs typeface="Times New Roman" panose="02020603050405020304" pitchFamily="18" charset="0"/>
              </a:rPr>
              <a:t> = 1 Hz,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 dirty="0">
                <a:cs typeface="Times New Roman" panose="02020603050405020304" pitchFamily="18" charset="0"/>
              </a:rPr>
              <a:t> = 0; thus </a:t>
            </a:r>
            <a:r>
              <a:rPr lang="en-US" altLang="en-US" sz="2400" i="1" dirty="0"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cs typeface="Times New Roman" panose="02020603050405020304" pitchFamily="18" charset="0"/>
              </a:rPr>
              <a:t> = 1s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(b) Reduced peak amplitude; </a:t>
            </a:r>
            <a:r>
              <a:rPr lang="en-US" altLang="en-US" sz="2400" i="1" dirty="0"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cs typeface="Times New Roman" panose="02020603050405020304" pitchFamily="18" charset="0"/>
              </a:rPr>
              <a:t>=0.5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(c) Increased frequency; </a:t>
            </a:r>
            <a:r>
              <a:rPr lang="en-US" altLang="en-US" sz="2400" i="1" dirty="0"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cs typeface="Times New Roman" panose="02020603050405020304" pitchFamily="18" charset="0"/>
              </a:rPr>
              <a:t> = 2, thus </a:t>
            </a:r>
            <a:r>
              <a:rPr lang="en-US" altLang="en-US" sz="2400" i="1" dirty="0"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cs typeface="Times New Roman" panose="02020603050405020304" pitchFamily="18" charset="0"/>
              </a:rPr>
              <a:t> = ½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(d) Phase shift;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en-US" sz="2400" dirty="0">
                <a:latin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=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400" dirty="0">
                <a:cs typeface="Times New Roman" panose="02020603050405020304" pitchFamily="18" charset="0"/>
              </a:rPr>
              <a:t>/4 radians (45 degrees)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note: 2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800" dirty="0">
                <a:cs typeface="Times New Roman" panose="02020603050405020304" pitchFamily="18" charset="0"/>
              </a:rPr>
              <a:t> radians = 360° = 1 period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160758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DDAD8E-4251-B1BC-60C9-D33D8FB0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12604FE1-0136-7FAA-2306-D15FE78EA3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411569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8DE123-5CDC-91F4-62C6-73A472AC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21" y="365978"/>
            <a:ext cx="7729728" cy="1188720"/>
          </a:xfrm>
        </p:spPr>
        <p:txBody>
          <a:bodyPr/>
          <a:lstStyle/>
          <a:p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Frequency-Domain Concepts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A9456B-EEAB-C279-AD63-0E205E8CC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821" y="1828800"/>
            <a:ext cx="9700043" cy="3911227"/>
          </a:xfrm>
        </p:spPr>
        <p:txBody>
          <a:bodyPr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Fundamental frequency - when all frequency components of a signal are integer multiples of one frequency, it’s referred to as the fundamental frequency.</a:t>
            </a:r>
            <a:endParaRPr lang="en-GB" altLang="en-US" sz="280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Spectrum - range of frequencies that a signal contains.</a:t>
            </a:r>
            <a:endParaRPr kumimoji="0" lang="en-GB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Absolute bandwidth - width of the spectrum of a signal</a:t>
            </a:r>
            <a:r>
              <a:rPr kumimoji="0" lang="ar-JO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280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.</a:t>
            </a:r>
            <a:endParaRPr kumimoji="0" lang="en-GB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Effective bandwidth (or just bandwidth) - narrow band of frequencies that most of the signal’s energy is contained in.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90731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1A7B5A-D69F-85B9-F40A-FEDD9333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79" y="376863"/>
            <a:ext cx="7729728" cy="1188720"/>
          </a:xfrm>
        </p:spPr>
        <p:txBody>
          <a:bodyPr/>
          <a:lstStyle/>
          <a:p>
            <a:pPr algn="l"/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Frequency-Domain Concepts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13D86A-7A44-F986-71B6-CF9D1EDAA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785257"/>
            <a:ext cx="11223171" cy="4695879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Any electromagnetic signal can be shown to consist of a collection of periodic analog signals (sine waves) at different amplitudes, frequencies, and phases 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The period of the total signal is equal to the period of the fundamental frequency 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4101177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956021-5952-1D1D-0276-FA563E85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79" y="289778"/>
            <a:ext cx="7729728" cy="1188720"/>
          </a:xfrm>
        </p:spPr>
        <p:txBody>
          <a:bodyPr>
            <a:normAutofit fontScale="90000"/>
          </a:bodyPr>
          <a:lstStyle/>
          <a:p>
            <a:pPr algn="l"/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Relationship between Data Rate and Bandwidth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E4F9DA-4A33-3EC8-E4DD-2FFA9147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79" y="1741714"/>
            <a:ext cx="11484864" cy="482650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The greater the bandwidth, the higher the information-carrying capacity.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Conclusions: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Any digital waveform will have infinite bandwidth.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BUT the transmission system will limit the bandwidth that can be transmitted.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AND, for any given medium, the greater the bandwidth transmitted, the greater the cost.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HOWEVER, limiting the bandwidth creates distortions 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88402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9FAA7A-49B5-2740-DE47-C31BF0BA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22" y="376864"/>
            <a:ext cx="7729728" cy="1188720"/>
          </a:xfrm>
        </p:spPr>
        <p:txBody>
          <a:bodyPr/>
          <a:lstStyle/>
          <a:p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Data Communication Terms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1508EF-24BC-EAB8-A74B-CC585461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822" y="1796144"/>
            <a:ext cx="9700042" cy="3943884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Data - entities that convey meaning, or information 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Signals - electric or electromagnetic representations of data 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Transmission - communication of data by the propagation and processing of signals .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156369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EFFD22-B4B1-D569-1011-2F78D1A6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268006"/>
            <a:ext cx="7729728" cy="1188720"/>
          </a:xfrm>
        </p:spPr>
        <p:txBody>
          <a:bodyPr>
            <a:normAutofit fontScale="90000"/>
          </a:bodyPr>
          <a:lstStyle/>
          <a:p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Examples of Analog and Digital Data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AE8CEC-B349-01D9-221A-214E4902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709058"/>
            <a:ext cx="9787128" cy="4030970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Analog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Video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Audio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Digital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Text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Integers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48635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8E1A82-2F1F-4BFD-FE17-68A1AE81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50" y="278892"/>
            <a:ext cx="7729728" cy="1188720"/>
          </a:xfrm>
        </p:spPr>
        <p:txBody>
          <a:bodyPr/>
          <a:lstStyle/>
          <a:p>
            <a:pPr algn="l"/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Analog Signals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3F9A944-876C-C59D-1FCC-F7EBB0623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51" y="1687286"/>
            <a:ext cx="9798014" cy="405274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3800" dirty="0">
                <a:cs typeface="Times New Roman" panose="02020603050405020304" pitchFamily="18" charset="0"/>
              </a:rPr>
              <a:t>A continuously varying electromagnetic wave that may be propagated over a variety of media, depending on frequency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3800" dirty="0">
                <a:cs typeface="Times New Roman" panose="02020603050405020304" pitchFamily="18" charset="0"/>
              </a:rPr>
              <a:t>Examples of media: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300" dirty="0">
                <a:cs typeface="Times New Roman" panose="02020603050405020304" pitchFamily="18" charset="0"/>
              </a:rPr>
              <a:t>Copper wire media (twisted pair and coaxial cable)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300" dirty="0">
                <a:cs typeface="Times New Roman" panose="02020603050405020304" pitchFamily="18" charset="0"/>
              </a:rPr>
              <a:t>Fiber optic cable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300" dirty="0">
                <a:cs typeface="Times New Roman" panose="02020603050405020304" pitchFamily="18" charset="0"/>
              </a:rPr>
              <a:t>Atmosphere or space propagation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3800" dirty="0">
                <a:cs typeface="Times New Roman" panose="02020603050405020304" pitchFamily="18" charset="0"/>
              </a:rPr>
              <a:t>Analog signals can propagate analog and digital data </a:t>
            </a:r>
            <a:endParaRPr lang="ar-JO" altLang="en-US" sz="3800" dirty="0"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97934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A88828-B87B-53E4-3425-E5A3C8C3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08" y="202692"/>
            <a:ext cx="7729728" cy="1188720"/>
          </a:xfrm>
        </p:spPr>
        <p:txBody>
          <a:bodyPr/>
          <a:lstStyle/>
          <a:p>
            <a:pPr algn="l"/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j-ea"/>
                <a:cs typeface="Times New Roman" panose="02020603050405020304" pitchFamily="18" charset="0"/>
              </a:rPr>
              <a:t>Digital Signals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427260E-4A4A-13AC-9914-D4675E2E2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08" y="1567543"/>
            <a:ext cx="9765356" cy="4952999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A sequence of voltage pulses that may be transmitted over a copper wire medium 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Generally cheaper than analog signaling 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Less susceptible to noise interference 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Suffer more from attenuation 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Digital signals can propagate analog and digital data 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05552000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557</TotalTime>
  <Words>421</Words>
  <Application>Microsoft Office PowerPoint</Application>
  <PresentationFormat>Custom</PresentationFormat>
  <Paragraphs>50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Parcel</vt:lpstr>
      <vt:lpstr>Slide 1</vt:lpstr>
      <vt:lpstr>Slide 2</vt:lpstr>
      <vt:lpstr>Slide 3</vt:lpstr>
      <vt:lpstr>Slide 4</vt:lpstr>
      <vt:lpstr>Slide 5</vt:lpstr>
      <vt:lpstr>Sine wave parameters</vt:lpstr>
      <vt:lpstr>Slide 7</vt:lpstr>
      <vt:lpstr>Frequency-Domain Concepts</vt:lpstr>
      <vt:lpstr>Frequency-Domain Concepts</vt:lpstr>
      <vt:lpstr>Relationship between Data Rate and Bandwidth</vt:lpstr>
      <vt:lpstr>Data Communication Terms</vt:lpstr>
      <vt:lpstr>Examples of Analog and Digital Data </vt:lpstr>
      <vt:lpstr>Analog Signals</vt:lpstr>
      <vt:lpstr>Digital Signals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Communication And Networking</dc:title>
  <dc:creator>pc</dc:creator>
  <cp:lastModifiedBy>user</cp:lastModifiedBy>
  <cp:revision>8</cp:revision>
  <dcterms:created xsi:type="dcterms:W3CDTF">2022-10-31T17:22:15Z</dcterms:created>
  <dcterms:modified xsi:type="dcterms:W3CDTF">2023-10-12T20:39:57Z</dcterms:modified>
</cp:coreProperties>
</file>
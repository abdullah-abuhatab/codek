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4"/>
  </p:sldMasterIdLst>
  <p:handoutMasterIdLst>
    <p:handoutMasterId r:id="rId34"/>
  </p:handoutMasterIdLst>
  <p:sldIdLst>
    <p:sldId id="260" r:id="rId5"/>
    <p:sldId id="292" r:id="rId6"/>
    <p:sldId id="265" r:id="rId7"/>
    <p:sldId id="266" r:id="rId8"/>
    <p:sldId id="267" r:id="rId9"/>
    <p:sldId id="293" r:id="rId10"/>
    <p:sldId id="268" r:id="rId11"/>
    <p:sldId id="269" r:id="rId12"/>
    <p:sldId id="270" r:id="rId13"/>
    <p:sldId id="271" r:id="rId14"/>
    <p:sldId id="272" r:id="rId15"/>
    <p:sldId id="294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95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9926638" cy="6797675"/>
  <p:defaultTextStyle>
    <a:defPPr>
      <a:defRPr lang="ar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D18A91-63A0-4F07-BD27-4B47433E34DE}" v="54" dt="2018-08-30T16:50:33.1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-96" y="-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43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ACDAA-FFE7-471E-A9CF-3B193606E2C7}" type="datetimeFigureOut">
              <a:rPr lang="en-US" smtClean="0"/>
              <a:pPr/>
              <a:t>10/13/2023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631E9-149E-4C5D-A820-2244B3669E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587948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805BEC-8CBE-4D49-93B3-F9CB7DFD1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787602B-C592-4F39-9CED-BDBFCBD2A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216B69E-4BBB-44AB-A378-39C6F0924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9F7B9DC-A5F1-4C0C-B94C-342FAE77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2AEC6E-B960-4E02-B4AA-2C03DE54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77643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CE4CD2-1B04-45B5-916A-96CC6835E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43AF84B-336C-405A-9BD9-933840C0E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EB77367-B277-4807-9145-0FAB3001B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38B61EC-F798-4F1D-8C52-E9EE9254A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4369FE-3C6D-452B-8E63-E455E7F45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2769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734675" y="0"/>
            <a:ext cx="145732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423267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E8BDE5-7CD9-4DA8-842E-602473DD8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FD48154-BB43-4D6D-B5C8-3B90C74C2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985623E-D5E0-474D-98AD-1C25081E3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4657581-B146-4F74-8D95-1C993D42A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41A7A84-6DF7-4DA8-9C20-6F9ACEE25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1805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09CB32-17D8-4C57-9CD8-0DDACDC24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D0CFDAA-D30A-4107-8DEB-DAEA607E52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1F382A9-AC46-46A7-A36E-26B92E997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3819CA8-F69D-418E-A438-63551613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0629C28-1B9B-4FDF-BE3D-2269F4DF1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20BF7FE-D8E0-4F29-B1E7-DFAA7CD0C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40830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2271C4-B910-4B9A-91D9-34EA1AD2A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D91532A-D42F-4165-B6DF-EFE75200C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160070E-FC06-4D28-9C38-72FADAB9C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4BCEAFB-0983-40FA-8D6E-E7113FCE5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5DC27ED-7D7B-411D-B171-CF6FB2636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BADEB93-C80F-4465-8171-140DAFBD7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ACB3617-142D-4073-9A9F-B88D5568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E914508-E5F3-44C5-8101-1F90C1A7D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65724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EDF80B-A77B-4BCF-8160-7D525E266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D72A92A-9102-4970-8AF7-4F88EE857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DAB5D8C-D57F-421D-A4A8-907E15304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82D60C9-8EEA-4CC0-93FE-2C5BBCB8F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73463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702DDE3-EF1A-4C46-A60E-845D5B503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89B526F-6F2C-4F51-A613-4C90822B0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A8920FC-CD54-42B6-B16E-4746705A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84309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31D23F-7A39-48DF-8137-2A7438633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F47C213-9F23-48A8-8E7B-01E587BF7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AB07C6F-7217-4879-BB68-CB7AE0710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89C5998-15A8-436A-B63E-33947ACE7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8A06C01-FF5C-4F9D-A1BD-DE87419D8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6B3A579-9DD7-447D-82A0-2B6CC4853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66757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A39C06-41E3-4CC7-A5D2-4BBD1D3D7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069D6A0-07C0-44D3-89CE-4B4AA86BE2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066B080-58D5-40EC-8453-04DE431F9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D8CE30E-8AC4-412F-8E95-FF2B28710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21AE46D-57AC-4BEF-9869-5230BF1C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E6B8A7F-939F-441D-B22E-E548894F2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06331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81177B-CAA2-44D5-B3EA-EB1324B39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E5FC0BD-C1C8-4175-8659-C43C170CA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16408BE-7564-4EEF-BA36-2ABDA55F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8CF5EC2-A276-4A83-9C02-F60B764E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DFA7B3C-76ED-4063-92BD-2630B8DC5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62967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6A217FC-BD19-4D1D-99BE-4070445F76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A422A03-00C5-4615-9E83-F26114ECC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9C29EB9-B42D-43C9-96BF-5D34438C8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8D32F33-6D20-4F27-9035-615E14093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DE5F410-2D81-4655-BB58-9698A7005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1590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C3AD970-D50C-435A-9765-5CD196B53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5E85660-FC7D-45ED-928D-C6C67347A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AA7B31-932D-4C3E-9D3A-2F64AB855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8BC3B0E-4E8D-46CC-A0BD-B03AF28A6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213818A-392D-42EE-A9C1-FA2AD4B59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4817" name="Picture 1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10734675" y="0"/>
            <a:ext cx="145732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4233159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user\Desktop\download.jpg">
            <a:extLst>
              <a:ext uri="{FF2B5EF4-FFF2-40B4-BE49-F238E27FC236}">
                <a16:creationId xmlns:a16="http://schemas.microsoft.com/office/drawing/2014/main" xmlns="" id="{5FDCD1D5-00AD-4E5F-8CD0-C6157B7CB5B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8514" y="428451"/>
            <a:ext cx="725805" cy="861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0D9CB2D-B187-44BD-A01C-7023FEC5BB2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347901" y="402738"/>
            <a:ext cx="819785" cy="74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117268" y="2658030"/>
            <a:ext cx="611738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4000" b="1" dirty="0"/>
              <a:t>RF Signals and Modulation </a:t>
            </a:r>
            <a:endParaRPr lang="en-US" sz="4000" dirty="0"/>
          </a:p>
        </p:txBody>
      </p:sp>
      <p:sp>
        <p:nvSpPr>
          <p:cNvPr id="7" name="Right Arrow 6"/>
          <p:cNvSpPr/>
          <p:nvPr/>
        </p:nvSpPr>
        <p:spPr bwMode="auto">
          <a:xfrm>
            <a:off x="2316634" y="290232"/>
            <a:ext cx="2351299" cy="1008112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ar-S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tencil" pitchFamily="82" charset="0"/>
              </a:rPr>
              <a:t>W </a:t>
            </a:r>
            <a:r>
              <a:rPr kumimoji="1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tencil" pitchFamily="82" charset="0"/>
              </a:rPr>
              <a:t>3_P2</a:t>
            </a:r>
            <a:endParaRPr kumimoji="1" lang="ar-JO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tencil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92864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 smtClean="0"/>
              <a:t>  </a:t>
            </a:r>
            <a:r>
              <a:rPr lang="en-US" altLang="en-US" sz="3200" dirty="0"/>
              <a:t>:RF Signals and Modulation </a:t>
            </a:r>
            <a:r>
              <a:rPr lang="en-US" altLang="en-US" sz="4000" dirty="0"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lang="en-US" altLang="en-US" sz="4000" dirty="0"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US" altLang="en-US" sz="32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4206761870"/>
              </p:ext>
            </p:extLst>
          </p:nvPr>
        </p:nvGraphicFramePr>
        <p:xfrm>
          <a:off x="2286000" y="1371600"/>
          <a:ext cx="7467600" cy="426720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740833">
                  <a:extLst>
                    <a:ext uri="{9D8B030D-6E8A-4147-A177-3AD203B41FA5}">
                      <a16:colId xmlns:a16="http://schemas.microsoft.com/office/drawing/2014/main" xmlns="" val="430728342"/>
                    </a:ext>
                  </a:extLst>
                </a:gridCol>
                <a:gridCol w="2991407">
                  <a:extLst>
                    <a:ext uri="{9D8B030D-6E8A-4147-A177-3AD203B41FA5}">
                      <a16:colId xmlns:a16="http://schemas.microsoft.com/office/drawing/2014/main" xmlns="" val="1223918835"/>
                    </a:ext>
                  </a:extLst>
                </a:gridCol>
                <a:gridCol w="3735360">
                  <a:extLst>
                    <a:ext uri="{9D8B030D-6E8A-4147-A177-3AD203B41FA5}">
                      <a16:colId xmlns:a16="http://schemas.microsoft.com/office/drawing/2014/main" xmlns="" val="2109472736"/>
                    </a:ext>
                  </a:extLst>
                </a:gridCol>
              </a:tblGrid>
              <a:tr h="392574"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Week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rtl="0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Course Topic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Notes</a:t>
                      </a:r>
                      <a:endParaRPr lang="en-US" sz="1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373995786"/>
                  </a:ext>
                </a:extLst>
              </a:tr>
              <a:tr h="3874626">
                <a:tc>
                  <a:txBody>
                    <a:bodyPr/>
                    <a:lstStyle/>
                    <a:p>
                      <a:pPr algn="l" rtl="0"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</a:rPr>
                        <a:t>Week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0"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effectLst/>
                        </a:rPr>
                        <a:t>  </a:t>
                      </a:r>
                      <a:r>
                        <a:rPr lang="en-US" sz="1200" b="1" dirty="0">
                          <a:effectLst/>
                        </a:rPr>
                        <a:t>:RF Signals and Modulation 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 algn="l" rtl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effectLst/>
                        </a:rPr>
                        <a:t>1.7 Important dB Laws to Remember </a:t>
                      </a:r>
                      <a:endParaRPr lang="en-US" sz="1600" b="1" dirty="0">
                        <a:effectLst/>
                      </a:endParaRPr>
                    </a:p>
                    <a:p>
                      <a:pPr marL="285750" indent="-285750" algn="l" rtl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effectLst/>
                        </a:rPr>
                        <a:t>1.8 Comparing Power Against a Reference: </a:t>
                      </a:r>
                      <a:r>
                        <a:rPr lang="en-US" sz="1200" b="1" dirty="0" err="1">
                          <a:effectLst/>
                        </a:rPr>
                        <a:t>dBm</a:t>
                      </a:r>
                      <a:r>
                        <a:rPr lang="en-US" sz="1200" b="1" dirty="0">
                          <a:effectLst/>
                        </a:rPr>
                        <a:t> </a:t>
                      </a:r>
                      <a:endParaRPr lang="en-US" sz="1600" b="1" dirty="0">
                        <a:effectLst/>
                      </a:endParaRPr>
                    </a:p>
                    <a:p>
                      <a:pPr marL="285750" indent="-285750" algn="l" rtl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effectLst/>
                        </a:rPr>
                        <a:t>1.9 Measuring Power Changes Along the Signal Path </a:t>
                      </a:r>
                      <a:endParaRPr lang="en-US" sz="1600" b="1" dirty="0">
                        <a:effectLst/>
                      </a:endParaRPr>
                    </a:p>
                    <a:p>
                      <a:pPr marL="285750" indent="-285750" algn="l" rtl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effectLst/>
                        </a:rPr>
                        <a:t>1.10 Understanding Power Levels at the Receiver</a:t>
                      </a:r>
                    </a:p>
                    <a:p>
                      <a:pPr marL="285750" indent="-285750" algn="l" rtl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effectLst/>
                        </a:rPr>
                        <a:t>1.11 Carrying Data Over an RF Signal 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182653163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7186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B175A4-F2ED-4DBB-BAB4-9FEE14D67E6E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49763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3"/>
          <p:cNvGrpSpPr>
            <a:grpSpLocks noGrp="1" noUngrp="1" noChangeAspect="1"/>
          </p:cNvGrpSpPr>
          <p:nvPr/>
        </p:nvGrpSpPr>
        <p:grpSpPr bwMode="auto">
          <a:xfrm>
            <a:off x="2533650" y="3041650"/>
            <a:ext cx="3943350" cy="2978150"/>
            <a:chOff x="687388" y="685800"/>
            <a:chExt cx="7767637" cy="5867400"/>
          </a:xfrm>
        </p:grpSpPr>
        <p:pic>
          <p:nvPicPr>
            <p:cNvPr id="25608" name="Picture 1" descr="cw980114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388" y="685800"/>
              <a:ext cx="7767637" cy="5486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7388" y="6212291"/>
              <a:ext cx="7767637" cy="34090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25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25603" name="TextBox 5"/>
          <p:cNvSpPr txBox="1">
            <a:spLocks noChangeArrowheads="1"/>
          </p:cNvSpPr>
          <p:nvPr/>
        </p:nvSpPr>
        <p:spPr bwMode="auto">
          <a:xfrm>
            <a:off x="2057400" y="6019801"/>
            <a:ext cx="807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1-14 Comparing Power Levels Between Transmitters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2560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AF7A22-5129-4582-B134-6ED1BD140CD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2084388" y="381001"/>
            <a:ext cx="81264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Sometimes you might need to compare the </a:t>
            </a:r>
            <a:r>
              <a:rPr lang="en-US" altLang="en-US" sz="1800" b="1" dirty="0"/>
              <a:t>power level between two different transmitters. </a:t>
            </a:r>
            <a:r>
              <a:rPr lang="en-US" altLang="en-US" sz="1800" dirty="0"/>
              <a:t>For example,</a:t>
            </a:r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2098676" y="1447801"/>
            <a:ext cx="89703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T2 is 9 </a:t>
            </a:r>
            <a:r>
              <a:rPr lang="en-US" altLang="en-US" sz="1800" b="1" dirty="0" err="1"/>
              <a:t>mW</a:t>
            </a:r>
            <a:r>
              <a:rPr lang="en-US" altLang="en-US" sz="1800" b="1" dirty="0"/>
              <a:t> </a:t>
            </a:r>
            <a:r>
              <a:rPr lang="en-US" altLang="en-US" sz="1800" dirty="0"/>
              <a:t>stronger than </a:t>
            </a:r>
            <a:r>
              <a:rPr lang="en-US" altLang="en-US" sz="1800" b="1" dirty="0"/>
              <a:t>T1</a:t>
            </a:r>
            <a:r>
              <a:rPr lang="en-US" altLang="en-US" sz="1800" dirty="0"/>
              <a:t>. You might also notice that </a:t>
            </a:r>
            <a:r>
              <a:rPr lang="en-US" altLang="en-US" sz="1800" b="1" dirty="0"/>
              <a:t>T2 is 10 times stronger </a:t>
            </a:r>
            <a:r>
              <a:rPr lang="en-US" altLang="en-US" sz="1800" dirty="0"/>
              <a:t>than T1.</a:t>
            </a:r>
          </a:p>
        </p:txBody>
      </p:sp>
    </p:spTree>
    <p:extLst>
      <p:ext uri="{BB962C8B-B14F-4D97-AF65-F5344CB8AC3E}">
        <p14:creationId xmlns:p14="http://schemas.microsoft.com/office/powerpoint/2010/main" xmlns="" val="960429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3"/>
          <p:cNvGrpSpPr>
            <a:grpSpLocks noGrp="1" noUngrp="1" noChangeAspect="1"/>
          </p:cNvGrpSpPr>
          <p:nvPr/>
        </p:nvGrpSpPr>
        <p:grpSpPr bwMode="auto">
          <a:xfrm>
            <a:off x="3743325" y="2743201"/>
            <a:ext cx="2946400" cy="3298825"/>
            <a:chOff x="1952625" y="685800"/>
            <a:chExt cx="5238750" cy="5867400"/>
          </a:xfrm>
        </p:grpSpPr>
        <p:pic>
          <p:nvPicPr>
            <p:cNvPr id="26631" name="Picture 1" descr="cw980115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2625" y="685800"/>
              <a:ext cx="5238750" cy="5486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1952625" y="6211548"/>
              <a:ext cx="5238750" cy="341652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325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26627" name="TextBox 5"/>
          <p:cNvSpPr txBox="1">
            <a:spLocks noChangeArrowheads="1"/>
          </p:cNvSpPr>
          <p:nvPr/>
        </p:nvSpPr>
        <p:spPr bwMode="auto">
          <a:xfrm>
            <a:off x="2057400" y="6019801"/>
            <a:ext cx="807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1-15 Comparing Power Levels That Differ By Orders of Magnitude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2662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6630" name="Rectangle 4"/>
          <p:cNvSpPr>
            <a:spLocks noChangeArrowheads="1"/>
          </p:cNvSpPr>
          <p:nvPr/>
        </p:nvSpPr>
        <p:spPr bwMode="auto">
          <a:xfrm>
            <a:off x="2209800" y="1143000"/>
            <a:ext cx="7467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T5 is 1,000,000 times stronger than T4!</a:t>
            </a:r>
          </a:p>
        </p:txBody>
      </p:sp>
    </p:spTree>
    <p:extLst>
      <p:ext uri="{BB962C8B-B14F-4D97-AF65-F5344CB8AC3E}">
        <p14:creationId xmlns:p14="http://schemas.microsoft.com/office/powerpoint/2010/main" xmlns="" val="198119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27651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36C42A-DF0A-471A-BFA9-E8737DCF7ACD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2133600" y="533400"/>
            <a:ext cx="7772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u="sng" dirty="0"/>
              <a:t>The base-10 logarithm function, denoted by log10, computes how many times 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u="sng" dirty="0"/>
              <a:t>can be multiplied by itself to equal a number. For example, log</a:t>
            </a:r>
            <a:r>
              <a:rPr lang="en-US" altLang="en-US" sz="1600" u="sng" dirty="0"/>
              <a:t>10</a:t>
            </a:r>
            <a:r>
              <a:rPr lang="en-US" altLang="en-US" sz="1800" u="sng" dirty="0"/>
              <a:t>(10) equals 1 because 10 is used only once to get the result of 10. The log10(100) equals 2 because 10 is multiplied twice (10 × 10), </a:t>
            </a:r>
            <a:r>
              <a:rPr lang="en-US" altLang="en-US" sz="1800" dirty="0"/>
              <a:t>to reach the result of 100. </a:t>
            </a:r>
            <a:r>
              <a:rPr lang="ar-JO" altLang="en-US" sz="1800" dirty="0" smtClean="0">
                <a:solidFill>
                  <a:srgbClr val="FF0000"/>
                </a:solidFill>
              </a:rPr>
              <a:t>حلو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27653" name="Rectangle 4"/>
          <p:cNvSpPr>
            <a:spLocks noChangeArrowheads="1"/>
          </p:cNvSpPr>
          <p:nvPr/>
        </p:nvSpPr>
        <p:spPr bwMode="auto">
          <a:xfrm>
            <a:off x="2143126" y="2057401"/>
            <a:ext cx="81438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The decibel (dB)</a:t>
            </a:r>
            <a:r>
              <a:rPr lang="en-US" altLang="en-US" sz="1800" dirty="0"/>
              <a:t> is a handy function that </a:t>
            </a:r>
            <a:r>
              <a:rPr lang="en-US" altLang="en-US" sz="1800" u="sng" dirty="0"/>
              <a:t>uses logarithms to compare one absolute measurement to another</a:t>
            </a:r>
            <a:r>
              <a:rPr lang="en-US" altLang="en-US" sz="1800" dirty="0"/>
              <a:t>. It was originally developed to </a:t>
            </a:r>
            <a:r>
              <a:rPr lang="en-US" altLang="en-US" sz="1800" b="1" dirty="0"/>
              <a:t>compare sound intensity levels</a:t>
            </a:r>
            <a:r>
              <a:rPr lang="en-US" altLang="en-US" sz="1800" dirty="0"/>
              <a:t>, but it </a:t>
            </a:r>
            <a:r>
              <a:rPr lang="en-US" altLang="en-US" sz="1800" b="1" dirty="0"/>
              <a:t>applies directly to power levels</a:t>
            </a:r>
            <a:r>
              <a:rPr lang="en-US" altLang="en-US" sz="1800" dirty="0"/>
              <a:t>, </a:t>
            </a:r>
          </a:p>
        </p:txBody>
      </p:sp>
      <p:sp>
        <p:nvSpPr>
          <p:cNvPr id="27654" name="Rectangle 5"/>
          <p:cNvSpPr>
            <a:spLocks noChangeArrowheads="1"/>
          </p:cNvSpPr>
          <p:nvPr/>
        </p:nvSpPr>
        <p:spPr bwMode="auto">
          <a:xfrm>
            <a:off x="2143126" y="3302001"/>
            <a:ext cx="79914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The following equation is used to calculate a dB value, where P1 and P2 are the absolute power levels of two sources:</a:t>
            </a:r>
          </a:p>
        </p:txBody>
      </p:sp>
      <p:pic>
        <p:nvPicPr>
          <p:cNvPr id="27655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141789"/>
            <a:ext cx="3055938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6" name="Rectangle 7"/>
          <p:cNvSpPr>
            <a:spLocks noChangeArrowheads="1"/>
          </p:cNvSpPr>
          <p:nvPr/>
        </p:nvSpPr>
        <p:spPr bwMode="auto">
          <a:xfrm>
            <a:off x="2095500" y="4589463"/>
            <a:ext cx="85725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P2</a:t>
            </a:r>
            <a:r>
              <a:rPr lang="en-US" altLang="en-US" sz="1800" dirty="0"/>
              <a:t> represents the </a:t>
            </a:r>
            <a:r>
              <a:rPr lang="en-US" altLang="en-US" sz="1800" b="1" dirty="0">
                <a:solidFill>
                  <a:srgbClr val="FF0000"/>
                </a:solidFill>
              </a:rPr>
              <a:t>source of interest</a:t>
            </a:r>
            <a:r>
              <a:rPr lang="en-US" altLang="en-US" sz="1800" dirty="0"/>
              <a:t>, and </a:t>
            </a:r>
            <a:r>
              <a:rPr lang="en-US" altLang="en-US" sz="1800" b="1" dirty="0"/>
              <a:t>P1</a:t>
            </a:r>
            <a:r>
              <a:rPr lang="en-US" altLang="en-US" sz="1800" dirty="0"/>
              <a:t> is usually called the </a:t>
            </a:r>
            <a:r>
              <a:rPr lang="en-US" altLang="en-US" sz="1800" b="1" dirty="0">
                <a:solidFill>
                  <a:srgbClr val="FF0000"/>
                </a:solidFill>
              </a:rPr>
              <a:t>reference value </a:t>
            </a:r>
            <a:r>
              <a:rPr lang="en-US" altLang="en-US" sz="1800" dirty="0"/>
              <a:t>or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source of comparison.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The difference between the two logarithmic functions </a:t>
            </a:r>
            <a:r>
              <a:rPr lang="en-US" altLang="en-US" sz="1800" dirty="0"/>
              <a:t>can be rewritten as a single logarithm of P2 divided by P1, as follows:</a:t>
            </a:r>
          </a:p>
        </p:txBody>
      </p:sp>
      <p:pic>
        <p:nvPicPr>
          <p:cNvPr id="27657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9800" y="5894388"/>
            <a:ext cx="22034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96827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 t="15010" b="10400"/>
          <a:stretch>
            <a:fillRect/>
          </a:stretch>
        </p:blipFill>
        <p:spPr bwMode="auto">
          <a:xfrm>
            <a:off x="1219200" y="869430"/>
            <a:ext cx="9753600" cy="5456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2867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899519-DC4A-4AB7-B9BC-26963B5B96C5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8676" name="Rectangle 3"/>
          <p:cNvSpPr>
            <a:spLocks noChangeArrowheads="1"/>
          </p:cNvSpPr>
          <p:nvPr/>
        </p:nvSpPr>
        <p:spPr bwMode="auto">
          <a:xfrm>
            <a:off x="2062164" y="457201"/>
            <a:ext cx="3981731" cy="410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</a:pPr>
            <a:r>
              <a:rPr lang="en-US" altLang="en-US" sz="1800" b="1" dirty="0"/>
              <a:t>1.7 Important dB Laws to </a:t>
            </a:r>
            <a:r>
              <a:rPr lang="en-US" altLang="en-US" sz="1800" b="1" dirty="0" smtClean="0"/>
              <a:t>Remember</a:t>
            </a:r>
            <a:endParaRPr lang="en-US" altLang="en-US" sz="2400" b="1" i="1" dirty="0">
              <a:solidFill>
                <a:srgbClr val="FF0000"/>
              </a:solidFill>
            </a:endParaRPr>
          </a:p>
        </p:txBody>
      </p:sp>
      <p:sp>
        <p:nvSpPr>
          <p:cNvPr id="28677" name="Rectangle 4"/>
          <p:cNvSpPr>
            <a:spLocks noChangeArrowheads="1"/>
          </p:cNvSpPr>
          <p:nvPr/>
        </p:nvSpPr>
        <p:spPr bwMode="auto">
          <a:xfrm>
            <a:off x="2286000" y="1143001"/>
            <a:ext cx="7924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 dirty="0"/>
              <a:t>There are </a:t>
            </a:r>
            <a:r>
              <a:rPr lang="en-US" altLang="en-US" sz="1800" b="1" dirty="0"/>
              <a:t>three cases </a:t>
            </a:r>
            <a:r>
              <a:rPr lang="en-US" altLang="en-US" sz="1800" dirty="0"/>
              <a:t>where you can use mental math </a:t>
            </a:r>
            <a:r>
              <a:rPr lang="en-US" altLang="en-US" sz="1800" b="1" dirty="0"/>
              <a:t>to make power-level comparisons using dB.</a:t>
            </a:r>
          </a:p>
        </p:txBody>
      </p:sp>
      <p:sp>
        <p:nvSpPr>
          <p:cNvPr id="28678" name="Rectangle 5"/>
          <p:cNvSpPr>
            <a:spLocks noChangeArrowheads="1"/>
          </p:cNvSpPr>
          <p:nvPr/>
        </p:nvSpPr>
        <p:spPr bwMode="auto">
          <a:xfrm>
            <a:off x="2400300" y="1854200"/>
            <a:ext cx="769620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You should memorize the following </a:t>
            </a:r>
            <a:r>
              <a:rPr lang="en-US" altLang="en-US" sz="1800" b="1" u="sng" dirty="0"/>
              <a:t>three laws</a:t>
            </a:r>
            <a:r>
              <a:rPr lang="en-US" altLang="en-US" sz="1800" dirty="0"/>
              <a:t>, with are </a:t>
            </a:r>
            <a:r>
              <a:rPr lang="en-US" altLang="en-US" sz="1800" b="1" dirty="0"/>
              <a:t>based on dB changes of 0, 3, and 10, respectively</a:t>
            </a:r>
            <a:r>
              <a:rPr lang="en-US" altLang="en-US" sz="1800" dirty="0"/>
              <a:t>, and are known as the </a:t>
            </a:r>
            <a:r>
              <a:rPr lang="en-US" altLang="en-US" sz="1800" b="1" dirty="0"/>
              <a:t>Law of Zero</a:t>
            </a:r>
            <a:r>
              <a:rPr lang="en-US" altLang="en-US" sz="1800" dirty="0"/>
              <a:t>, </a:t>
            </a:r>
            <a:r>
              <a:rPr lang="en-US" altLang="en-US" sz="1800" b="1" dirty="0"/>
              <a:t>Law of 3s</a:t>
            </a:r>
            <a:r>
              <a:rPr lang="en-US" altLang="en-US" sz="1800" dirty="0"/>
              <a:t>, and </a:t>
            </a:r>
            <a:r>
              <a:rPr lang="en-US" altLang="en-US" sz="1800" b="1" dirty="0"/>
              <a:t>Law of 10s. </a:t>
            </a:r>
          </a:p>
        </p:txBody>
      </p:sp>
      <p:sp>
        <p:nvSpPr>
          <p:cNvPr id="28679" name="Rectangle 6"/>
          <p:cNvSpPr>
            <a:spLocks noChangeArrowheads="1"/>
          </p:cNvSpPr>
          <p:nvPr/>
        </p:nvSpPr>
        <p:spPr bwMode="auto">
          <a:xfrm>
            <a:off x="2359025" y="2862263"/>
            <a:ext cx="80772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1- Law of Zero—A </a:t>
            </a:r>
            <a:r>
              <a:rPr lang="en-US" altLang="en-US" sz="1800"/>
              <a:t>value of 0 dB means that the two absolute power values </a:t>
            </a:r>
            <a:r>
              <a:rPr lang="en-US" altLang="en-US" sz="1800" b="1"/>
              <a:t>are equal.</a:t>
            </a:r>
          </a:p>
        </p:txBody>
      </p:sp>
      <p:sp>
        <p:nvSpPr>
          <p:cNvPr id="28680" name="Rectangle 7"/>
          <p:cNvSpPr>
            <a:spLocks noChangeArrowheads="1"/>
          </p:cNvSpPr>
          <p:nvPr/>
        </p:nvSpPr>
        <p:spPr bwMode="auto">
          <a:xfrm>
            <a:off x="2971801" y="3168650"/>
            <a:ext cx="7858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If the </a:t>
            </a:r>
            <a:r>
              <a:rPr lang="en-US" altLang="en-US" sz="1800" b="1"/>
              <a:t>two power values are equal</a:t>
            </a:r>
            <a:r>
              <a:rPr lang="en-US" altLang="en-US" sz="1800"/>
              <a:t>, the ratio inside the logarithm is</a:t>
            </a:r>
            <a:r>
              <a:rPr lang="en-US" altLang="en-US" sz="1800" b="1"/>
              <a:t> 1</a:t>
            </a:r>
          </a:p>
        </p:txBody>
      </p:sp>
      <p:sp>
        <p:nvSpPr>
          <p:cNvPr id="28681" name="Rectangle 8"/>
          <p:cNvSpPr>
            <a:spLocks noChangeArrowheads="1"/>
          </p:cNvSpPr>
          <p:nvPr/>
        </p:nvSpPr>
        <p:spPr bwMode="auto">
          <a:xfrm>
            <a:off x="2317750" y="3754439"/>
            <a:ext cx="80899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2-</a:t>
            </a:r>
            <a:r>
              <a:rPr lang="en-US" altLang="en-US" sz="1800"/>
              <a:t> Law of 3s—A value of </a:t>
            </a:r>
            <a:r>
              <a:rPr lang="en-US" altLang="en-US" sz="1800" b="1"/>
              <a:t>3 dB </a:t>
            </a:r>
            <a:r>
              <a:rPr lang="en-US" altLang="en-US" sz="1800"/>
              <a:t>means that the </a:t>
            </a:r>
            <a:r>
              <a:rPr lang="en-US" altLang="en-US" sz="1800" b="1"/>
              <a:t>power value of interest is </a:t>
            </a:r>
            <a:r>
              <a:rPr lang="en-US" altLang="en-US" sz="1800" b="1" u="sng"/>
              <a:t>double</a:t>
            </a:r>
            <a:r>
              <a:rPr lang="en-US" altLang="en-US" sz="1800" b="1"/>
              <a:t> the reference value</a:t>
            </a:r>
            <a:r>
              <a:rPr lang="en-US" altLang="en-US" sz="1800"/>
              <a:t>; a value of </a:t>
            </a:r>
            <a:r>
              <a:rPr lang="en-US" altLang="en-US" sz="1800" b="1"/>
              <a:t>–3 dB </a:t>
            </a:r>
            <a:r>
              <a:rPr lang="en-US" altLang="en-US" sz="1800"/>
              <a:t>means the power value of interest is </a:t>
            </a:r>
            <a:r>
              <a:rPr lang="en-US" altLang="en-US" sz="1800" b="1"/>
              <a:t>half the reference.</a:t>
            </a:r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2297113" y="4895850"/>
            <a:ext cx="815340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 </a:t>
            </a:r>
            <a:r>
              <a:rPr lang="en-US" altLang="en-US" sz="1800" b="1" dirty="0"/>
              <a:t>3-</a:t>
            </a:r>
            <a:r>
              <a:rPr lang="en-US" altLang="en-US" sz="1800" dirty="0"/>
              <a:t> </a:t>
            </a:r>
            <a:r>
              <a:rPr lang="en-US" altLang="en-US" sz="1800" b="1" dirty="0"/>
              <a:t>Law of 10s—A </a:t>
            </a:r>
            <a:r>
              <a:rPr lang="en-US" altLang="en-US" sz="1800" dirty="0"/>
              <a:t>value of 10 dB means that the power value of interest is 10 times the reference value; a value of –10 dB means the power value of interest is 1/10 of the reference.</a:t>
            </a:r>
          </a:p>
        </p:txBody>
      </p:sp>
    </p:spTree>
    <p:extLst>
      <p:ext uri="{BB962C8B-B14F-4D97-AF65-F5344CB8AC3E}">
        <p14:creationId xmlns:p14="http://schemas.microsoft.com/office/powerpoint/2010/main" xmlns="" val="2404647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29699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866E3F-EAFC-4973-9D0D-CC61F73957C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970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33400"/>
            <a:ext cx="6878638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20399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3"/>
          <p:cNvGrpSpPr>
            <a:grpSpLocks noGrp="1" noUngrp="1" noChangeAspect="1"/>
          </p:cNvGrpSpPr>
          <p:nvPr/>
        </p:nvGrpSpPr>
        <p:grpSpPr bwMode="auto">
          <a:xfrm>
            <a:off x="2600325" y="2743200"/>
            <a:ext cx="4249738" cy="3276600"/>
            <a:chOff x="766763" y="685800"/>
            <a:chExt cx="7608887" cy="5867400"/>
          </a:xfrm>
        </p:grpSpPr>
        <p:pic>
          <p:nvPicPr>
            <p:cNvPr id="30728" name="Picture 1" descr="cw980116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6763" y="685800"/>
              <a:ext cx="7608887" cy="5486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766763" y="6212072"/>
              <a:ext cx="7608887" cy="341128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325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30723" name="TextBox 5"/>
          <p:cNvSpPr txBox="1">
            <a:spLocks noChangeArrowheads="1"/>
          </p:cNvSpPr>
          <p:nvPr/>
        </p:nvSpPr>
        <p:spPr bwMode="auto">
          <a:xfrm>
            <a:off x="2133600" y="5888039"/>
            <a:ext cx="4495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1-16 Comparing Power Levels Using dB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CCNA wireless 200-355 </a:t>
            </a:r>
            <a:r>
              <a:rPr lang="en-US" dirty="0" err="1"/>
              <a:t>Dr.ammar</a:t>
            </a:r>
            <a:r>
              <a:rPr lang="en-US" dirty="0"/>
              <a:t> almomani-2019</a:t>
            </a:r>
          </a:p>
        </p:txBody>
      </p:sp>
      <p:sp>
        <p:nvSpPr>
          <p:cNvPr id="3072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22A081-BB57-4B18-AEDB-AF521D70E9F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0726" name="Rectangle 8"/>
          <p:cNvSpPr>
            <a:spLocks noChangeArrowheads="1"/>
          </p:cNvSpPr>
          <p:nvPr/>
        </p:nvSpPr>
        <p:spPr bwMode="auto">
          <a:xfrm>
            <a:off x="2133600" y="303213"/>
            <a:ext cx="8077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 example problems to see whether you understand how to compare two power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values using dB. In Figure 1-16, sources A, B, and C transmit at 4, 8, and 16 mW, respectively. Source B is double the value of A, so it must be 3 dB greater than A. Likewise, source C is double the value of B, so it must be 3 dB greater than B.</a:t>
            </a:r>
          </a:p>
        </p:txBody>
      </p:sp>
      <p:sp>
        <p:nvSpPr>
          <p:cNvPr id="30727" name="Rectangle 4"/>
          <p:cNvSpPr>
            <a:spLocks noChangeArrowheads="1"/>
          </p:cNvSpPr>
          <p:nvPr/>
        </p:nvSpPr>
        <p:spPr bwMode="auto">
          <a:xfrm>
            <a:off x="7086600" y="2060575"/>
            <a:ext cx="34290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You can also compare sources A and C. To get from A to C, you have to </a:t>
            </a:r>
            <a:r>
              <a:rPr lang="en-US" altLang="en-US" sz="1800" b="1"/>
              <a:t>double A</a:t>
            </a:r>
            <a:r>
              <a:rPr lang="en-US" altLang="en-US" sz="1800"/>
              <a:t>, and then </a:t>
            </a:r>
            <a:r>
              <a:rPr lang="en-US" altLang="en-US" sz="1800" b="1"/>
              <a:t>double it again</a:t>
            </a:r>
            <a:r>
              <a:rPr lang="en-US" altLang="en-US" sz="1800"/>
              <a:t>. Each time you double a value, </a:t>
            </a:r>
            <a:r>
              <a:rPr lang="en-US" altLang="en-US" sz="1800" b="1"/>
              <a:t>just add 3 dB</a:t>
            </a:r>
            <a:r>
              <a:rPr lang="en-US" altLang="en-US" sz="1800"/>
              <a:t>. Therefore, </a:t>
            </a:r>
            <a:r>
              <a:rPr lang="en-US" altLang="en-US" sz="1800" b="1"/>
              <a:t>C is 3 dB + 3 dB </a:t>
            </a:r>
            <a:r>
              <a:rPr lang="en-US" altLang="en-US" sz="1800"/>
              <a:t>= </a:t>
            </a:r>
            <a:r>
              <a:rPr lang="en-US" altLang="en-US" sz="1800" b="1"/>
              <a:t>6 dB </a:t>
            </a:r>
            <a:r>
              <a:rPr lang="en-US" altLang="en-US" sz="1800"/>
              <a:t>greater than A.</a:t>
            </a:r>
          </a:p>
        </p:txBody>
      </p:sp>
    </p:spTree>
    <p:extLst>
      <p:ext uri="{BB962C8B-B14F-4D97-AF65-F5344CB8AC3E}">
        <p14:creationId xmlns:p14="http://schemas.microsoft.com/office/powerpoint/2010/main" xmlns="" val="2910965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3"/>
          <p:cNvGrpSpPr>
            <a:grpSpLocks noGrp="1" noUngrp="1" noChangeAspect="1"/>
          </p:cNvGrpSpPr>
          <p:nvPr/>
        </p:nvGrpSpPr>
        <p:grpSpPr bwMode="auto">
          <a:xfrm>
            <a:off x="3997326" y="2667000"/>
            <a:ext cx="2735263" cy="3352800"/>
            <a:chOff x="2178050" y="685800"/>
            <a:chExt cx="4786313" cy="5867400"/>
          </a:xfrm>
        </p:grpSpPr>
        <p:pic>
          <p:nvPicPr>
            <p:cNvPr id="31752" name="Picture 1" descr="cw980117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8050" y="685800"/>
              <a:ext cx="4786313" cy="5486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2178050" y="6211492"/>
              <a:ext cx="4786313" cy="34170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325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31747" name="TextBox 5"/>
          <p:cNvSpPr txBox="1">
            <a:spLocks noChangeArrowheads="1"/>
          </p:cNvSpPr>
          <p:nvPr/>
        </p:nvSpPr>
        <p:spPr bwMode="auto">
          <a:xfrm>
            <a:off x="2057400" y="6019801"/>
            <a:ext cx="807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1-17 Example of Computing dB with Simple Rules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3174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81A501-0389-471F-AC1C-B6F87283B326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1750" name="Rectangle 8"/>
          <p:cNvSpPr>
            <a:spLocks noChangeArrowheads="1"/>
          </p:cNvSpPr>
          <p:nvPr/>
        </p:nvSpPr>
        <p:spPr bwMode="auto">
          <a:xfrm>
            <a:off x="1979614" y="381001"/>
            <a:ext cx="40354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</a:pPr>
            <a:r>
              <a:rPr lang="en-US" altLang="en-US" sz="1800" b="1"/>
              <a:t>1.7 Important dB Laws to Remember </a:t>
            </a:r>
            <a:endParaRPr lang="en-US" altLang="en-US" sz="2400" b="1"/>
          </a:p>
        </p:txBody>
      </p:sp>
      <p:sp>
        <p:nvSpPr>
          <p:cNvPr id="31751" name="Rectangle 4"/>
          <p:cNvSpPr>
            <a:spLocks noChangeArrowheads="1"/>
          </p:cNvSpPr>
          <p:nvPr/>
        </p:nvSpPr>
        <p:spPr bwMode="auto">
          <a:xfrm>
            <a:off x="2057400" y="1009651"/>
            <a:ext cx="84582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Sources D and E have power levels </a:t>
            </a:r>
            <a:r>
              <a:rPr lang="en-US" altLang="en-US" sz="1800" b="1"/>
              <a:t>5 and 200 mW</a:t>
            </a:r>
            <a:r>
              <a:rPr lang="en-US" altLang="en-US" sz="1800"/>
              <a:t>. Try to figure out a way to go from 5 to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200 using only ×2 or ×10 operations. You can double 5 to get 10, then double 10 to get 20, and then multiply by 10 to reach 200 mW. Next, use the dB laws to replace the doubling and ×10 with the dB equivalents. The result is E = D + 3 + 3 + 10 or E = D + 16 dB.</a:t>
            </a:r>
          </a:p>
        </p:txBody>
      </p:sp>
    </p:spTree>
    <p:extLst>
      <p:ext uri="{BB962C8B-B14F-4D97-AF65-F5344CB8AC3E}">
        <p14:creationId xmlns:p14="http://schemas.microsoft.com/office/powerpoint/2010/main" xmlns="" val="364292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3"/>
          <p:cNvGrpSpPr>
            <a:grpSpLocks noGrp="1" noUngrp="1" noChangeAspect="1"/>
          </p:cNvGrpSpPr>
          <p:nvPr/>
        </p:nvGrpSpPr>
        <p:grpSpPr bwMode="auto">
          <a:xfrm>
            <a:off x="2362200" y="1974851"/>
            <a:ext cx="6858000" cy="1882775"/>
            <a:chOff x="685800" y="2551113"/>
            <a:chExt cx="7772400" cy="2135187"/>
          </a:xfrm>
        </p:grpSpPr>
        <p:pic>
          <p:nvPicPr>
            <p:cNvPr id="32780" name="Picture 1" descr="cw980118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2551113"/>
              <a:ext cx="7772400" cy="1754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4344238"/>
              <a:ext cx="7772400" cy="342062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70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32771" name="TextBox 5"/>
          <p:cNvSpPr txBox="1">
            <a:spLocks noChangeArrowheads="1"/>
          </p:cNvSpPr>
          <p:nvPr/>
        </p:nvSpPr>
        <p:spPr bwMode="auto">
          <a:xfrm>
            <a:off x="2057400" y="3725864"/>
            <a:ext cx="807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1-18 Example of RF Signal Power Loss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3277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65B247-82D8-47CC-9326-36892B98F8FD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2774" name="Rectangle 3"/>
          <p:cNvSpPr>
            <a:spLocks noChangeArrowheads="1"/>
          </p:cNvSpPr>
          <p:nvPr/>
        </p:nvSpPr>
        <p:spPr bwMode="auto">
          <a:xfrm>
            <a:off x="1905000" y="215900"/>
            <a:ext cx="6705600" cy="410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800" b="1"/>
              <a:t>1.8 Comparing Power Against a Reference: dBm </a:t>
            </a:r>
            <a:endParaRPr lang="en-US" altLang="en-US" sz="2400" b="1"/>
          </a:p>
        </p:txBody>
      </p:sp>
      <p:sp>
        <p:nvSpPr>
          <p:cNvPr id="32775" name="Rectangle 6"/>
          <p:cNvSpPr>
            <a:spLocks noChangeArrowheads="1"/>
          </p:cNvSpPr>
          <p:nvPr/>
        </p:nvSpPr>
        <p:spPr bwMode="auto">
          <a:xfrm>
            <a:off x="1849438" y="854075"/>
            <a:ext cx="807720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Figure 1-18 shows a simple scenario with a transmitter and a receiver. Nothing in the real world is ideal, so assume that something along the path of the signal will induce a net loss. </a:t>
            </a:r>
          </a:p>
        </p:txBody>
      </p:sp>
      <p:sp>
        <p:nvSpPr>
          <p:cNvPr id="32776" name="Rectangle 12"/>
          <p:cNvSpPr>
            <a:spLocks noChangeArrowheads="1"/>
          </p:cNvSpPr>
          <p:nvPr/>
        </p:nvSpPr>
        <p:spPr bwMode="auto">
          <a:xfrm>
            <a:off x="1731964" y="4159251"/>
            <a:ext cx="794543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You could leverage the handy dB formula to compare the received signal strength to the transmitted signal strength, as long as you can remember the formula and have a calculator near by:</a:t>
            </a:r>
          </a:p>
        </p:txBody>
      </p:sp>
      <p:pic>
        <p:nvPicPr>
          <p:cNvPr id="32777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31964" y="5048250"/>
            <a:ext cx="18256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8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70364" y="4991100"/>
            <a:ext cx="3373437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9" name="Rectangle 15"/>
          <p:cNvSpPr>
            <a:spLocks noChangeArrowheads="1"/>
          </p:cNvSpPr>
          <p:nvPr/>
        </p:nvSpPr>
        <p:spPr bwMode="auto">
          <a:xfrm>
            <a:off x="1731963" y="5722938"/>
            <a:ext cx="85899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/>
              <a:t>The net loss over the signal path turns out to be a decrease of 65 dB. </a:t>
            </a:r>
            <a:r>
              <a:rPr lang="en-US" altLang="en-US" sz="1800"/>
              <a:t>Knowing that, you decide to try a different transmit power level to see what would happen at the receiver</a:t>
            </a:r>
          </a:p>
        </p:txBody>
      </p:sp>
    </p:spTree>
    <p:extLst>
      <p:ext uri="{BB962C8B-B14F-4D97-AF65-F5344CB8AC3E}">
        <p14:creationId xmlns:p14="http://schemas.microsoft.com/office/powerpoint/2010/main" xmlns="" val="379291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 bwMode="auto">
          <a:xfrm>
            <a:off x="2362200" y="1974851"/>
            <a:ext cx="6858000" cy="1882775"/>
            <a:chOff x="685800" y="2551113"/>
            <a:chExt cx="7772400" cy="2135187"/>
          </a:xfrm>
        </p:grpSpPr>
        <p:pic>
          <p:nvPicPr>
            <p:cNvPr id="32780" name="Picture 1" descr="cw980118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2551113"/>
              <a:ext cx="7772400" cy="1754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4344238"/>
              <a:ext cx="7772400" cy="342062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70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32771" name="TextBox 5"/>
          <p:cNvSpPr txBox="1">
            <a:spLocks noChangeArrowheads="1"/>
          </p:cNvSpPr>
          <p:nvPr/>
        </p:nvSpPr>
        <p:spPr bwMode="auto">
          <a:xfrm>
            <a:off x="2057400" y="3725864"/>
            <a:ext cx="807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1-18 Example of RF Signal Power Loss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3277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65B247-82D8-47CC-9326-36892B98F8FD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2774" name="Rectangle 3"/>
          <p:cNvSpPr>
            <a:spLocks noChangeArrowheads="1"/>
          </p:cNvSpPr>
          <p:nvPr/>
        </p:nvSpPr>
        <p:spPr bwMode="auto">
          <a:xfrm>
            <a:off x="1905000" y="215900"/>
            <a:ext cx="6705600" cy="410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800" b="1"/>
              <a:t>1.8 Comparing Power Against a Reference: dBm </a:t>
            </a:r>
            <a:endParaRPr lang="en-US" altLang="en-US" sz="2400" b="1"/>
          </a:p>
        </p:txBody>
      </p:sp>
      <p:sp>
        <p:nvSpPr>
          <p:cNvPr id="32775" name="Rectangle 6"/>
          <p:cNvSpPr>
            <a:spLocks noChangeArrowheads="1"/>
          </p:cNvSpPr>
          <p:nvPr/>
        </p:nvSpPr>
        <p:spPr bwMode="auto">
          <a:xfrm>
            <a:off x="1849438" y="854075"/>
            <a:ext cx="807720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Figure 1-18 shows a simple scenario with a transmitter and a receiver. Nothing in the real world is ideal, so assume that something along the path of the signal will induce a net loss. </a:t>
            </a:r>
          </a:p>
        </p:txBody>
      </p:sp>
      <p:sp>
        <p:nvSpPr>
          <p:cNvPr id="32776" name="Rectangle 12"/>
          <p:cNvSpPr>
            <a:spLocks noChangeArrowheads="1"/>
          </p:cNvSpPr>
          <p:nvPr/>
        </p:nvSpPr>
        <p:spPr bwMode="auto">
          <a:xfrm>
            <a:off x="1731964" y="4159251"/>
            <a:ext cx="794543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You could leverage the handy dB formula to compare the received signal strength to the transmitted signal strength, as long as you can remember the formula and have a calculator near by:</a:t>
            </a:r>
          </a:p>
        </p:txBody>
      </p:sp>
      <p:pic>
        <p:nvPicPr>
          <p:cNvPr id="32777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31964" y="5048250"/>
            <a:ext cx="18256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8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70364" y="4991100"/>
            <a:ext cx="3373437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9" name="Rectangle 15"/>
          <p:cNvSpPr>
            <a:spLocks noChangeArrowheads="1"/>
          </p:cNvSpPr>
          <p:nvPr/>
        </p:nvSpPr>
        <p:spPr bwMode="auto">
          <a:xfrm>
            <a:off x="1731963" y="5722938"/>
            <a:ext cx="85899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/>
              <a:t>The net loss over the signal path turns out to be a decrease of 65 dB. </a:t>
            </a:r>
            <a:r>
              <a:rPr lang="en-US" altLang="en-US" sz="1800"/>
              <a:t>Knowing that, you decide to try a different transmit power level to see what would happen at the receiver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19200" y="0"/>
            <a:ext cx="975360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79291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3"/>
          <p:cNvGrpSpPr>
            <a:grpSpLocks noGrp="1" noUngrp="1" noChangeAspect="1"/>
          </p:cNvGrpSpPr>
          <p:nvPr/>
        </p:nvGrpSpPr>
        <p:grpSpPr bwMode="auto">
          <a:xfrm>
            <a:off x="2168525" y="1655763"/>
            <a:ext cx="7772400" cy="2362200"/>
            <a:chOff x="685800" y="2438400"/>
            <a:chExt cx="7772400" cy="2362200"/>
          </a:xfrm>
        </p:grpSpPr>
        <p:pic>
          <p:nvPicPr>
            <p:cNvPr id="33800" name="Picture 1" descr="cw980119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2438400"/>
              <a:ext cx="7772400" cy="198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44577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33795" name="TextBox 5"/>
          <p:cNvSpPr txBox="1">
            <a:spLocks noChangeArrowheads="1"/>
          </p:cNvSpPr>
          <p:nvPr/>
        </p:nvSpPr>
        <p:spPr bwMode="auto">
          <a:xfrm>
            <a:off x="2057400" y="3768726"/>
            <a:ext cx="807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1-19 Subtracting dB to Represent a Loss in Signal Strength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3379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A7A677-11E4-4D6C-B337-AE9BEC06E17F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1752600" y="228601"/>
            <a:ext cx="8915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Figure 1-19. Notice that the dBm values can be added along the path: The transmitter dBm plus the net loss in dB equals the received signal in dBm.</a:t>
            </a: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2168526" y="4557713"/>
            <a:ext cx="80422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In </a:t>
            </a:r>
            <a:r>
              <a:rPr lang="en-US" altLang="en-US" sz="1800" b="1"/>
              <a:t>wireless networks</a:t>
            </a:r>
            <a:r>
              <a:rPr lang="en-US" altLang="en-US" sz="1800"/>
              <a:t>, the reference power level is usually </a:t>
            </a:r>
            <a:r>
              <a:rPr lang="en-US" altLang="en-US" sz="1800" b="1"/>
              <a:t>1 mW</a:t>
            </a:r>
            <a:r>
              <a:rPr lang="en-US" altLang="en-US" sz="1800"/>
              <a:t>, so the units are designated by dBm (</a:t>
            </a:r>
            <a:r>
              <a:rPr lang="en-US" altLang="en-US" sz="1800" b="1"/>
              <a:t>dB-milliwatt</a:t>
            </a:r>
            <a:r>
              <a:rPr lang="en-US" altLang="en-US" sz="180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xmlns="" val="268160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3"/>
          <p:cNvGrpSpPr>
            <a:grpSpLocks noGrp="1" noUngrp="1" noChangeAspect="1"/>
          </p:cNvGrpSpPr>
          <p:nvPr/>
        </p:nvGrpSpPr>
        <p:grpSpPr bwMode="auto">
          <a:xfrm>
            <a:off x="1676400" y="2760664"/>
            <a:ext cx="5181600" cy="3209925"/>
            <a:chOff x="685800" y="1493838"/>
            <a:chExt cx="7772400" cy="4251325"/>
          </a:xfrm>
        </p:grpSpPr>
        <p:pic>
          <p:nvPicPr>
            <p:cNvPr id="34828" name="Picture 1" descr="cw980120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493838"/>
              <a:ext cx="7772400" cy="387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5402449"/>
              <a:ext cx="7772400" cy="342714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55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34819" name="TextBox 5"/>
          <p:cNvSpPr txBox="1">
            <a:spLocks noChangeArrowheads="1"/>
          </p:cNvSpPr>
          <p:nvPr/>
        </p:nvSpPr>
        <p:spPr bwMode="auto">
          <a:xfrm>
            <a:off x="2057400" y="6019801"/>
            <a:ext cx="3200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1-20 Calculating EIRP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CCNA wireless 200-355 </a:t>
            </a:r>
            <a:r>
              <a:rPr lang="en-US" dirty="0" err="1"/>
              <a:t>Dr.ammar</a:t>
            </a:r>
            <a:r>
              <a:rPr lang="en-US" dirty="0"/>
              <a:t> almomani-2019</a:t>
            </a:r>
          </a:p>
        </p:txBody>
      </p:sp>
      <p:sp>
        <p:nvSpPr>
          <p:cNvPr id="3482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B7491F-EEB0-4EFA-BF96-3DD7E03821BF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4822" name="Rectangle 3"/>
          <p:cNvSpPr>
            <a:spLocks noChangeArrowheads="1"/>
          </p:cNvSpPr>
          <p:nvPr/>
        </p:nvSpPr>
        <p:spPr bwMode="auto">
          <a:xfrm>
            <a:off x="2051050" y="125413"/>
            <a:ext cx="7473950" cy="410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/>
              <a:t>1.9 Measuring Power Changes Along the Signal </a:t>
            </a:r>
            <a:r>
              <a:rPr lang="en-US" altLang="en-US" sz="1800" b="1" dirty="0" smtClean="0"/>
              <a:t>Path </a:t>
            </a:r>
            <a:r>
              <a:rPr lang="ar-JO" altLang="en-US" sz="1800" b="1" i="1" dirty="0" smtClean="0">
                <a:solidFill>
                  <a:srgbClr val="FF0000"/>
                </a:solidFill>
              </a:rPr>
              <a:t> غير مهم </a:t>
            </a:r>
            <a:endParaRPr lang="en-US" altLang="en-US" sz="2400" b="1" dirty="0"/>
          </a:p>
        </p:txBody>
      </p:sp>
      <p:sp>
        <p:nvSpPr>
          <p:cNvPr id="34823" name="Rectangle 4"/>
          <p:cNvSpPr>
            <a:spLocks noChangeArrowheads="1"/>
          </p:cNvSpPr>
          <p:nvPr/>
        </p:nvSpPr>
        <p:spPr bwMode="auto">
          <a:xfrm>
            <a:off x="1530350" y="636588"/>
            <a:ext cx="88471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/>
              <a:t>Up to this point, this chapter has considered a transmitter and its antenna to be </a:t>
            </a:r>
            <a:r>
              <a:rPr lang="en-US" altLang="en-US" sz="1800" b="1"/>
              <a:t>a single unit</a:t>
            </a:r>
            <a:r>
              <a:rPr lang="en-US" altLang="en-US" sz="1800"/>
              <a:t>. </a:t>
            </a:r>
          </a:p>
        </p:txBody>
      </p:sp>
      <p:sp>
        <p:nvSpPr>
          <p:cNvPr id="34824" name="Rectangle 5"/>
          <p:cNvSpPr>
            <a:spLocks noChangeArrowheads="1"/>
          </p:cNvSpPr>
          <p:nvPr/>
        </p:nvSpPr>
        <p:spPr bwMode="auto">
          <a:xfrm>
            <a:off x="1530350" y="1103313"/>
            <a:ext cx="84518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/>
              <a:t>When an </a:t>
            </a:r>
            <a:r>
              <a:rPr lang="en-US" altLang="en-US" sz="1800" b="1"/>
              <a:t>antenna</a:t>
            </a:r>
            <a:r>
              <a:rPr lang="en-US" altLang="en-US" sz="1800"/>
              <a:t> is connected to a transmitter, it provides some amount of </a:t>
            </a:r>
            <a:r>
              <a:rPr lang="en-US" altLang="en-US" sz="1800" b="1"/>
              <a:t>gain to the resulting RF signal.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0350" y="1914526"/>
            <a:ext cx="8847138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b="1" dirty="0"/>
              <a:t>By itself, an antenna does not generate any amount of absolute power</a:t>
            </a:r>
            <a:r>
              <a:rPr lang="en-US" dirty="0"/>
              <a:t>. In other words, </a:t>
            </a:r>
          </a:p>
          <a:p>
            <a:pPr>
              <a:defRPr/>
            </a:pPr>
            <a:r>
              <a:rPr lang="en-US" dirty="0"/>
              <a:t>when an antenna is disconnected, no </a:t>
            </a:r>
            <a:r>
              <a:rPr lang="en-US" dirty="0" err="1"/>
              <a:t>milliwatts</a:t>
            </a:r>
            <a:r>
              <a:rPr lang="en-US" dirty="0"/>
              <a:t> of power are being pushed out of it</a:t>
            </a:r>
          </a:p>
        </p:txBody>
      </p:sp>
      <p:sp>
        <p:nvSpPr>
          <p:cNvPr id="34826" name="Rectangle 7"/>
          <p:cNvSpPr>
            <a:spLocks noChangeArrowheads="1"/>
          </p:cNvSpPr>
          <p:nvPr/>
        </p:nvSpPr>
        <p:spPr bwMode="auto">
          <a:xfrm>
            <a:off x="7086600" y="2827339"/>
            <a:ext cx="35814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the complete combination of transmitter power level, </a:t>
            </a:r>
            <a:r>
              <a:rPr lang="en-US" altLang="en-US" sz="1800" b="1" dirty="0"/>
              <a:t>the length of cable, and the antenna gain</a:t>
            </a:r>
            <a:r>
              <a:rPr lang="en-US" altLang="en-US" sz="1800" dirty="0"/>
              <a:t>, you can figure out </a:t>
            </a:r>
            <a:r>
              <a:rPr lang="en-US" altLang="en-US" sz="1800" b="1" dirty="0"/>
              <a:t>the actual power level </a:t>
            </a:r>
            <a:r>
              <a:rPr lang="en-US" altLang="en-US" sz="1800" dirty="0"/>
              <a:t>that will be radiated from the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antenna. This is known as the </a:t>
            </a:r>
            <a:r>
              <a:rPr lang="en-US" altLang="en-US" sz="1800" b="1" dirty="0"/>
              <a:t>effective isotropic </a:t>
            </a:r>
            <a:r>
              <a:rPr lang="ar-JO" altLang="en-US" sz="1800" b="1" dirty="0" smtClean="0"/>
              <a:t>متماثل </a:t>
            </a:r>
            <a:r>
              <a:rPr lang="en-US" altLang="en-US" sz="1800" b="1" dirty="0" smtClean="0"/>
              <a:t>radiated </a:t>
            </a:r>
            <a:r>
              <a:rPr lang="en-US" altLang="en-US" sz="1800" b="1" dirty="0"/>
              <a:t>power (EIRP), measured in </a:t>
            </a:r>
            <a:r>
              <a:rPr lang="en-US" altLang="en-US" sz="1800" b="1" dirty="0" err="1"/>
              <a:t>dBm</a:t>
            </a:r>
            <a:r>
              <a:rPr lang="en-US" altLang="en-US" sz="1800" b="1" dirty="0"/>
              <a:t>.</a:t>
            </a:r>
          </a:p>
        </p:txBody>
      </p:sp>
      <p:sp>
        <p:nvSpPr>
          <p:cNvPr id="34827" name="Rectangle 8"/>
          <p:cNvSpPr>
            <a:spLocks noChangeArrowheads="1"/>
          </p:cNvSpPr>
          <p:nvPr/>
        </p:nvSpPr>
        <p:spPr bwMode="auto">
          <a:xfrm>
            <a:off x="7016750" y="5394326"/>
            <a:ext cx="35194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a </a:t>
            </a:r>
            <a:r>
              <a:rPr lang="en-US" altLang="en-US" sz="1800" b="1" dirty="0"/>
              <a:t>system cannot </a:t>
            </a:r>
            <a:r>
              <a:rPr lang="en-US" altLang="en-US" sz="1800" dirty="0"/>
              <a:t>radiate signals higher than a maximum allowable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/>
              <a:t>EIRP</a:t>
            </a:r>
            <a:r>
              <a:rPr lang="en-US" altLang="en-US" sz="1800" dirty="0" smtClean="0"/>
              <a:t>. </a:t>
            </a:r>
            <a:r>
              <a:rPr lang="ar-JO" altLang="en-US" sz="1800" dirty="0" smtClean="0"/>
              <a:t>شيء طبيعي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85253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3584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20E482-647E-462B-B72D-7CF82051AB71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5844" name="Rectangle 3"/>
          <p:cNvSpPr>
            <a:spLocks noChangeArrowheads="1"/>
          </p:cNvSpPr>
          <p:nvPr/>
        </p:nvSpPr>
        <p:spPr bwMode="auto">
          <a:xfrm>
            <a:off x="2225944" y="4077345"/>
            <a:ext cx="8763000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/>
              <a:t>Calculating </a:t>
            </a:r>
            <a:r>
              <a:rPr lang="en-US" altLang="en-US" sz="1800" b="1" dirty="0" smtClean="0"/>
              <a:t>EIRP </a:t>
            </a:r>
            <a:endParaRPr lang="en-US" altLang="en-US" sz="18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Suppose a transmitter is configured for a power level of 10 </a:t>
            </a:r>
            <a:r>
              <a:rPr lang="en-US" altLang="en-US" sz="1800" dirty="0" err="1"/>
              <a:t>dBm</a:t>
            </a:r>
            <a:r>
              <a:rPr lang="en-US" altLang="en-US" sz="1800" dirty="0"/>
              <a:t> (10 </a:t>
            </a:r>
            <a:r>
              <a:rPr lang="en-US" altLang="en-US" sz="1800" dirty="0" err="1"/>
              <a:t>mW</a:t>
            </a:r>
            <a:r>
              <a:rPr lang="en-US" altLang="en-US" sz="1800" dirty="0"/>
              <a:t>). A cable with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5-dB loss connects the transmitter to an antenna with an 8-dBi gain</a:t>
            </a:r>
            <a:r>
              <a:rPr lang="en-US" altLang="en-US" sz="1800" dirty="0" smtClean="0"/>
              <a:t>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 smtClean="0"/>
              <a:t> </a:t>
            </a:r>
            <a:r>
              <a:rPr lang="en-US" altLang="en-US" sz="1800" dirty="0"/>
              <a:t>The resulting </a:t>
            </a:r>
            <a:r>
              <a:rPr lang="en-US" altLang="en-US" sz="2000" b="1" dirty="0" smtClean="0"/>
              <a:t>RP</a:t>
            </a:r>
            <a:r>
              <a:rPr lang="en-US" altLang="en-US" sz="1800" dirty="0" smtClean="0"/>
              <a:t> of  the </a:t>
            </a:r>
            <a:r>
              <a:rPr lang="en-US" altLang="en-US" sz="1800" dirty="0"/>
              <a:t>system is </a:t>
            </a:r>
            <a:endParaRPr lang="en-US" altLang="en-US" sz="1800" dirty="0" smtClean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 smtClean="0"/>
              <a:t>10 </a:t>
            </a:r>
            <a:r>
              <a:rPr lang="en-US" altLang="en-US" sz="1800" b="1" dirty="0" err="1"/>
              <a:t>dBm</a:t>
            </a:r>
            <a:r>
              <a:rPr lang="en-US" altLang="en-US" sz="1800" b="1" dirty="0"/>
              <a:t> – 5 dB + 8 </a:t>
            </a:r>
            <a:r>
              <a:rPr lang="en-US" altLang="en-US" sz="1800" b="1" dirty="0" err="1"/>
              <a:t>dBi</a:t>
            </a:r>
            <a:r>
              <a:rPr lang="en-US" altLang="en-US" sz="1800" b="1" dirty="0"/>
              <a:t>, or 13 </a:t>
            </a:r>
            <a:r>
              <a:rPr lang="en-US" altLang="en-US" sz="1800" b="1" dirty="0" err="1"/>
              <a:t>dBm</a:t>
            </a:r>
            <a:r>
              <a:rPr lang="en-US" altLang="en-US" sz="1800" b="1" dirty="0"/>
              <a:t>.</a:t>
            </a:r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0107" y="406346"/>
            <a:ext cx="5248275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Left Arrow 8"/>
          <p:cNvSpPr/>
          <p:nvPr/>
        </p:nvSpPr>
        <p:spPr>
          <a:xfrm>
            <a:off x="5207430" y="2572719"/>
            <a:ext cx="4308529" cy="1224366"/>
          </a:xfrm>
          <a:prstGeom prst="lef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JO" b="1" dirty="0" smtClean="0">
                <a:solidFill>
                  <a:schemeClr val="tx1"/>
                </a:solidFill>
              </a:rPr>
              <a:t>قانون مهم لحساب قوة الاشاره المرسله 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Radiation Power </a:t>
            </a:r>
            <a:r>
              <a:rPr lang="en-US" altLang="en-US" b="1" dirty="0" smtClean="0">
                <a:solidFill>
                  <a:schemeClr val="tx1"/>
                </a:solidFill>
              </a:rPr>
              <a:t>RP</a:t>
            </a:r>
            <a:endParaRPr lang="ar-JO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57175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3"/>
          <p:cNvGrpSpPr>
            <a:grpSpLocks noGrp="1" noUngrp="1" noChangeAspect="1"/>
          </p:cNvGrpSpPr>
          <p:nvPr/>
        </p:nvGrpSpPr>
        <p:grpSpPr bwMode="auto">
          <a:xfrm>
            <a:off x="2209800" y="2314575"/>
            <a:ext cx="7772400" cy="2609850"/>
            <a:chOff x="685800" y="2314575"/>
            <a:chExt cx="7772400" cy="2609850"/>
          </a:xfrm>
        </p:grpSpPr>
        <p:pic>
          <p:nvPicPr>
            <p:cNvPr id="36870" name="Picture 1" descr="cw980121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2314575"/>
              <a:ext cx="7772400" cy="2228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4581525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36867" name="TextBox 5"/>
          <p:cNvSpPr txBox="1">
            <a:spLocks noChangeArrowheads="1"/>
          </p:cNvSpPr>
          <p:nvPr/>
        </p:nvSpPr>
        <p:spPr bwMode="auto">
          <a:xfrm>
            <a:off x="2209800" y="4897439"/>
            <a:ext cx="807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1-21 Calculating Received Signal Strength Over the Path of an RF Signal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3686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0DF3E5-F4D5-460D-8F6A-C00ADD06142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8431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3"/>
          <p:cNvGrpSpPr>
            <a:grpSpLocks noGrp="1" noUngrp="1" noChangeAspect="1"/>
          </p:cNvGrpSpPr>
          <p:nvPr/>
        </p:nvGrpSpPr>
        <p:grpSpPr bwMode="auto">
          <a:xfrm>
            <a:off x="2209800" y="2235201"/>
            <a:ext cx="7772400" cy="2767013"/>
            <a:chOff x="685800" y="2235200"/>
            <a:chExt cx="7772400" cy="2767013"/>
          </a:xfrm>
        </p:grpSpPr>
        <p:pic>
          <p:nvPicPr>
            <p:cNvPr id="37894" name="Picture 1" descr="cw980122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2235200"/>
              <a:ext cx="7772400" cy="2386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4659313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37891" name="TextBox 5"/>
          <p:cNvSpPr txBox="1">
            <a:spLocks noChangeArrowheads="1"/>
          </p:cNvSpPr>
          <p:nvPr/>
        </p:nvSpPr>
        <p:spPr bwMode="auto">
          <a:xfrm>
            <a:off x="2057400" y="6019801"/>
            <a:ext cx="807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1-22 Example of Calculating Received Signal Strength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3789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5C699A-83A0-498B-8C47-C7226E9BA26A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4111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3"/>
          <p:cNvGrpSpPr>
            <a:grpSpLocks noGrp="1" noUngrp="1" noChangeAspect="1"/>
          </p:cNvGrpSpPr>
          <p:nvPr/>
        </p:nvGrpSpPr>
        <p:grpSpPr bwMode="auto">
          <a:xfrm>
            <a:off x="2209800" y="1906588"/>
            <a:ext cx="7086600" cy="2317750"/>
            <a:chOff x="685800" y="1906588"/>
            <a:chExt cx="7772400" cy="3425825"/>
          </a:xfrm>
        </p:grpSpPr>
        <p:pic>
          <p:nvPicPr>
            <p:cNvPr id="38923" name="Picture 1" descr="cw980123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906588"/>
              <a:ext cx="7772400" cy="304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4989831"/>
              <a:ext cx="7772400" cy="342583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475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38915" name="TextBox 5"/>
          <p:cNvSpPr txBox="1">
            <a:spLocks noChangeArrowheads="1"/>
          </p:cNvSpPr>
          <p:nvPr/>
        </p:nvSpPr>
        <p:spPr bwMode="auto">
          <a:xfrm>
            <a:off x="2590800" y="4064001"/>
            <a:ext cx="4495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1-23 Example of Receiver Sensitivity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3891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72F355-2307-4DEF-833E-3B465263B05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8918" name="Rectangle 3"/>
          <p:cNvSpPr>
            <a:spLocks noChangeArrowheads="1"/>
          </p:cNvSpPr>
          <p:nvPr/>
        </p:nvSpPr>
        <p:spPr bwMode="auto">
          <a:xfrm>
            <a:off x="1905000" y="250826"/>
            <a:ext cx="6340098" cy="410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/>
              <a:t>1.10 Understanding Power Levels at the </a:t>
            </a:r>
            <a:r>
              <a:rPr lang="en-US" altLang="en-US" sz="1800" b="1" dirty="0" smtClean="0"/>
              <a:t>Receiver  </a:t>
            </a:r>
            <a:r>
              <a:rPr lang="ar-JO" altLang="en-US" sz="1800" b="1" dirty="0" smtClean="0"/>
              <a:t>الثلاثاء 1/11</a:t>
            </a:r>
            <a:r>
              <a:rPr lang="en-US" altLang="en-US" sz="1800" b="1" dirty="0" smtClean="0"/>
              <a:t> </a:t>
            </a:r>
            <a:endParaRPr lang="en-US" altLang="en-US" sz="2400" b="1" dirty="0">
              <a:cs typeface="Calibri" panose="020F0502020204030204" pitchFamily="34" charset="0"/>
            </a:endParaRPr>
          </a:p>
        </p:txBody>
      </p:sp>
      <p:sp>
        <p:nvSpPr>
          <p:cNvPr id="38919" name="Rectangle 4"/>
          <p:cNvSpPr>
            <a:spLocks noChangeArrowheads="1"/>
          </p:cNvSpPr>
          <p:nvPr/>
        </p:nvSpPr>
        <p:spPr bwMode="auto">
          <a:xfrm>
            <a:off x="1676400" y="714375"/>
            <a:ext cx="883920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at the receiving end of the signal path, a receiver expects to find a signal on a </a:t>
            </a:r>
            <a:r>
              <a:rPr lang="en-US" altLang="en-US" sz="1800" dirty="0" err="1"/>
              <a:t>predeter</a:t>
            </a:r>
            <a:r>
              <a:rPr lang="en-US" altLang="en-US" sz="1800" dirty="0"/>
              <a:t>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mined frequency, with enough power to contain useful data. </a:t>
            </a:r>
            <a:r>
              <a:rPr lang="en-US" altLang="en-US" sz="1800" b="1" dirty="0"/>
              <a:t>Receivers</a:t>
            </a:r>
            <a:r>
              <a:rPr lang="en-US" altLang="en-US" sz="1800" dirty="0"/>
              <a:t> measure a signal’s power in </a:t>
            </a:r>
            <a:r>
              <a:rPr lang="en-US" altLang="en-US" sz="1800" dirty="0" err="1"/>
              <a:t>dBm</a:t>
            </a:r>
            <a:r>
              <a:rPr lang="en-US" altLang="en-US" sz="1800" dirty="0"/>
              <a:t> according to the </a:t>
            </a:r>
            <a:r>
              <a:rPr lang="en-US" altLang="en-US" sz="1800" b="1" dirty="0"/>
              <a:t>received</a:t>
            </a:r>
            <a:r>
              <a:rPr lang="en-US" altLang="en-US" sz="1800" dirty="0"/>
              <a:t> </a:t>
            </a:r>
            <a:r>
              <a:rPr lang="en-US" altLang="en-US" sz="1800" b="1" dirty="0"/>
              <a:t>signal strength indicator (RSSI) </a:t>
            </a:r>
            <a:r>
              <a:rPr lang="en-US" altLang="en-US" sz="1800" dirty="0"/>
              <a:t>scale.</a:t>
            </a:r>
          </a:p>
        </p:txBody>
      </p:sp>
      <p:sp>
        <p:nvSpPr>
          <p:cNvPr id="38920" name="Rectangle 5"/>
          <p:cNvSpPr>
            <a:spLocks noChangeArrowheads="1"/>
          </p:cNvSpPr>
          <p:nvPr/>
        </p:nvSpPr>
        <p:spPr bwMode="auto">
          <a:xfrm>
            <a:off x="1735138" y="4497388"/>
            <a:ext cx="82296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When you work with wireless LAN devices, the EIRP levels </a:t>
            </a:r>
            <a:r>
              <a:rPr lang="en-US" altLang="en-US" sz="1800" b="1" dirty="0"/>
              <a:t>leaving the transmitter’s antenna </a:t>
            </a:r>
            <a:r>
              <a:rPr lang="en-US" altLang="en-US" sz="1800" dirty="0"/>
              <a:t>normally range from </a:t>
            </a:r>
            <a:r>
              <a:rPr lang="en-US" altLang="en-US" sz="1800" b="1" dirty="0"/>
              <a:t>100 </a:t>
            </a:r>
            <a:r>
              <a:rPr lang="en-US" altLang="en-US" sz="1800" b="1" dirty="0" err="1"/>
              <a:t>mW</a:t>
            </a:r>
            <a:r>
              <a:rPr lang="en-US" altLang="en-US" sz="1800" b="1" dirty="0"/>
              <a:t> down to 1 </a:t>
            </a:r>
            <a:r>
              <a:rPr lang="en-US" altLang="en-US" sz="1800" b="1" dirty="0" err="1"/>
              <a:t>mW</a:t>
            </a:r>
            <a:endParaRPr lang="en-US" altLang="en-US" sz="1800" b="1" dirty="0"/>
          </a:p>
        </p:txBody>
      </p:sp>
      <p:sp>
        <p:nvSpPr>
          <p:cNvPr id="38921" name="Rectangle 6"/>
          <p:cNvSpPr>
            <a:spLocks noChangeArrowheads="1"/>
          </p:cNvSpPr>
          <p:nvPr/>
        </p:nvSpPr>
        <p:spPr bwMode="auto">
          <a:xfrm>
            <a:off x="1697038" y="5232401"/>
            <a:ext cx="8305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/>
              <a:t>The corresponding </a:t>
            </a:r>
            <a:r>
              <a:rPr lang="en-US" altLang="en-US" sz="1800" dirty="0"/>
              <a:t>range of received signal levels is from </a:t>
            </a:r>
            <a:r>
              <a:rPr lang="en-US" altLang="en-US" sz="1800" b="1" dirty="0"/>
              <a:t>0 </a:t>
            </a:r>
            <a:r>
              <a:rPr lang="en-US" altLang="en-US" sz="1800" b="1" dirty="0" err="1"/>
              <a:t>dBm</a:t>
            </a:r>
            <a:r>
              <a:rPr lang="en-US" altLang="en-US" sz="1800" b="1" dirty="0"/>
              <a:t> down to about –100 </a:t>
            </a:r>
            <a:r>
              <a:rPr lang="en-US" altLang="en-US" sz="1800" b="1" dirty="0" err="1"/>
              <a:t>dBm</a:t>
            </a:r>
            <a:r>
              <a:rPr lang="en-US" altLang="en-US" sz="1800" dirty="0"/>
              <a:t>.</a:t>
            </a:r>
          </a:p>
        </p:txBody>
      </p:sp>
      <p:sp>
        <p:nvSpPr>
          <p:cNvPr id="38922" name="Rectangle 7"/>
          <p:cNvSpPr>
            <a:spLocks noChangeArrowheads="1"/>
          </p:cNvSpPr>
          <p:nvPr/>
        </p:nvSpPr>
        <p:spPr bwMode="auto">
          <a:xfrm>
            <a:off x="1697038" y="5862639"/>
            <a:ext cx="84375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Therefore, the </a:t>
            </a:r>
            <a:r>
              <a:rPr lang="en-US" altLang="en-US" sz="1800" b="1"/>
              <a:t>RSSI</a:t>
            </a:r>
            <a:r>
              <a:rPr lang="en-US" altLang="en-US" sz="1800"/>
              <a:t> of a received signal can </a:t>
            </a:r>
            <a:r>
              <a:rPr lang="en-US" altLang="en-US" sz="1800" b="1"/>
              <a:t>range from 0 to –100</a:t>
            </a:r>
          </a:p>
        </p:txBody>
      </p:sp>
    </p:spTree>
    <p:extLst>
      <p:ext uri="{BB962C8B-B14F-4D97-AF65-F5344CB8AC3E}">
        <p14:creationId xmlns:p14="http://schemas.microsoft.com/office/powerpoint/2010/main" xmlns="" val="42193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3"/>
          <p:cNvGrpSpPr>
            <a:grpSpLocks noGrp="1" noUngrp="1" noChangeAspect="1"/>
          </p:cNvGrpSpPr>
          <p:nvPr/>
        </p:nvGrpSpPr>
        <p:grpSpPr bwMode="auto">
          <a:xfrm>
            <a:off x="1421969" y="2141243"/>
            <a:ext cx="5638800" cy="3268663"/>
            <a:chOff x="685800" y="1703388"/>
            <a:chExt cx="7772400" cy="3832225"/>
          </a:xfrm>
        </p:grpSpPr>
        <p:pic>
          <p:nvPicPr>
            <p:cNvPr id="39945" name="Picture 1" descr="cw980124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703388"/>
              <a:ext cx="7772400" cy="3451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5193151"/>
              <a:ext cx="7772400" cy="342462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625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39939" name="TextBox 5"/>
          <p:cNvSpPr txBox="1">
            <a:spLocks noChangeArrowheads="1"/>
          </p:cNvSpPr>
          <p:nvPr/>
        </p:nvSpPr>
        <p:spPr bwMode="auto">
          <a:xfrm>
            <a:off x="1295400" y="5056189"/>
            <a:ext cx="5943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1-24 Example of a Changing Noise Floor and SNR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3994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FD7D7E-E57A-4604-A46B-9C6F2CF1644B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9942" name="Rectangle 3"/>
          <p:cNvSpPr>
            <a:spLocks noChangeArrowheads="1"/>
          </p:cNvSpPr>
          <p:nvPr/>
        </p:nvSpPr>
        <p:spPr bwMode="auto">
          <a:xfrm>
            <a:off x="1565276" y="242888"/>
            <a:ext cx="8569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/>
              <a:t> its signal strength must be greater than the noise floor by a decent amount so that it can be received and understood correctly.</a:t>
            </a:r>
          </a:p>
        </p:txBody>
      </p:sp>
      <p:sp>
        <p:nvSpPr>
          <p:cNvPr id="39943" name="Rectangle 4"/>
          <p:cNvSpPr>
            <a:spLocks noChangeArrowheads="1"/>
          </p:cNvSpPr>
          <p:nvPr/>
        </p:nvSpPr>
        <p:spPr bwMode="auto">
          <a:xfrm>
            <a:off x="2036764" y="1052513"/>
            <a:ext cx="7335837" cy="6461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The difference between the signal and the noise is called the </a:t>
            </a:r>
            <a:r>
              <a:rPr lang="en-US" altLang="en-US" sz="1800" b="1" dirty="0"/>
              <a:t>signal-to-noise ratio (SNR), </a:t>
            </a:r>
            <a:r>
              <a:rPr lang="en-US" altLang="en-US" sz="1800" dirty="0"/>
              <a:t>measured in </a:t>
            </a:r>
            <a:r>
              <a:rPr lang="en-US" altLang="en-US" sz="1800" dirty="0" err="1"/>
              <a:t>dB.</a:t>
            </a:r>
            <a:r>
              <a:rPr lang="en-US" altLang="en-US" sz="1800" dirty="0"/>
              <a:t> A higher SNR value is preferred.</a:t>
            </a:r>
          </a:p>
        </p:txBody>
      </p:sp>
      <p:sp>
        <p:nvSpPr>
          <p:cNvPr id="39944" name="Rectangle 5"/>
          <p:cNvSpPr>
            <a:spLocks noChangeArrowheads="1"/>
          </p:cNvSpPr>
          <p:nvPr/>
        </p:nvSpPr>
        <p:spPr bwMode="auto">
          <a:xfrm>
            <a:off x="7543800" y="1725614"/>
            <a:ext cx="28194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1800"/>
              <a:t>Figure 1-24 shows the RSSI of a signal compared with the noise floor that is received. The RSSI averages around –54 dBm. On the left side of the graph, the noise floor is –90 dBm.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1800"/>
              <a:t>The resulting SNR is –54 dBm – (–90) dBm or 36 dB. Toward the right side of the graph, the noise floor gradually increases to –65 dBm, reducing the SNR to 11 dB. The signal is so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1800"/>
              <a:t>close to the noise that it might not be usable.</a:t>
            </a:r>
          </a:p>
        </p:txBody>
      </p:sp>
    </p:spTree>
    <p:extLst>
      <p:ext uri="{BB962C8B-B14F-4D97-AF65-F5344CB8AC3E}">
        <p14:creationId xmlns:p14="http://schemas.microsoft.com/office/powerpoint/2010/main" xmlns="" val="3281584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4096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C8FEFA-66CE-45B1-92F4-287A1F67CE82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0964" name="Rectangle 3"/>
          <p:cNvSpPr>
            <a:spLocks noChangeArrowheads="1"/>
          </p:cNvSpPr>
          <p:nvPr/>
        </p:nvSpPr>
        <p:spPr bwMode="auto">
          <a:xfrm>
            <a:off x="1876938" y="1728842"/>
            <a:ext cx="400208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US" altLang="en-US" sz="1800" b="1" dirty="0"/>
              <a:t>1.11 Carrying Data Over an RF Signal </a:t>
            </a:r>
            <a:endParaRPr lang="en-US" altLang="en-US" sz="2400" b="1" dirty="0">
              <a:cs typeface="Calibri" panose="020F0502020204030204" pitchFamily="34" charset="0"/>
            </a:endParaRPr>
          </a:p>
        </p:txBody>
      </p:sp>
      <p:sp>
        <p:nvSpPr>
          <p:cNvPr id="40965" name="Rectangle 4"/>
          <p:cNvSpPr>
            <a:spLocks noChangeArrowheads="1"/>
          </p:cNvSpPr>
          <p:nvPr/>
        </p:nvSpPr>
        <p:spPr bwMode="auto">
          <a:xfrm>
            <a:off x="1222699" y="2582675"/>
            <a:ext cx="10396308" cy="1295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600" b="1" u="sng" dirty="0">
                <a:latin typeface="Arial Black" pitchFamily="34" charset="0"/>
              </a:rPr>
              <a:t>This basic RF signal is called a carrier signal</a:t>
            </a:r>
            <a:r>
              <a:rPr lang="en-US" altLang="en-US" sz="1600" b="1" dirty="0">
                <a:latin typeface="Arial Black" pitchFamily="34" charset="0"/>
              </a:rPr>
              <a:t> because it is used to carry other useful </a:t>
            </a:r>
          </a:p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Arial Black" pitchFamily="34" charset="0"/>
              </a:rPr>
              <a:t>information. With AM and FM radio signals, the carrier signal also transports audio signals.</a:t>
            </a:r>
          </a:p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/>
              <a:t>TV carrier signals have to carry both audio and video. Wireless LAN carrier signals </a:t>
            </a:r>
          </a:p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/>
              <a:t>must carry data.</a:t>
            </a:r>
            <a:endParaRPr lang="en-US" altLang="en-US" sz="2400" b="1" dirty="0">
              <a:cs typeface="Calibri" panose="020F0502020204030204" pitchFamily="34" charset="0"/>
            </a:endParaRPr>
          </a:p>
        </p:txBody>
      </p:sp>
      <p:sp>
        <p:nvSpPr>
          <p:cNvPr id="40966" name="Rectangle 5"/>
          <p:cNvSpPr>
            <a:spLocks noChangeArrowheads="1"/>
          </p:cNvSpPr>
          <p:nvPr/>
        </p:nvSpPr>
        <p:spPr bwMode="auto">
          <a:xfrm>
            <a:off x="1827131" y="4300781"/>
            <a:ext cx="79644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/>
              <a:t>To add data onto the RF signal</a:t>
            </a:r>
            <a:r>
              <a:rPr lang="en-US" altLang="en-US" sz="1800" dirty="0"/>
              <a:t>, the </a:t>
            </a:r>
            <a:r>
              <a:rPr lang="en-US" altLang="en-US" sz="1800" b="1" dirty="0"/>
              <a:t>frequency of the original carrier signal must be preserved.</a:t>
            </a:r>
            <a:r>
              <a:rPr lang="en-US" altLang="en-US" sz="1800" dirty="0"/>
              <a:t> Therefore, there must be some scheme of altering some characteristic of the carrier signal to </a:t>
            </a:r>
            <a:r>
              <a:rPr lang="en-US" altLang="en-US" sz="1800" b="1" dirty="0"/>
              <a:t>distinguish a 0 bit from a 1 bit.</a:t>
            </a:r>
          </a:p>
        </p:txBody>
      </p:sp>
    </p:spTree>
    <p:extLst>
      <p:ext uri="{BB962C8B-B14F-4D97-AF65-F5344CB8AC3E}">
        <p14:creationId xmlns:p14="http://schemas.microsoft.com/office/powerpoint/2010/main" xmlns="" val="218450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Group 3"/>
          <p:cNvGrpSpPr>
            <a:grpSpLocks noGrp="1" noUngrp="1" noChangeAspect="1"/>
          </p:cNvGrpSpPr>
          <p:nvPr/>
        </p:nvGrpSpPr>
        <p:grpSpPr bwMode="auto">
          <a:xfrm>
            <a:off x="2209801" y="1641476"/>
            <a:ext cx="5184775" cy="4378325"/>
            <a:chOff x="1098550" y="685800"/>
            <a:chExt cx="6945313" cy="5867400"/>
          </a:xfrm>
        </p:grpSpPr>
        <p:pic>
          <p:nvPicPr>
            <p:cNvPr id="41992" name="Picture 1" descr="cw980125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8550" y="685800"/>
              <a:ext cx="6945313" cy="5486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1098550" y="6210687"/>
              <a:ext cx="6945313" cy="342513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55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41987" name="TextBox 5"/>
          <p:cNvSpPr txBox="1">
            <a:spLocks noChangeArrowheads="1"/>
          </p:cNvSpPr>
          <p:nvPr/>
        </p:nvSpPr>
        <p:spPr bwMode="auto">
          <a:xfrm>
            <a:off x="2057400" y="6019801"/>
            <a:ext cx="807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1-25 Poor Attempts at Sending Data Over an RF Signal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4198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98F933-1813-476B-A35A-9AC0F1D2961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1990" name="Rectangle 4"/>
          <p:cNvSpPr>
            <a:spLocks noChangeArrowheads="1"/>
          </p:cNvSpPr>
          <p:nvPr/>
        </p:nvSpPr>
        <p:spPr bwMode="auto">
          <a:xfrm>
            <a:off x="2043114" y="561976"/>
            <a:ext cx="81676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Figure 1-25 shows a carrier signal with a constant frequency. The data bits 1001 are to be sent over the carrier signal, but how? </a:t>
            </a:r>
          </a:p>
        </p:txBody>
      </p:sp>
      <p:sp>
        <p:nvSpPr>
          <p:cNvPr id="41991" name="Rectangle 5"/>
          <p:cNvSpPr>
            <a:spLocks noChangeArrowheads="1"/>
          </p:cNvSpPr>
          <p:nvPr/>
        </p:nvSpPr>
        <p:spPr bwMode="auto">
          <a:xfrm>
            <a:off x="7696200" y="1493839"/>
            <a:ext cx="2743200" cy="313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This is known as </a:t>
            </a:r>
            <a:r>
              <a:rPr lang="en-US" altLang="en-US" sz="1800" b="1"/>
              <a:t>modula-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/>
              <a:t>tion,</a:t>
            </a:r>
            <a:r>
              <a:rPr lang="en-US" altLang="en-US" sz="1800"/>
              <a:t> where the carrier signal is modulated or changed according to some other source. At the receiver, the process is reversed; </a:t>
            </a:r>
            <a:r>
              <a:rPr lang="en-US" altLang="en-US" sz="1800" b="1"/>
              <a:t>demodulation </a:t>
            </a:r>
            <a:r>
              <a:rPr lang="en-US" altLang="en-US" sz="1800"/>
              <a:t>interprets the added information based on changes in the carrier signal.</a:t>
            </a:r>
          </a:p>
        </p:txBody>
      </p:sp>
    </p:spTree>
    <p:extLst>
      <p:ext uri="{BB962C8B-B14F-4D97-AF65-F5344CB8AC3E}">
        <p14:creationId xmlns:p14="http://schemas.microsoft.com/office/powerpoint/2010/main" xmlns="" val="203585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43011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74F19C-55E0-4CE3-B73F-D83A3648E2A1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3012" name="Rectangle 3"/>
          <p:cNvSpPr>
            <a:spLocks noChangeArrowheads="1"/>
          </p:cNvSpPr>
          <p:nvPr/>
        </p:nvSpPr>
        <p:spPr bwMode="auto">
          <a:xfrm>
            <a:off x="1981200" y="381000"/>
            <a:ext cx="84582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/>
              <a:t>RF modulation </a:t>
            </a:r>
            <a:r>
              <a:rPr lang="en-US" altLang="en-US" sz="2400"/>
              <a:t>schemes generally have the following goals: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■ Carry data at a predefined rate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■ Be reasonably immune</a:t>
            </a:r>
            <a:r>
              <a:rPr lang="ar-SA" altLang="en-US" sz="2400"/>
              <a:t>مناعه </a:t>
            </a:r>
            <a:r>
              <a:rPr lang="en-US" altLang="en-US" sz="2400"/>
              <a:t> to interference and noise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■ Be practical to transmit and receive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Due to the physical properties of an RF signal, a modulation scheme can alter only the following attributes: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■ </a:t>
            </a:r>
            <a:r>
              <a:rPr lang="en-US" altLang="en-US" sz="2400" b="1"/>
              <a:t>Frequency</a:t>
            </a:r>
            <a:r>
              <a:rPr lang="en-US" altLang="en-US" sz="2400"/>
              <a:t>, but only by varying slightly above or below the carrier frequency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■ </a:t>
            </a:r>
            <a:r>
              <a:rPr lang="en-US" altLang="en-US" sz="2400" b="1"/>
              <a:t>Phase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■ </a:t>
            </a:r>
            <a:r>
              <a:rPr lang="en-US" altLang="en-US" sz="2400" b="1"/>
              <a:t>Amplitude</a:t>
            </a:r>
          </a:p>
        </p:txBody>
      </p:sp>
      <p:sp>
        <p:nvSpPr>
          <p:cNvPr id="43013" name="Rectangle 4"/>
          <p:cNvSpPr>
            <a:spLocks noChangeArrowheads="1"/>
          </p:cNvSpPr>
          <p:nvPr/>
        </p:nvSpPr>
        <p:spPr bwMode="auto">
          <a:xfrm>
            <a:off x="1797804" y="4713908"/>
            <a:ext cx="7467600" cy="1476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/>
              <a:t>Three spread-spectrum categories</a:t>
            </a:r>
            <a:r>
              <a:rPr lang="en-US" altLang="en-US" sz="1800" dirty="0"/>
              <a:t>, which are discussed in subsequent sections: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■ </a:t>
            </a:r>
            <a:r>
              <a:rPr lang="en-US" altLang="en-US" sz="1800" b="1" dirty="0"/>
              <a:t>Frequency-hopping spread spectrum (FHSS)</a:t>
            </a:r>
            <a:r>
              <a:rPr lang="ar-SA" altLang="en-US" sz="1800" b="1" dirty="0"/>
              <a:t> القفز الترددي </a:t>
            </a:r>
            <a:endParaRPr lang="en-US" altLang="en-US" sz="18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/>
              <a:t>■ Direct-sequence spread spectrum (DSSS)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/>
              <a:t>■ Orthogonal frequency-division multiplexing (OFDM)</a:t>
            </a:r>
          </a:p>
        </p:txBody>
      </p:sp>
    </p:spTree>
    <p:extLst>
      <p:ext uri="{BB962C8B-B14F-4D97-AF65-F5344CB8AC3E}">
        <p14:creationId xmlns:p14="http://schemas.microsoft.com/office/powerpoint/2010/main" xmlns="" val="193847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1688" y="1363851"/>
            <a:ext cx="4401519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1">
            <a:spAutoFit/>
          </a:bodyPr>
          <a:lstStyle/>
          <a:p>
            <a:r>
              <a:rPr lang="en-US" sz="2400" b="1" dirty="0" smtClean="0"/>
              <a:t>24-28  Less Important</a:t>
            </a:r>
            <a:endParaRPr lang="ar-JO" sz="24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4" name="Group 3"/>
          <p:cNvGrpSpPr>
            <a:grpSpLocks noGrp="1" noUngrp="1" noChangeAspect="1"/>
          </p:cNvGrpSpPr>
          <p:nvPr/>
        </p:nvGrpSpPr>
        <p:grpSpPr bwMode="auto">
          <a:xfrm>
            <a:off x="2209800" y="2503489"/>
            <a:ext cx="5867400" cy="3305175"/>
            <a:chOff x="685800" y="1430338"/>
            <a:chExt cx="7772400" cy="4378325"/>
          </a:xfrm>
        </p:grpSpPr>
        <p:pic>
          <p:nvPicPr>
            <p:cNvPr id="44041" name="Picture 1" descr="cw980126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430338"/>
              <a:ext cx="7772400" cy="399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5465883"/>
              <a:ext cx="7772400" cy="34278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55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44035" name="TextBox 5"/>
          <p:cNvSpPr txBox="1">
            <a:spLocks noChangeArrowheads="1"/>
          </p:cNvSpPr>
          <p:nvPr/>
        </p:nvSpPr>
        <p:spPr bwMode="auto">
          <a:xfrm>
            <a:off x="2057400" y="5621339"/>
            <a:ext cx="807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1-26 Example FHSS Channel-Hopping Sequence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4403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19DA2A-9305-42C0-BA9E-5C0D2CC87BB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4038" name="Rectangle 3"/>
          <p:cNvSpPr>
            <a:spLocks noChangeArrowheads="1"/>
          </p:cNvSpPr>
          <p:nvPr/>
        </p:nvSpPr>
        <p:spPr bwMode="auto">
          <a:xfrm>
            <a:off x="2057401" y="152401"/>
            <a:ext cx="43465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u="sng"/>
              <a:t>Frequency-hopping spread spectrum (FHSS)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/>
              <a:t>Early wireless LAN technology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1"/>
          </a:p>
        </p:txBody>
      </p:sp>
      <p:sp>
        <p:nvSpPr>
          <p:cNvPr id="44039" name="Rectangle 4"/>
          <p:cNvSpPr>
            <a:spLocks noChangeArrowheads="1"/>
          </p:cNvSpPr>
          <p:nvPr/>
        </p:nvSpPr>
        <p:spPr bwMode="auto">
          <a:xfrm>
            <a:off x="2057400" y="688975"/>
            <a:ext cx="8305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/>
              <a:t>The wireless band was divided into 79 channels </a:t>
            </a:r>
            <a:r>
              <a:rPr lang="en-US" altLang="en-US" sz="1800"/>
              <a:t>or fewer, with each channel being </a:t>
            </a:r>
            <a:r>
              <a:rPr lang="en-US" altLang="en-US" sz="1800" b="1"/>
              <a:t>1 MHz wide</a:t>
            </a:r>
            <a:r>
              <a:rPr lang="en-US" altLang="en-US" sz="1800"/>
              <a:t>. To avoid narrowband interference, transmissions would need to continuously </a:t>
            </a:r>
            <a:r>
              <a:rPr lang="en-US" altLang="en-US" sz="1800" b="1"/>
              <a:t>“hop” between frequencies all across the band</a:t>
            </a:r>
            <a:r>
              <a:rPr lang="en-US" altLang="en-US" sz="1800"/>
              <a:t>. This is known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as</a:t>
            </a:r>
            <a:r>
              <a:rPr lang="en-US" altLang="en-US" sz="1800" b="1"/>
              <a:t> frequency-hopping spread spectrum.</a:t>
            </a:r>
          </a:p>
        </p:txBody>
      </p:sp>
      <p:sp>
        <p:nvSpPr>
          <p:cNvPr id="44040" name="Rectangle 5"/>
          <p:cNvSpPr>
            <a:spLocks noChangeArrowheads="1"/>
          </p:cNvSpPr>
          <p:nvPr/>
        </p:nvSpPr>
        <p:spPr bwMode="auto">
          <a:xfrm>
            <a:off x="7696200" y="2185988"/>
            <a:ext cx="26670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Figure 1-26 shows an example of how the FHSS technique works, where the sequence begins on channel 2, then moves to channels 25, 64, 10, 45, and so on</a:t>
            </a:r>
          </a:p>
        </p:txBody>
      </p:sp>
    </p:spTree>
    <p:extLst>
      <p:ext uri="{BB962C8B-B14F-4D97-AF65-F5344CB8AC3E}">
        <p14:creationId xmlns:p14="http://schemas.microsoft.com/office/powerpoint/2010/main" xmlns="" val="323675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45059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B94FFB-F778-401A-9D19-BEFE6D764CC7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5060" name="Rectangle 3"/>
          <p:cNvSpPr>
            <a:spLocks noChangeArrowheads="1"/>
          </p:cNvSpPr>
          <p:nvPr/>
        </p:nvSpPr>
        <p:spPr bwMode="auto">
          <a:xfrm>
            <a:off x="2057400" y="609601"/>
            <a:ext cx="84582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Whatever advantage </a:t>
            </a:r>
            <a:r>
              <a:rPr lang="en-US" altLang="en-US" sz="2400" b="1" dirty="0"/>
              <a:t>FHSS gained avoiding interference was lost </a:t>
            </a:r>
            <a:r>
              <a:rPr lang="en-US" altLang="en-US" sz="2400" dirty="0"/>
              <a:t>because of the following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limitations: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■ Narrow 1-MHz channel bandwidth, limiting the data rate to 1 or 2 Mbps.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■ Multiple transmitters in an area could eventually collide and interfere with each other on</a:t>
            </a:r>
            <a:r>
              <a:rPr lang="ar-SA" altLang="en-US" sz="2400" dirty="0"/>
              <a:t> </a:t>
            </a:r>
            <a:r>
              <a:rPr lang="en-US" altLang="en-US" sz="2400" dirty="0"/>
              <a:t>the same channels.</a:t>
            </a:r>
          </a:p>
        </p:txBody>
      </p:sp>
    </p:spTree>
    <p:extLst>
      <p:ext uri="{BB962C8B-B14F-4D97-AF65-F5344CB8AC3E}">
        <p14:creationId xmlns:p14="http://schemas.microsoft.com/office/powerpoint/2010/main" xmlns="" val="283030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2" name="Group 3"/>
          <p:cNvGrpSpPr>
            <a:grpSpLocks noGrp="1" noUngrp="1" noChangeAspect="1"/>
          </p:cNvGrpSpPr>
          <p:nvPr/>
        </p:nvGrpSpPr>
        <p:grpSpPr bwMode="auto">
          <a:xfrm>
            <a:off x="2209800" y="3282950"/>
            <a:ext cx="7772400" cy="1316038"/>
            <a:chOff x="685800" y="2960688"/>
            <a:chExt cx="7772400" cy="1316037"/>
          </a:xfrm>
        </p:grpSpPr>
        <p:pic>
          <p:nvPicPr>
            <p:cNvPr id="46089" name="Picture 1" descr="cw980127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2960688"/>
              <a:ext cx="7772400" cy="935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3933825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46083" name="TextBox 4"/>
          <p:cNvSpPr txBox="1">
            <a:spLocks noChangeArrowheads="1"/>
          </p:cNvSpPr>
          <p:nvPr/>
        </p:nvSpPr>
        <p:spPr bwMode="auto">
          <a:xfrm>
            <a:off x="1905000" y="6477001"/>
            <a:ext cx="83820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From </a:t>
            </a:r>
            <a:r>
              <a:rPr lang="en-US" altLang="en-US" sz="1000" i="1">
                <a:latin typeface="Arial" panose="020B0604020202020204" pitchFamily="34" charset="0"/>
              </a:rPr>
              <a:t>CCNA Wireless 200-355 Official Cert Guide</a:t>
            </a:r>
            <a:r>
              <a:rPr lang="en-US" altLang="en-US" sz="1000">
                <a:latin typeface="Arial" panose="020B0604020202020204" pitchFamily="34" charset="0"/>
              </a:rPr>
              <a:t>, by David Hucaby (1587144573) Copyright © 2016 Pearson Education, Inc. All rights reserved. </a:t>
            </a:r>
          </a:p>
        </p:txBody>
      </p:sp>
      <p:sp>
        <p:nvSpPr>
          <p:cNvPr id="46084" name="TextBox 5"/>
          <p:cNvSpPr txBox="1">
            <a:spLocks noChangeArrowheads="1"/>
          </p:cNvSpPr>
          <p:nvPr/>
        </p:nvSpPr>
        <p:spPr bwMode="auto">
          <a:xfrm>
            <a:off x="2057400" y="6019801"/>
            <a:ext cx="807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1-27 Example Non-overlapping Channels Used for DSSS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4608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138E57-55AA-4853-90ED-48E3FC6BA00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6087" name="Rectangle 3"/>
          <p:cNvSpPr>
            <a:spLocks noChangeArrowheads="1"/>
          </p:cNvSpPr>
          <p:nvPr/>
        </p:nvSpPr>
        <p:spPr bwMode="auto">
          <a:xfrm>
            <a:off x="2057401" y="533400"/>
            <a:ext cx="4054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/>
              <a:t>Direct-sequence spread spectrum (DSSS)</a:t>
            </a:r>
          </a:p>
        </p:txBody>
      </p:sp>
      <p:sp>
        <p:nvSpPr>
          <p:cNvPr id="46088" name="Rectangle 4"/>
          <p:cNvSpPr>
            <a:spLocks noChangeArrowheads="1"/>
          </p:cNvSpPr>
          <p:nvPr/>
        </p:nvSpPr>
        <p:spPr bwMode="auto">
          <a:xfrm>
            <a:off x="2057400" y="931863"/>
            <a:ext cx="8382000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Direct-sequence spread spectrum uses a small number of fixed, wide channels that can support complex modulation schemes and somewhat scalable data rates. Each channel is </a:t>
            </a:r>
            <a:r>
              <a:rPr lang="en-US" altLang="en-US" sz="1800" b="1" dirty="0"/>
              <a:t>22 MHz wide—a </a:t>
            </a:r>
            <a:r>
              <a:rPr lang="en-US" altLang="en-US" sz="1800" dirty="0"/>
              <a:t>much wider bandwidth compared with the </a:t>
            </a:r>
            <a:r>
              <a:rPr lang="en-US" altLang="en-US" sz="1800" b="1" dirty="0"/>
              <a:t>maximum supported 11-Mbps data rate</a:t>
            </a:r>
            <a:r>
              <a:rPr lang="en-US" altLang="en-US" sz="1800" dirty="0"/>
              <a:t>, but wide enough to augment</a:t>
            </a:r>
            <a:r>
              <a:rPr lang="ar-SA" altLang="en-US" sz="1800" dirty="0"/>
              <a:t>لزيادة </a:t>
            </a:r>
            <a:r>
              <a:rPr lang="en-US" altLang="en-US" sz="1800" dirty="0"/>
              <a:t> the data by spreading it out and making it more resilient to disruption</a:t>
            </a:r>
            <a:r>
              <a:rPr lang="ar-SA" altLang="en-US" sz="1800" dirty="0"/>
              <a:t>اضطراب </a:t>
            </a:r>
            <a:r>
              <a:rPr lang="en-US" altLang="en-US" sz="1800" dirty="0"/>
              <a:t>. In the 2.4-GHz band where DSSS is used, there are </a:t>
            </a:r>
            <a:r>
              <a:rPr lang="en-US" altLang="en-US" sz="1800" b="1" dirty="0"/>
              <a:t>14 possible channels</a:t>
            </a:r>
            <a:r>
              <a:rPr lang="en-US" altLang="en-US" sz="1800" dirty="0"/>
              <a:t>, </a:t>
            </a:r>
            <a:r>
              <a:rPr lang="en-US" altLang="en-US" sz="1800" b="1" dirty="0"/>
              <a:t>but only 3 of them that do not overlap</a:t>
            </a:r>
            <a:r>
              <a:rPr lang="en-US" altLang="en-US" sz="1800" dirty="0"/>
              <a:t>. Figure 1-27 shows how channels 1, 6, and 11 are normally used.</a:t>
            </a:r>
          </a:p>
        </p:txBody>
      </p:sp>
    </p:spTree>
    <p:extLst>
      <p:ext uri="{BB962C8B-B14F-4D97-AF65-F5344CB8AC3E}">
        <p14:creationId xmlns:p14="http://schemas.microsoft.com/office/powerpoint/2010/main" xmlns="" val="3257054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6" name="Group 3"/>
          <p:cNvGrpSpPr>
            <a:grpSpLocks noGrp="1" noUngrp="1" noChangeAspect="1"/>
          </p:cNvGrpSpPr>
          <p:nvPr/>
        </p:nvGrpSpPr>
        <p:grpSpPr bwMode="auto">
          <a:xfrm>
            <a:off x="2112963" y="3810001"/>
            <a:ext cx="7772400" cy="2143125"/>
            <a:chOff x="685800" y="2454275"/>
            <a:chExt cx="7772400" cy="2328863"/>
          </a:xfrm>
        </p:grpSpPr>
        <p:pic>
          <p:nvPicPr>
            <p:cNvPr id="47114" name="Picture 1" descr="cw980128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2454275"/>
              <a:ext cx="7772400" cy="1947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5800" y="4439847"/>
              <a:ext cx="7772400" cy="34329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70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47107" name="TextBox 5"/>
          <p:cNvSpPr txBox="1">
            <a:spLocks noChangeArrowheads="1"/>
          </p:cNvSpPr>
          <p:nvPr/>
        </p:nvSpPr>
        <p:spPr bwMode="auto">
          <a:xfrm>
            <a:off x="1890713" y="5954714"/>
            <a:ext cx="807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1-28 Functional Blocks Used in a DSSS Transmitter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4710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AAFFE3-9E8A-4762-ACD7-F276A8296CC7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7110" name="Rectangle 3"/>
          <p:cNvSpPr>
            <a:spLocks noChangeArrowheads="1"/>
          </p:cNvSpPr>
          <p:nvPr/>
        </p:nvSpPr>
        <p:spPr bwMode="auto">
          <a:xfrm>
            <a:off x="1779588" y="1416051"/>
            <a:ext cx="87630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/>
              <a:t>Coder</a:t>
            </a:r>
            <a:r>
              <a:rPr lang="en-US" altLang="en-US" sz="1800"/>
              <a:t>—Each data bit is converted into multiple bits of information that contain carefully crafted patterns that can be used to protect against errors due to </a:t>
            </a:r>
            <a:r>
              <a:rPr lang="en-US" altLang="en-US" sz="1800" b="1"/>
              <a:t>noise</a:t>
            </a:r>
            <a:r>
              <a:rPr lang="en-US" altLang="en-US" sz="1800"/>
              <a:t> or </a:t>
            </a:r>
            <a:r>
              <a:rPr lang="en-US" altLang="en-US" sz="1800" b="1"/>
              <a:t>interference</a:t>
            </a:r>
            <a:r>
              <a:rPr lang="en-US" altLang="en-US" sz="1800"/>
              <a:t>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Each of the new coded bits is called a </a:t>
            </a:r>
            <a:r>
              <a:rPr lang="en-US" altLang="en-US" sz="1800" b="1"/>
              <a:t>chip</a:t>
            </a:r>
            <a:r>
              <a:rPr lang="en-US" altLang="en-US" sz="1800"/>
              <a:t>. The complete group of chips representing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a data bit is called </a:t>
            </a:r>
            <a:r>
              <a:rPr lang="en-US" altLang="en-US" sz="1800" b="1"/>
              <a:t>a symbol</a:t>
            </a:r>
            <a:r>
              <a:rPr lang="en-US" altLang="en-US" sz="1800"/>
              <a:t>. DSSS uses two encoding techniques: </a:t>
            </a:r>
            <a:r>
              <a:rPr lang="en-US" altLang="en-US" sz="1800" b="1"/>
              <a:t>Barker codes(</a:t>
            </a:r>
            <a:r>
              <a:rPr lang="ar-SA" altLang="en-US" sz="1800" b="1"/>
              <a:t>صوت جهور للدخوا</a:t>
            </a:r>
            <a:r>
              <a:rPr lang="en-US" altLang="en-US" sz="1800" b="1"/>
              <a:t>) </a:t>
            </a:r>
            <a:r>
              <a:rPr lang="en-US" altLang="en-US" sz="1800"/>
              <a:t>and</a:t>
            </a:r>
            <a:r>
              <a:rPr lang="ar-SA" altLang="en-US" sz="1800"/>
              <a:t> </a:t>
            </a:r>
            <a:r>
              <a:rPr lang="en-US" altLang="en-US" sz="1800" b="1"/>
              <a:t>Complementary Code Keying (CCK)</a:t>
            </a:r>
            <a:r>
              <a:rPr lang="ar-SA" altLang="en-US" sz="1800" b="1"/>
              <a:t>مفتاح محدد سلفا.</a:t>
            </a:r>
            <a:endParaRPr lang="en-US" altLang="en-US" sz="1800" b="1"/>
          </a:p>
        </p:txBody>
      </p:sp>
      <p:sp>
        <p:nvSpPr>
          <p:cNvPr id="47111" name="Rectangle 4"/>
          <p:cNvSpPr>
            <a:spLocks noChangeArrowheads="1"/>
          </p:cNvSpPr>
          <p:nvPr/>
        </p:nvSpPr>
        <p:spPr bwMode="auto">
          <a:xfrm>
            <a:off x="1752601" y="3170238"/>
            <a:ext cx="87487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/>
              <a:t>Modulator—</a:t>
            </a:r>
            <a:r>
              <a:rPr lang="en-US" altLang="en-US" sz="1800"/>
              <a:t>The bits contained in each symbol are used to </a:t>
            </a:r>
            <a:r>
              <a:rPr lang="en-US" altLang="en-US" sz="1800" b="1"/>
              <a:t>alter or modulate </a:t>
            </a:r>
            <a:r>
              <a:rPr lang="en-US" altLang="en-US" sz="1800"/>
              <a:t>the phase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of the carrier signal. </a:t>
            </a:r>
            <a:r>
              <a:rPr lang="en-US" altLang="en-US" sz="1800" b="1"/>
              <a:t>This enables the RF signal to carry the binary data bit values</a:t>
            </a:r>
            <a:r>
              <a:rPr lang="en-US" altLang="en-US" sz="1800"/>
              <a:t>.</a:t>
            </a:r>
          </a:p>
        </p:txBody>
      </p:sp>
      <p:sp>
        <p:nvSpPr>
          <p:cNvPr id="47112" name="Rectangle 5"/>
          <p:cNvSpPr>
            <a:spLocks noChangeArrowheads="1"/>
          </p:cNvSpPr>
          <p:nvPr/>
        </p:nvSpPr>
        <p:spPr bwMode="auto">
          <a:xfrm>
            <a:off x="1706564" y="398464"/>
            <a:ext cx="85248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/>
              <a:t>Scrambler</a:t>
            </a:r>
            <a:r>
              <a:rPr lang="en-US" altLang="en-US" sz="1800"/>
              <a:t>—The data waiting to be sent is first scrambled in a predetermined manner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so that it becomes a randomized string of 0 and 1 bits rather than long sequences of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or 1 bits.</a:t>
            </a:r>
          </a:p>
        </p:txBody>
      </p:sp>
      <p:sp>
        <p:nvSpPr>
          <p:cNvPr id="47113" name="Rectangle 6"/>
          <p:cNvSpPr>
            <a:spLocks noChangeArrowheads="1"/>
          </p:cNvSpPr>
          <p:nvPr/>
        </p:nvSpPr>
        <p:spPr bwMode="auto">
          <a:xfrm>
            <a:off x="1706564" y="38100"/>
            <a:ext cx="4054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/>
              <a:t>Direct-sequence spread spectrum (DSSS)</a:t>
            </a:r>
          </a:p>
        </p:txBody>
      </p:sp>
    </p:spTree>
    <p:extLst>
      <p:ext uri="{BB962C8B-B14F-4D97-AF65-F5344CB8AC3E}">
        <p14:creationId xmlns:p14="http://schemas.microsoft.com/office/powerpoint/2010/main" xmlns="" val="2091495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48131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C1C419-6144-43FD-9F23-1CE84942B577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8132" name="Rectangle 3"/>
          <p:cNvSpPr>
            <a:spLocks noChangeArrowheads="1"/>
          </p:cNvSpPr>
          <p:nvPr/>
        </p:nvSpPr>
        <p:spPr bwMode="auto">
          <a:xfrm>
            <a:off x="1981200" y="457200"/>
            <a:ext cx="1900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u="sng" dirty="0"/>
              <a:t>1-Mbps Data Rate</a:t>
            </a:r>
          </a:p>
        </p:txBody>
      </p:sp>
      <p:sp>
        <p:nvSpPr>
          <p:cNvPr id="48133" name="Rectangle 4"/>
          <p:cNvSpPr>
            <a:spLocks noChangeArrowheads="1"/>
          </p:cNvSpPr>
          <p:nvPr/>
        </p:nvSpPr>
        <p:spPr bwMode="auto">
          <a:xfrm>
            <a:off x="2162175" y="827089"/>
            <a:ext cx="807720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/>
              <a:t>To minimize the effect of a low SNR </a:t>
            </a:r>
            <a:r>
              <a:rPr lang="en-US" altLang="en-US" sz="1800" dirty="0"/>
              <a:t>and </a:t>
            </a:r>
            <a:r>
              <a:rPr lang="en-US" altLang="en-US" sz="1800" b="1" dirty="0"/>
              <a:t>data loss </a:t>
            </a:r>
            <a:r>
              <a:rPr lang="en-US" altLang="en-US" sz="1800" dirty="0"/>
              <a:t>in cases of narrowband interference,</a:t>
            </a:r>
            <a:r>
              <a:rPr lang="ar-SA" altLang="en-US" sz="1800" dirty="0"/>
              <a:t> </a:t>
            </a:r>
            <a:r>
              <a:rPr lang="en-US" altLang="en-US" sz="1800" dirty="0"/>
              <a:t>each bit of data is encoded as a sequence of </a:t>
            </a:r>
            <a:r>
              <a:rPr lang="en-US" altLang="en-US" sz="1800" b="1" dirty="0"/>
              <a:t>11 bits called a Barker 11 code.</a:t>
            </a:r>
          </a:p>
        </p:txBody>
      </p:sp>
      <p:sp>
        <p:nvSpPr>
          <p:cNvPr id="48134" name="Rectangle 5"/>
          <p:cNvSpPr>
            <a:spLocks noChangeArrowheads="1"/>
          </p:cNvSpPr>
          <p:nvPr/>
        </p:nvSpPr>
        <p:spPr bwMode="auto">
          <a:xfrm>
            <a:off x="2101850" y="1749425"/>
            <a:ext cx="8229600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u="sng" dirty="0"/>
              <a:t>Each bit in a Barker chip </a:t>
            </a:r>
            <a:r>
              <a:rPr lang="en-US" altLang="en-US" sz="1800" dirty="0"/>
              <a:t>can be transmitted by using the </a:t>
            </a:r>
            <a:r>
              <a:rPr lang="en-US" altLang="en-US" sz="1800" b="1" dirty="0"/>
              <a:t>differential binary phase shift</a:t>
            </a:r>
            <a:r>
              <a:rPr lang="ar-SA" altLang="en-US" sz="1800" b="1" dirty="0"/>
              <a:t> </a:t>
            </a:r>
            <a:r>
              <a:rPr lang="en-US" altLang="en-US" sz="1800" b="1" dirty="0"/>
              <a:t>keying (DBPSK) modulation </a:t>
            </a:r>
            <a:r>
              <a:rPr lang="en-US" altLang="en-US" sz="1800" dirty="0"/>
              <a:t>scheme. The phase of the carrier signal is shifted or rotated</a:t>
            </a:r>
            <a:r>
              <a:rPr lang="ar-SA" altLang="en-US" sz="1800" dirty="0"/>
              <a:t> </a:t>
            </a:r>
            <a:r>
              <a:rPr lang="en-US" altLang="en-US" sz="1800" dirty="0"/>
              <a:t>according to the data bit being transmitted, as follows: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/>
              <a:t>0: The phase is not changed.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/>
              <a:t>1: The phase is “rotated” or shifted 180 degrees</a:t>
            </a:r>
            <a:r>
              <a:rPr lang="en-US" altLang="en-US" sz="1800" dirty="0"/>
              <a:t>, such that the signal is suddenly inverted.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u="sng" dirty="0"/>
              <a:t>2-Mbps Data Rate</a:t>
            </a:r>
            <a:endParaRPr lang="ar-SA" altLang="en-US" sz="1800" b="1" u="sng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It is possible to </a:t>
            </a:r>
            <a:r>
              <a:rPr lang="en-US" altLang="en-US" sz="1800" b="1" dirty="0"/>
              <a:t>couple the 1-Mbps strategy </a:t>
            </a:r>
            <a:r>
              <a:rPr lang="en-US" altLang="en-US" sz="1800" dirty="0"/>
              <a:t>with a different modulation scheme </a:t>
            </a:r>
            <a:r>
              <a:rPr lang="en-US" altLang="en-US" sz="1800" b="1" dirty="0"/>
              <a:t>to double</a:t>
            </a:r>
            <a:r>
              <a:rPr lang="ar-SA" altLang="en-US" sz="1800" b="1" dirty="0"/>
              <a:t> </a:t>
            </a:r>
            <a:r>
              <a:rPr lang="en-US" altLang="en-US" sz="1800" b="1" dirty="0"/>
              <a:t>the data rate </a:t>
            </a:r>
            <a:r>
              <a:rPr lang="en-US" altLang="en-US" sz="1800" dirty="0"/>
              <a:t>using</a:t>
            </a:r>
            <a:r>
              <a:rPr lang="en-US" altLang="en-US" sz="1800" b="1" dirty="0"/>
              <a:t> differential quadrature phase shift keying (DQPSK). </a:t>
            </a:r>
          </a:p>
        </p:txBody>
      </p:sp>
      <p:sp>
        <p:nvSpPr>
          <p:cNvPr id="48135" name="Rectangle 6"/>
          <p:cNvSpPr>
            <a:spLocks noChangeArrowheads="1"/>
          </p:cNvSpPr>
          <p:nvPr/>
        </p:nvSpPr>
        <p:spPr bwMode="auto">
          <a:xfrm>
            <a:off x="2139951" y="4346576"/>
            <a:ext cx="5413375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u="sng" dirty="0"/>
              <a:t>The bit patterns produce the following phase shifts: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■ </a:t>
            </a:r>
            <a:r>
              <a:rPr lang="en-US" altLang="en-US" sz="1800" b="1" dirty="0"/>
              <a:t>00</a:t>
            </a:r>
            <a:r>
              <a:rPr lang="en-US" altLang="en-US" sz="1800" dirty="0"/>
              <a:t>—The phase is not changed.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■ </a:t>
            </a:r>
            <a:r>
              <a:rPr lang="en-US" altLang="en-US" sz="1800" b="1" dirty="0"/>
              <a:t>01</a:t>
            </a:r>
            <a:r>
              <a:rPr lang="en-US" altLang="en-US" sz="1800" dirty="0"/>
              <a:t>—Rotate the phase 90 degrees.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■ </a:t>
            </a:r>
            <a:r>
              <a:rPr lang="en-US" altLang="en-US" sz="1800" b="1" dirty="0"/>
              <a:t>11</a:t>
            </a:r>
            <a:r>
              <a:rPr lang="en-US" altLang="en-US" sz="1800" dirty="0"/>
              <a:t>—Rotate the phase 180 degrees.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■ </a:t>
            </a:r>
            <a:r>
              <a:rPr lang="en-US" altLang="en-US" sz="1800" b="1" dirty="0"/>
              <a:t>10</a:t>
            </a:r>
            <a:r>
              <a:rPr lang="en-US" altLang="en-US" sz="1800" dirty="0"/>
              <a:t>—Rotate the phase 270 degrees.</a:t>
            </a:r>
          </a:p>
        </p:txBody>
      </p:sp>
    </p:spTree>
    <p:extLst>
      <p:ext uri="{BB962C8B-B14F-4D97-AF65-F5344CB8AC3E}">
        <p14:creationId xmlns:p14="http://schemas.microsoft.com/office/powerpoint/2010/main" xmlns="" val="2022339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4" name="Group 3"/>
          <p:cNvGrpSpPr>
            <a:grpSpLocks noGrp="1" noUngrp="1" noChangeAspect="1"/>
          </p:cNvGrpSpPr>
          <p:nvPr/>
        </p:nvGrpSpPr>
        <p:grpSpPr bwMode="auto">
          <a:xfrm>
            <a:off x="2933700" y="762001"/>
            <a:ext cx="6210300" cy="5280025"/>
            <a:chOff x="1120775" y="685800"/>
            <a:chExt cx="6900863" cy="5867400"/>
          </a:xfrm>
        </p:grpSpPr>
        <p:pic>
          <p:nvPicPr>
            <p:cNvPr id="49158" name="Picture 1" descr="cw980129"/>
            <p:cNvPicPr>
              <a:picLocks noRot="1" noChangeAspect="1" noMove="1" noResize="1"/>
            </p:cNvPicPr>
            <p:nvPr isPhoto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0775" y="685800"/>
              <a:ext cx="6900863" cy="5486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1120775" y="6210964"/>
              <a:ext cx="6900863" cy="342236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70000" lnSpcReduction="20000"/>
            </a:bodyPr>
            <a:lstStyle/>
            <a:p>
              <a:pPr algn="ctr">
                <a:defRPr/>
              </a:pPr>
              <a:endParaRPr lang="en-US" sz="2400" dirty="0"/>
            </a:p>
          </p:txBody>
        </p:sp>
      </p:grpSp>
      <p:sp>
        <p:nvSpPr>
          <p:cNvPr id="49155" name="TextBox 5"/>
          <p:cNvSpPr txBox="1">
            <a:spLocks noChangeArrowheads="1"/>
          </p:cNvSpPr>
          <p:nvPr/>
        </p:nvSpPr>
        <p:spPr bwMode="auto">
          <a:xfrm>
            <a:off x="1916113" y="5705476"/>
            <a:ext cx="807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1-29 Example Phase Changes During </a:t>
            </a:r>
            <a:r>
              <a:rPr lang="en-US" altLang="en-US" sz="1400" b="1">
                <a:latin typeface="Arial" panose="020B0604020202020204" pitchFamily="34" charset="0"/>
              </a:rPr>
              <a:t>DBPSK</a:t>
            </a:r>
            <a:r>
              <a:rPr lang="en-US" altLang="en-US" sz="1400">
                <a:latin typeface="Arial" panose="020B0604020202020204" pitchFamily="34" charset="0"/>
              </a:rPr>
              <a:t> and </a:t>
            </a:r>
            <a:r>
              <a:rPr lang="en-US" altLang="en-US" sz="1400" b="1">
                <a:latin typeface="Arial" panose="020B0604020202020204" pitchFamily="34" charset="0"/>
              </a:rPr>
              <a:t>DQPSK</a:t>
            </a:r>
            <a:r>
              <a:rPr lang="en-US" altLang="en-US" sz="1400">
                <a:latin typeface="Arial" panose="020B0604020202020204" pitchFamily="34" charset="0"/>
              </a:rPr>
              <a:t> Modulation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CCNA wireless 200-355 Dr.ammar almomani-2019</a:t>
            </a:r>
          </a:p>
        </p:txBody>
      </p:sp>
      <p:sp>
        <p:nvSpPr>
          <p:cNvPr id="4915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20E758-571A-4D61-A707-8192EE6D6B5B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1827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E4E62705B277449303F33AD34ED88C" ma:contentTypeVersion="16" ma:contentTypeDescription="Create a new document." ma:contentTypeScope="" ma:versionID="3c2012f786f1d93e3678565f3542f24e">
  <xsd:schema xmlns:xsd="http://www.w3.org/2001/XMLSchema" xmlns:xs="http://www.w3.org/2001/XMLSchema" xmlns:p="http://schemas.microsoft.com/office/2006/metadata/properties" xmlns:ns2="e5b6be36-7386-47fb-8a9a-07470a3e7672" xmlns:ns3="35ac72bb-6e66-44cc-83f8-5100c656d1f7" targetNamespace="http://schemas.microsoft.com/office/2006/metadata/properties" ma:root="true" ma:fieldsID="f06070bce95cccc7b874a44b73b53cce" ns2:_="" ns3:_="">
    <xsd:import namespace="e5b6be36-7386-47fb-8a9a-07470a3e7672"/>
    <xsd:import namespace="35ac72bb-6e66-44cc-83f8-5100c656d1f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PHDthesi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b6be36-7386-47fb-8a9a-07470a3e767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5bf474d-fc0a-43b6-8bbf-f621969dd635}" ma:internalName="TaxCatchAll" ma:showField="CatchAllData" ma:web="e5b6be36-7386-47fb-8a9a-07470a3e76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ac72bb-6e66-44cc-83f8-5100c656d1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PHDthesis" ma:index="19" nillable="true" ma:displayName="PHD thesis" ma:format="Dropdown" ma:internalName="PHDthesis">
      <xsd:simpleType>
        <xsd:restriction base="dms:Text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1946a75-722c-4855-9c1b-5ba14d7574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HDthesis xmlns="35ac72bb-6e66-44cc-83f8-5100c656d1f7" xsi:nil="true"/>
    <lcf76f155ced4ddcb4097134ff3c332f xmlns="35ac72bb-6e66-44cc-83f8-5100c656d1f7">
      <Terms xmlns="http://schemas.microsoft.com/office/infopath/2007/PartnerControls"/>
    </lcf76f155ced4ddcb4097134ff3c332f>
    <TaxCatchAll xmlns="e5b6be36-7386-47fb-8a9a-07470a3e7672" xsi:nil="true"/>
  </documentManagement>
</p:properties>
</file>

<file path=customXml/itemProps1.xml><?xml version="1.0" encoding="utf-8"?>
<ds:datastoreItem xmlns:ds="http://schemas.openxmlformats.org/officeDocument/2006/customXml" ds:itemID="{215F32AE-A48B-4F96-AD35-CB06B2DA84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b6be36-7386-47fb-8a9a-07470a3e7672"/>
    <ds:schemaRef ds:uri="35ac72bb-6e66-44cc-83f8-5100c656d1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3E1F29-6FF6-4425-9B5A-FA9A35A544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420A09-9E83-4B81-A4B4-AA106EBE6520}">
  <ds:schemaRefs>
    <ds:schemaRef ds:uri="http://schemas.microsoft.com/office/2006/metadata/properties"/>
    <ds:schemaRef ds:uri="http://schemas.microsoft.com/office/infopath/2007/PartnerControls"/>
    <ds:schemaRef ds:uri="35ac72bb-6e66-44cc-83f8-5100c656d1f7"/>
    <ds:schemaRef ds:uri="e5b6be36-7386-47fb-8a9a-07470a3e767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795</TotalTime>
  <Words>2643</Words>
  <Application>Microsoft Office PowerPoint</Application>
  <PresentationFormat>Custom</PresentationFormat>
  <Paragraphs>197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Slide 1</vt:lpstr>
      <vt:lpstr>  :RF Signals and Modulation  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Transducers</dc:title>
  <dc:creator>Tariq Younes</dc:creator>
  <cp:lastModifiedBy>user</cp:lastModifiedBy>
  <cp:revision>44</cp:revision>
  <cp:lastPrinted>2018-09-12T05:15:39Z</cp:lastPrinted>
  <dcterms:created xsi:type="dcterms:W3CDTF">2018-08-30T16:30:11Z</dcterms:created>
  <dcterms:modified xsi:type="dcterms:W3CDTF">2023-10-12T21:03:54Z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0x0101003CE4E62705B277449303F33AD34ED88C</vt:lpwstr>
  </property>
</Properties>
</file>